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1. Big class, lots of ground. Keep the energy light, use the analogies, and let them type along with you. Every live code slide has a dark background so you know that is your cue to switch to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on the agenda. Tell them the second half is hands on, so laptops should be open and charged.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modules and name the project at the end of each one. Learners care about the project far more than the syllabus, so lead with it. Day one questions always come: which design patterns, what is in the backend module, when do we start React and Node. Answer once and move on: we cover exactly what each module needs, when it needs it, and resources are shared as we go. Also say why the order is what it is: HTML and CSS are the foundation, JavaScript is where the page becomes interactive, and React and Node are JavaScript wearing different hats.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Then straight into the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 real URL in the address bar while you talk. The full form is the whole lesson: Uniform Resource Locator, it locates one specific resource. A resource can be a page, an image, a PDF or a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must land here. One: a server is a program running somewhere, not a building with blinking lights. Two: a server is not a database. It fetches from the database and hands you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before you name the technology. You own a dairy farm, customers order, an operations team routes the orders, the farm assembles the product, the warehouse holds the goods. Then map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Domain Name System. Two more questions to ask verbally if you have thirty spare seconds: who requests and who provides (client requests, server provides), and is the server the same as the database (no, it fetches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analogy carries the rest of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analogy carries the rest of the class. Ask them how they would build a shopping mall, take two answers, then walk the four stages and map each one to the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Open any site the class loves (Zomato works well), use the Web Developer extension and disable CSS. Let them gasp. Then say the line: everything still there, just naked. That is your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everyone to the same place before you type anything. Download link on screen, folder named after the batch, and turn Auto Save on right away. Wait for the slowest laptop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it live, slowly, and narrate. Wait for the room to catch up before you explain the parts. If someone sees a blank page, it is almost always an unsaved file or the wrong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line by line. The head is the brain (instructions nobody sees), the body is everything people actually see. Meta tags come up again in a later class, so keep it short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Live Server together, right there. Then show the difference: double clicking the file works, but Live Server reloads on every save and that changes how fast they can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Zomato or any site they know and point at the headings. Then show Emmet: type lorem and hit Enter. That moment always gets a reaction. Say clearly that h1 to h6 is about meaning and hierarchy, size is only a side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image URL on purpose so the alt text shows up. That is the fastest way to explain why alt matters, and it doubles as the accessibility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a hyperlink is before you define it. Open one link in the same tab and one with target blank so they feel the difference. Buttons do nothing today, which is the perfect cliffhanger for the JavaScript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 working image URL in your clipboard. Break it by deleting a few characters so it is quick to fix. Keep this to about eight minutes, they can catch up from the repository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Divs are the first taste of layout. Use the house analogy: rooms group things that belong together. Point out that a div means nothing on its own, which is exactly why semantic tags exist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Alt+Shift+F (format document) to auto indent and show them the shortcut. Learners love it. Emphasise that the page looks identical, because divs have no styling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teaching section, then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book analogy. A book with no chapters, no index and no headings is technically readable and practically useless. Then show the two layouts side by side and let them see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tags arrived with HTML5. Note that section is the better default than div for a block of related content, and that headings still carry the hierarchy inside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brick of the module project. Keep it to the skeleton, do not chase styling. Push it to the batch repository at the end so everyone can pull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destination first, then hand over the assignment. Unlock it with the question mark button on the top bar, give them seven minutes to read and start while you walk around for doubts, then explain the problem statement and build the header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then doubts. Ask them to name one tag they will remember tomorrow before you open the floor. Share the GitHub repository link here, and make pushing your class code a habit for the whole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doubt session. Take everything, including the questions people think are too basic. Those are usually the ones half the room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3"/>
        </a:solidFill>
      </p:bgPr>
    </p:bg>
    <p:spTree>
      <p:nvGrpSpPr>
        <p:cNvPr id="1" name=""/>
        <p:cNvGrpSpPr/>
        <p:nvPr/>
      </p:nvGrpSpPr>
      <p:grpSpPr>
        <a:xfrm>
          <a:off x="0" y="0"/>
          <a:ext cx="0" cy="0"/>
          <a:chOff x="0" y="0"/>
          <a:chExt cx="0" cy="0"/>
        </a:xfrm>
      </p:grpSpPr>
      <p:sp>
        <p:nvSpPr>
          <p:cNvPr id="3" name="Shape 0"/>
          <p:cNvSpPr/>
          <p:nvPr/>
        </p:nvSpPr>
        <p:spPr>
          <a:xfrm>
            <a:off x="0" y="0"/>
            <a:ext cx="12188952" cy="6858000"/>
          </a:xfrm>
          <a:prstGeom prst="rect">
            <a:avLst/>
          </a:prstGeom>
          <a:solidFill>
            <a:srgbClr val="F7F6F3"/>
          </a:solidFill>
          <a:ln w="12700">
            <a:solidFill>
              <a:srgbClr val="F7F6F3"/>
            </a:solidFill>
            <a:prstDash val="solid"/>
          </a:ln>
        </p:spPr>
      </p:sp>
      <p:sp>
        <p:nvSpPr>
          <p:cNvPr id="4" name="Text 1"/>
          <p:cNvSpPr/>
          <p:nvPr/>
        </p:nvSpPr>
        <p:spPr>
          <a:xfrm>
            <a:off x="0" y="1234440"/>
            <a:ext cx="12188952" cy="329184"/>
          </a:xfrm>
          <a:prstGeom prst="rect">
            <a:avLst/>
          </a:prstGeom>
          <a:noFill/>
          <a:ln/>
        </p:spPr>
        <p:txBody>
          <a:bodyPr wrap="square" lIns="0" tIns="0" rIns="0" bIns="0" rtlCol="0" anchor="ctr"/>
          <a:lstStyle/>
          <a:p>
            <a:pPr algn="ctr" indent="0" marL="0">
              <a:buNone/>
            </a:pPr>
            <a:r>
              <a:rPr lang="en-US" sz="1400" dirty="0">
                <a:solidFill>
                  <a:srgbClr val="E34F26"/>
                </a:solidFill>
                <a:latin typeface="Courier New" pitchFamily="34" charset="0"/>
                <a:ea typeface="Courier New" pitchFamily="34" charset="-122"/>
                <a:cs typeface="Courier New" pitchFamily="34" charset="-120"/>
              </a:rPr>
              <a:t>&lt;!doctype html&gt;</a:t>
            </a:r>
            <a:endParaRPr lang="en-US" sz="1400" dirty="0"/>
          </a:p>
        </p:txBody>
      </p:sp>
      <p:sp>
        <p:nvSpPr>
          <p:cNvPr id="5" name="Text 2"/>
          <p:cNvSpPr/>
          <p:nvPr/>
        </p:nvSpPr>
        <p:spPr>
          <a:xfrm>
            <a:off x="1097280" y="1645920"/>
            <a:ext cx="9994392" cy="1645920"/>
          </a:xfrm>
          <a:prstGeom prst="rect">
            <a:avLst/>
          </a:prstGeom>
          <a:noFill/>
          <a:ln/>
        </p:spPr>
        <p:txBody>
          <a:bodyPr wrap="square" lIns="0" tIns="0" rIns="0" bIns="0" rtlCol="0" anchor="ctr"/>
          <a:lstStyle/>
          <a:p>
            <a:pPr algn="ctr" indent="0" marL="0">
              <a:lnSpc>
                <a:spcPts val="5400"/>
              </a:lnSpc>
              <a:buNone/>
            </a:pPr>
            <a:r>
              <a:rPr lang="en-US" sz="4600" b="1" dirty="0">
                <a:solidFill>
                  <a:srgbClr val="1B1F24"/>
                </a:solidFill>
                <a:latin typeface="Calibri" pitchFamily="34" charset="0"/>
                <a:ea typeface="Calibri" pitchFamily="34" charset="-122"/>
                <a:cs typeface="Calibri" pitchFamily="34" charset="-120"/>
              </a:rPr>
              <a:t>Web Fundamentals</a:t>
            </a:r>
            <a:endParaRPr lang="en-US" sz="4600" dirty="0"/>
          </a:p>
          <a:p>
            <a:pPr algn="ctr" indent="0" marL="0">
              <a:lnSpc>
                <a:spcPts val="5400"/>
              </a:lnSpc>
              <a:buNone/>
            </a:pPr>
            <a:r>
              <a:rPr lang="en-US" sz="4600" b="1" dirty="0">
                <a:solidFill>
                  <a:srgbClr val="1B1F24"/>
                </a:solidFill>
                <a:latin typeface="Calibri" pitchFamily="34" charset="0"/>
                <a:ea typeface="Calibri" pitchFamily="34" charset="-122"/>
                <a:cs typeface="Calibri" pitchFamily="34" charset="-120"/>
              </a:rPr>
              <a:t>and Intro to HTML</a:t>
            </a:r>
            <a:endParaRPr lang="en-US" sz="4600" dirty="0"/>
          </a:p>
        </p:txBody>
      </p:sp>
      <p:sp>
        <p:nvSpPr>
          <p:cNvPr id="6" name="Shape 3"/>
          <p:cNvSpPr/>
          <p:nvPr/>
        </p:nvSpPr>
        <p:spPr>
          <a:xfrm>
            <a:off x="5545836" y="3401568"/>
            <a:ext cx="1097280" cy="41148"/>
          </a:xfrm>
          <a:prstGeom prst="rect">
            <a:avLst/>
          </a:prstGeom>
          <a:solidFill>
            <a:srgbClr val="E34F26"/>
          </a:solidFill>
          <a:ln w="12700">
            <a:solidFill>
              <a:srgbClr val="E34F26"/>
            </a:solidFill>
            <a:prstDash val="solid"/>
          </a:ln>
        </p:spPr>
      </p:sp>
      <p:sp>
        <p:nvSpPr>
          <p:cNvPr id="7" name="Text 4"/>
          <p:cNvSpPr/>
          <p:nvPr/>
        </p:nvSpPr>
        <p:spPr>
          <a:xfrm>
            <a:off x="1097280" y="3611880"/>
            <a:ext cx="9994392" cy="365760"/>
          </a:xfrm>
          <a:prstGeom prst="rect">
            <a:avLst/>
          </a:prstGeom>
          <a:noFill/>
          <a:ln/>
        </p:spPr>
        <p:txBody>
          <a:bodyPr wrap="square" lIns="0" tIns="0" rIns="0" bIns="0" rtlCol="0" anchor="ctr"/>
          <a:lstStyle/>
          <a:p>
            <a:pPr algn="ctr" indent="0" marL="0">
              <a:buNone/>
            </a:pPr>
            <a:r>
              <a:rPr lang="en-US" sz="1700" dirty="0">
                <a:solidFill>
                  <a:srgbClr val="5A6069"/>
                </a:solidFill>
                <a:latin typeface="Calibri" pitchFamily="34" charset="0"/>
                <a:ea typeface="Calibri" pitchFamily="34" charset="-122"/>
                <a:cs typeface="Calibri" pitchFamily="34" charset="-120"/>
              </a:rPr>
              <a:t>Class 01: from typing a URL to writing your first page.</a:t>
            </a:r>
            <a:endParaRPr lang="en-US" sz="1700" dirty="0"/>
          </a:p>
        </p:txBody>
      </p:sp>
      <p:sp>
        <p:nvSpPr>
          <p:cNvPr id="8" name="Shape 5"/>
          <p:cNvSpPr/>
          <p:nvPr/>
        </p:nvSpPr>
        <p:spPr>
          <a:xfrm>
            <a:off x="3803904" y="4224528"/>
            <a:ext cx="4572000" cy="868680"/>
          </a:xfrm>
          <a:prstGeom prst="roundRect">
            <a:avLst>
              <a:gd name="adj" fmla="val 10526"/>
            </a:avLst>
          </a:prstGeom>
          <a:solidFill>
            <a:srgbClr val="15181D"/>
          </a:solidFill>
          <a:ln w="12700">
            <a:solidFill>
              <a:srgbClr val="2A2F37"/>
            </a:solidFill>
            <a:prstDash val="solid"/>
          </a:ln>
        </p:spPr>
      </p:sp>
      <p:sp>
        <p:nvSpPr>
          <p:cNvPr id="9" name="Text 6"/>
          <p:cNvSpPr/>
          <p:nvPr/>
        </p:nvSpPr>
        <p:spPr>
          <a:xfrm>
            <a:off x="4078224" y="4480560"/>
            <a:ext cx="4023360" cy="356616"/>
          </a:xfrm>
          <a:prstGeom prst="rect">
            <a:avLst/>
          </a:prstGeom>
          <a:noFill/>
          <a:ln/>
        </p:spPr>
        <p:txBody>
          <a:bodyPr wrap="square" lIns="0" tIns="0" rIns="0" bIns="0" rtlCol="0" anchor="t"/>
          <a:lstStyle/>
          <a:p>
            <a:pPr indent="0" marL="0">
              <a:lnSpc>
                <a:spcPts val="2400"/>
              </a:lnSpc>
              <a:buNone/>
            </a:pPr>
            <a:r>
              <a:rPr lang="en-US" sz="1600" dirty="0">
                <a:solidFill>
                  <a:srgbClr val="9BA1A9"/>
                </a:solidFill>
                <a:latin typeface="Courier New" pitchFamily="34" charset="0"/>
                <a:ea typeface="Courier New" pitchFamily="34" charset="-122"/>
                <a:cs typeface="Courier New" pitchFamily="34" charset="-120"/>
              </a:rPr>
              <a:t>&lt;</a:t>
            </a:r>
            <a:pPr indent="0" marL="0">
              <a:lnSpc>
                <a:spcPts val="2400"/>
              </a:lnSpc>
              <a:buNone/>
            </a:pPr>
            <a:r>
              <a:rPr lang="en-US" sz="1600" dirty="0">
                <a:solidFill>
                  <a:srgbClr val="F79A80"/>
                </a:solidFill>
                <a:latin typeface="Courier New" pitchFamily="34" charset="0"/>
                <a:ea typeface="Courier New" pitchFamily="34" charset="-122"/>
                <a:cs typeface="Courier New" pitchFamily="34" charset="-120"/>
              </a:rPr>
              <a:t>h1</a:t>
            </a:r>
            <a:pPr indent="0" marL="0">
              <a:lnSpc>
                <a:spcPts val="2400"/>
              </a:lnSpc>
              <a:buNone/>
            </a:pPr>
            <a:r>
              <a:rPr lang="en-US" sz="1600" dirty="0">
                <a:solidFill>
                  <a:srgbClr val="9BA1A9"/>
                </a:solidFill>
                <a:latin typeface="Courier New" pitchFamily="34" charset="0"/>
                <a:ea typeface="Courier New" pitchFamily="34" charset="-122"/>
                <a:cs typeface="Courier New" pitchFamily="34" charset="-120"/>
              </a:rPr>
              <a:t>&gt;</a:t>
            </a:r>
            <a:pPr indent="0" marL="0">
              <a:lnSpc>
                <a:spcPts val="2400"/>
              </a:lnSpc>
              <a:buNone/>
            </a:pPr>
            <a:r>
              <a:rPr lang="en-US" sz="1600" dirty="0">
                <a:solidFill>
                  <a:srgbClr val="E8E6E1"/>
                </a:solidFill>
                <a:latin typeface="Courier New" pitchFamily="34" charset="0"/>
                <a:ea typeface="Courier New" pitchFamily="34" charset="-122"/>
                <a:cs typeface="Courier New" pitchFamily="34" charset="-120"/>
              </a:rPr>
              <a:t>Hello, world!</a:t>
            </a:r>
            <a:pPr indent="0" marL="0">
              <a:lnSpc>
                <a:spcPts val="2400"/>
              </a:lnSpc>
              <a:buNone/>
            </a:pPr>
            <a:r>
              <a:rPr lang="en-US" sz="1600" dirty="0">
                <a:solidFill>
                  <a:srgbClr val="9BA1A9"/>
                </a:solidFill>
                <a:latin typeface="Courier New" pitchFamily="34" charset="0"/>
                <a:ea typeface="Courier New" pitchFamily="34" charset="-122"/>
                <a:cs typeface="Courier New" pitchFamily="34" charset="-120"/>
              </a:rPr>
              <a:t>&lt;/</a:t>
            </a:r>
            <a:pPr indent="0" marL="0">
              <a:lnSpc>
                <a:spcPts val="2400"/>
              </a:lnSpc>
              <a:buNone/>
            </a:pPr>
            <a:r>
              <a:rPr lang="en-US" sz="1600" dirty="0">
                <a:solidFill>
                  <a:srgbClr val="F79A80"/>
                </a:solidFill>
                <a:latin typeface="Courier New" pitchFamily="34" charset="0"/>
                <a:ea typeface="Courier New" pitchFamily="34" charset="-122"/>
                <a:cs typeface="Courier New" pitchFamily="34" charset="-120"/>
              </a:rPr>
              <a:t>h1</a:t>
            </a:r>
            <a:pPr indent="0" marL="0">
              <a:lnSpc>
                <a:spcPts val="2400"/>
              </a:lnSpc>
              <a:buNone/>
            </a:pPr>
            <a:r>
              <a:rPr lang="en-US" sz="1600" dirty="0">
                <a:solidFill>
                  <a:srgbClr val="9BA1A9"/>
                </a:solidFill>
                <a:latin typeface="Courier New" pitchFamily="34" charset="0"/>
                <a:ea typeface="Courier New" pitchFamily="34" charset="-122"/>
                <a:cs typeface="Courier New" pitchFamily="34" charset="-120"/>
              </a:rPr>
              <a:t>&gt;</a:t>
            </a:r>
            <a:endParaRPr lang="en-US" sz="1600" dirty="0"/>
          </a:p>
        </p:txBody>
      </p:sp>
      <p:sp>
        <p:nvSpPr>
          <p:cNvPr id="10" name="Shape 7"/>
          <p:cNvSpPr/>
          <p:nvPr/>
        </p:nvSpPr>
        <p:spPr>
          <a:xfrm>
            <a:off x="736092" y="5577840"/>
            <a:ext cx="2514600" cy="457200"/>
          </a:xfrm>
          <a:prstGeom prst="roundRect">
            <a:avLst>
              <a:gd name="adj" fmla="val 20000"/>
            </a:avLst>
          </a:prstGeom>
          <a:solidFill>
            <a:srgbClr val="FFFFFF"/>
          </a:solidFill>
          <a:ln w="12700">
            <a:solidFill>
              <a:srgbClr val="D5D1C8"/>
            </a:solidFill>
            <a:prstDash val="solid"/>
          </a:ln>
        </p:spPr>
      </p:sp>
      <p:sp>
        <p:nvSpPr>
          <p:cNvPr id="11" name="Text 8"/>
          <p:cNvSpPr/>
          <p:nvPr/>
        </p:nvSpPr>
        <p:spPr>
          <a:xfrm>
            <a:off x="736092" y="5577840"/>
            <a:ext cx="2514600" cy="457200"/>
          </a:xfrm>
          <a:prstGeom prst="rect">
            <a:avLst/>
          </a:prstGeom>
          <a:noFill/>
          <a:ln/>
        </p:spPr>
        <p:txBody>
          <a:bodyPr wrap="square" lIns="0" tIns="0" rIns="0" bIns="0" rtlCol="0" anchor="ctr"/>
          <a:lstStyle/>
          <a:p>
            <a:pPr algn="ctr" indent="0" marL="0">
              <a:buNone/>
            </a:pPr>
            <a:r>
              <a:rPr lang="en-US" sz="1150" b="1" spc="80" kern="0" dirty="0">
                <a:solidFill>
                  <a:srgbClr val="5A6069"/>
                </a:solidFill>
                <a:latin typeface="Calibri" pitchFamily="34" charset="0"/>
                <a:ea typeface="Calibri" pitchFamily="34" charset="-122"/>
                <a:cs typeface="Calibri" pitchFamily="34" charset="-120"/>
              </a:rPr>
              <a:t>How the web works</a:t>
            </a:r>
            <a:endParaRPr lang="en-US" sz="1150" dirty="0"/>
          </a:p>
        </p:txBody>
      </p:sp>
      <p:sp>
        <p:nvSpPr>
          <p:cNvPr id="12" name="Shape 9"/>
          <p:cNvSpPr/>
          <p:nvPr/>
        </p:nvSpPr>
        <p:spPr>
          <a:xfrm>
            <a:off x="3470148" y="5577840"/>
            <a:ext cx="2514600" cy="457200"/>
          </a:xfrm>
          <a:prstGeom prst="roundRect">
            <a:avLst>
              <a:gd name="adj" fmla="val 20000"/>
            </a:avLst>
          </a:prstGeom>
          <a:solidFill>
            <a:srgbClr val="FFFFFF"/>
          </a:solidFill>
          <a:ln w="12700">
            <a:solidFill>
              <a:srgbClr val="D5D1C8"/>
            </a:solidFill>
            <a:prstDash val="solid"/>
          </a:ln>
        </p:spPr>
      </p:sp>
      <p:sp>
        <p:nvSpPr>
          <p:cNvPr id="13" name="Text 10"/>
          <p:cNvSpPr/>
          <p:nvPr/>
        </p:nvSpPr>
        <p:spPr>
          <a:xfrm>
            <a:off x="3470148" y="5577840"/>
            <a:ext cx="2514600" cy="457200"/>
          </a:xfrm>
          <a:prstGeom prst="rect">
            <a:avLst/>
          </a:prstGeom>
          <a:noFill/>
          <a:ln/>
        </p:spPr>
        <p:txBody>
          <a:bodyPr wrap="square" lIns="0" tIns="0" rIns="0" bIns="0" rtlCol="0" anchor="ctr"/>
          <a:lstStyle/>
          <a:p>
            <a:pPr algn="ctr" indent="0" marL="0">
              <a:buNone/>
            </a:pPr>
            <a:r>
              <a:rPr lang="en-US" sz="1150" b="1" spc="80" kern="0" dirty="0">
                <a:solidFill>
                  <a:srgbClr val="5A6069"/>
                </a:solidFill>
                <a:latin typeface="Calibri" pitchFamily="34" charset="0"/>
                <a:ea typeface="Calibri" pitchFamily="34" charset="-122"/>
                <a:cs typeface="Calibri" pitchFamily="34" charset="-120"/>
              </a:rPr>
              <a:t>VS Code setup</a:t>
            </a:r>
            <a:endParaRPr lang="en-US" sz="1150" dirty="0"/>
          </a:p>
        </p:txBody>
      </p:sp>
      <p:sp>
        <p:nvSpPr>
          <p:cNvPr id="14" name="Shape 11"/>
          <p:cNvSpPr/>
          <p:nvPr/>
        </p:nvSpPr>
        <p:spPr>
          <a:xfrm>
            <a:off x="6204204" y="5577840"/>
            <a:ext cx="2514600" cy="457200"/>
          </a:xfrm>
          <a:prstGeom prst="roundRect">
            <a:avLst>
              <a:gd name="adj" fmla="val 20000"/>
            </a:avLst>
          </a:prstGeom>
          <a:solidFill>
            <a:srgbClr val="FFFFFF"/>
          </a:solidFill>
          <a:ln w="12700">
            <a:solidFill>
              <a:srgbClr val="D5D1C8"/>
            </a:solidFill>
            <a:prstDash val="solid"/>
          </a:ln>
        </p:spPr>
      </p:sp>
      <p:sp>
        <p:nvSpPr>
          <p:cNvPr id="15" name="Text 12"/>
          <p:cNvSpPr/>
          <p:nvPr/>
        </p:nvSpPr>
        <p:spPr>
          <a:xfrm>
            <a:off x="6204204" y="5577840"/>
            <a:ext cx="2514600" cy="457200"/>
          </a:xfrm>
          <a:prstGeom prst="rect">
            <a:avLst/>
          </a:prstGeom>
          <a:noFill/>
          <a:ln/>
        </p:spPr>
        <p:txBody>
          <a:bodyPr wrap="square" lIns="0" tIns="0" rIns="0" bIns="0" rtlCol="0" anchor="ctr"/>
          <a:lstStyle/>
          <a:p>
            <a:pPr algn="ctr" indent="0" marL="0">
              <a:buNone/>
            </a:pPr>
            <a:r>
              <a:rPr lang="en-US" sz="1150" b="1" spc="80" kern="0" dirty="0">
                <a:solidFill>
                  <a:srgbClr val="5A6069"/>
                </a:solidFill>
                <a:latin typeface="Calibri" pitchFamily="34" charset="0"/>
                <a:ea typeface="Calibri" pitchFamily="34" charset="-122"/>
                <a:cs typeface="Calibri" pitchFamily="34" charset="-120"/>
              </a:rPr>
              <a:t>Tags</a:t>
            </a:r>
            <a:endParaRPr lang="en-US" sz="1150" dirty="0"/>
          </a:p>
        </p:txBody>
      </p:sp>
      <p:sp>
        <p:nvSpPr>
          <p:cNvPr id="16" name="Shape 13"/>
          <p:cNvSpPr/>
          <p:nvPr/>
        </p:nvSpPr>
        <p:spPr>
          <a:xfrm>
            <a:off x="8938260" y="5577840"/>
            <a:ext cx="2514600" cy="457200"/>
          </a:xfrm>
          <a:prstGeom prst="roundRect">
            <a:avLst>
              <a:gd name="adj" fmla="val 20000"/>
            </a:avLst>
          </a:prstGeom>
          <a:solidFill>
            <a:srgbClr val="FFFFFF"/>
          </a:solidFill>
          <a:ln w="12700">
            <a:solidFill>
              <a:srgbClr val="D5D1C8"/>
            </a:solidFill>
            <a:prstDash val="solid"/>
          </a:ln>
        </p:spPr>
      </p:sp>
      <p:sp>
        <p:nvSpPr>
          <p:cNvPr id="17" name="Text 14"/>
          <p:cNvSpPr/>
          <p:nvPr/>
        </p:nvSpPr>
        <p:spPr>
          <a:xfrm>
            <a:off x="8938260" y="5577840"/>
            <a:ext cx="2514600" cy="457200"/>
          </a:xfrm>
          <a:prstGeom prst="rect">
            <a:avLst/>
          </a:prstGeom>
          <a:noFill/>
          <a:ln/>
        </p:spPr>
        <p:txBody>
          <a:bodyPr wrap="square" lIns="0" tIns="0" rIns="0" bIns="0" rtlCol="0" anchor="ctr"/>
          <a:lstStyle/>
          <a:p>
            <a:pPr algn="ctr" indent="0" marL="0">
              <a:buNone/>
            </a:pPr>
            <a:r>
              <a:rPr lang="en-US" sz="1150" b="1" spc="80" kern="0" dirty="0">
                <a:solidFill>
                  <a:srgbClr val="5A6069"/>
                </a:solidFill>
                <a:latin typeface="Calibri" pitchFamily="34" charset="0"/>
                <a:ea typeface="Calibri" pitchFamily="34" charset="-122"/>
                <a:cs typeface="Calibri" pitchFamily="34" charset="-120"/>
              </a:rPr>
              <a:t>Semantic HTML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01</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&lt;agenda&gt;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What we are covering today</a:t>
            </a:r>
            <a:endParaRPr lang="en-US" sz="3400" dirty="0"/>
          </a:p>
        </p:txBody>
      </p:sp>
      <p:sp>
        <p:nvSpPr>
          <p:cNvPr id="7" name="Shape 4"/>
          <p:cNvSpPr/>
          <p:nvPr/>
        </p:nvSpPr>
        <p:spPr>
          <a:xfrm>
            <a:off x="640080" y="1600200"/>
            <a:ext cx="5212080" cy="1170432"/>
          </a:xfrm>
          <a:prstGeom prst="roundRect">
            <a:avLst>
              <a:gd name="adj" fmla="val 7813"/>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8" name="Shape 5"/>
          <p:cNvSpPr/>
          <p:nvPr/>
        </p:nvSpPr>
        <p:spPr>
          <a:xfrm>
            <a:off x="896112" y="1947672"/>
            <a:ext cx="841248" cy="475488"/>
          </a:xfrm>
          <a:prstGeom prst="roundRect">
            <a:avLst>
              <a:gd name="adj" fmla="val 19231"/>
            </a:avLst>
          </a:prstGeom>
          <a:solidFill>
            <a:srgbClr val="FFFFFF"/>
          </a:solidFill>
          <a:ln w="12700">
            <a:solidFill>
              <a:srgbClr val="F0B9A6"/>
            </a:solidFill>
            <a:prstDash val="solid"/>
          </a:ln>
        </p:spPr>
      </p:sp>
      <p:sp>
        <p:nvSpPr>
          <p:cNvPr id="9" name="Text 6"/>
          <p:cNvSpPr/>
          <p:nvPr/>
        </p:nvSpPr>
        <p:spPr>
          <a:xfrm>
            <a:off x="896112" y="1947672"/>
            <a:ext cx="841248" cy="475488"/>
          </a:xfrm>
          <a:prstGeom prst="rect">
            <a:avLst/>
          </a:prstGeom>
          <a:noFill/>
          <a:ln/>
        </p:spPr>
        <p:txBody>
          <a:bodyPr wrap="square" lIns="0" tIns="0" rIns="0" bIns="0" rtlCol="0" anchor="ctr"/>
          <a:lstStyle/>
          <a:p>
            <a:pPr algn="ctr" indent="0" marL="0">
              <a:buNone/>
            </a:pPr>
            <a:r>
              <a:rPr lang="en-US" sz="1050" b="1" dirty="0">
                <a:solidFill>
                  <a:srgbClr val="E34F26"/>
                </a:solidFill>
                <a:latin typeface="Courier New" pitchFamily="34" charset="0"/>
                <a:ea typeface="Courier New" pitchFamily="34" charset="-122"/>
                <a:cs typeface="Courier New" pitchFamily="34" charset="-120"/>
              </a:rPr>
              <a:t>15 min</a:t>
            </a:r>
            <a:endParaRPr lang="en-US" sz="1050" dirty="0"/>
          </a:p>
        </p:txBody>
      </p:sp>
      <p:sp>
        <p:nvSpPr>
          <p:cNvPr id="10" name="Text 7"/>
          <p:cNvSpPr/>
          <p:nvPr/>
        </p:nvSpPr>
        <p:spPr>
          <a:xfrm>
            <a:off x="1883664" y="1819656"/>
            <a:ext cx="3694176" cy="329184"/>
          </a:xfrm>
          <a:prstGeom prst="rect">
            <a:avLst/>
          </a:prstGeom>
          <a:noFill/>
          <a:ln/>
        </p:spPr>
        <p:txBody>
          <a:bodyPr wrap="square" lIns="0" tIns="0" rIns="0" bIns="0" rtlCol="0" anchor="ctr"/>
          <a:lstStyle/>
          <a:p>
            <a:pPr indent="0" marL="0">
              <a:buNone/>
            </a:pPr>
            <a:r>
              <a:rPr lang="en-US" sz="1550" b="1" dirty="0">
                <a:solidFill>
                  <a:srgbClr val="1B1F24"/>
                </a:solidFill>
                <a:latin typeface="Calibri" pitchFamily="34" charset="0"/>
                <a:ea typeface="Calibri" pitchFamily="34" charset="-122"/>
                <a:cs typeface="Calibri" pitchFamily="34" charset="-120"/>
              </a:rPr>
              <a:t>Curriculum and how the web works</a:t>
            </a:r>
            <a:endParaRPr lang="en-US" sz="1550" dirty="0"/>
          </a:p>
        </p:txBody>
      </p:sp>
      <p:sp>
        <p:nvSpPr>
          <p:cNvPr id="11" name="Text 8"/>
          <p:cNvSpPr/>
          <p:nvPr/>
        </p:nvSpPr>
        <p:spPr>
          <a:xfrm>
            <a:off x="1883664" y="2185416"/>
            <a:ext cx="3694176" cy="365760"/>
          </a:xfrm>
          <a:prstGeom prst="rect">
            <a:avLst/>
          </a:prstGeom>
          <a:noFill/>
          <a:ln/>
        </p:spPr>
        <p:txBody>
          <a:bodyPr wrap="square" lIns="0" tIns="0" rIns="0" bIns="0" rtlCol="0" anchor="t"/>
          <a:lstStyle/>
          <a:p>
            <a:pPr algn="l" indent="0" marL="0">
              <a:lnSpc>
                <a:spcPts val="1725"/>
              </a:lnSpc>
              <a:buNone/>
            </a:pPr>
            <a:r>
              <a:rPr lang="en-US" sz="1250" dirty="0">
                <a:solidFill>
                  <a:srgbClr val="5A6069"/>
                </a:solidFill>
                <a:latin typeface="Calibri" pitchFamily="34" charset="0"/>
                <a:ea typeface="Calibri" pitchFamily="34" charset="-122"/>
                <a:cs typeface="Calibri" pitchFamily="34" charset="-120"/>
              </a:rPr>
              <a:t>URL, DNS, server, database, in plain English</a:t>
            </a:r>
            <a:endParaRPr lang="en-US" sz="1250" dirty="0"/>
          </a:p>
        </p:txBody>
      </p:sp>
      <p:sp>
        <p:nvSpPr>
          <p:cNvPr id="12" name="Shape 9"/>
          <p:cNvSpPr/>
          <p:nvPr/>
        </p:nvSpPr>
        <p:spPr>
          <a:xfrm>
            <a:off x="6336792" y="1600200"/>
            <a:ext cx="5212080" cy="1170432"/>
          </a:xfrm>
          <a:prstGeom prst="roundRect">
            <a:avLst>
              <a:gd name="adj" fmla="val 7813"/>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3" name="Shape 10"/>
          <p:cNvSpPr/>
          <p:nvPr/>
        </p:nvSpPr>
        <p:spPr>
          <a:xfrm>
            <a:off x="6592824" y="1947672"/>
            <a:ext cx="841248" cy="475488"/>
          </a:xfrm>
          <a:prstGeom prst="roundRect">
            <a:avLst>
              <a:gd name="adj" fmla="val 19231"/>
            </a:avLst>
          </a:prstGeom>
          <a:solidFill>
            <a:srgbClr val="FFFFFF"/>
          </a:solidFill>
          <a:ln w="12700">
            <a:solidFill>
              <a:srgbClr val="F0B9A6"/>
            </a:solidFill>
            <a:prstDash val="solid"/>
          </a:ln>
        </p:spPr>
      </p:sp>
      <p:sp>
        <p:nvSpPr>
          <p:cNvPr id="14" name="Text 11"/>
          <p:cNvSpPr/>
          <p:nvPr/>
        </p:nvSpPr>
        <p:spPr>
          <a:xfrm>
            <a:off x="6592824" y="1947672"/>
            <a:ext cx="841248" cy="475488"/>
          </a:xfrm>
          <a:prstGeom prst="rect">
            <a:avLst/>
          </a:prstGeom>
          <a:noFill/>
          <a:ln/>
        </p:spPr>
        <p:txBody>
          <a:bodyPr wrap="square" lIns="0" tIns="0" rIns="0" bIns="0" rtlCol="0" anchor="ctr"/>
          <a:lstStyle/>
          <a:p>
            <a:pPr algn="ctr" indent="0" marL="0">
              <a:buNone/>
            </a:pPr>
            <a:r>
              <a:rPr lang="en-US" sz="1050" b="1" dirty="0">
                <a:solidFill>
                  <a:srgbClr val="E34F26"/>
                </a:solidFill>
                <a:latin typeface="Courier New" pitchFamily="34" charset="0"/>
                <a:ea typeface="Courier New" pitchFamily="34" charset="-122"/>
                <a:cs typeface="Courier New" pitchFamily="34" charset="-120"/>
              </a:rPr>
              <a:t>07 min</a:t>
            </a:r>
            <a:endParaRPr lang="en-US" sz="1050" dirty="0"/>
          </a:p>
        </p:txBody>
      </p:sp>
      <p:sp>
        <p:nvSpPr>
          <p:cNvPr id="15" name="Text 12"/>
          <p:cNvSpPr/>
          <p:nvPr/>
        </p:nvSpPr>
        <p:spPr>
          <a:xfrm>
            <a:off x="7580376" y="1819656"/>
            <a:ext cx="3694176" cy="329184"/>
          </a:xfrm>
          <a:prstGeom prst="rect">
            <a:avLst/>
          </a:prstGeom>
          <a:noFill/>
          <a:ln/>
        </p:spPr>
        <p:txBody>
          <a:bodyPr wrap="square" lIns="0" tIns="0" rIns="0" bIns="0" rtlCol="0" anchor="ctr"/>
          <a:lstStyle/>
          <a:p>
            <a:pPr indent="0" marL="0">
              <a:buNone/>
            </a:pPr>
            <a:r>
              <a:rPr lang="en-US" sz="1550" b="1" dirty="0">
                <a:solidFill>
                  <a:srgbClr val="1B1F24"/>
                </a:solidFill>
                <a:latin typeface="Calibri" pitchFamily="34" charset="0"/>
                <a:ea typeface="Calibri" pitchFamily="34" charset="-122"/>
                <a:cs typeface="Calibri" pitchFamily="34" charset="-120"/>
              </a:rPr>
              <a:t>HTML, CSS and JS, with a shopping mall</a:t>
            </a:r>
            <a:endParaRPr lang="en-US" sz="1550" dirty="0"/>
          </a:p>
        </p:txBody>
      </p:sp>
      <p:sp>
        <p:nvSpPr>
          <p:cNvPr id="16" name="Text 13"/>
          <p:cNvSpPr/>
          <p:nvPr/>
        </p:nvSpPr>
        <p:spPr>
          <a:xfrm>
            <a:off x="7580376" y="2185416"/>
            <a:ext cx="3694176" cy="365760"/>
          </a:xfrm>
          <a:prstGeom prst="rect">
            <a:avLst/>
          </a:prstGeom>
          <a:noFill/>
          <a:ln/>
        </p:spPr>
        <p:txBody>
          <a:bodyPr wrap="square" lIns="0" tIns="0" rIns="0" bIns="0" rtlCol="0" anchor="t"/>
          <a:lstStyle/>
          <a:p>
            <a:pPr algn="l" indent="0" marL="0">
              <a:lnSpc>
                <a:spcPts val="1725"/>
              </a:lnSpc>
              <a:buNone/>
            </a:pPr>
            <a:r>
              <a:rPr lang="en-US" sz="1250" dirty="0">
                <a:solidFill>
                  <a:srgbClr val="5A6069"/>
                </a:solidFill>
                <a:latin typeface="Calibri" pitchFamily="34" charset="0"/>
                <a:ea typeface="Calibri" pitchFamily="34" charset="-122"/>
                <a:cs typeface="Calibri" pitchFamily="34" charset="-120"/>
              </a:rPr>
              <a:t>Why three languages and not one</a:t>
            </a:r>
            <a:endParaRPr lang="en-US" sz="1250" dirty="0"/>
          </a:p>
        </p:txBody>
      </p:sp>
      <p:sp>
        <p:nvSpPr>
          <p:cNvPr id="17" name="Shape 14"/>
          <p:cNvSpPr/>
          <p:nvPr/>
        </p:nvSpPr>
        <p:spPr>
          <a:xfrm>
            <a:off x="640080" y="2971800"/>
            <a:ext cx="5212080" cy="1170432"/>
          </a:xfrm>
          <a:prstGeom prst="roundRect">
            <a:avLst>
              <a:gd name="adj" fmla="val 7813"/>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8" name="Shape 15"/>
          <p:cNvSpPr/>
          <p:nvPr/>
        </p:nvSpPr>
        <p:spPr>
          <a:xfrm>
            <a:off x="896112" y="3319272"/>
            <a:ext cx="841248" cy="475488"/>
          </a:xfrm>
          <a:prstGeom prst="roundRect">
            <a:avLst>
              <a:gd name="adj" fmla="val 19231"/>
            </a:avLst>
          </a:prstGeom>
          <a:solidFill>
            <a:srgbClr val="FFFFFF"/>
          </a:solidFill>
          <a:ln w="12700">
            <a:solidFill>
              <a:srgbClr val="F0B9A6"/>
            </a:solidFill>
            <a:prstDash val="solid"/>
          </a:ln>
        </p:spPr>
      </p:sp>
      <p:sp>
        <p:nvSpPr>
          <p:cNvPr id="19" name="Text 16"/>
          <p:cNvSpPr/>
          <p:nvPr/>
        </p:nvSpPr>
        <p:spPr>
          <a:xfrm>
            <a:off x="896112" y="3319272"/>
            <a:ext cx="841248" cy="475488"/>
          </a:xfrm>
          <a:prstGeom prst="rect">
            <a:avLst/>
          </a:prstGeom>
          <a:noFill/>
          <a:ln/>
        </p:spPr>
        <p:txBody>
          <a:bodyPr wrap="square" lIns="0" tIns="0" rIns="0" bIns="0" rtlCol="0" anchor="ctr"/>
          <a:lstStyle/>
          <a:p>
            <a:pPr algn="ctr" indent="0" marL="0">
              <a:buNone/>
            </a:pPr>
            <a:r>
              <a:rPr lang="en-US" sz="1050" b="1" dirty="0">
                <a:solidFill>
                  <a:srgbClr val="E34F26"/>
                </a:solidFill>
                <a:latin typeface="Courier New" pitchFamily="34" charset="0"/>
                <a:ea typeface="Courier New" pitchFamily="34" charset="-122"/>
                <a:cs typeface="Courier New" pitchFamily="34" charset="-120"/>
              </a:rPr>
              <a:t>13 min</a:t>
            </a:r>
            <a:endParaRPr lang="en-US" sz="1050" dirty="0"/>
          </a:p>
        </p:txBody>
      </p:sp>
      <p:sp>
        <p:nvSpPr>
          <p:cNvPr id="20" name="Text 17"/>
          <p:cNvSpPr/>
          <p:nvPr/>
        </p:nvSpPr>
        <p:spPr>
          <a:xfrm>
            <a:off x="1883664" y="3191256"/>
            <a:ext cx="3694176" cy="329184"/>
          </a:xfrm>
          <a:prstGeom prst="rect">
            <a:avLst/>
          </a:prstGeom>
          <a:noFill/>
          <a:ln/>
        </p:spPr>
        <p:txBody>
          <a:bodyPr wrap="square" lIns="0" tIns="0" rIns="0" bIns="0" rtlCol="0" anchor="ctr"/>
          <a:lstStyle/>
          <a:p>
            <a:pPr indent="0" marL="0">
              <a:buNone/>
            </a:pPr>
            <a:r>
              <a:rPr lang="en-US" sz="1550" b="1" dirty="0">
                <a:solidFill>
                  <a:srgbClr val="1B1F24"/>
                </a:solidFill>
                <a:latin typeface="Calibri" pitchFamily="34" charset="0"/>
                <a:ea typeface="Calibri" pitchFamily="34" charset="-122"/>
                <a:cs typeface="Calibri" pitchFamily="34" charset="-120"/>
              </a:rPr>
              <a:t>VS Code and your first file</a:t>
            </a:r>
            <a:endParaRPr lang="en-US" sz="1550" dirty="0"/>
          </a:p>
        </p:txBody>
      </p:sp>
      <p:sp>
        <p:nvSpPr>
          <p:cNvPr id="21" name="Text 18"/>
          <p:cNvSpPr/>
          <p:nvPr/>
        </p:nvSpPr>
        <p:spPr>
          <a:xfrm>
            <a:off x="1883664" y="3557016"/>
            <a:ext cx="3694176" cy="365760"/>
          </a:xfrm>
          <a:prstGeom prst="rect">
            <a:avLst/>
          </a:prstGeom>
          <a:noFill/>
          <a:ln/>
        </p:spPr>
        <p:txBody>
          <a:bodyPr wrap="square" lIns="0" tIns="0" rIns="0" bIns="0" rtlCol="0" anchor="t"/>
          <a:lstStyle/>
          <a:p>
            <a:pPr algn="l" indent="0" marL="0">
              <a:lnSpc>
                <a:spcPts val="1725"/>
              </a:lnSpc>
              <a:buNone/>
            </a:pPr>
            <a:r>
              <a:rPr lang="en-US" sz="1250" dirty="0">
                <a:solidFill>
                  <a:srgbClr val="5A6069"/>
                </a:solidFill>
                <a:latin typeface="Calibri" pitchFamily="34" charset="0"/>
                <a:ea typeface="Calibri" pitchFamily="34" charset="-122"/>
                <a:cs typeface="Calibri" pitchFamily="34" charset="-120"/>
              </a:rPr>
              <a:t>Setup, boilerplate, and running the page</a:t>
            </a:r>
            <a:endParaRPr lang="en-US" sz="1250" dirty="0"/>
          </a:p>
        </p:txBody>
      </p:sp>
      <p:sp>
        <p:nvSpPr>
          <p:cNvPr id="22" name="Shape 19"/>
          <p:cNvSpPr/>
          <p:nvPr/>
        </p:nvSpPr>
        <p:spPr>
          <a:xfrm>
            <a:off x="6336792" y="2971800"/>
            <a:ext cx="5212080" cy="1170432"/>
          </a:xfrm>
          <a:prstGeom prst="roundRect">
            <a:avLst>
              <a:gd name="adj" fmla="val 7813"/>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3" name="Shape 20"/>
          <p:cNvSpPr/>
          <p:nvPr/>
        </p:nvSpPr>
        <p:spPr>
          <a:xfrm>
            <a:off x="6592824" y="3319272"/>
            <a:ext cx="841248" cy="475488"/>
          </a:xfrm>
          <a:prstGeom prst="roundRect">
            <a:avLst>
              <a:gd name="adj" fmla="val 19231"/>
            </a:avLst>
          </a:prstGeom>
          <a:solidFill>
            <a:srgbClr val="FFFFFF"/>
          </a:solidFill>
          <a:ln w="12700">
            <a:solidFill>
              <a:srgbClr val="F0B9A6"/>
            </a:solidFill>
            <a:prstDash val="solid"/>
          </a:ln>
        </p:spPr>
      </p:sp>
      <p:sp>
        <p:nvSpPr>
          <p:cNvPr id="24" name="Text 21"/>
          <p:cNvSpPr/>
          <p:nvPr/>
        </p:nvSpPr>
        <p:spPr>
          <a:xfrm>
            <a:off x="6592824" y="3319272"/>
            <a:ext cx="841248" cy="475488"/>
          </a:xfrm>
          <a:prstGeom prst="rect">
            <a:avLst/>
          </a:prstGeom>
          <a:noFill/>
          <a:ln/>
        </p:spPr>
        <p:txBody>
          <a:bodyPr wrap="square" lIns="0" tIns="0" rIns="0" bIns="0" rtlCol="0" anchor="ctr"/>
          <a:lstStyle/>
          <a:p>
            <a:pPr algn="ctr" indent="0" marL="0">
              <a:buNone/>
            </a:pPr>
            <a:r>
              <a:rPr lang="en-US" sz="1050" b="1" dirty="0">
                <a:solidFill>
                  <a:srgbClr val="E34F26"/>
                </a:solidFill>
                <a:latin typeface="Courier New" pitchFamily="34" charset="0"/>
                <a:ea typeface="Courier New" pitchFamily="34" charset="-122"/>
                <a:cs typeface="Courier New" pitchFamily="34" charset="-120"/>
              </a:rPr>
              <a:t>17 min</a:t>
            </a:r>
            <a:endParaRPr lang="en-US" sz="1050" dirty="0"/>
          </a:p>
        </p:txBody>
      </p:sp>
      <p:sp>
        <p:nvSpPr>
          <p:cNvPr id="25" name="Text 22"/>
          <p:cNvSpPr/>
          <p:nvPr/>
        </p:nvSpPr>
        <p:spPr>
          <a:xfrm>
            <a:off x="7580376" y="3191256"/>
            <a:ext cx="3694176" cy="329184"/>
          </a:xfrm>
          <a:prstGeom prst="rect">
            <a:avLst/>
          </a:prstGeom>
          <a:noFill/>
          <a:ln/>
        </p:spPr>
        <p:txBody>
          <a:bodyPr wrap="square" lIns="0" tIns="0" rIns="0" bIns="0" rtlCol="0" anchor="ctr"/>
          <a:lstStyle/>
          <a:p>
            <a:pPr indent="0" marL="0">
              <a:buNone/>
            </a:pPr>
            <a:r>
              <a:rPr lang="en-US" sz="1550" b="1" dirty="0">
                <a:solidFill>
                  <a:srgbClr val="1B1F24"/>
                </a:solidFill>
                <a:latin typeface="Calibri" pitchFamily="34" charset="0"/>
                <a:ea typeface="Calibri" pitchFamily="34" charset="-122"/>
                <a:cs typeface="Calibri" pitchFamily="34" charset="-120"/>
              </a:rPr>
              <a:t>Tags</a:t>
            </a:r>
            <a:endParaRPr lang="en-US" sz="1550" dirty="0"/>
          </a:p>
        </p:txBody>
      </p:sp>
      <p:sp>
        <p:nvSpPr>
          <p:cNvPr id="26" name="Text 23"/>
          <p:cNvSpPr/>
          <p:nvPr/>
        </p:nvSpPr>
        <p:spPr>
          <a:xfrm>
            <a:off x="7580376" y="3557016"/>
            <a:ext cx="3694176" cy="365760"/>
          </a:xfrm>
          <a:prstGeom prst="rect">
            <a:avLst/>
          </a:prstGeom>
          <a:noFill/>
          <a:ln/>
        </p:spPr>
        <p:txBody>
          <a:bodyPr wrap="square" lIns="0" tIns="0" rIns="0" bIns="0" rtlCol="0" anchor="t"/>
          <a:lstStyle/>
          <a:p>
            <a:pPr algn="l" indent="0" marL="0">
              <a:lnSpc>
                <a:spcPts val="1725"/>
              </a:lnSpc>
              <a:buNone/>
            </a:pPr>
            <a:r>
              <a:rPr lang="en-US" sz="1250" dirty="0">
                <a:solidFill>
                  <a:srgbClr val="5A6069"/>
                </a:solidFill>
                <a:latin typeface="Calibri" pitchFamily="34" charset="0"/>
                <a:ea typeface="Calibri" pitchFamily="34" charset="-122"/>
                <a:cs typeface="Calibri" pitchFamily="34" charset="-120"/>
              </a:rPr>
              <a:t>Headings, text, images, links, buttons</a:t>
            </a:r>
            <a:endParaRPr lang="en-US" sz="1250" dirty="0"/>
          </a:p>
        </p:txBody>
      </p:sp>
      <p:sp>
        <p:nvSpPr>
          <p:cNvPr id="27" name="Shape 24"/>
          <p:cNvSpPr/>
          <p:nvPr/>
        </p:nvSpPr>
        <p:spPr>
          <a:xfrm>
            <a:off x="640080" y="4343400"/>
            <a:ext cx="5212080" cy="1170432"/>
          </a:xfrm>
          <a:prstGeom prst="roundRect">
            <a:avLst>
              <a:gd name="adj" fmla="val 7813"/>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8" name="Shape 25"/>
          <p:cNvSpPr/>
          <p:nvPr/>
        </p:nvSpPr>
        <p:spPr>
          <a:xfrm>
            <a:off x="896112" y="4690872"/>
            <a:ext cx="841248" cy="475488"/>
          </a:xfrm>
          <a:prstGeom prst="roundRect">
            <a:avLst>
              <a:gd name="adj" fmla="val 19231"/>
            </a:avLst>
          </a:prstGeom>
          <a:solidFill>
            <a:srgbClr val="FFFFFF"/>
          </a:solidFill>
          <a:ln w="12700">
            <a:solidFill>
              <a:srgbClr val="F0B9A6"/>
            </a:solidFill>
            <a:prstDash val="solid"/>
          </a:ln>
        </p:spPr>
      </p:sp>
      <p:sp>
        <p:nvSpPr>
          <p:cNvPr id="29" name="Text 26"/>
          <p:cNvSpPr/>
          <p:nvPr/>
        </p:nvSpPr>
        <p:spPr>
          <a:xfrm>
            <a:off x="896112" y="4690872"/>
            <a:ext cx="841248" cy="475488"/>
          </a:xfrm>
          <a:prstGeom prst="rect">
            <a:avLst/>
          </a:prstGeom>
          <a:noFill/>
          <a:ln/>
        </p:spPr>
        <p:txBody>
          <a:bodyPr wrap="square" lIns="0" tIns="0" rIns="0" bIns="0" rtlCol="0" anchor="ctr"/>
          <a:lstStyle/>
          <a:p>
            <a:pPr algn="ctr" indent="0" marL="0">
              <a:buNone/>
            </a:pPr>
            <a:r>
              <a:rPr lang="en-US" sz="1050" b="1" dirty="0">
                <a:solidFill>
                  <a:srgbClr val="E34F26"/>
                </a:solidFill>
                <a:latin typeface="Courier New" pitchFamily="34" charset="0"/>
                <a:ea typeface="Courier New" pitchFamily="34" charset="-122"/>
                <a:cs typeface="Courier New" pitchFamily="34" charset="-120"/>
              </a:rPr>
              <a:t>18 min</a:t>
            </a:r>
            <a:endParaRPr lang="en-US" sz="1050" dirty="0"/>
          </a:p>
        </p:txBody>
      </p:sp>
      <p:sp>
        <p:nvSpPr>
          <p:cNvPr id="30" name="Text 27"/>
          <p:cNvSpPr/>
          <p:nvPr/>
        </p:nvSpPr>
        <p:spPr>
          <a:xfrm>
            <a:off x="1883664" y="4562856"/>
            <a:ext cx="3694176" cy="329184"/>
          </a:xfrm>
          <a:prstGeom prst="rect">
            <a:avLst/>
          </a:prstGeom>
          <a:noFill/>
          <a:ln/>
        </p:spPr>
        <p:txBody>
          <a:bodyPr wrap="square" lIns="0" tIns="0" rIns="0" bIns="0" rtlCol="0" anchor="ctr"/>
          <a:lstStyle/>
          <a:p>
            <a:pPr indent="0" marL="0">
              <a:buNone/>
            </a:pPr>
            <a:r>
              <a:rPr lang="en-US" sz="1550" b="1" dirty="0">
                <a:solidFill>
                  <a:srgbClr val="1B1F24"/>
                </a:solidFill>
                <a:latin typeface="Calibri" pitchFamily="34" charset="0"/>
                <a:ea typeface="Calibri" pitchFamily="34" charset="-122"/>
                <a:cs typeface="Calibri" pitchFamily="34" charset="-120"/>
              </a:rPr>
              <a:t>Divs and semantic HTML</a:t>
            </a:r>
            <a:endParaRPr lang="en-US" sz="1550" dirty="0"/>
          </a:p>
        </p:txBody>
      </p:sp>
      <p:sp>
        <p:nvSpPr>
          <p:cNvPr id="31" name="Text 28"/>
          <p:cNvSpPr/>
          <p:nvPr/>
        </p:nvSpPr>
        <p:spPr>
          <a:xfrm>
            <a:off x="1883664" y="4928616"/>
            <a:ext cx="3694176" cy="365760"/>
          </a:xfrm>
          <a:prstGeom prst="rect">
            <a:avLst/>
          </a:prstGeom>
          <a:noFill/>
          <a:ln/>
        </p:spPr>
        <p:txBody>
          <a:bodyPr wrap="square" lIns="0" tIns="0" rIns="0" bIns="0" rtlCol="0" anchor="t"/>
          <a:lstStyle/>
          <a:p>
            <a:pPr algn="l" indent="0" marL="0">
              <a:lnSpc>
                <a:spcPts val="1725"/>
              </a:lnSpc>
              <a:buNone/>
            </a:pPr>
            <a:r>
              <a:rPr lang="en-US" sz="1250" dirty="0">
                <a:solidFill>
                  <a:srgbClr val="5A6069"/>
                </a:solidFill>
                <a:latin typeface="Calibri" pitchFamily="34" charset="0"/>
                <a:ea typeface="Calibri" pitchFamily="34" charset="-122"/>
                <a:cs typeface="Calibri" pitchFamily="34" charset="-120"/>
              </a:rPr>
              <a:t>Structure, and the start of your portfolio</a:t>
            </a:r>
            <a:endParaRPr lang="en-US" sz="1250" dirty="0"/>
          </a:p>
        </p:txBody>
      </p:sp>
      <p:sp>
        <p:nvSpPr>
          <p:cNvPr id="32" name="Shape 29"/>
          <p:cNvSpPr/>
          <p:nvPr/>
        </p:nvSpPr>
        <p:spPr>
          <a:xfrm>
            <a:off x="6336792" y="4343400"/>
            <a:ext cx="5212080" cy="1170432"/>
          </a:xfrm>
          <a:prstGeom prst="roundRect">
            <a:avLst>
              <a:gd name="adj" fmla="val 7813"/>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33" name="Shape 30"/>
          <p:cNvSpPr/>
          <p:nvPr/>
        </p:nvSpPr>
        <p:spPr>
          <a:xfrm>
            <a:off x="6592824" y="4690872"/>
            <a:ext cx="841248" cy="475488"/>
          </a:xfrm>
          <a:prstGeom prst="roundRect">
            <a:avLst>
              <a:gd name="adj" fmla="val 19231"/>
            </a:avLst>
          </a:prstGeom>
          <a:solidFill>
            <a:srgbClr val="FFFFFF"/>
          </a:solidFill>
          <a:ln w="12700">
            <a:solidFill>
              <a:srgbClr val="F0B9A6"/>
            </a:solidFill>
            <a:prstDash val="solid"/>
          </a:ln>
        </p:spPr>
      </p:sp>
      <p:sp>
        <p:nvSpPr>
          <p:cNvPr id="34" name="Text 31"/>
          <p:cNvSpPr/>
          <p:nvPr/>
        </p:nvSpPr>
        <p:spPr>
          <a:xfrm>
            <a:off x="6592824" y="4690872"/>
            <a:ext cx="841248" cy="475488"/>
          </a:xfrm>
          <a:prstGeom prst="rect">
            <a:avLst/>
          </a:prstGeom>
          <a:noFill/>
          <a:ln/>
        </p:spPr>
        <p:txBody>
          <a:bodyPr wrap="square" lIns="0" tIns="0" rIns="0" bIns="0" rtlCol="0" anchor="ctr"/>
          <a:lstStyle/>
          <a:p>
            <a:pPr algn="ctr" indent="0" marL="0">
              <a:buNone/>
            </a:pPr>
            <a:r>
              <a:rPr lang="en-US" sz="1050" b="1" dirty="0">
                <a:solidFill>
                  <a:srgbClr val="E34F26"/>
                </a:solidFill>
                <a:latin typeface="Courier New" pitchFamily="34" charset="0"/>
                <a:ea typeface="Courier New" pitchFamily="34" charset="-122"/>
                <a:cs typeface="Courier New" pitchFamily="34" charset="-120"/>
              </a:rPr>
              <a:t>10 min</a:t>
            </a:r>
            <a:endParaRPr lang="en-US" sz="1050" dirty="0"/>
          </a:p>
        </p:txBody>
      </p:sp>
      <p:sp>
        <p:nvSpPr>
          <p:cNvPr id="35" name="Text 32"/>
          <p:cNvSpPr/>
          <p:nvPr/>
        </p:nvSpPr>
        <p:spPr>
          <a:xfrm>
            <a:off x="7580376" y="4562856"/>
            <a:ext cx="3694176" cy="329184"/>
          </a:xfrm>
          <a:prstGeom prst="rect">
            <a:avLst/>
          </a:prstGeom>
          <a:noFill/>
          <a:ln/>
        </p:spPr>
        <p:txBody>
          <a:bodyPr wrap="square" lIns="0" tIns="0" rIns="0" bIns="0" rtlCol="0" anchor="ctr"/>
          <a:lstStyle/>
          <a:p>
            <a:pPr indent="0" marL="0">
              <a:buNone/>
            </a:pPr>
            <a:r>
              <a:rPr lang="en-US" sz="1550" b="1" dirty="0">
                <a:solidFill>
                  <a:srgbClr val="1B1F24"/>
                </a:solidFill>
                <a:latin typeface="Calibri" pitchFamily="34" charset="0"/>
                <a:ea typeface="Calibri" pitchFamily="34" charset="-122"/>
                <a:cs typeface="Calibri" pitchFamily="34" charset="-120"/>
              </a:rPr>
              <a:t>Assignment and doubts</a:t>
            </a:r>
            <a:endParaRPr lang="en-US" sz="1550" dirty="0"/>
          </a:p>
        </p:txBody>
      </p:sp>
      <p:sp>
        <p:nvSpPr>
          <p:cNvPr id="36" name="Text 33"/>
          <p:cNvSpPr/>
          <p:nvPr/>
        </p:nvSpPr>
        <p:spPr>
          <a:xfrm>
            <a:off x="7580376" y="4928616"/>
            <a:ext cx="3694176" cy="365760"/>
          </a:xfrm>
          <a:prstGeom prst="rect">
            <a:avLst/>
          </a:prstGeom>
          <a:noFill/>
          <a:ln/>
        </p:spPr>
        <p:txBody>
          <a:bodyPr wrap="square" lIns="0" tIns="0" rIns="0" bIns="0" rtlCol="0" anchor="t"/>
          <a:lstStyle/>
          <a:p>
            <a:pPr algn="l" indent="0" marL="0">
              <a:lnSpc>
                <a:spcPts val="1725"/>
              </a:lnSpc>
              <a:buNone/>
            </a:pPr>
            <a:r>
              <a:rPr lang="en-US" sz="1250" dirty="0">
                <a:solidFill>
                  <a:srgbClr val="5A6069"/>
                </a:solidFill>
                <a:latin typeface="Calibri" pitchFamily="34" charset="0"/>
                <a:ea typeface="Calibri" pitchFamily="34" charset="-122"/>
                <a:cs typeface="Calibri" pitchFamily="34" charset="-120"/>
              </a:rPr>
              <a:t>You build the header section</a:t>
            </a:r>
            <a:endParaRPr lang="en-US" sz="1250" dirty="0"/>
          </a:p>
        </p:txBody>
      </p:sp>
      <p:sp>
        <p:nvSpPr>
          <p:cNvPr id="37" name="Shape 34"/>
          <p:cNvSpPr/>
          <p:nvPr/>
        </p:nvSpPr>
        <p:spPr>
          <a:xfrm>
            <a:off x="640080" y="5705856"/>
            <a:ext cx="10881360" cy="548640"/>
          </a:xfrm>
          <a:prstGeom prst="roundRect">
            <a:avLst>
              <a:gd name="adj" fmla="val 13333"/>
            </a:avLst>
          </a:prstGeom>
          <a:solidFill>
            <a:srgbClr val="EFEEE9"/>
          </a:solidFill>
          <a:ln w="12700">
            <a:solidFill>
              <a:srgbClr val="D5D1C8"/>
            </a:solidFill>
            <a:prstDash val="solid"/>
          </a:ln>
        </p:spPr>
      </p:sp>
      <p:sp>
        <p:nvSpPr>
          <p:cNvPr id="38" name="Text 35"/>
          <p:cNvSpPr/>
          <p:nvPr/>
        </p:nvSpPr>
        <p:spPr>
          <a:xfrm>
            <a:off x="841248" y="5705856"/>
            <a:ext cx="10479024" cy="548640"/>
          </a:xfrm>
          <a:prstGeom prst="rect">
            <a:avLst/>
          </a:prstGeom>
          <a:noFill/>
          <a:ln/>
        </p:spPr>
        <p:txBody>
          <a:bodyPr wrap="square" lIns="0" tIns="0" rIns="0" bIns="0" rtlCol="0" anchor="ctr"/>
          <a:lstStyle/>
          <a:p>
            <a:pPr indent="0" marL="0">
              <a:lnSpc>
                <a:spcPts val="1600"/>
              </a:lnSpc>
              <a:buNone/>
            </a:pPr>
            <a:r>
              <a:rPr lang="en-US" sz="1150" dirty="0">
                <a:solidFill>
                  <a:srgbClr val="6E8A64"/>
                </a:solidFill>
                <a:latin typeface="Courier New" pitchFamily="34" charset="0"/>
                <a:ea typeface="Courier New" pitchFamily="34" charset="-122"/>
                <a:cs typeface="Courier New" pitchFamily="34" charset="-120"/>
              </a:rPr>
              <a:t>&lt;!-- eighty minutes, one working web page, and roughly four jokes that land --&gt;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02</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&lt;curriculum&gt;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The whole journey, four modules</a:t>
            </a:r>
            <a:endParaRPr lang="en-US" sz="3400" dirty="0"/>
          </a:p>
        </p:txBody>
      </p:sp>
      <p:sp>
        <p:nvSpPr>
          <p:cNvPr id="7" name="Shape 4"/>
          <p:cNvSpPr/>
          <p:nvPr/>
        </p:nvSpPr>
        <p:spPr>
          <a:xfrm>
            <a:off x="640080" y="1645920"/>
            <a:ext cx="2542032" cy="3200400"/>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8" name="Shape 5"/>
          <p:cNvSpPr/>
          <p:nvPr/>
        </p:nvSpPr>
        <p:spPr>
          <a:xfrm>
            <a:off x="896112" y="1920240"/>
            <a:ext cx="566928" cy="566928"/>
          </a:xfrm>
          <a:prstGeom prst="roundRect">
            <a:avLst>
              <a:gd name="adj" fmla="val 16129"/>
            </a:avLst>
          </a:prstGeom>
          <a:solidFill>
            <a:srgbClr val="FBE9E2"/>
          </a:solidFill>
          <a:ln w="12700">
            <a:solidFill>
              <a:srgbClr val="F0B9A6"/>
            </a:solidFill>
            <a:prstDash val="solid"/>
          </a:ln>
        </p:spPr>
      </p:sp>
      <p:pic>
        <p:nvPicPr>
          <p:cNvPr id="9" name="Image 0" descr="preencoded.png">    </p:cNvPr>
          <p:cNvPicPr>
            <a:picLocks noChangeAspect="1"/>
          </p:cNvPicPr>
          <p:nvPr/>
        </p:nvPicPr>
        <p:blipFill>
          <a:blip r:embed="rId1"/>
          <a:stretch>
            <a:fillRect/>
          </a:stretch>
        </p:blipFill>
        <p:spPr>
          <a:xfrm>
            <a:off x="1043513" y="2067641"/>
            <a:ext cx="272125" cy="272125"/>
          </a:xfrm>
          <a:prstGeom prst="rect">
            <a:avLst/>
          </a:prstGeom>
        </p:spPr>
      </p:pic>
      <p:sp>
        <p:nvSpPr>
          <p:cNvPr id="10" name="Text 6"/>
          <p:cNvSpPr/>
          <p:nvPr/>
        </p:nvSpPr>
        <p:spPr>
          <a:xfrm>
            <a:off x="2359152" y="1920240"/>
            <a:ext cx="566928" cy="566928"/>
          </a:xfrm>
          <a:prstGeom prst="rect">
            <a:avLst/>
          </a:prstGeom>
          <a:noFill/>
          <a:ln/>
        </p:spPr>
        <p:txBody>
          <a:bodyPr wrap="square" lIns="0" tIns="0" rIns="0" bIns="0" rtlCol="0" anchor="ctr"/>
          <a:lstStyle/>
          <a:p>
            <a:pPr algn="r" indent="0" marL="0">
              <a:buNone/>
            </a:pPr>
            <a:r>
              <a:rPr lang="en-US" sz="2000" b="1" dirty="0">
                <a:solidFill>
                  <a:srgbClr val="D5D1C8"/>
                </a:solidFill>
                <a:latin typeface="Courier New" pitchFamily="34" charset="0"/>
                <a:ea typeface="Courier New" pitchFamily="34" charset="-122"/>
                <a:cs typeface="Courier New" pitchFamily="34" charset="-120"/>
              </a:rPr>
              <a:t>01</a:t>
            </a:r>
            <a:endParaRPr lang="en-US" sz="2000" dirty="0"/>
          </a:p>
        </p:txBody>
      </p:sp>
      <p:sp>
        <p:nvSpPr>
          <p:cNvPr id="11" name="Text 7"/>
          <p:cNvSpPr/>
          <p:nvPr/>
        </p:nvSpPr>
        <p:spPr>
          <a:xfrm>
            <a:off x="896112" y="2633472"/>
            <a:ext cx="2029968" cy="658368"/>
          </a:xfrm>
          <a:prstGeom prst="rect">
            <a:avLst/>
          </a:prstGeom>
          <a:noFill/>
          <a:ln/>
        </p:spPr>
        <p:txBody>
          <a:bodyPr wrap="square" lIns="0" tIns="0" rIns="0" bIns="0" rtlCol="0" anchor="t"/>
          <a:lstStyle/>
          <a:p>
            <a:pPr indent="0" marL="0">
              <a:lnSpc>
                <a:spcPts val="2200"/>
              </a:lnSpc>
              <a:buNone/>
            </a:pPr>
            <a:r>
              <a:rPr lang="en-US" sz="1700" b="1" dirty="0">
                <a:solidFill>
                  <a:srgbClr val="1B1F24"/>
                </a:solidFill>
                <a:latin typeface="Calibri" pitchFamily="34" charset="0"/>
                <a:ea typeface="Calibri" pitchFamily="34" charset="-122"/>
                <a:cs typeface="Calibri" pitchFamily="34" charset="-120"/>
              </a:rPr>
              <a:t>HTML and CSS</a:t>
            </a:r>
            <a:endParaRPr lang="en-US" sz="1700" dirty="0"/>
          </a:p>
        </p:txBody>
      </p:sp>
      <p:sp>
        <p:nvSpPr>
          <p:cNvPr id="12" name="Text 8"/>
          <p:cNvSpPr/>
          <p:nvPr/>
        </p:nvSpPr>
        <p:spPr>
          <a:xfrm>
            <a:off x="896112" y="3346704"/>
            <a:ext cx="2029968"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7 classes</a:t>
            </a:r>
            <a:endParaRPr lang="en-US" sz="1200" dirty="0"/>
          </a:p>
        </p:txBody>
      </p:sp>
      <p:sp>
        <p:nvSpPr>
          <p:cNvPr id="13" name="Text 9"/>
          <p:cNvSpPr/>
          <p:nvPr/>
        </p:nvSpPr>
        <p:spPr>
          <a:xfrm>
            <a:off x="896112" y="3749040"/>
            <a:ext cx="2029968" cy="237744"/>
          </a:xfrm>
          <a:prstGeom prst="rect">
            <a:avLst/>
          </a:prstGeom>
          <a:noFill/>
          <a:ln/>
        </p:spPr>
        <p:txBody>
          <a:bodyPr wrap="square" lIns="0" tIns="0" rIns="0" bIns="0" rtlCol="0" anchor="ctr"/>
          <a:lstStyle/>
          <a:p>
            <a:pPr indent="0" marL="0">
              <a:buNone/>
            </a:pPr>
            <a:r>
              <a:rPr lang="en-US" sz="950" b="1" spc="150" kern="0" dirty="0">
                <a:solidFill>
                  <a:srgbClr val="8A9099"/>
                </a:solidFill>
                <a:latin typeface="Calibri" pitchFamily="34" charset="0"/>
                <a:ea typeface="Calibri" pitchFamily="34" charset="-122"/>
                <a:cs typeface="Calibri" pitchFamily="34" charset="-120"/>
              </a:rPr>
              <a:t>YOU WILL BUILD</a:t>
            </a:r>
            <a:endParaRPr lang="en-US" sz="950" dirty="0"/>
          </a:p>
        </p:txBody>
      </p:sp>
      <p:sp>
        <p:nvSpPr>
          <p:cNvPr id="14" name="Text 10"/>
          <p:cNvSpPr/>
          <p:nvPr/>
        </p:nvSpPr>
        <p:spPr>
          <a:xfrm>
            <a:off x="896112" y="4005072"/>
            <a:ext cx="2029968" cy="640080"/>
          </a:xfrm>
          <a:prstGeom prst="rect">
            <a:avLst/>
          </a:prstGeom>
          <a:noFill/>
          <a:ln/>
        </p:spPr>
        <p:txBody>
          <a:bodyPr wrap="square" lIns="0" tIns="0" rIns="0" bIns="0" rtlCol="0" anchor="t"/>
          <a:lstStyle/>
          <a:p>
            <a:pPr algn="l" indent="0" marL="0">
              <a:lnSpc>
                <a:spcPts val="1700"/>
              </a:lnSpc>
              <a:buNone/>
            </a:pPr>
            <a:r>
              <a:rPr lang="en-US" sz="1300" dirty="0">
                <a:solidFill>
                  <a:srgbClr val="1B1F24"/>
                </a:solidFill>
                <a:latin typeface="Calibri" pitchFamily="34" charset="0"/>
                <a:ea typeface="Calibri" pitchFamily="34" charset="-122"/>
                <a:cs typeface="Calibri" pitchFamily="34" charset="-120"/>
              </a:rPr>
              <a:t>Portfolio Website</a:t>
            </a:r>
            <a:endParaRPr lang="en-US" sz="1300" dirty="0"/>
          </a:p>
        </p:txBody>
      </p:sp>
      <p:sp>
        <p:nvSpPr>
          <p:cNvPr id="15" name="Shape 11"/>
          <p:cNvSpPr/>
          <p:nvPr/>
        </p:nvSpPr>
        <p:spPr>
          <a:xfrm>
            <a:off x="3483864" y="1645920"/>
            <a:ext cx="2542032" cy="3200400"/>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6" name="Shape 12"/>
          <p:cNvSpPr/>
          <p:nvPr/>
        </p:nvSpPr>
        <p:spPr>
          <a:xfrm>
            <a:off x="3739896" y="1920240"/>
            <a:ext cx="566928" cy="566928"/>
          </a:xfrm>
          <a:prstGeom prst="roundRect">
            <a:avLst>
              <a:gd name="adj" fmla="val 16129"/>
            </a:avLst>
          </a:prstGeom>
          <a:solidFill>
            <a:srgbClr val="FBF2D8"/>
          </a:solidFill>
          <a:ln w="12700">
            <a:solidFill>
              <a:srgbClr val="E7D69B"/>
            </a:solidFill>
            <a:prstDash val="solid"/>
          </a:ln>
        </p:spPr>
      </p:sp>
      <p:pic>
        <p:nvPicPr>
          <p:cNvPr id="17" name="Image 1" descr="preencoded.png">    </p:cNvPr>
          <p:cNvPicPr>
            <a:picLocks noChangeAspect="1"/>
          </p:cNvPicPr>
          <p:nvPr/>
        </p:nvPicPr>
        <p:blipFill>
          <a:blip r:embed="rId2"/>
          <a:stretch>
            <a:fillRect/>
          </a:stretch>
        </p:blipFill>
        <p:spPr>
          <a:xfrm>
            <a:off x="3887297" y="2067641"/>
            <a:ext cx="272125" cy="272125"/>
          </a:xfrm>
          <a:prstGeom prst="rect">
            <a:avLst/>
          </a:prstGeom>
        </p:spPr>
      </p:pic>
      <p:sp>
        <p:nvSpPr>
          <p:cNvPr id="18" name="Text 13"/>
          <p:cNvSpPr/>
          <p:nvPr/>
        </p:nvSpPr>
        <p:spPr>
          <a:xfrm>
            <a:off x="5202936" y="1920240"/>
            <a:ext cx="566928" cy="566928"/>
          </a:xfrm>
          <a:prstGeom prst="rect">
            <a:avLst/>
          </a:prstGeom>
          <a:noFill/>
          <a:ln/>
        </p:spPr>
        <p:txBody>
          <a:bodyPr wrap="square" lIns="0" tIns="0" rIns="0" bIns="0" rtlCol="0" anchor="ctr"/>
          <a:lstStyle/>
          <a:p>
            <a:pPr algn="r" indent="0" marL="0">
              <a:buNone/>
            </a:pPr>
            <a:r>
              <a:rPr lang="en-US" sz="2000" b="1" dirty="0">
                <a:solidFill>
                  <a:srgbClr val="D5D1C8"/>
                </a:solidFill>
                <a:latin typeface="Courier New" pitchFamily="34" charset="0"/>
                <a:ea typeface="Courier New" pitchFamily="34" charset="-122"/>
                <a:cs typeface="Courier New" pitchFamily="34" charset="-120"/>
              </a:rPr>
              <a:t>02</a:t>
            </a:r>
            <a:endParaRPr lang="en-US" sz="2000" dirty="0"/>
          </a:p>
        </p:txBody>
      </p:sp>
      <p:sp>
        <p:nvSpPr>
          <p:cNvPr id="19" name="Text 14"/>
          <p:cNvSpPr/>
          <p:nvPr/>
        </p:nvSpPr>
        <p:spPr>
          <a:xfrm>
            <a:off x="3739896" y="2633472"/>
            <a:ext cx="2029968" cy="658368"/>
          </a:xfrm>
          <a:prstGeom prst="rect">
            <a:avLst/>
          </a:prstGeom>
          <a:noFill/>
          <a:ln/>
        </p:spPr>
        <p:txBody>
          <a:bodyPr wrap="square" lIns="0" tIns="0" rIns="0" bIns="0" rtlCol="0" anchor="t"/>
          <a:lstStyle/>
          <a:p>
            <a:pPr indent="0" marL="0">
              <a:lnSpc>
                <a:spcPts val="2200"/>
              </a:lnSpc>
              <a:buNone/>
            </a:pPr>
            <a:r>
              <a:rPr lang="en-US" sz="1700" b="1" dirty="0">
                <a:solidFill>
                  <a:srgbClr val="1B1F24"/>
                </a:solidFill>
                <a:latin typeface="Calibri" pitchFamily="34" charset="0"/>
                <a:ea typeface="Calibri" pitchFamily="34" charset="-122"/>
                <a:cs typeface="Calibri" pitchFamily="34" charset="-120"/>
              </a:rPr>
              <a:t>JavaScript and Machine Coding</a:t>
            </a:r>
            <a:endParaRPr lang="en-US" sz="1700" dirty="0"/>
          </a:p>
        </p:txBody>
      </p:sp>
      <p:sp>
        <p:nvSpPr>
          <p:cNvPr id="20" name="Text 15"/>
          <p:cNvSpPr/>
          <p:nvPr/>
        </p:nvSpPr>
        <p:spPr>
          <a:xfrm>
            <a:off x="3739896" y="3346704"/>
            <a:ext cx="2029968"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22 classes</a:t>
            </a:r>
            <a:endParaRPr lang="en-US" sz="1200" dirty="0"/>
          </a:p>
        </p:txBody>
      </p:sp>
      <p:sp>
        <p:nvSpPr>
          <p:cNvPr id="21" name="Text 16"/>
          <p:cNvSpPr/>
          <p:nvPr/>
        </p:nvSpPr>
        <p:spPr>
          <a:xfrm>
            <a:off x="3739896" y="3749040"/>
            <a:ext cx="2029968" cy="237744"/>
          </a:xfrm>
          <a:prstGeom prst="rect">
            <a:avLst/>
          </a:prstGeom>
          <a:noFill/>
          <a:ln/>
        </p:spPr>
        <p:txBody>
          <a:bodyPr wrap="square" lIns="0" tIns="0" rIns="0" bIns="0" rtlCol="0" anchor="ctr"/>
          <a:lstStyle/>
          <a:p>
            <a:pPr indent="0" marL="0">
              <a:buNone/>
            </a:pPr>
            <a:r>
              <a:rPr lang="en-US" sz="950" b="1" spc="150" kern="0" dirty="0">
                <a:solidFill>
                  <a:srgbClr val="8A9099"/>
                </a:solidFill>
                <a:latin typeface="Calibri" pitchFamily="34" charset="0"/>
                <a:ea typeface="Calibri" pitchFamily="34" charset="-122"/>
                <a:cs typeface="Calibri" pitchFamily="34" charset="-120"/>
              </a:rPr>
              <a:t>YOU WILL BUILD</a:t>
            </a:r>
            <a:endParaRPr lang="en-US" sz="950" dirty="0"/>
          </a:p>
        </p:txBody>
      </p:sp>
      <p:sp>
        <p:nvSpPr>
          <p:cNvPr id="22" name="Text 17"/>
          <p:cNvSpPr/>
          <p:nvPr/>
        </p:nvSpPr>
        <p:spPr>
          <a:xfrm>
            <a:off x="3739896" y="4005072"/>
            <a:ext cx="2029968" cy="640080"/>
          </a:xfrm>
          <a:prstGeom prst="rect">
            <a:avLst/>
          </a:prstGeom>
          <a:noFill/>
          <a:ln/>
        </p:spPr>
        <p:txBody>
          <a:bodyPr wrap="square" lIns="0" tIns="0" rIns="0" bIns="0" rtlCol="0" anchor="t"/>
          <a:lstStyle/>
          <a:p>
            <a:pPr algn="l" indent="0" marL="0">
              <a:lnSpc>
                <a:spcPts val="1700"/>
              </a:lnSpc>
              <a:buNone/>
            </a:pPr>
            <a:r>
              <a:rPr lang="en-US" sz="1300" dirty="0">
                <a:solidFill>
                  <a:srgbClr val="1B1F24"/>
                </a:solidFill>
                <a:latin typeface="Calibri" pitchFamily="34" charset="0"/>
                <a:ea typeface="Calibri" pitchFamily="34" charset="-122"/>
                <a:cs typeface="Calibri" pitchFamily="34" charset="-120"/>
              </a:rPr>
              <a:t>Kanban Board and mini projects</a:t>
            </a:r>
            <a:endParaRPr lang="en-US" sz="1300" dirty="0"/>
          </a:p>
        </p:txBody>
      </p:sp>
      <p:sp>
        <p:nvSpPr>
          <p:cNvPr id="23" name="Shape 18"/>
          <p:cNvSpPr/>
          <p:nvPr/>
        </p:nvSpPr>
        <p:spPr>
          <a:xfrm>
            <a:off x="6327648" y="1645920"/>
            <a:ext cx="2542032" cy="3200400"/>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4" name="Shape 19"/>
          <p:cNvSpPr/>
          <p:nvPr/>
        </p:nvSpPr>
        <p:spPr>
          <a:xfrm>
            <a:off x="6583680" y="1920240"/>
            <a:ext cx="566928" cy="566928"/>
          </a:xfrm>
          <a:prstGeom prst="roundRect">
            <a:avLst>
              <a:gd name="adj" fmla="val 16129"/>
            </a:avLst>
          </a:prstGeom>
          <a:solidFill>
            <a:srgbClr val="E7EEFD"/>
          </a:solidFill>
          <a:ln w="12700">
            <a:solidFill>
              <a:srgbClr val="BBD0F8"/>
            </a:solidFill>
            <a:prstDash val="solid"/>
          </a:ln>
        </p:spPr>
      </p:sp>
      <p:pic>
        <p:nvPicPr>
          <p:cNvPr id="25" name="Image 2" descr="preencoded.png">    </p:cNvPr>
          <p:cNvPicPr>
            <a:picLocks noChangeAspect="1"/>
          </p:cNvPicPr>
          <p:nvPr/>
        </p:nvPicPr>
        <p:blipFill>
          <a:blip r:embed="rId3"/>
          <a:stretch>
            <a:fillRect/>
          </a:stretch>
        </p:blipFill>
        <p:spPr>
          <a:xfrm>
            <a:off x="6731081" y="2067641"/>
            <a:ext cx="272125" cy="272125"/>
          </a:xfrm>
          <a:prstGeom prst="rect">
            <a:avLst/>
          </a:prstGeom>
        </p:spPr>
      </p:pic>
      <p:sp>
        <p:nvSpPr>
          <p:cNvPr id="26" name="Text 20"/>
          <p:cNvSpPr/>
          <p:nvPr/>
        </p:nvSpPr>
        <p:spPr>
          <a:xfrm>
            <a:off x="8046720" y="1920240"/>
            <a:ext cx="566928" cy="566928"/>
          </a:xfrm>
          <a:prstGeom prst="rect">
            <a:avLst/>
          </a:prstGeom>
          <a:noFill/>
          <a:ln/>
        </p:spPr>
        <p:txBody>
          <a:bodyPr wrap="square" lIns="0" tIns="0" rIns="0" bIns="0" rtlCol="0" anchor="ctr"/>
          <a:lstStyle/>
          <a:p>
            <a:pPr algn="r" indent="0" marL="0">
              <a:buNone/>
            </a:pPr>
            <a:r>
              <a:rPr lang="en-US" sz="2000" b="1" dirty="0">
                <a:solidFill>
                  <a:srgbClr val="D5D1C8"/>
                </a:solidFill>
                <a:latin typeface="Courier New" pitchFamily="34" charset="0"/>
                <a:ea typeface="Courier New" pitchFamily="34" charset="-122"/>
                <a:cs typeface="Courier New" pitchFamily="34" charset="-120"/>
              </a:rPr>
              <a:t>03</a:t>
            </a:r>
            <a:endParaRPr lang="en-US" sz="2000" dirty="0"/>
          </a:p>
        </p:txBody>
      </p:sp>
      <p:sp>
        <p:nvSpPr>
          <p:cNvPr id="27" name="Text 21"/>
          <p:cNvSpPr/>
          <p:nvPr/>
        </p:nvSpPr>
        <p:spPr>
          <a:xfrm>
            <a:off x="6583680" y="2633472"/>
            <a:ext cx="2029968" cy="658368"/>
          </a:xfrm>
          <a:prstGeom prst="rect">
            <a:avLst/>
          </a:prstGeom>
          <a:noFill/>
          <a:ln/>
        </p:spPr>
        <p:txBody>
          <a:bodyPr wrap="square" lIns="0" tIns="0" rIns="0" bIns="0" rtlCol="0" anchor="t"/>
          <a:lstStyle/>
          <a:p>
            <a:pPr indent="0" marL="0">
              <a:lnSpc>
                <a:spcPts val="2200"/>
              </a:lnSpc>
              <a:buNone/>
            </a:pPr>
            <a:r>
              <a:rPr lang="en-US" sz="1700" b="1" dirty="0">
                <a:solidFill>
                  <a:srgbClr val="1B1F24"/>
                </a:solidFill>
                <a:latin typeface="Calibri" pitchFamily="34" charset="0"/>
                <a:ea typeface="Calibri" pitchFamily="34" charset="-122"/>
                <a:cs typeface="Calibri" pitchFamily="34" charset="-120"/>
              </a:rPr>
              <a:t>React</a:t>
            </a:r>
            <a:endParaRPr lang="en-US" sz="1700" dirty="0"/>
          </a:p>
        </p:txBody>
      </p:sp>
      <p:sp>
        <p:nvSpPr>
          <p:cNvPr id="28" name="Text 22"/>
          <p:cNvSpPr/>
          <p:nvPr/>
        </p:nvSpPr>
        <p:spPr>
          <a:xfrm>
            <a:off x="6583680" y="3346704"/>
            <a:ext cx="2029968"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13 classes</a:t>
            </a:r>
            <a:endParaRPr lang="en-US" sz="1200" dirty="0"/>
          </a:p>
        </p:txBody>
      </p:sp>
      <p:sp>
        <p:nvSpPr>
          <p:cNvPr id="29" name="Text 23"/>
          <p:cNvSpPr/>
          <p:nvPr/>
        </p:nvSpPr>
        <p:spPr>
          <a:xfrm>
            <a:off x="6583680" y="3749040"/>
            <a:ext cx="2029968" cy="237744"/>
          </a:xfrm>
          <a:prstGeom prst="rect">
            <a:avLst/>
          </a:prstGeom>
          <a:noFill/>
          <a:ln/>
        </p:spPr>
        <p:txBody>
          <a:bodyPr wrap="square" lIns="0" tIns="0" rIns="0" bIns="0" rtlCol="0" anchor="ctr"/>
          <a:lstStyle/>
          <a:p>
            <a:pPr indent="0" marL="0">
              <a:buNone/>
            </a:pPr>
            <a:r>
              <a:rPr lang="en-US" sz="950" b="1" spc="150" kern="0" dirty="0">
                <a:solidFill>
                  <a:srgbClr val="8A9099"/>
                </a:solidFill>
                <a:latin typeface="Calibri" pitchFamily="34" charset="0"/>
                <a:ea typeface="Calibri" pitchFamily="34" charset="-122"/>
                <a:cs typeface="Calibri" pitchFamily="34" charset="-120"/>
              </a:rPr>
              <a:t>YOU WILL BUILD</a:t>
            </a:r>
            <a:endParaRPr lang="en-US" sz="950" dirty="0"/>
          </a:p>
        </p:txBody>
      </p:sp>
      <p:sp>
        <p:nvSpPr>
          <p:cNvPr id="30" name="Text 24"/>
          <p:cNvSpPr/>
          <p:nvPr/>
        </p:nvSpPr>
        <p:spPr>
          <a:xfrm>
            <a:off x="6583680" y="4005072"/>
            <a:ext cx="2029968" cy="640080"/>
          </a:xfrm>
          <a:prstGeom prst="rect">
            <a:avLst/>
          </a:prstGeom>
          <a:noFill/>
          <a:ln/>
        </p:spPr>
        <p:txBody>
          <a:bodyPr wrap="square" lIns="0" tIns="0" rIns="0" bIns="0" rtlCol="0" anchor="t"/>
          <a:lstStyle/>
          <a:p>
            <a:pPr algn="l" indent="0" marL="0">
              <a:lnSpc>
                <a:spcPts val="1700"/>
              </a:lnSpc>
              <a:buNone/>
            </a:pPr>
            <a:r>
              <a:rPr lang="en-US" sz="1300" dirty="0">
                <a:solidFill>
                  <a:srgbClr val="1B1F24"/>
                </a:solidFill>
                <a:latin typeface="Calibri" pitchFamily="34" charset="0"/>
                <a:ea typeface="Calibri" pitchFamily="34" charset="-122"/>
                <a:cs typeface="Calibri" pitchFamily="34" charset="-120"/>
              </a:rPr>
              <a:t>Movies App</a:t>
            </a:r>
            <a:endParaRPr lang="en-US" sz="1300" dirty="0"/>
          </a:p>
        </p:txBody>
      </p:sp>
      <p:sp>
        <p:nvSpPr>
          <p:cNvPr id="31" name="Shape 25"/>
          <p:cNvSpPr/>
          <p:nvPr/>
        </p:nvSpPr>
        <p:spPr>
          <a:xfrm>
            <a:off x="9171432" y="1645920"/>
            <a:ext cx="2542032" cy="3200400"/>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2" name="Shape 26"/>
          <p:cNvSpPr/>
          <p:nvPr/>
        </p:nvSpPr>
        <p:spPr>
          <a:xfrm>
            <a:off x="9427464" y="1920240"/>
            <a:ext cx="566928" cy="566928"/>
          </a:xfrm>
          <a:prstGeom prst="roundRect">
            <a:avLst>
              <a:gd name="adj" fmla="val 16129"/>
            </a:avLst>
          </a:prstGeom>
          <a:solidFill>
            <a:srgbClr val="E4F1EA"/>
          </a:solidFill>
          <a:ln w="12700">
            <a:solidFill>
              <a:srgbClr val="B4D8C5"/>
            </a:solidFill>
            <a:prstDash val="solid"/>
          </a:ln>
        </p:spPr>
      </p:sp>
      <p:pic>
        <p:nvPicPr>
          <p:cNvPr id="33" name="Image 3" descr="preencoded.png">    </p:cNvPr>
          <p:cNvPicPr>
            <a:picLocks noChangeAspect="1"/>
          </p:cNvPicPr>
          <p:nvPr/>
        </p:nvPicPr>
        <p:blipFill>
          <a:blip r:embed="rId4"/>
          <a:stretch>
            <a:fillRect/>
          </a:stretch>
        </p:blipFill>
        <p:spPr>
          <a:xfrm>
            <a:off x="9574865" y="2067641"/>
            <a:ext cx="272125" cy="272125"/>
          </a:xfrm>
          <a:prstGeom prst="rect">
            <a:avLst/>
          </a:prstGeom>
        </p:spPr>
      </p:pic>
      <p:sp>
        <p:nvSpPr>
          <p:cNvPr id="34" name="Text 27"/>
          <p:cNvSpPr/>
          <p:nvPr/>
        </p:nvSpPr>
        <p:spPr>
          <a:xfrm>
            <a:off x="10890504" y="1920240"/>
            <a:ext cx="566928" cy="566928"/>
          </a:xfrm>
          <a:prstGeom prst="rect">
            <a:avLst/>
          </a:prstGeom>
          <a:noFill/>
          <a:ln/>
        </p:spPr>
        <p:txBody>
          <a:bodyPr wrap="square" lIns="0" tIns="0" rIns="0" bIns="0" rtlCol="0" anchor="ctr"/>
          <a:lstStyle/>
          <a:p>
            <a:pPr algn="r" indent="0" marL="0">
              <a:buNone/>
            </a:pPr>
            <a:r>
              <a:rPr lang="en-US" sz="2000" b="1" dirty="0">
                <a:solidFill>
                  <a:srgbClr val="D5D1C8"/>
                </a:solidFill>
                <a:latin typeface="Courier New" pitchFamily="34" charset="0"/>
                <a:ea typeface="Courier New" pitchFamily="34" charset="-122"/>
                <a:cs typeface="Courier New" pitchFamily="34" charset="-120"/>
              </a:rPr>
              <a:t>04</a:t>
            </a:r>
            <a:endParaRPr lang="en-US" sz="2000" dirty="0"/>
          </a:p>
        </p:txBody>
      </p:sp>
      <p:sp>
        <p:nvSpPr>
          <p:cNvPr id="35" name="Text 28"/>
          <p:cNvSpPr/>
          <p:nvPr/>
        </p:nvSpPr>
        <p:spPr>
          <a:xfrm>
            <a:off x="9427464" y="2633472"/>
            <a:ext cx="2029968" cy="658368"/>
          </a:xfrm>
          <a:prstGeom prst="rect">
            <a:avLst/>
          </a:prstGeom>
          <a:noFill/>
          <a:ln/>
        </p:spPr>
        <p:txBody>
          <a:bodyPr wrap="square" lIns="0" tIns="0" rIns="0" bIns="0" rtlCol="0" anchor="t"/>
          <a:lstStyle/>
          <a:p>
            <a:pPr indent="0" marL="0">
              <a:lnSpc>
                <a:spcPts val="2200"/>
              </a:lnSpc>
              <a:buNone/>
            </a:pPr>
            <a:r>
              <a:rPr lang="en-US" sz="1700" b="1" dirty="0">
                <a:solidFill>
                  <a:srgbClr val="1B1F24"/>
                </a:solidFill>
                <a:latin typeface="Calibri" pitchFamily="34" charset="0"/>
                <a:ea typeface="Calibri" pitchFamily="34" charset="-122"/>
                <a:cs typeface="Calibri" pitchFamily="34" charset="-120"/>
              </a:rPr>
              <a:t>MERN</a:t>
            </a:r>
            <a:endParaRPr lang="en-US" sz="1700" dirty="0"/>
          </a:p>
        </p:txBody>
      </p:sp>
      <p:sp>
        <p:nvSpPr>
          <p:cNvPr id="36" name="Text 29"/>
          <p:cNvSpPr/>
          <p:nvPr/>
        </p:nvSpPr>
        <p:spPr>
          <a:xfrm>
            <a:off x="9427464" y="3346704"/>
            <a:ext cx="2029968"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12 to 14 classes</a:t>
            </a:r>
            <a:endParaRPr lang="en-US" sz="1200" dirty="0"/>
          </a:p>
        </p:txBody>
      </p:sp>
      <p:sp>
        <p:nvSpPr>
          <p:cNvPr id="37" name="Text 30"/>
          <p:cNvSpPr/>
          <p:nvPr/>
        </p:nvSpPr>
        <p:spPr>
          <a:xfrm>
            <a:off x="9427464" y="3749040"/>
            <a:ext cx="2029968" cy="237744"/>
          </a:xfrm>
          <a:prstGeom prst="rect">
            <a:avLst/>
          </a:prstGeom>
          <a:noFill/>
          <a:ln/>
        </p:spPr>
        <p:txBody>
          <a:bodyPr wrap="square" lIns="0" tIns="0" rIns="0" bIns="0" rtlCol="0" anchor="ctr"/>
          <a:lstStyle/>
          <a:p>
            <a:pPr indent="0" marL="0">
              <a:buNone/>
            </a:pPr>
            <a:r>
              <a:rPr lang="en-US" sz="950" b="1" spc="150" kern="0" dirty="0">
                <a:solidFill>
                  <a:srgbClr val="8A9099"/>
                </a:solidFill>
                <a:latin typeface="Calibri" pitchFamily="34" charset="0"/>
                <a:ea typeface="Calibri" pitchFamily="34" charset="-122"/>
                <a:cs typeface="Calibri" pitchFamily="34" charset="-120"/>
              </a:rPr>
              <a:t>YOU WILL BUILD</a:t>
            </a:r>
            <a:endParaRPr lang="en-US" sz="950" dirty="0"/>
          </a:p>
        </p:txBody>
      </p:sp>
      <p:sp>
        <p:nvSpPr>
          <p:cNvPr id="38" name="Text 31"/>
          <p:cNvSpPr/>
          <p:nvPr/>
        </p:nvSpPr>
        <p:spPr>
          <a:xfrm>
            <a:off x="9427464" y="4005072"/>
            <a:ext cx="2029968" cy="640080"/>
          </a:xfrm>
          <a:prstGeom prst="rect">
            <a:avLst/>
          </a:prstGeom>
          <a:noFill/>
          <a:ln/>
        </p:spPr>
        <p:txBody>
          <a:bodyPr wrap="square" lIns="0" tIns="0" rIns="0" bIns="0" rtlCol="0" anchor="t"/>
          <a:lstStyle/>
          <a:p>
            <a:pPr algn="l" indent="0" marL="0">
              <a:lnSpc>
                <a:spcPts val="1700"/>
              </a:lnSpc>
              <a:buNone/>
            </a:pPr>
            <a:r>
              <a:rPr lang="en-US" sz="1300" dirty="0">
                <a:solidFill>
                  <a:srgbClr val="1B1F24"/>
                </a:solidFill>
                <a:latin typeface="Calibri" pitchFamily="34" charset="0"/>
                <a:ea typeface="Calibri" pitchFamily="34" charset="-122"/>
                <a:cs typeface="Calibri" pitchFamily="34" charset="-120"/>
              </a:rPr>
              <a:t>BookMyShow</a:t>
            </a:r>
            <a:endParaRPr lang="en-US" sz="1300" dirty="0"/>
          </a:p>
        </p:txBody>
      </p:sp>
      <p:sp>
        <p:nvSpPr>
          <p:cNvPr id="39" name="Shape 32"/>
          <p:cNvSpPr/>
          <p:nvPr/>
        </p:nvSpPr>
        <p:spPr>
          <a:xfrm>
            <a:off x="640080" y="5029200"/>
            <a:ext cx="10881360" cy="932688"/>
          </a:xfrm>
          <a:prstGeom prst="roundRect">
            <a:avLst>
              <a:gd name="adj" fmla="val 9804"/>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40" name="Text 33"/>
          <p:cNvSpPr/>
          <p:nvPr/>
        </p:nvSpPr>
        <p:spPr>
          <a:xfrm>
            <a:off x="640080" y="5029200"/>
            <a:ext cx="10881360" cy="932688"/>
          </a:xfrm>
          <a:prstGeom prst="rect">
            <a:avLst/>
          </a:prstGeom>
          <a:noFill/>
          <a:ln/>
        </p:spPr>
        <p:txBody>
          <a:bodyPr wrap="square" lIns="0" tIns="0" rIns="0" bIns="0" rtlCol="0" anchor="ctr"/>
          <a:lstStyle/>
          <a:p>
            <a:pPr algn="ctr" indent="0" marL="0">
              <a:buNone/>
            </a:pPr>
            <a:r>
              <a:rPr lang="en-US" sz="1650" b="1" dirty="0">
                <a:solidFill>
                  <a:srgbClr val="1B1F24"/>
                </a:solidFill>
                <a:latin typeface="Calibri" pitchFamily="34" charset="0"/>
                <a:ea typeface="Calibri" pitchFamily="34" charset="-122"/>
                <a:cs typeface="Calibri" pitchFamily="34" charset="-120"/>
              </a:rPr>
              <a:t>Roughly 55 classes. Four projects you can actually show someone. The portfolio site starts today.</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81D"/>
        </a:solidFill>
      </p:bgPr>
    </p:bg>
    <p:spTree>
      <p:nvGrpSpPr>
        <p:cNvPr id="1" name=""/>
        <p:cNvGrpSpPr/>
        <p:nvPr/>
      </p:nvGrpSpPr>
      <p:grpSpPr>
        <a:xfrm>
          <a:off x="0" y="0"/>
          <a:ext cx="0" cy="0"/>
          <a:chOff x="0" y="0"/>
          <a:chExt cx="0" cy="0"/>
        </a:xfrm>
      </p:grpSpPr>
      <p:sp>
        <p:nvSpPr>
          <p:cNvPr id="3" name="Text 0"/>
          <p:cNvSpPr/>
          <p:nvPr/>
        </p:nvSpPr>
        <p:spPr>
          <a:xfrm>
            <a:off x="0" y="2377440"/>
            <a:ext cx="12188952" cy="329184"/>
          </a:xfrm>
          <a:prstGeom prst="rect">
            <a:avLst/>
          </a:prstGeom>
          <a:noFill/>
          <a:ln/>
        </p:spPr>
        <p:txBody>
          <a:bodyPr wrap="square" lIns="0" tIns="0" rIns="0" bIns="0" rtlCol="0" anchor="ctr"/>
          <a:lstStyle/>
          <a:p>
            <a:pPr algn="ctr" indent="0" marL="0">
              <a:buNone/>
            </a:pPr>
            <a:r>
              <a:rPr lang="en-US" sz="1500" dirty="0">
                <a:solidFill>
                  <a:srgbClr val="7E9C74"/>
                </a:solidFill>
                <a:latin typeface="Courier New" pitchFamily="34" charset="0"/>
                <a:ea typeface="Courier New" pitchFamily="34" charset="-122"/>
                <a:cs typeface="Courier New" pitchFamily="34" charset="-120"/>
              </a:rPr>
              <a:t>&lt;!-- section 01 --&gt;</a:t>
            </a:r>
            <a:endParaRPr lang="en-US" sz="1500" dirty="0"/>
          </a:p>
        </p:txBody>
      </p:sp>
      <p:sp>
        <p:nvSpPr>
          <p:cNvPr id="4" name="Text 1"/>
          <p:cNvSpPr/>
          <p:nvPr/>
        </p:nvSpPr>
        <p:spPr>
          <a:xfrm>
            <a:off x="1097280" y="2798064"/>
            <a:ext cx="9994392"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How the web works</a:t>
            </a:r>
            <a:endParaRPr lang="en-US" sz="4200" dirty="0"/>
          </a:p>
        </p:txBody>
      </p:sp>
      <p:sp>
        <p:nvSpPr>
          <p:cNvPr id="5" name="Shape 2"/>
          <p:cNvSpPr/>
          <p:nvPr/>
        </p:nvSpPr>
        <p:spPr>
          <a:xfrm>
            <a:off x="5545836" y="3803904"/>
            <a:ext cx="1097280" cy="41148"/>
          </a:xfrm>
          <a:prstGeom prst="rect">
            <a:avLst/>
          </a:prstGeom>
          <a:solidFill>
            <a:srgbClr val="E34F26"/>
          </a:solidFill>
          <a:ln w="12700">
            <a:solidFill>
              <a:srgbClr val="E34F26"/>
            </a:solidFill>
            <a:prstDash val="solid"/>
          </a:ln>
        </p:spPr>
      </p:sp>
      <p:sp>
        <p:nvSpPr>
          <p:cNvPr id="6" name="Text 3"/>
          <p:cNvSpPr/>
          <p:nvPr/>
        </p:nvSpPr>
        <p:spPr>
          <a:xfrm>
            <a:off x="1828800" y="4041648"/>
            <a:ext cx="8531352" cy="457200"/>
          </a:xfrm>
          <a:prstGeom prst="rect">
            <a:avLst/>
          </a:prstGeom>
          <a:noFill/>
          <a:ln/>
        </p:spPr>
        <p:txBody>
          <a:bodyPr wrap="square" lIns="0" tIns="0" rIns="0" bIns="0" rtlCol="0" anchor="ctr"/>
          <a:lstStyle/>
          <a:p>
            <a:pPr algn="ctr" indent="0" marL="0">
              <a:buNone/>
            </a:pPr>
            <a:r>
              <a:rPr lang="en-US" sz="1600" dirty="0">
                <a:solidFill>
                  <a:srgbClr val="B9BFC7"/>
                </a:solidFill>
                <a:latin typeface="Calibri" pitchFamily="34" charset="0"/>
                <a:ea typeface="Calibri" pitchFamily="34" charset="-122"/>
                <a:cs typeface="Calibri" pitchFamily="34" charset="-120"/>
              </a:rPr>
              <a:t>What actually happens between hitting Enter and seeing a page.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03</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&lt;how-the-web-works&gt;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It starts with a URL</a:t>
            </a:r>
            <a:endParaRPr lang="en-US" sz="3400" dirty="0"/>
          </a:p>
        </p:txBody>
      </p:sp>
      <p:sp>
        <p:nvSpPr>
          <p:cNvPr id="7" name="Text 4"/>
          <p:cNvSpPr/>
          <p:nvPr/>
        </p:nvSpPr>
        <p:spPr>
          <a:xfrm>
            <a:off x="640080" y="1517904"/>
            <a:ext cx="10881360" cy="365760"/>
          </a:xfrm>
          <a:prstGeom prst="rect">
            <a:avLst/>
          </a:prstGeom>
          <a:noFill/>
          <a:ln/>
        </p:spPr>
        <p:txBody>
          <a:bodyPr wrap="square" lIns="0" tIns="0" rIns="0" bIns="0" rtlCol="0" anchor="t"/>
          <a:lstStyle/>
          <a:p>
            <a:pPr algn="l" indent="0" marL="0">
              <a:lnSpc>
                <a:spcPts val="2001"/>
              </a:lnSpc>
              <a:buNone/>
            </a:pPr>
            <a:r>
              <a:rPr lang="en-US" sz="1450" dirty="0">
                <a:solidFill>
                  <a:srgbClr val="5A6069"/>
                </a:solidFill>
                <a:latin typeface="Calibri" pitchFamily="34" charset="0"/>
                <a:ea typeface="Calibri" pitchFamily="34" charset="-122"/>
                <a:cs typeface="Calibri" pitchFamily="34" charset="-120"/>
              </a:rPr>
              <a:t>When we access a website, more is happening than meets the eye. A URL is a Uniform Resource Locator, and the name says the job: it locates one specific resource somewhere on the internet.</a:t>
            </a:r>
            <a:endParaRPr lang="en-US" sz="1450" dirty="0"/>
          </a:p>
        </p:txBody>
      </p:sp>
      <p:sp>
        <p:nvSpPr>
          <p:cNvPr id="8" name="Shape 5"/>
          <p:cNvSpPr/>
          <p:nvPr/>
        </p:nvSpPr>
        <p:spPr>
          <a:xfrm>
            <a:off x="914400" y="1975104"/>
            <a:ext cx="10360152" cy="822960"/>
          </a:xfrm>
          <a:prstGeom prst="roundRect">
            <a:avLst>
              <a:gd name="adj" fmla="val 20000"/>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pic>
        <p:nvPicPr>
          <p:cNvPr id="9" name="Image 0" descr="preencoded.png">    </p:cNvPr>
          <p:cNvPicPr>
            <a:picLocks noChangeAspect="1"/>
          </p:cNvPicPr>
          <p:nvPr/>
        </p:nvPicPr>
        <p:blipFill>
          <a:blip r:embed="rId1"/>
          <a:stretch>
            <a:fillRect/>
          </a:stretch>
        </p:blipFill>
        <p:spPr>
          <a:xfrm>
            <a:off x="1188720" y="2258568"/>
            <a:ext cx="237744" cy="237744"/>
          </a:xfrm>
          <a:prstGeom prst="rect">
            <a:avLst/>
          </a:prstGeom>
        </p:spPr>
      </p:pic>
      <p:sp>
        <p:nvSpPr>
          <p:cNvPr id="10" name="Shape 6"/>
          <p:cNvSpPr/>
          <p:nvPr/>
        </p:nvSpPr>
        <p:spPr>
          <a:xfrm>
            <a:off x="1645920" y="2148840"/>
            <a:ext cx="1234440" cy="475488"/>
          </a:xfrm>
          <a:prstGeom prst="roundRect">
            <a:avLst>
              <a:gd name="adj" fmla="val 15385"/>
            </a:avLst>
          </a:prstGeom>
          <a:solidFill>
            <a:srgbClr val="F2F1ED"/>
          </a:solidFill>
          <a:ln w="12700">
            <a:solidFill>
              <a:srgbClr val="E2DFD8"/>
            </a:solidFill>
            <a:prstDash val="solid"/>
          </a:ln>
        </p:spPr>
      </p:sp>
      <p:sp>
        <p:nvSpPr>
          <p:cNvPr id="11" name="Text 7"/>
          <p:cNvSpPr/>
          <p:nvPr/>
        </p:nvSpPr>
        <p:spPr>
          <a:xfrm>
            <a:off x="1645920" y="2148840"/>
            <a:ext cx="1234440" cy="475488"/>
          </a:xfrm>
          <a:prstGeom prst="rect">
            <a:avLst/>
          </a:prstGeom>
          <a:noFill/>
          <a:ln/>
        </p:spPr>
        <p:txBody>
          <a:bodyPr wrap="square" lIns="0" tIns="0" rIns="0" bIns="0" rtlCol="0" anchor="ctr"/>
          <a:lstStyle/>
          <a:p>
            <a:pPr algn="ctr" indent="0" marL="0">
              <a:buNone/>
            </a:pPr>
            <a:r>
              <a:rPr lang="en-US" sz="1300" dirty="0">
                <a:solidFill>
                  <a:srgbClr val="8A9099"/>
                </a:solidFill>
                <a:latin typeface="Courier New" pitchFamily="34" charset="0"/>
                <a:ea typeface="Courier New" pitchFamily="34" charset="-122"/>
                <a:cs typeface="Courier New" pitchFamily="34" charset="-120"/>
              </a:rPr>
              <a:t>https://</a:t>
            </a:r>
            <a:endParaRPr lang="en-US" sz="1300" dirty="0"/>
          </a:p>
        </p:txBody>
      </p:sp>
      <p:sp>
        <p:nvSpPr>
          <p:cNvPr id="12" name="Shape 8"/>
          <p:cNvSpPr/>
          <p:nvPr/>
        </p:nvSpPr>
        <p:spPr>
          <a:xfrm>
            <a:off x="2990088" y="2148840"/>
            <a:ext cx="2651760" cy="475488"/>
          </a:xfrm>
          <a:prstGeom prst="roundRect">
            <a:avLst>
              <a:gd name="adj" fmla="val 15385"/>
            </a:avLst>
          </a:prstGeom>
          <a:solidFill>
            <a:srgbClr val="FBE9E2"/>
          </a:solidFill>
          <a:ln w="12700">
            <a:solidFill>
              <a:srgbClr val="F0B9A6"/>
            </a:solidFill>
            <a:prstDash val="solid"/>
          </a:ln>
        </p:spPr>
      </p:sp>
      <p:sp>
        <p:nvSpPr>
          <p:cNvPr id="13" name="Text 9"/>
          <p:cNvSpPr/>
          <p:nvPr/>
        </p:nvSpPr>
        <p:spPr>
          <a:xfrm>
            <a:off x="2990088" y="2148840"/>
            <a:ext cx="2651760" cy="475488"/>
          </a:xfrm>
          <a:prstGeom prst="rect">
            <a:avLst/>
          </a:prstGeom>
          <a:noFill/>
          <a:ln/>
        </p:spPr>
        <p:txBody>
          <a:bodyPr wrap="square" lIns="0" tIns="0" rIns="0" bIns="0" rtlCol="0" anchor="ctr"/>
          <a:lstStyle/>
          <a:p>
            <a:pPr algn="ctr" indent="0" marL="0">
              <a:buNone/>
            </a:pPr>
            <a:r>
              <a:rPr lang="en-US" sz="1300" dirty="0">
                <a:solidFill>
                  <a:srgbClr val="E34F26"/>
                </a:solidFill>
                <a:latin typeface="Courier New" pitchFamily="34" charset="0"/>
                <a:ea typeface="Courier New" pitchFamily="34" charset="-122"/>
                <a:cs typeface="Courier New" pitchFamily="34" charset="-120"/>
              </a:rPr>
              <a:t>www.scaler.com</a:t>
            </a:r>
            <a:endParaRPr lang="en-US" sz="1300" dirty="0"/>
          </a:p>
        </p:txBody>
      </p:sp>
      <p:sp>
        <p:nvSpPr>
          <p:cNvPr id="14" name="Shape 10"/>
          <p:cNvSpPr/>
          <p:nvPr/>
        </p:nvSpPr>
        <p:spPr>
          <a:xfrm>
            <a:off x="5751576" y="2148840"/>
            <a:ext cx="2286000" cy="475488"/>
          </a:xfrm>
          <a:prstGeom prst="roundRect">
            <a:avLst>
              <a:gd name="adj" fmla="val 15385"/>
            </a:avLst>
          </a:prstGeom>
          <a:solidFill>
            <a:srgbClr val="F2F1ED"/>
          </a:solidFill>
          <a:ln w="12700">
            <a:solidFill>
              <a:srgbClr val="E2DFD8"/>
            </a:solidFill>
            <a:prstDash val="solid"/>
          </a:ln>
        </p:spPr>
      </p:sp>
      <p:sp>
        <p:nvSpPr>
          <p:cNvPr id="15" name="Text 11"/>
          <p:cNvSpPr/>
          <p:nvPr/>
        </p:nvSpPr>
        <p:spPr>
          <a:xfrm>
            <a:off x="5751576" y="2148840"/>
            <a:ext cx="2286000" cy="475488"/>
          </a:xfrm>
          <a:prstGeom prst="rect">
            <a:avLst/>
          </a:prstGeom>
          <a:noFill/>
          <a:ln/>
        </p:spPr>
        <p:txBody>
          <a:bodyPr wrap="square" lIns="0" tIns="0" rIns="0" bIns="0" rtlCol="0" anchor="ctr"/>
          <a:lstStyle/>
          <a:p>
            <a:pPr algn="ctr" indent="0" marL="0">
              <a:buNone/>
            </a:pPr>
            <a:r>
              <a:rPr lang="en-US" sz="1300" dirty="0">
                <a:solidFill>
                  <a:srgbClr val="1B1F24"/>
                </a:solidFill>
                <a:latin typeface="Courier New" pitchFamily="34" charset="0"/>
                <a:ea typeface="Courier New" pitchFamily="34" charset="-122"/>
                <a:cs typeface="Courier New" pitchFamily="34" charset="-120"/>
              </a:rPr>
              <a:t>/topics/html</a:t>
            </a:r>
            <a:endParaRPr lang="en-US" sz="1300" dirty="0"/>
          </a:p>
        </p:txBody>
      </p:sp>
      <p:sp>
        <p:nvSpPr>
          <p:cNvPr id="16" name="Shape 12"/>
          <p:cNvSpPr/>
          <p:nvPr/>
        </p:nvSpPr>
        <p:spPr>
          <a:xfrm>
            <a:off x="8147304" y="2148840"/>
            <a:ext cx="2194560" cy="475488"/>
          </a:xfrm>
          <a:prstGeom prst="roundRect">
            <a:avLst>
              <a:gd name="adj" fmla="val 15385"/>
            </a:avLst>
          </a:prstGeom>
          <a:solidFill>
            <a:srgbClr val="F2F1ED"/>
          </a:solidFill>
          <a:ln w="12700">
            <a:solidFill>
              <a:srgbClr val="E2DFD8"/>
            </a:solidFill>
            <a:prstDash val="solid"/>
          </a:ln>
        </p:spPr>
      </p:sp>
      <p:sp>
        <p:nvSpPr>
          <p:cNvPr id="17" name="Text 13"/>
          <p:cNvSpPr/>
          <p:nvPr/>
        </p:nvSpPr>
        <p:spPr>
          <a:xfrm>
            <a:off x="8147304" y="2148840"/>
            <a:ext cx="2194560" cy="475488"/>
          </a:xfrm>
          <a:prstGeom prst="rect">
            <a:avLst/>
          </a:prstGeom>
          <a:noFill/>
          <a:ln/>
        </p:spPr>
        <p:txBody>
          <a:bodyPr wrap="square" lIns="0" tIns="0" rIns="0" bIns="0" rtlCol="0" anchor="ctr"/>
          <a:lstStyle/>
          <a:p>
            <a:pPr algn="ctr" indent="0" marL="0">
              <a:buNone/>
            </a:pPr>
            <a:r>
              <a:rPr lang="en-US" sz="1300" dirty="0">
                <a:solidFill>
                  <a:srgbClr val="8A9099"/>
                </a:solidFill>
                <a:latin typeface="Courier New" pitchFamily="34" charset="0"/>
                <a:ea typeface="Courier New" pitchFamily="34" charset="-122"/>
                <a:cs typeface="Courier New" pitchFamily="34" charset="-120"/>
              </a:rPr>
              <a:t>?tab=basics</a:t>
            </a:r>
            <a:endParaRPr lang="en-US" sz="1300" dirty="0"/>
          </a:p>
        </p:txBody>
      </p:sp>
      <p:sp>
        <p:nvSpPr>
          <p:cNvPr id="18" name="Shape 14"/>
          <p:cNvSpPr/>
          <p:nvPr/>
        </p:nvSpPr>
        <p:spPr>
          <a:xfrm>
            <a:off x="640080" y="3108960"/>
            <a:ext cx="2542032" cy="2057400"/>
          </a:xfrm>
          <a:prstGeom prst="roundRect">
            <a:avLst>
              <a:gd name="adj" fmla="val 4444"/>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9" name="Shape 15"/>
          <p:cNvSpPr/>
          <p:nvPr/>
        </p:nvSpPr>
        <p:spPr>
          <a:xfrm>
            <a:off x="877824" y="3328416"/>
            <a:ext cx="457200" cy="457200"/>
          </a:xfrm>
          <a:prstGeom prst="roundRect">
            <a:avLst>
              <a:gd name="adj" fmla="val 20000"/>
            </a:avLst>
          </a:prstGeom>
          <a:solidFill>
            <a:srgbClr val="FFFFFF"/>
          </a:solidFill>
          <a:ln w="12700">
            <a:solidFill>
              <a:srgbClr val="D5D1C8"/>
            </a:solidFill>
            <a:prstDash val="solid"/>
          </a:ln>
        </p:spPr>
      </p:sp>
      <p:pic>
        <p:nvPicPr>
          <p:cNvPr id="20" name="Image 1" descr="preencoded.png">    </p:cNvPr>
          <p:cNvPicPr>
            <a:picLocks noChangeAspect="1"/>
          </p:cNvPicPr>
          <p:nvPr/>
        </p:nvPicPr>
        <p:blipFill>
          <a:blip r:embed="rId2"/>
          <a:stretch>
            <a:fillRect/>
          </a:stretch>
        </p:blipFill>
        <p:spPr>
          <a:xfrm>
            <a:off x="996696" y="3447288"/>
            <a:ext cx="219456" cy="219456"/>
          </a:xfrm>
          <a:prstGeom prst="rect">
            <a:avLst/>
          </a:prstGeom>
        </p:spPr>
      </p:pic>
      <p:sp>
        <p:nvSpPr>
          <p:cNvPr id="21" name="Text 16"/>
          <p:cNvSpPr/>
          <p:nvPr/>
        </p:nvSpPr>
        <p:spPr>
          <a:xfrm>
            <a:off x="1426464" y="3328416"/>
            <a:ext cx="1536192" cy="457200"/>
          </a:xfrm>
          <a:prstGeom prst="rect">
            <a:avLst/>
          </a:prstGeom>
          <a:noFill/>
          <a:ln/>
        </p:spPr>
        <p:txBody>
          <a:bodyPr wrap="square" lIns="0" tIns="0" rIns="0" bIns="0" rtlCol="0" anchor="ctr"/>
          <a:lstStyle/>
          <a:p>
            <a:pPr indent="0" marL="0">
              <a:buNone/>
            </a:pPr>
            <a:r>
              <a:rPr lang="en-US" sz="1000" b="1" spc="200" kern="0" dirty="0">
                <a:solidFill>
                  <a:srgbClr val="E34F26"/>
                </a:solidFill>
                <a:latin typeface="Calibri" pitchFamily="34" charset="0"/>
                <a:ea typeface="Calibri" pitchFamily="34" charset="-122"/>
                <a:cs typeface="Calibri" pitchFamily="34" charset="-120"/>
              </a:rPr>
              <a:t>PROTOCOL</a:t>
            </a:r>
            <a:endParaRPr lang="en-US" sz="1000" dirty="0"/>
          </a:p>
        </p:txBody>
      </p:sp>
      <p:sp>
        <p:nvSpPr>
          <p:cNvPr id="22" name="Text 17"/>
          <p:cNvSpPr/>
          <p:nvPr/>
        </p:nvSpPr>
        <p:spPr>
          <a:xfrm>
            <a:off x="877824" y="3895344"/>
            <a:ext cx="2066544" cy="292608"/>
          </a:xfrm>
          <a:prstGeom prst="rect">
            <a:avLst/>
          </a:prstGeom>
          <a:noFill/>
          <a:ln/>
        </p:spPr>
        <p:txBody>
          <a:bodyPr wrap="square" lIns="0" tIns="0" rIns="0" bIns="0" rtlCol="0" anchor="ctr"/>
          <a:lstStyle/>
          <a:p>
            <a:pPr indent="0" marL="0">
              <a:buNone/>
            </a:pPr>
            <a:r>
              <a:rPr lang="en-US" sz="1200" dirty="0">
                <a:solidFill>
                  <a:srgbClr val="1B1F24"/>
                </a:solidFill>
                <a:latin typeface="Courier New" pitchFamily="34" charset="0"/>
                <a:ea typeface="Courier New" pitchFamily="34" charset="-122"/>
                <a:cs typeface="Courier New" pitchFamily="34" charset="-120"/>
              </a:rPr>
              <a:t>https://</a:t>
            </a:r>
            <a:endParaRPr lang="en-US" sz="1200" dirty="0"/>
          </a:p>
        </p:txBody>
      </p:sp>
      <p:sp>
        <p:nvSpPr>
          <p:cNvPr id="23" name="Text 18"/>
          <p:cNvSpPr/>
          <p:nvPr/>
        </p:nvSpPr>
        <p:spPr>
          <a:xfrm>
            <a:off x="877824" y="4242816"/>
            <a:ext cx="2066544" cy="822960"/>
          </a:xfrm>
          <a:prstGeom prst="rect">
            <a:avLst/>
          </a:prstGeom>
          <a:noFill/>
          <a:ln/>
        </p:spPr>
        <p:txBody>
          <a:bodyPr wrap="square" lIns="0" tIns="0" rIns="0" bIns="0" rtlCol="0" anchor="t"/>
          <a:lstStyle/>
          <a:p>
            <a:pPr algn="l" indent="0" marL="0">
              <a:lnSpc>
                <a:spcPts val="1600"/>
              </a:lnSpc>
              <a:buNone/>
            </a:pPr>
            <a:r>
              <a:rPr lang="en-US" sz="1200" dirty="0">
                <a:solidFill>
                  <a:srgbClr val="5A6069"/>
                </a:solidFill>
                <a:latin typeface="Calibri" pitchFamily="34" charset="0"/>
                <a:ea typeface="Calibri" pitchFamily="34" charset="-122"/>
                <a:cs typeface="Calibri" pitchFamily="34" charset="-120"/>
              </a:rPr>
              <a:t>The rules for the conversation. The s means it is encrypted.</a:t>
            </a:r>
            <a:endParaRPr lang="en-US" sz="1200" dirty="0"/>
          </a:p>
        </p:txBody>
      </p:sp>
      <p:sp>
        <p:nvSpPr>
          <p:cNvPr id="24" name="Shape 19"/>
          <p:cNvSpPr/>
          <p:nvPr/>
        </p:nvSpPr>
        <p:spPr>
          <a:xfrm>
            <a:off x="3483864" y="3108960"/>
            <a:ext cx="2542032" cy="2057400"/>
          </a:xfrm>
          <a:prstGeom prst="roundRect">
            <a:avLst>
              <a:gd name="adj" fmla="val 4444"/>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25" name="Shape 20"/>
          <p:cNvSpPr/>
          <p:nvPr/>
        </p:nvSpPr>
        <p:spPr>
          <a:xfrm>
            <a:off x="3721608" y="3328416"/>
            <a:ext cx="457200" cy="457200"/>
          </a:xfrm>
          <a:prstGeom prst="roundRect">
            <a:avLst>
              <a:gd name="adj" fmla="val 20000"/>
            </a:avLst>
          </a:prstGeom>
          <a:solidFill>
            <a:srgbClr val="FFFFFF"/>
          </a:solidFill>
          <a:ln w="12700">
            <a:solidFill>
              <a:srgbClr val="D5D1C8"/>
            </a:solidFill>
            <a:prstDash val="solid"/>
          </a:ln>
        </p:spPr>
      </p:sp>
      <p:pic>
        <p:nvPicPr>
          <p:cNvPr id="26" name="Image 2" descr="preencoded.png">    </p:cNvPr>
          <p:cNvPicPr>
            <a:picLocks noChangeAspect="1"/>
          </p:cNvPicPr>
          <p:nvPr/>
        </p:nvPicPr>
        <p:blipFill>
          <a:blip r:embed="rId3"/>
          <a:stretch>
            <a:fillRect/>
          </a:stretch>
        </p:blipFill>
        <p:spPr>
          <a:xfrm>
            <a:off x="3840480" y="3447288"/>
            <a:ext cx="219456" cy="219456"/>
          </a:xfrm>
          <a:prstGeom prst="rect">
            <a:avLst/>
          </a:prstGeom>
        </p:spPr>
      </p:pic>
      <p:sp>
        <p:nvSpPr>
          <p:cNvPr id="27" name="Text 21"/>
          <p:cNvSpPr/>
          <p:nvPr/>
        </p:nvSpPr>
        <p:spPr>
          <a:xfrm>
            <a:off x="4270248" y="3328416"/>
            <a:ext cx="1536192" cy="457200"/>
          </a:xfrm>
          <a:prstGeom prst="rect">
            <a:avLst/>
          </a:prstGeom>
          <a:noFill/>
          <a:ln/>
        </p:spPr>
        <p:txBody>
          <a:bodyPr wrap="square" lIns="0" tIns="0" rIns="0" bIns="0" rtlCol="0" anchor="ctr"/>
          <a:lstStyle/>
          <a:p>
            <a:pPr indent="0" marL="0">
              <a:buNone/>
            </a:pPr>
            <a:r>
              <a:rPr lang="en-US" sz="1000" b="1" spc="200" kern="0" dirty="0">
                <a:solidFill>
                  <a:srgbClr val="E34F26"/>
                </a:solidFill>
                <a:latin typeface="Calibri" pitchFamily="34" charset="0"/>
                <a:ea typeface="Calibri" pitchFamily="34" charset="-122"/>
                <a:cs typeface="Calibri" pitchFamily="34" charset="-120"/>
              </a:rPr>
              <a:t>DOMAIN</a:t>
            </a:r>
            <a:endParaRPr lang="en-US" sz="1000" dirty="0"/>
          </a:p>
        </p:txBody>
      </p:sp>
      <p:sp>
        <p:nvSpPr>
          <p:cNvPr id="28" name="Text 22"/>
          <p:cNvSpPr/>
          <p:nvPr/>
        </p:nvSpPr>
        <p:spPr>
          <a:xfrm>
            <a:off x="3721608" y="3895344"/>
            <a:ext cx="2066544" cy="292608"/>
          </a:xfrm>
          <a:prstGeom prst="rect">
            <a:avLst/>
          </a:prstGeom>
          <a:noFill/>
          <a:ln/>
        </p:spPr>
        <p:txBody>
          <a:bodyPr wrap="square" lIns="0" tIns="0" rIns="0" bIns="0" rtlCol="0" anchor="ctr"/>
          <a:lstStyle/>
          <a:p>
            <a:pPr indent="0" marL="0">
              <a:buNone/>
            </a:pPr>
            <a:r>
              <a:rPr lang="en-US" sz="1200" dirty="0">
                <a:solidFill>
                  <a:srgbClr val="1B1F24"/>
                </a:solidFill>
                <a:latin typeface="Courier New" pitchFamily="34" charset="0"/>
                <a:ea typeface="Courier New" pitchFamily="34" charset="-122"/>
                <a:cs typeface="Courier New" pitchFamily="34" charset="-120"/>
              </a:rPr>
              <a:t>www.scaler.com</a:t>
            </a:r>
            <a:endParaRPr lang="en-US" sz="1200" dirty="0"/>
          </a:p>
        </p:txBody>
      </p:sp>
      <p:sp>
        <p:nvSpPr>
          <p:cNvPr id="29" name="Text 23"/>
          <p:cNvSpPr/>
          <p:nvPr/>
        </p:nvSpPr>
        <p:spPr>
          <a:xfrm>
            <a:off x="3721608" y="4242816"/>
            <a:ext cx="2066544" cy="822960"/>
          </a:xfrm>
          <a:prstGeom prst="rect">
            <a:avLst/>
          </a:prstGeom>
          <a:noFill/>
          <a:ln/>
        </p:spPr>
        <p:txBody>
          <a:bodyPr wrap="square" lIns="0" tIns="0" rIns="0" bIns="0" rtlCol="0" anchor="t"/>
          <a:lstStyle/>
          <a:p>
            <a:pPr algn="l" indent="0" marL="0">
              <a:lnSpc>
                <a:spcPts val="1600"/>
              </a:lnSpc>
              <a:buNone/>
            </a:pPr>
            <a:r>
              <a:rPr lang="en-US" sz="1200" dirty="0">
                <a:solidFill>
                  <a:srgbClr val="5A6069"/>
                </a:solidFill>
                <a:latin typeface="Calibri" pitchFamily="34" charset="0"/>
                <a:ea typeface="Calibri" pitchFamily="34" charset="-122"/>
                <a:cs typeface="Calibri" pitchFamily="34" charset="-120"/>
              </a:rPr>
              <a:t>The human friendly name. DNS turns this into the address of a machine.</a:t>
            </a:r>
            <a:endParaRPr lang="en-US" sz="1200" dirty="0"/>
          </a:p>
        </p:txBody>
      </p:sp>
      <p:sp>
        <p:nvSpPr>
          <p:cNvPr id="30" name="Shape 24"/>
          <p:cNvSpPr/>
          <p:nvPr/>
        </p:nvSpPr>
        <p:spPr>
          <a:xfrm>
            <a:off x="6327648" y="3108960"/>
            <a:ext cx="2542032" cy="2057400"/>
          </a:xfrm>
          <a:prstGeom prst="roundRect">
            <a:avLst>
              <a:gd name="adj" fmla="val 4444"/>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1" name="Shape 25"/>
          <p:cNvSpPr/>
          <p:nvPr/>
        </p:nvSpPr>
        <p:spPr>
          <a:xfrm>
            <a:off x="6565392" y="3328416"/>
            <a:ext cx="457200" cy="457200"/>
          </a:xfrm>
          <a:prstGeom prst="roundRect">
            <a:avLst>
              <a:gd name="adj" fmla="val 20000"/>
            </a:avLst>
          </a:prstGeom>
          <a:solidFill>
            <a:srgbClr val="FFFFFF"/>
          </a:solidFill>
          <a:ln w="12700">
            <a:solidFill>
              <a:srgbClr val="D5D1C8"/>
            </a:solidFill>
            <a:prstDash val="solid"/>
          </a:ln>
        </p:spPr>
      </p:sp>
      <p:pic>
        <p:nvPicPr>
          <p:cNvPr id="32" name="Image 3" descr="preencoded.png">    </p:cNvPr>
          <p:cNvPicPr>
            <a:picLocks noChangeAspect="1"/>
          </p:cNvPicPr>
          <p:nvPr/>
        </p:nvPicPr>
        <p:blipFill>
          <a:blip r:embed="rId4"/>
          <a:stretch>
            <a:fillRect/>
          </a:stretch>
        </p:blipFill>
        <p:spPr>
          <a:xfrm>
            <a:off x="6684264" y="3447288"/>
            <a:ext cx="219456" cy="219456"/>
          </a:xfrm>
          <a:prstGeom prst="rect">
            <a:avLst/>
          </a:prstGeom>
        </p:spPr>
      </p:pic>
      <p:sp>
        <p:nvSpPr>
          <p:cNvPr id="33" name="Text 26"/>
          <p:cNvSpPr/>
          <p:nvPr/>
        </p:nvSpPr>
        <p:spPr>
          <a:xfrm>
            <a:off x="7114032" y="3328416"/>
            <a:ext cx="1536192" cy="457200"/>
          </a:xfrm>
          <a:prstGeom prst="rect">
            <a:avLst/>
          </a:prstGeom>
          <a:noFill/>
          <a:ln/>
        </p:spPr>
        <p:txBody>
          <a:bodyPr wrap="square" lIns="0" tIns="0" rIns="0" bIns="0" rtlCol="0" anchor="ctr"/>
          <a:lstStyle/>
          <a:p>
            <a:pPr indent="0" marL="0">
              <a:buNone/>
            </a:pPr>
            <a:r>
              <a:rPr lang="en-US" sz="1000" b="1" spc="200" kern="0" dirty="0">
                <a:solidFill>
                  <a:srgbClr val="E34F26"/>
                </a:solidFill>
                <a:latin typeface="Calibri" pitchFamily="34" charset="0"/>
                <a:ea typeface="Calibri" pitchFamily="34" charset="-122"/>
                <a:cs typeface="Calibri" pitchFamily="34" charset="-120"/>
              </a:rPr>
              <a:t>PATH</a:t>
            </a:r>
            <a:endParaRPr lang="en-US" sz="1000" dirty="0"/>
          </a:p>
        </p:txBody>
      </p:sp>
      <p:sp>
        <p:nvSpPr>
          <p:cNvPr id="34" name="Text 27"/>
          <p:cNvSpPr/>
          <p:nvPr/>
        </p:nvSpPr>
        <p:spPr>
          <a:xfrm>
            <a:off x="6565392" y="3895344"/>
            <a:ext cx="2066544" cy="292608"/>
          </a:xfrm>
          <a:prstGeom prst="rect">
            <a:avLst/>
          </a:prstGeom>
          <a:noFill/>
          <a:ln/>
        </p:spPr>
        <p:txBody>
          <a:bodyPr wrap="square" lIns="0" tIns="0" rIns="0" bIns="0" rtlCol="0" anchor="ctr"/>
          <a:lstStyle/>
          <a:p>
            <a:pPr indent="0" marL="0">
              <a:buNone/>
            </a:pPr>
            <a:r>
              <a:rPr lang="en-US" sz="1200" dirty="0">
                <a:solidFill>
                  <a:srgbClr val="1B1F24"/>
                </a:solidFill>
                <a:latin typeface="Courier New" pitchFamily="34" charset="0"/>
                <a:ea typeface="Courier New" pitchFamily="34" charset="-122"/>
                <a:cs typeface="Courier New" pitchFamily="34" charset="-120"/>
              </a:rPr>
              <a:t>/topics/html</a:t>
            </a:r>
            <a:endParaRPr lang="en-US" sz="1200" dirty="0"/>
          </a:p>
        </p:txBody>
      </p:sp>
      <p:sp>
        <p:nvSpPr>
          <p:cNvPr id="35" name="Text 28"/>
          <p:cNvSpPr/>
          <p:nvPr/>
        </p:nvSpPr>
        <p:spPr>
          <a:xfrm>
            <a:off x="6565392" y="4242816"/>
            <a:ext cx="2066544" cy="822960"/>
          </a:xfrm>
          <a:prstGeom prst="rect">
            <a:avLst/>
          </a:prstGeom>
          <a:noFill/>
          <a:ln/>
        </p:spPr>
        <p:txBody>
          <a:bodyPr wrap="square" lIns="0" tIns="0" rIns="0" bIns="0" rtlCol="0" anchor="t"/>
          <a:lstStyle/>
          <a:p>
            <a:pPr algn="l" indent="0" marL="0">
              <a:lnSpc>
                <a:spcPts val="1600"/>
              </a:lnSpc>
              <a:buNone/>
            </a:pPr>
            <a:r>
              <a:rPr lang="en-US" sz="1200" dirty="0">
                <a:solidFill>
                  <a:srgbClr val="5A6069"/>
                </a:solidFill>
                <a:latin typeface="Calibri" pitchFamily="34" charset="0"/>
                <a:ea typeface="Calibri" pitchFamily="34" charset="-122"/>
                <a:cs typeface="Calibri" pitchFamily="34" charset="-120"/>
              </a:rPr>
              <a:t>Which resource on that machine you actually want.</a:t>
            </a:r>
            <a:endParaRPr lang="en-US" sz="1200" dirty="0"/>
          </a:p>
        </p:txBody>
      </p:sp>
      <p:sp>
        <p:nvSpPr>
          <p:cNvPr id="36" name="Shape 29"/>
          <p:cNvSpPr/>
          <p:nvPr/>
        </p:nvSpPr>
        <p:spPr>
          <a:xfrm>
            <a:off x="9171432" y="3108960"/>
            <a:ext cx="2542032" cy="2057400"/>
          </a:xfrm>
          <a:prstGeom prst="roundRect">
            <a:avLst>
              <a:gd name="adj" fmla="val 4444"/>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7" name="Shape 30"/>
          <p:cNvSpPr/>
          <p:nvPr/>
        </p:nvSpPr>
        <p:spPr>
          <a:xfrm>
            <a:off x="9409176" y="3328416"/>
            <a:ext cx="457200" cy="457200"/>
          </a:xfrm>
          <a:prstGeom prst="roundRect">
            <a:avLst>
              <a:gd name="adj" fmla="val 20000"/>
            </a:avLst>
          </a:prstGeom>
          <a:solidFill>
            <a:srgbClr val="FFFFFF"/>
          </a:solidFill>
          <a:ln w="12700">
            <a:solidFill>
              <a:srgbClr val="D5D1C8"/>
            </a:solidFill>
            <a:prstDash val="solid"/>
          </a:ln>
        </p:spPr>
      </p:sp>
      <p:pic>
        <p:nvPicPr>
          <p:cNvPr id="38" name="Image 4" descr="preencoded.png">    </p:cNvPr>
          <p:cNvPicPr>
            <a:picLocks noChangeAspect="1"/>
          </p:cNvPicPr>
          <p:nvPr/>
        </p:nvPicPr>
        <p:blipFill>
          <a:blip r:embed="rId5"/>
          <a:stretch>
            <a:fillRect/>
          </a:stretch>
        </p:blipFill>
        <p:spPr>
          <a:xfrm>
            <a:off x="9528048" y="3447288"/>
            <a:ext cx="219456" cy="219456"/>
          </a:xfrm>
          <a:prstGeom prst="rect">
            <a:avLst/>
          </a:prstGeom>
        </p:spPr>
      </p:pic>
      <p:sp>
        <p:nvSpPr>
          <p:cNvPr id="39" name="Text 31"/>
          <p:cNvSpPr/>
          <p:nvPr/>
        </p:nvSpPr>
        <p:spPr>
          <a:xfrm>
            <a:off x="9957816" y="3328416"/>
            <a:ext cx="1536192" cy="457200"/>
          </a:xfrm>
          <a:prstGeom prst="rect">
            <a:avLst/>
          </a:prstGeom>
          <a:noFill/>
          <a:ln/>
        </p:spPr>
        <p:txBody>
          <a:bodyPr wrap="square" lIns="0" tIns="0" rIns="0" bIns="0" rtlCol="0" anchor="ctr"/>
          <a:lstStyle/>
          <a:p>
            <a:pPr indent="0" marL="0">
              <a:buNone/>
            </a:pPr>
            <a:r>
              <a:rPr lang="en-US" sz="1000" b="1" spc="200" kern="0" dirty="0">
                <a:solidFill>
                  <a:srgbClr val="E34F26"/>
                </a:solidFill>
                <a:latin typeface="Calibri" pitchFamily="34" charset="0"/>
                <a:ea typeface="Calibri" pitchFamily="34" charset="-122"/>
                <a:cs typeface="Calibri" pitchFamily="34" charset="-120"/>
              </a:rPr>
              <a:t>QUERY</a:t>
            </a:r>
            <a:endParaRPr lang="en-US" sz="1000" dirty="0"/>
          </a:p>
        </p:txBody>
      </p:sp>
      <p:sp>
        <p:nvSpPr>
          <p:cNvPr id="40" name="Text 32"/>
          <p:cNvSpPr/>
          <p:nvPr/>
        </p:nvSpPr>
        <p:spPr>
          <a:xfrm>
            <a:off x="9409176" y="3895344"/>
            <a:ext cx="2066544" cy="292608"/>
          </a:xfrm>
          <a:prstGeom prst="rect">
            <a:avLst/>
          </a:prstGeom>
          <a:noFill/>
          <a:ln/>
        </p:spPr>
        <p:txBody>
          <a:bodyPr wrap="square" lIns="0" tIns="0" rIns="0" bIns="0" rtlCol="0" anchor="ctr"/>
          <a:lstStyle/>
          <a:p>
            <a:pPr indent="0" marL="0">
              <a:buNone/>
            </a:pPr>
            <a:r>
              <a:rPr lang="en-US" sz="1200" dirty="0">
                <a:solidFill>
                  <a:srgbClr val="1B1F24"/>
                </a:solidFill>
                <a:latin typeface="Courier New" pitchFamily="34" charset="0"/>
                <a:ea typeface="Courier New" pitchFamily="34" charset="-122"/>
                <a:cs typeface="Courier New" pitchFamily="34" charset="-120"/>
              </a:rPr>
              <a:t>?tab=basics</a:t>
            </a:r>
            <a:endParaRPr lang="en-US" sz="1200" dirty="0"/>
          </a:p>
        </p:txBody>
      </p:sp>
      <p:sp>
        <p:nvSpPr>
          <p:cNvPr id="41" name="Text 33"/>
          <p:cNvSpPr/>
          <p:nvPr/>
        </p:nvSpPr>
        <p:spPr>
          <a:xfrm>
            <a:off x="9409176" y="4242816"/>
            <a:ext cx="2066544" cy="822960"/>
          </a:xfrm>
          <a:prstGeom prst="rect">
            <a:avLst/>
          </a:prstGeom>
          <a:noFill/>
          <a:ln/>
        </p:spPr>
        <p:txBody>
          <a:bodyPr wrap="square" lIns="0" tIns="0" rIns="0" bIns="0" rtlCol="0" anchor="t"/>
          <a:lstStyle/>
          <a:p>
            <a:pPr algn="l" indent="0" marL="0">
              <a:lnSpc>
                <a:spcPts val="1600"/>
              </a:lnSpc>
              <a:buNone/>
            </a:pPr>
            <a:r>
              <a:rPr lang="en-US" sz="1200" dirty="0">
                <a:solidFill>
                  <a:srgbClr val="5A6069"/>
                </a:solidFill>
                <a:latin typeface="Calibri" pitchFamily="34" charset="0"/>
                <a:ea typeface="Calibri" pitchFamily="34" charset="-122"/>
                <a:cs typeface="Calibri" pitchFamily="34" charset="-120"/>
              </a:rPr>
              <a:t>Extra instructions for the server, written as key and value.</a:t>
            </a:r>
            <a:endParaRPr lang="en-US" sz="1200" dirty="0"/>
          </a:p>
        </p:txBody>
      </p:sp>
      <p:sp>
        <p:nvSpPr>
          <p:cNvPr id="42" name="Shape 34"/>
          <p:cNvSpPr/>
          <p:nvPr/>
        </p:nvSpPr>
        <p:spPr>
          <a:xfrm>
            <a:off x="640080" y="5413248"/>
            <a:ext cx="10881360" cy="566928"/>
          </a:xfrm>
          <a:prstGeom prst="roundRect">
            <a:avLst>
              <a:gd name="adj" fmla="val 12903"/>
            </a:avLst>
          </a:prstGeom>
          <a:solidFill>
            <a:srgbClr val="EFEEE9"/>
          </a:solidFill>
          <a:ln w="12700">
            <a:solidFill>
              <a:srgbClr val="D5D1C8"/>
            </a:solidFill>
            <a:prstDash val="solid"/>
          </a:ln>
        </p:spPr>
      </p:sp>
      <p:sp>
        <p:nvSpPr>
          <p:cNvPr id="43" name="Text 35"/>
          <p:cNvSpPr/>
          <p:nvPr/>
        </p:nvSpPr>
        <p:spPr>
          <a:xfrm>
            <a:off x="841248" y="5413248"/>
            <a:ext cx="10479024" cy="566928"/>
          </a:xfrm>
          <a:prstGeom prst="rect">
            <a:avLst/>
          </a:prstGeom>
          <a:noFill/>
          <a:ln/>
        </p:spPr>
        <p:txBody>
          <a:bodyPr wrap="square" lIns="0" tIns="0" rIns="0" bIns="0" rtlCol="0" anchor="ctr"/>
          <a:lstStyle/>
          <a:p>
            <a:pPr indent="0" marL="0">
              <a:lnSpc>
                <a:spcPts val="1600"/>
              </a:lnSpc>
              <a:buNone/>
            </a:pPr>
            <a:r>
              <a:rPr lang="en-US" sz="1150" dirty="0">
                <a:solidFill>
                  <a:srgbClr val="6E8A64"/>
                </a:solidFill>
                <a:latin typeface="Courier New" pitchFamily="34" charset="0"/>
                <a:ea typeface="Courier New" pitchFamily="34" charset="-122"/>
                <a:cs typeface="Courier New" pitchFamily="34" charset="-120"/>
              </a:rPr>
              <a:t>&lt;!-- the address bar is the only bar where typing gibberish gets you a 404 instead of a bouncer --&gt;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04</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&lt;the-process&gt;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What happens after you hit Enter</a:t>
            </a:r>
            <a:endParaRPr lang="en-US" sz="3400" dirty="0"/>
          </a:p>
        </p:txBody>
      </p:sp>
      <p:sp>
        <p:nvSpPr>
          <p:cNvPr id="7" name="Shape 4"/>
          <p:cNvSpPr/>
          <p:nvPr/>
        </p:nvSpPr>
        <p:spPr>
          <a:xfrm>
            <a:off x="822960" y="1691640"/>
            <a:ext cx="2926080" cy="2377440"/>
          </a:xfrm>
          <a:prstGeom prst="roundRect">
            <a:avLst>
              <a:gd name="adj" fmla="val 3846"/>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8" name="Shape 5"/>
          <p:cNvSpPr/>
          <p:nvPr/>
        </p:nvSpPr>
        <p:spPr>
          <a:xfrm>
            <a:off x="1956816" y="1965960"/>
            <a:ext cx="658368" cy="658368"/>
          </a:xfrm>
          <a:prstGeom prst="roundRect">
            <a:avLst>
              <a:gd name="adj" fmla="val 13889"/>
            </a:avLst>
          </a:prstGeom>
          <a:solidFill>
            <a:srgbClr val="FFFFFF"/>
          </a:solidFill>
          <a:ln w="12700">
            <a:solidFill>
              <a:srgbClr val="D5D1C8"/>
            </a:solidFill>
            <a:prstDash val="solid"/>
          </a:ln>
        </p:spPr>
      </p:sp>
      <p:pic>
        <p:nvPicPr>
          <p:cNvPr id="9" name="Image 0" descr="preencoded.png">    </p:cNvPr>
          <p:cNvPicPr>
            <a:picLocks noChangeAspect="1"/>
          </p:cNvPicPr>
          <p:nvPr/>
        </p:nvPicPr>
        <p:blipFill>
          <a:blip r:embed="rId1"/>
          <a:stretch>
            <a:fillRect/>
          </a:stretch>
        </p:blipFill>
        <p:spPr>
          <a:xfrm>
            <a:off x="2127992" y="2137136"/>
            <a:ext cx="316017" cy="316017"/>
          </a:xfrm>
          <a:prstGeom prst="rect">
            <a:avLst/>
          </a:prstGeom>
        </p:spPr>
      </p:pic>
      <p:sp>
        <p:nvSpPr>
          <p:cNvPr id="10" name="Text 6"/>
          <p:cNvSpPr/>
          <p:nvPr/>
        </p:nvSpPr>
        <p:spPr>
          <a:xfrm>
            <a:off x="1005840" y="2734056"/>
            <a:ext cx="2560320" cy="237744"/>
          </a:xfrm>
          <a:prstGeom prst="rect">
            <a:avLst/>
          </a:prstGeom>
          <a:noFill/>
          <a:ln/>
        </p:spPr>
        <p:txBody>
          <a:bodyPr wrap="square" lIns="0" tIns="0" rIns="0" bIns="0" rtlCol="0" anchor="ctr"/>
          <a:lstStyle/>
          <a:p>
            <a:pPr algn="ctr" indent="0" marL="0">
              <a:buNone/>
            </a:pPr>
            <a:r>
              <a:rPr lang="en-US" sz="950" b="1" spc="200" kern="0" dirty="0">
                <a:solidFill>
                  <a:srgbClr val="8A9099"/>
                </a:solidFill>
                <a:latin typeface="Calibri" pitchFamily="34" charset="0"/>
                <a:ea typeface="Calibri" pitchFamily="34" charset="-122"/>
                <a:cs typeface="Calibri" pitchFamily="34" charset="-120"/>
              </a:rPr>
              <a:t>YOU</a:t>
            </a:r>
            <a:endParaRPr lang="en-US" sz="950" dirty="0"/>
          </a:p>
        </p:txBody>
      </p:sp>
      <p:sp>
        <p:nvSpPr>
          <p:cNvPr id="11" name="Text 7"/>
          <p:cNvSpPr/>
          <p:nvPr/>
        </p:nvSpPr>
        <p:spPr>
          <a:xfrm>
            <a:off x="1005840" y="2990088"/>
            <a:ext cx="2560320" cy="310896"/>
          </a:xfrm>
          <a:prstGeom prst="rect">
            <a:avLst/>
          </a:prstGeom>
          <a:noFill/>
          <a:ln/>
        </p:spPr>
        <p:txBody>
          <a:bodyPr wrap="square" lIns="0" tIns="0" rIns="0" bIns="0" rtlCol="0" anchor="ctr"/>
          <a:lstStyle/>
          <a:p>
            <a:pPr algn="ctr" indent="0" marL="0">
              <a:buNone/>
            </a:pPr>
            <a:r>
              <a:rPr lang="en-US" sz="1800" b="1" dirty="0">
                <a:solidFill>
                  <a:srgbClr val="1B1F24"/>
                </a:solidFill>
                <a:latin typeface="Calibri" pitchFamily="34" charset="0"/>
                <a:ea typeface="Calibri" pitchFamily="34" charset="-122"/>
                <a:cs typeface="Calibri" pitchFamily="34" charset="-120"/>
              </a:rPr>
              <a:t>The client</a:t>
            </a:r>
            <a:endParaRPr lang="en-US" sz="1800" dirty="0"/>
          </a:p>
        </p:txBody>
      </p:sp>
      <p:sp>
        <p:nvSpPr>
          <p:cNvPr id="12" name="Text 8"/>
          <p:cNvSpPr/>
          <p:nvPr/>
        </p:nvSpPr>
        <p:spPr>
          <a:xfrm>
            <a:off x="1042416" y="3374136"/>
            <a:ext cx="2487168" cy="603504"/>
          </a:xfrm>
          <a:prstGeom prst="rect">
            <a:avLst/>
          </a:prstGeom>
          <a:noFill/>
          <a:ln/>
        </p:spPr>
        <p:txBody>
          <a:bodyPr wrap="square" lIns="0" tIns="0" rIns="0" bIns="0" rtlCol="0" anchor="t"/>
          <a:lstStyle/>
          <a:p>
            <a:pPr algn="ctr" indent="0" marL="0">
              <a:lnSpc>
                <a:spcPts val="1600"/>
              </a:lnSpc>
              <a:buNone/>
            </a:pPr>
            <a:r>
              <a:rPr lang="en-US" sz="1250" dirty="0">
                <a:solidFill>
                  <a:srgbClr val="5A6069"/>
                </a:solidFill>
                <a:latin typeface="Calibri" pitchFamily="34" charset="0"/>
                <a:ea typeface="Calibri" pitchFamily="34" charset="-122"/>
                <a:cs typeface="Calibri" pitchFamily="34" charset="-120"/>
              </a:rPr>
              <a:t>Your browser asks for a resource.</a:t>
            </a:r>
            <a:endParaRPr lang="en-US" sz="1250" dirty="0"/>
          </a:p>
        </p:txBody>
      </p:sp>
      <p:sp>
        <p:nvSpPr>
          <p:cNvPr id="13" name="Shape 9"/>
          <p:cNvSpPr/>
          <p:nvPr/>
        </p:nvSpPr>
        <p:spPr>
          <a:xfrm>
            <a:off x="4617720" y="1691640"/>
            <a:ext cx="2926080" cy="2377440"/>
          </a:xfrm>
          <a:prstGeom prst="roundRect">
            <a:avLst>
              <a:gd name="adj" fmla="val 3846"/>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14" name="Shape 10"/>
          <p:cNvSpPr/>
          <p:nvPr/>
        </p:nvSpPr>
        <p:spPr>
          <a:xfrm>
            <a:off x="5751576" y="1965960"/>
            <a:ext cx="658368" cy="658368"/>
          </a:xfrm>
          <a:prstGeom prst="roundRect">
            <a:avLst>
              <a:gd name="adj" fmla="val 13889"/>
            </a:avLst>
          </a:prstGeom>
          <a:solidFill>
            <a:srgbClr val="FFFFFF"/>
          </a:solidFill>
          <a:ln w="12700">
            <a:solidFill>
              <a:srgbClr val="D5D1C8"/>
            </a:solidFill>
            <a:prstDash val="solid"/>
          </a:ln>
        </p:spPr>
      </p:sp>
      <p:pic>
        <p:nvPicPr>
          <p:cNvPr id="15" name="Image 1" descr="preencoded.png">    </p:cNvPr>
          <p:cNvPicPr>
            <a:picLocks noChangeAspect="1"/>
          </p:cNvPicPr>
          <p:nvPr/>
        </p:nvPicPr>
        <p:blipFill>
          <a:blip r:embed="rId2"/>
          <a:stretch>
            <a:fillRect/>
          </a:stretch>
        </p:blipFill>
        <p:spPr>
          <a:xfrm>
            <a:off x="5922752" y="2137136"/>
            <a:ext cx="316017" cy="316017"/>
          </a:xfrm>
          <a:prstGeom prst="rect">
            <a:avLst/>
          </a:prstGeom>
        </p:spPr>
      </p:pic>
      <p:sp>
        <p:nvSpPr>
          <p:cNvPr id="16" name="Text 11"/>
          <p:cNvSpPr/>
          <p:nvPr/>
        </p:nvSpPr>
        <p:spPr>
          <a:xfrm>
            <a:off x="4800600" y="2734056"/>
            <a:ext cx="2560320" cy="237744"/>
          </a:xfrm>
          <a:prstGeom prst="rect">
            <a:avLst/>
          </a:prstGeom>
          <a:noFill/>
          <a:ln/>
        </p:spPr>
        <p:txBody>
          <a:bodyPr wrap="square" lIns="0" tIns="0" rIns="0" bIns="0" rtlCol="0" anchor="ctr"/>
          <a:lstStyle/>
          <a:p>
            <a:pPr algn="ctr" indent="0" marL="0">
              <a:buNone/>
            </a:pPr>
            <a:r>
              <a:rPr lang="en-US" sz="950" b="1" spc="200" kern="0" dirty="0">
                <a:solidFill>
                  <a:srgbClr val="8A9099"/>
                </a:solidFill>
                <a:latin typeface="Calibri" pitchFamily="34" charset="0"/>
                <a:ea typeface="Calibri" pitchFamily="34" charset="-122"/>
                <a:cs typeface="Calibri" pitchFamily="34" charset="-120"/>
              </a:rPr>
              <a:t>SOMEWHERE</a:t>
            </a:r>
            <a:endParaRPr lang="en-US" sz="950" dirty="0"/>
          </a:p>
        </p:txBody>
      </p:sp>
      <p:sp>
        <p:nvSpPr>
          <p:cNvPr id="17" name="Text 12"/>
          <p:cNvSpPr/>
          <p:nvPr/>
        </p:nvSpPr>
        <p:spPr>
          <a:xfrm>
            <a:off x="4800600" y="2990088"/>
            <a:ext cx="2560320" cy="310896"/>
          </a:xfrm>
          <a:prstGeom prst="rect">
            <a:avLst/>
          </a:prstGeom>
          <a:noFill/>
          <a:ln/>
        </p:spPr>
        <p:txBody>
          <a:bodyPr wrap="square" lIns="0" tIns="0" rIns="0" bIns="0" rtlCol="0" anchor="ctr"/>
          <a:lstStyle/>
          <a:p>
            <a:pPr algn="ctr" indent="0" marL="0">
              <a:buNone/>
            </a:pPr>
            <a:r>
              <a:rPr lang="en-US" sz="1800" b="1" dirty="0">
                <a:solidFill>
                  <a:srgbClr val="1B1F24"/>
                </a:solidFill>
                <a:latin typeface="Calibri" pitchFamily="34" charset="0"/>
                <a:ea typeface="Calibri" pitchFamily="34" charset="-122"/>
                <a:cs typeface="Calibri" pitchFamily="34" charset="-120"/>
              </a:rPr>
              <a:t>The server</a:t>
            </a:r>
            <a:endParaRPr lang="en-US" sz="1800" dirty="0"/>
          </a:p>
        </p:txBody>
      </p:sp>
      <p:sp>
        <p:nvSpPr>
          <p:cNvPr id="18" name="Text 13"/>
          <p:cNvSpPr/>
          <p:nvPr/>
        </p:nvSpPr>
        <p:spPr>
          <a:xfrm>
            <a:off x="4837176" y="3374136"/>
            <a:ext cx="2487168" cy="603504"/>
          </a:xfrm>
          <a:prstGeom prst="rect">
            <a:avLst/>
          </a:prstGeom>
          <a:noFill/>
          <a:ln/>
        </p:spPr>
        <p:txBody>
          <a:bodyPr wrap="square" lIns="0" tIns="0" rIns="0" bIns="0" rtlCol="0" anchor="t"/>
          <a:lstStyle/>
          <a:p>
            <a:pPr algn="ctr" indent="0" marL="0">
              <a:lnSpc>
                <a:spcPts val="1600"/>
              </a:lnSpc>
              <a:buNone/>
            </a:pPr>
            <a:r>
              <a:rPr lang="en-US" sz="1250" dirty="0">
                <a:solidFill>
                  <a:srgbClr val="5A6069"/>
                </a:solidFill>
                <a:latin typeface="Calibri" pitchFamily="34" charset="0"/>
                <a:ea typeface="Calibri" pitchFamily="34" charset="-122"/>
                <a:cs typeface="Calibri" pitchFamily="34" charset="-120"/>
              </a:rPr>
              <a:t>A program, not a place. It puts the response together.</a:t>
            </a:r>
            <a:endParaRPr lang="en-US" sz="1250" dirty="0"/>
          </a:p>
        </p:txBody>
      </p:sp>
      <p:sp>
        <p:nvSpPr>
          <p:cNvPr id="19" name="Shape 14"/>
          <p:cNvSpPr/>
          <p:nvPr/>
        </p:nvSpPr>
        <p:spPr>
          <a:xfrm>
            <a:off x="8412480" y="1691640"/>
            <a:ext cx="2926080" cy="2377440"/>
          </a:xfrm>
          <a:prstGeom prst="roundRect">
            <a:avLst>
              <a:gd name="adj" fmla="val 3846"/>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0" name="Shape 15"/>
          <p:cNvSpPr/>
          <p:nvPr/>
        </p:nvSpPr>
        <p:spPr>
          <a:xfrm>
            <a:off x="9546336" y="1965960"/>
            <a:ext cx="658368" cy="658368"/>
          </a:xfrm>
          <a:prstGeom prst="roundRect">
            <a:avLst>
              <a:gd name="adj" fmla="val 13889"/>
            </a:avLst>
          </a:prstGeom>
          <a:solidFill>
            <a:srgbClr val="FFFFFF"/>
          </a:solidFill>
          <a:ln w="12700">
            <a:solidFill>
              <a:srgbClr val="D5D1C8"/>
            </a:solidFill>
            <a:prstDash val="solid"/>
          </a:ln>
        </p:spPr>
      </p:sp>
      <p:pic>
        <p:nvPicPr>
          <p:cNvPr id="21" name="Image 2" descr="preencoded.png">    </p:cNvPr>
          <p:cNvPicPr>
            <a:picLocks noChangeAspect="1"/>
          </p:cNvPicPr>
          <p:nvPr/>
        </p:nvPicPr>
        <p:blipFill>
          <a:blip r:embed="rId3"/>
          <a:stretch>
            <a:fillRect/>
          </a:stretch>
        </p:blipFill>
        <p:spPr>
          <a:xfrm>
            <a:off x="9717512" y="2137136"/>
            <a:ext cx="316017" cy="316017"/>
          </a:xfrm>
          <a:prstGeom prst="rect">
            <a:avLst/>
          </a:prstGeom>
        </p:spPr>
      </p:pic>
      <p:sp>
        <p:nvSpPr>
          <p:cNvPr id="22" name="Text 16"/>
          <p:cNvSpPr/>
          <p:nvPr/>
        </p:nvSpPr>
        <p:spPr>
          <a:xfrm>
            <a:off x="8595360" y="2734056"/>
            <a:ext cx="2560320" cy="237744"/>
          </a:xfrm>
          <a:prstGeom prst="rect">
            <a:avLst/>
          </a:prstGeom>
          <a:noFill/>
          <a:ln/>
        </p:spPr>
        <p:txBody>
          <a:bodyPr wrap="square" lIns="0" tIns="0" rIns="0" bIns="0" rtlCol="0" anchor="ctr"/>
          <a:lstStyle/>
          <a:p>
            <a:pPr algn="ctr" indent="0" marL="0">
              <a:buNone/>
            </a:pPr>
            <a:r>
              <a:rPr lang="en-US" sz="950" b="1" spc="200" kern="0" dirty="0">
                <a:solidFill>
                  <a:srgbClr val="8A9099"/>
                </a:solidFill>
                <a:latin typeface="Calibri" pitchFamily="34" charset="0"/>
                <a:ea typeface="Calibri" pitchFamily="34" charset="-122"/>
                <a:cs typeface="Calibri" pitchFamily="34" charset="-120"/>
              </a:rPr>
              <a:t>STORAGE</a:t>
            </a:r>
            <a:endParaRPr lang="en-US" sz="950" dirty="0"/>
          </a:p>
        </p:txBody>
      </p:sp>
      <p:sp>
        <p:nvSpPr>
          <p:cNvPr id="23" name="Text 17"/>
          <p:cNvSpPr/>
          <p:nvPr/>
        </p:nvSpPr>
        <p:spPr>
          <a:xfrm>
            <a:off x="8595360" y="2990088"/>
            <a:ext cx="2560320" cy="310896"/>
          </a:xfrm>
          <a:prstGeom prst="rect">
            <a:avLst/>
          </a:prstGeom>
          <a:noFill/>
          <a:ln/>
        </p:spPr>
        <p:txBody>
          <a:bodyPr wrap="square" lIns="0" tIns="0" rIns="0" bIns="0" rtlCol="0" anchor="ctr"/>
          <a:lstStyle/>
          <a:p>
            <a:pPr algn="ctr" indent="0" marL="0">
              <a:buNone/>
            </a:pPr>
            <a:r>
              <a:rPr lang="en-US" sz="1800" b="1" dirty="0">
                <a:solidFill>
                  <a:srgbClr val="1B1F24"/>
                </a:solidFill>
                <a:latin typeface="Calibri" pitchFamily="34" charset="0"/>
                <a:ea typeface="Calibri" pitchFamily="34" charset="-122"/>
                <a:cs typeface="Calibri" pitchFamily="34" charset="-120"/>
              </a:rPr>
              <a:t>The database</a:t>
            </a:r>
            <a:endParaRPr lang="en-US" sz="1800" dirty="0"/>
          </a:p>
        </p:txBody>
      </p:sp>
      <p:sp>
        <p:nvSpPr>
          <p:cNvPr id="24" name="Text 18"/>
          <p:cNvSpPr/>
          <p:nvPr/>
        </p:nvSpPr>
        <p:spPr>
          <a:xfrm>
            <a:off x="8631936" y="3374136"/>
            <a:ext cx="2487168" cy="603504"/>
          </a:xfrm>
          <a:prstGeom prst="rect">
            <a:avLst/>
          </a:prstGeom>
          <a:noFill/>
          <a:ln/>
        </p:spPr>
        <p:txBody>
          <a:bodyPr wrap="square" lIns="0" tIns="0" rIns="0" bIns="0" rtlCol="0" anchor="t"/>
          <a:lstStyle/>
          <a:p>
            <a:pPr algn="ctr" indent="0" marL="0">
              <a:lnSpc>
                <a:spcPts val="1600"/>
              </a:lnSpc>
              <a:buNone/>
            </a:pPr>
            <a:r>
              <a:rPr lang="en-US" sz="1250" dirty="0">
                <a:solidFill>
                  <a:srgbClr val="5A6069"/>
                </a:solidFill>
                <a:latin typeface="Calibri" pitchFamily="34" charset="0"/>
                <a:ea typeface="Calibri" pitchFamily="34" charset="-122"/>
                <a:cs typeface="Calibri" pitchFamily="34" charset="-120"/>
              </a:rPr>
              <a:t>Where the actual data lives, waiting to be fetched.</a:t>
            </a:r>
            <a:endParaRPr lang="en-US" sz="1250" dirty="0"/>
          </a:p>
        </p:txBody>
      </p:sp>
      <p:sp>
        <p:nvSpPr>
          <p:cNvPr id="25" name="Text 19"/>
          <p:cNvSpPr/>
          <p:nvPr/>
        </p:nvSpPr>
        <p:spPr>
          <a:xfrm>
            <a:off x="3675888" y="2157984"/>
            <a:ext cx="1014984" cy="237744"/>
          </a:xfrm>
          <a:prstGeom prst="rect">
            <a:avLst/>
          </a:prstGeom>
          <a:noFill/>
          <a:ln/>
        </p:spPr>
        <p:txBody>
          <a:bodyPr wrap="square" lIns="0" tIns="0" rIns="0" bIns="0" rtlCol="0" anchor="ctr"/>
          <a:lstStyle/>
          <a:p>
            <a:pPr algn="ctr" indent="0" marL="0">
              <a:buNone/>
            </a:pPr>
            <a:r>
              <a:rPr lang="en-US" sz="1000" dirty="0">
                <a:solidFill>
                  <a:srgbClr val="E34F26"/>
                </a:solidFill>
                <a:latin typeface="Courier New" pitchFamily="34" charset="0"/>
                <a:ea typeface="Courier New" pitchFamily="34" charset="-122"/>
                <a:cs typeface="Courier New" pitchFamily="34" charset="-120"/>
              </a:rPr>
              <a:t>request</a:t>
            </a:r>
            <a:endParaRPr lang="en-US" sz="1000" dirty="0"/>
          </a:p>
        </p:txBody>
      </p:sp>
      <p:sp>
        <p:nvSpPr>
          <p:cNvPr id="26" name="Shape 20"/>
          <p:cNvSpPr/>
          <p:nvPr/>
        </p:nvSpPr>
        <p:spPr>
          <a:xfrm>
            <a:off x="3767328" y="2414016"/>
            <a:ext cx="832104" cy="219456"/>
          </a:xfrm>
          <a:prstGeom prst="rightArrow">
            <a:avLst/>
          </a:prstGeom>
          <a:solidFill>
            <a:srgbClr val="FBE9E2"/>
          </a:solidFill>
          <a:ln w="12700">
            <a:solidFill>
              <a:srgbClr val="F0B9A6"/>
            </a:solidFill>
            <a:prstDash val="solid"/>
          </a:ln>
        </p:spPr>
      </p:sp>
      <p:sp>
        <p:nvSpPr>
          <p:cNvPr id="27" name="Shape 21"/>
          <p:cNvSpPr/>
          <p:nvPr/>
        </p:nvSpPr>
        <p:spPr>
          <a:xfrm>
            <a:off x="3767328" y="2852928"/>
            <a:ext cx="832104" cy="219456"/>
          </a:xfrm>
          <a:prstGeom prst="leftArrow">
            <a:avLst/>
          </a:prstGeom>
          <a:solidFill>
            <a:srgbClr val="EEEDE8"/>
          </a:solidFill>
          <a:ln w="12700">
            <a:solidFill>
              <a:srgbClr val="D5D1C8"/>
            </a:solidFill>
            <a:prstDash val="solid"/>
          </a:ln>
        </p:spPr>
      </p:sp>
      <p:sp>
        <p:nvSpPr>
          <p:cNvPr id="28" name="Text 22"/>
          <p:cNvSpPr/>
          <p:nvPr/>
        </p:nvSpPr>
        <p:spPr>
          <a:xfrm>
            <a:off x="3675888" y="3108960"/>
            <a:ext cx="1014984" cy="237744"/>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response</a:t>
            </a:r>
            <a:endParaRPr lang="en-US" sz="1000" dirty="0"/>
          </a:p>
        </p:txBody>
      </p:sp>
      <p:sp>
        <p:nvSpPr>
          <p:cNvPr id="29" name="Text 23"/>
          <p:cNvSpPr/>
          <p:nvPr/>
        </p:nvSpPr>
        <p:spPr>
          <a:xfrm>
            <a:off x="7470648" y="2157984"/>
            <a:ext cx="1014984" cy="237744"/>
          </a:xfrm>
          <a:prstGeom prst="rect">
            <a:avLst/>
          </a:prstGeom>
          <a:noFill/>
          <a:ln/>
        </p:spPr>
        <p:txBody>
          <a:bodyPr wrap="square" lIns="0" tIns="0" rIns="0" bIns="0" rtlCol="0" anchor="ctr"/>
          <a:lstStyle/>
          <a:p>
            <a:pPr algn="ctr" indent="0" marL="0">
              <a:buNone/>
            </a:pPr>
            <a:r>
              <a:rPr lang="en-US" sz="1000" dirty="0">
                <a:solidFill>
                  <a:srgbClr val="E34F26"/>
                </a:solidFill>
                <a:latin typeface="Courier New" pitchFamily="34" charset="0"/>
                <a:ea typeface="Courier New" pitchFamily="34" charset="-122"/>
                <a:cs typeface="Courier New" pitchFamily="34" charset="-120"/>
              </a:rPr>
              <a:t>query</a:t>
            </a:r>
            <a:endParaRPr lang="en-US" sz="1000" dirty="0"/>
          </a:p>
        </p:txBody>
      </p:sp>
      <p:sp>
        <p:nvSpPr>
          <p:cNvPr id="30" name="Shape 24"/>
          <p:cNvSpPr/>
          <p:nvPr/>
        </p:nvSpPr>
        <p:spPr>
          <a:xfrm>
            <a:off x="7562088" y="2414016"/>
            <a:ext cx="832104" cy="219456"/>
          </a:xfrm>
          <a:prstGeom prst="rightArrow">
            <a:avLst/>
          </a:prstGeom>
          <a:solidFill>
            <a:srgbClr val="FBE9E2"/>
          </a:solidFill>
          <a:ln w="12700">
            <a:solidFill>
              <a:srgbClr val="F0B9A6"/>
            </a:solidFill>
            <a:prstDash val="solid"/>
          </a:ln>
        </p:spPr>
      </p:sp>
      <p:sp>
        <p:nvSpPr>
          <p:cNvPr id="31" name="Shape 25"/>
          <p:cNvSpPr/>
          <p:nvPr/>
        </p:nvSpPr>
        <p:spPr>
          <a:xfrm>
            <a:off x="7562088" y="2852928"/>
            <a:ext cx="832104" cy="219456"/>
          </a:xfrm>
          <a:prstGeom prst="leftArrow">
            <a:avLst/>
          </a:prstGeom>
          <a:solidFill>
            <a:srgbClr val="EEEDE8"/>
          </a:solidFill>
          <a:ln w="12700">
            <a:solidFill>
              <a:srgbClr val="D5D1C8"/>
            </a:solidFill>
            <a:prstDash val="solid"/>
          </a:ln>
        </p:spPr>
      </p:sp>
      <p:sp>
        <p:nvSpPr>
          <p:cNvPr id="32" name="Text 26"/>
          <p:cNvSpPr/>
          <p:nvPr/>
        </p:nvSpPr>
        <p:spPr>
          <a:xfrm>
            <a:off x="7470648" y="3108960"/>
            <a:ext cx="1014984" cy="237744"/>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data</a:t>
            </a:r>
            <a:endParaRPr lang="en-US" sz="1000" dirty="0"/>
          </a:p>
        </p:txBody>
      </p:sp>
      <p:sp>
        <p:nvSpPr>
          <p:cNvPr id="33" name="Shape 27"/>
          <p:cNvSpPr/>
          <p:nvPr/>
        </p:nvSpPr>
        <p:spPr>
          <a:xfrm>
            <a:off x="640080" y="4315968"/>
            <a:ext cx="5212080" cy="1143000"/>
          </a:xfrm>
          <a:prstGeom prst="roundRect">
            <a:avLst>
              <a:gd name="adj" fmla="val 8000"/>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4" name="Text 28"/>
          <p:cNvSpPr/>
          <p:nvPr/>
        </p:nvSpPr>
        <p:spPr>
          <a:xfrm>
            <a:off x="932688" y="4498848"/>
            <a:ext cx="4626864" cy="310896"/>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A server is a program</a:t>
            </a:r>
            <a:endParaRPr lang="en-US" sz="1600" dirty="0"/>
          </a:p>
        </p:txBody>
      </p:sp>
      <p:sp>
        <p:nvSpPr>
          <p:cNvPr id="35" name="Text 29"/>
          <p:cNvSpPr/>
          <p:nvPr/>
        </p:nvSpPr>
        <p:spPr>
          <a:xfrm>
            <a:off x="932688" y="4864608"/>
            <a:ext cx="4626864" cy="502920"/>
          </a:xfrm>
          <a:prstGeom prst="rect">
            <a:avLst/>
          </a:prstGeom>
          <a:noFill/>
          <a:ln/>
        </p:spPr>
        <p:txBody>
          <a:bodyPr wrap="square" lIns="0" tIns="0" rIns="0" bIns="0" rtlCol="0" anchor="t"/>
          <a:lstStyle/>
          <a:p>
            <a:pPr algn="l" indent="0" marL="0">
              <a:lnSpc>
                <a:spcPts val="1700"/>
              </a:lnSpc>
              <a:buNone/>
            </a:pPr>
            <a:r>
              <a:rPr lang="en-US" sz="1250" dirty="0">
                <a:solidFill>
                  <a:srgbClr val="5A6069"/>
                </a:solidFill>
                <a:latin typeface="Calibri" pitchFamily="34" charset="0"/>
                <a:ea typeface="Calibri" pitchFamily="34" charset="-122"/>
                <a:cs typeface="Calibri" pitchFamily="34" charset="-120"/>
              </a:rPr>
              <a:t>It runs somewhere in the world and answers requests. There is no magic building involved.</a:t>
            </a:r>
            <a:endParaRPr lang="en-US" sz="1250" dirty="0"/>
          </a:p>
        </p:txBody>
      </p:sp>
      <p:sp>
        <p:nvSpPr>
          <p:cNvPr id="36" name="Shape 30"/>
          <p:cNvSpPr/>
          <p:nvPr/>
        </p:nvSpPr>
        <p:spPr>
          <a:xfrm>
            <a:off x="6336792" y="4315968"/>
            <a:ext cx="5212080" cy="1143000"/>
          </a:xfrm>
          <a:prstGeom prst="roundRect">
            <a:avLst>
              <a:gd name="adj" fmla="val 8000"/>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7" name="Text 31"/>
          <p:cNvSpPr/>
          <p:nvPr/>
        </p:nvSpPr>
        <p:spPr>
          <a:xfrm>
            <a:off x="6629400" y="4498848"/>
            <a:ext cx="4626864" cy="310896"/>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A server is not a database</a:t>
            </a:r>
            <a:endParaRPr lang="en-US" sz="1600" dirty="0"/>
          </a:p>
        </p:txBody>
      </p:sp>
      <p:sp>
        <p:nvSpPr>
          <p:cNvPr id="38" name="Text 32"/>
          <p:cNvSpPr/>
          <p:nvPr/>
        </p:nvSpPr>
        <p:spPr>
          <a:xfrm>
            <a:off x="6629400" y="4864608"/>
            <a:ext cx="4626864" cy="502920"/>
          </a:xfrm>
          <a:prstGeom prst="rect">
            <a:avLst/>
          </a:prstGeom>
          <a:noFill/>
          <a:ln/>
        </p:spPr>
        <p:txBody>
          <a:bodyPr wrap="square" lIns="0" tIns="0" rIns="0" bIns="0" rtlCol="0" anchor="t"/>
          <a:lstStyle/>
          <a:p>
            <a:pPr algn="l" indent="0" marL="0">
              <a:lnSpc>
                <a:spcPts val="1700"/>
              </a:lnSpc>
              <a:buNone/>
            </a:pPr>
            <a:r>
              <a:rPr lang="en-US" sz="1250" dirty="0">
                <a:solidFill>
                  <a:srgbClr val="5A6069"/>
                </a:solidFill>
                <a:latin typeface="Calibri" pitchFamily="34" charset="0"/>
                <a:ea typeface="Calibri" pitchFamily="34" charset="-122"/>
                <a:cs typeface="Calibri" pitchFamily="34" charset="-120"/>
              </a:rPr>
              <a:t>It follows a set of rules, pulls what it needs from the database, and sends the response back.</a:t>
            </a:r>
            <a:endParaRPr lang="en-US" sz="1250" dirty="0"/>
          </a:p>
        </p:txBody>
      </p:sp>
      <p:sp>
        <p:nvSpPr>
          <p:cNvPr id="39" name="Shape 33"/>
          <p:cNvSpPr/>
          <p:nvPr/>
        </p:nvSpPr>
        <p:spPr>
          <a:xfrm>
            <a:off x="640080" y="5632704"/>
            <a:ext cx="10881360" cy="548640"/>
          </a:xfrm>
          <a:prstGeom prst="roundRect">
            <a:avLst>
              <a:gd name="adj" fmla="val 13333"/>
            </a:avLst>
          </a:prstGeom>
          <a:solidFill>
            <a:srgbClr val="EFEEE9"/>
          </a:solidFill>
          <a:ln w="12700">
            <a:solidFill>
              <a:srgbClr val="D5D1C8"/>
            </a:solidFill>
            <a:prstDash val="solid"/>
          </a:ln>
        </p:spPr>
      </p:sp>
      <p:sp>
        <p:nvSpPr>
          <p:cNvPr id="40" name="Text 34"/>
          <p:cNvSpPr/>
          <p:nvPr/>
        </p:nvSpPr>
        <p:spPr>
          <a:xfrm>
            <a:off x="841248" y="5632704"/>
            <a:ext cx="10479024" cy="548640"/>
          </a:xfrm>
          <a:prstGeom prst="rect">
            <a:avLst/>
          </a:prstGeom>
          <a:noFill/>
          <a:ln/>
        </p:spPr>
        <p:txBody>
          <a:bodyPr wrap="square" lIns="0" tIns="0" rIns="0" bIns="0" rtlCol="0" anchor="ctr"/>
          <a:lstStyle/>
          <a:p>
            <a:pPr indent="0" marL="0">
              <a:lnSpc>
                <a:spcPts val="1600"/>
              </a:lnSpc>
              <a:buNone/>
            </a:pPr>
            <a:r>
              <a:rPr lang="en-US" sz="1150" dirty="0">
                <a:solidFill>
                  <a:srgbClr val="6E8A64"/>
                </a:solidFill>
                <a:latin typeface="Courier New" pitchFamily="34" charset="0"/>
                <a:ea typeface="Courier New" pitchFamily="34" charset="-122"/>
                <a:cs typeface="Courier New" pitchFamily="34" charset="-120"/>
              </a:rPr>
              <a:t>&lt;!-- nobody has ever seen a server. we only know it exists because it goes down on the day of a deadline --&gt;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05</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&lt;analogy&gt;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The dairy farm</a:t>
            </a:r>
            <a:endParaRPr lang="en-US" sz="3400" dirty="0"/>
          </a:p>
        </p:txBody>
      </p:sp>
      <p:sp>
        <p:nvSpPr>
          <p:cNvPr id="7" name="Text 4"/>
          <p:cNvSpPr/>
          <p:nvPr/>
        </p:nvSpPr>
        <p:spPr>
          <a:xfrm>
            <a:off x="640080" y="1517904"/>
            <a:ext cx="10881360" cy="365760"/>
          </a:xfrm>
          <a:prstGeom prst="rect">
            <a:avLst/>
          </a:prstGeom>
          <a:noFill/>
          <a:ln/>
        </p:spPr>
        <p:txBody>
          <a:bodyPr wrap="square" lIns="0" tIns="0" rIns="0" bIns="0" rtlCol="0" anchor="t"/>
          <a:lstStyle/>
          <a:p>
            <a:pPr algn="l" indent="0" marL="0">
              <a:lnSpc>
                <a:spcPts val="2001"/>
              </a:lnSpc>
              <a:buNone/>
            </a:pPr>
            <a:r>
              <a:rPr lang="en-US" sz="1450" dirty="0">
                <a:solidFill>
                  <a:srgbClr val="5A6069"/>
                </a:solidFill>
                <a:latin typeface="Calibri" pitchFamily="34" charset="0"/>
                <a:ea typeface="Calibri" pitchFamily="34" charset="-122"/>
                <a:cs typeface="Calibri" pitchFamily="34" charset="-120"/>
              </a:rPr>
              <a:t>You own a dairy farm and a lot of customers keep placing orders. Four players make that work, and a website has exactly the same four.</a:t>
            </a:r>
            <a:endParaRPr lang="en-US" sz="1450" dirty="0"/>
          </a:p>
        </p:txBody>
      </p:sp>
      <p:sp>
        <p:nvSpPr>
          <p:cNvPr id="8" name="Shape 5"/>
          <p:cNvSpPr/>
          <p:nvPr/>
        </p:nvSpPr>
        <p:spPr>
          <a:xfrm>
            <a:off x="640080" y="1956816"/>
            <a:ext cx="2542032" cy="3035808"/>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9" name="Shape 6"/>
          <p:cNvSpPr/>
          <p:nvPr/>
        </p:nvSpPr>
        <p:spPr>
          <a:xfrm>
            <a:off x="1600200" y="2212848"/>
            <a:ext cx="621792" cy="621792"/>
          </a:xfrm>
          <a:prstGeom prst="roundRect">
            <a:avLst>
              <a:gd name="adj" fmla="val 14706"/>
            </a:avLst>
          </a:prstGeom>
          <a:solidFill>
            <a:srgbClr val="FFFFFF"/>
          </a:solidFill>
          <a:ln w="12700">
            <a:solidFill>
              <a:srgbClr val="D5D1C8"/>
            </a:solidFill>
            <a:prstDash val="solid"/>
          </a:ln>
        </p:spPr>
      </p:sp>
      <p:pic>
        <p:nvPicPr>
          <p:cNvPr id="10" name="Image 0" descr="preencoded.png">    </p:cNvPr>
          <p:cNvPicPr>
            <a:picLocks noChangeAspect="1"/>
          </p:cNvPicPr>
          <p:nvPr/>
        </p:nvPicPr>
        <p:blipFill>
          <a:blip r:embed="rId1"/>
          <a:stretch>
            <a:fillRect/>
          </a:stretch>
        </p:blipFill>
        <p:spPr>
          <a:xfrm>
            <a:off x="1761866" y="2374514"/>
            <a:ext cx="298460" cy="298460"/>
          </a:xfrm>
          <a:prstGeom prst="rect">
            <a:avLst/>
          </a:prstGeom>
        </p:spPr>
      </p:pic>
      <p:sp>
        <p:nvSpPr>
          <p:cNvPr id="11" name="Text 7"/>
          <p:cNvSpPr/>
          <p:nvPr/>
        </p:nvSpPr>
        <p:spPr>
          <a:xfrm>
            <a:off x="841248" y="2962656"/>
            <a:ext cx="2139696" cy="548640"/>
          </a:xfrm>
          <a:prstGeom prst="rect">
            <a:avLst/>
          </a:prstGeom>
          <a:noFill/>
          <a:ln/>
        </p:spPr>
        <p:txBody>
          <a:bodyPr wrap="square" lIns="0" tIns="0" rIns="0" bIns="0" rtlCol="0" anchor="t"/>
          <a:lstStyle/>
          <a:p>
            <a:pPr algn="ctr" indent="0" marL="0">
              <a:lnSpc>
                <a:spcPts val="1600"/>
              </a:lnSpc>
              <a:buNone/>
            </a:pPr>
            <a:r>
              <a:rPr lang="en-US" sz="1200" i="1" dirty="0">
                <a:solidFill>
                  <a:srgbClr val="5A6069"/>
                </a:solidFill>
                <a:latin typeface="Calibri" pitchFamily="34" charset="0"/>
                <a:ea typeface="Calibri" pitchFamily="34" charset="-122"/>
                <a:cs typeface="Calibri" pitchFamily="34" charset="-120"/>
              </a:rPr>
              <a:t>The customers placing orders</a:t>
            </a:r>
            <a:endParaRPr lang="en-US" sz="1200" dirty="0"/>
          </a:p>
        </p:txBody>
      </p:sp>
      <p:sp>
        <p:nvSpPr>
          <p:cNvPr id="12" name="Text 8"/>
          <p:cNvSpPr/>
          <p:nvPr/>
        </p:nvSpPr>
        <p:spPr>
          <a:xfrm>
            <a:off x="841248" y="3566160"/>
            <a:ext cx="2139696" cy="365760"/>
          </a:xfrm>
          <a:prstGeom prst="rect">
            <a:avLst/>
          </a:prstGeom>
          <a:noFill/>
          <a:ln/>
        </p:spPr>
        <p:txBody>
          <a:bodyPr wrap="square" lIns="0" tIns="0" rIns="0" bIns="0" rtlCol="0" anchor="ctr"/>
          <a:lstStyle/>
          <a:p>
            <a:pPr algn="ctr" indent="0" marL="0">
              <a:buNone/>
            </a:pPr>
            <a:r>
              <a:rPr lang="en-US" sz="1900" b="1" spc="100" kern="0" dirty="0">
                <a:solidFill>
                  <a:srgbClr val="E34F26"/>
                </a:solidFill>
                <a:latin typeface="Calibri" pitchFamily="34" charset="0"/>
                <a:ea typeface="Calibri" pitchFamily="34" charset="-122"/>
                <a:cs typeface="Calibri" pitchFamily="34" charset="-120"/>
              </a:rPr>
              <a:t>CLIENT</a:t>
            </a:r>
            <a:endParaRPr lang="en-US" sz="1900" dirty="0"/>
          </a:p>
        </p:txBody>
      </p:sp>
      <p:sp>
        <p:nvSpPr>
          <p:cNvPr id="13" name="Text 9"/>
          <p:cNvSpPr/>
          <p:nvPr/>
        </p:nvSpPr>
        <p:spPr>
          <a:xfrm>
            <a:off x="841248" y="4023360"/>
            <a:ext cx="2139696" cy="868680"/>
          </a:xfrm>
          <a:prstGeom prst="rect">
            <a:avLst/>
          </a:prstGeom>
          <a:noFill/>
          <a:ln/>
        </p:spPr>
        <p:txBody>
          <a:bodyPr wrap="square" lIns="0" tIns="0" rIns="0" bIns="0" rtlCol="0" anchor="t"/>
          <a:lstStyle/>
          <a:p>
            <a:pPr algn="ctr" indent="0" marL="0">
              <a:lnSpc>
                <a:spcPts val="1600"/>
              </a:lnSpc>
              <a:buNone/>
            </a:pPr>
            <a:r>
              <a:rPr lang="en-US" sz="1200" dirty="0">
                <a:solidFill>
                  <a:srgbClr val="5A6069"/>
                </a:solidFill>
                <a:latin typeface="Calibri" pitchFamily="34" charset="0"/>
                <a:ea typeface="Calibri" pitchFamily="34" charset="-122"/>
                <a:cs typeface="Calibri" pitchFamily="34" charset="-120"/>
              </a:rPr>
              <a:t>You, your browser, everyone using the site. They ask, they never cook.</a:t>
            </a:r>
            <a:endParaRPr lang="en-US" sz="1200" dirty="0"/>
          </a:p>
        </p:txBody>
      </p:sp>
      <p:pic>
        <p:nvPicPr>
          <p:cNvPr id="14" name="Image 1" descr="preencoded.png">    </p:cNvPr>
          <p:cNvPicPr>
            <a:picLocks noChangeAspect="1"/>
          </p:cNvPicPr>
          <p:nvPr/>
        </p:nvPicPr>
        <p:blipFill>
          <a:blip r:embed="rId2"/>
          <a:stretch>
            <a:fillRect/>
          </a:stretch>
        </p:blipFill>
        <p:spPr>
          <a:xfrm>
            <a:off x="3236976" y="2395728"/>
            <a:ext cx="201168" cy="201168"/>
          </a:xfrm>
          <a:prstGeom prst="rect">
            <a:avLst/>
          </a:prstGeom>
        </p:spPr>
      </p:pic>
      <p:sp>
        <p:nvSpPr>
          <p:cNvPr id="15" name="Shape 10"/>
          <p:cNvSpPr/>
          <p:nvPr/>
        </p:nvSpPr>
        <p:spPr>
          <a:xfrm>
            <a:off x="3483864" y="1956816"/>
            <a:ext cx="2542032" cy="3035808"/>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6" name="Shape 11"/>
          <p:cNvSpPr/>
          <p:nvPr/>
        </p:nvSpPr>
        <p:spPr>
          <a:xfrm>
            <a:off x="4443984" y="2212848"/>
            <a:ext cx="621792" cy="621792"/>
          </a:xfrm>
          <a:prstGeom prst="roundRect">
            <a:avLst>
              <a:gd name="adj" fmla="val 14706"/>
            </a:avLst>
          </a:prstGeom>
          <a:solidFill>
            <a:srgbClr val="FFFFFF"/>
          </a:solidFill>
          <a:ln w="12700">
            <a:solidFill>
              <a:srgbClr val="D5D1C8"/>
            </a:solidFill>
            <a:prstDash val="solid"/>
          </a:ln>
        </p:spPr>
      </p:sp>
      <p:pic>
        <p:nvPicPr>
          <p:cNvPr id="17" name="Image 2" descr="preencoded.png">    </p:cNvPr>
          <p:cNvPicPr>
            <a:picLocks noChangeAspect="1"/>
          </p:cNvPicPr>
          <p:nvPr/>
        </p:nvPicPr>
        <p:blipFill>
          <a:blip r:embed="rId3"/>
          <a:stretch>
            <a:fillRect/>
          </a:stretch>
        </p:blipFill>
        <p:spPr>
          <a:xfrm>
            <a:off x="4605650" y="2374514"/>
            <a:ext cx="298460" cy="298460"/>
          </a:xfrm>
          <a:prstGeom prst="rect">
            <a:avLst/>
          </a:prstGeom>
        </p:spPr>
      </p:pic>
      <p:sp>
        <p:nvSpPr>
          <p:cNvPr id="18" name="Text 12"/>
          <p:cNvSpPr/>
          <p:nvPr/>
        </p:nvSpPr>
        <p:spPr>
          <a:xfrm>
            <a:off x="3685032" y="2962656"/>
            <a:ext cx="2139696" cy="548640"/>
          </a:xfrm>
          <a:prstGeom prst="rect">
            <a:avLst/>
          </a:prstGeom>
          <a:noFill/>
          <a:ln/>
        </p:spPr>
        <p:txBody>
          <a:bodyPr wrap="square" lIns="0" tIns="0" rIns="0" bIns="0" rtlCol="0" anchor="t"/>
          <a:lstStyle/>
          <a:p>
            <a:pPr algn="ctr" indent="0" marL="0">
              <a:lnSpc>
                <a:spcPts val="1600"/>
              </a:lnSpc>
              <a:buNone/>
            </a:pPr>
            <a:r>
              <a:rPr lang="en-US" sz="1200" i="1" dirty="0">
                <a:solidFill>
                  <a:srgbClr val="5A6069"/>
                </a:solidFill>
                <a:latin typeface="Calibri" pitchFamily="34" charset="0"/>
                <a:ea typeface="Calibri" pitchFamily="34" charset="-122"/>
                <a:cs typeface="Calibri" pitchFamily="34" charset="-120"/>
              </a:rPr>
              <a:t>The operations team taking orders</a:t>
            </a:r>
            <a:endParaRPr lang="en-US" sz="1200" dirty="0"/>
          </a:p>
        </p:txBody>
      </p:sp>
      <p:sp>
        <p:nvSpPr>
          <p:cNvPr id="19" name="Text 13"/>
          <p:cNvSpPr/>
          <p:nvPr/>
        </p:nvSpPr>
        <p:spPr>
          <a:xfrm>
            <a:off x="3685032" y="3566160"/>
            <a:ext cx="2139696" cy="365760"/>
          </a:xfrm>
          <a:prstGeom prst="rect">
            <a:avLst/>
          </a:prstGeom>
          <a:noFill/>
          <a:ln/>
        </p:spPr>
        <p:txBody>
          <a:bodyPr wrap="square" lIns="0" tIns="0" rIns="0" bIns="0" rtlCol="0" anchor="ctr"/>
          <a:lstStyle/>
          <a:p>
            <a:pPr algn="ctr" indent="0" marL="0">
              <a:buNone/>
            </a:pPr>
            <a:r>
              <a:rPr lang="en-US" sz="1900" b="1" spc="100" kern="0" dirty="0">
                <a:solidFill>
                  <a:srgbClr val="E34F26"/>
                </a:solidFill>
                <a:latin typeface="Calibri" pitchFamily="34" charset="0"/>
                <a:ea typeface="Calibri" pitchFamily="34" charset="-122"/>
                <a:cs typeface="Calibri" pitchFamily="34" charset="-120"/>
              </a:rPr>
              <a:t>DNS</a:t>
            </a:r>
            <a:endParaRPr lang="en-US" sz="1900" dirty="0"/>
          </a:p>
        </p:txBody>
      </p:sp>
      <p:sp>
        <p:nvSpPr>
          <p:cNvPr id="20" name="Text 14"/>
          <p:cNvSpPr/>
          <p:nvPr/>
        </p:nvSpPr>
        <p:spPr>
          <a:xfrm>
            <a:off x="3685032" y="4023360"/>
            <a:ext cx="2139696" cy="868680"/>
          </a:xfrm>
          <a:prstGeom prst="rect">
            <a:avLst/>
          </a:prstGeom>
          <a:noFill/>
          <a:ln/>
        </p:spPr>
        <p:txBody>
          <a:bodyPr wrap="square" lIns="0" tIns="0" rIns="0" bIns="0" rtlCol="0" anchor="t"/>
          <a:lstStyle/>
          <a:p>
            <a:pPr algn="ctr" indent="0" marL="0">
              <a:lnSpc>
                <a:spcPts val="1600"/>
              </a:lnSpc>
              <a:buNone/>
            </a:pPr>
            <a:r>
              <a:rPr lang="en-US" sz="1200" dirty="0">
                <a:solidFill>
                  <a:srgbClr val="5A6069"/>
                </a:solidFill>
                <a:latin typeface="Calibri" pitchFamily="34" charset="0"/>
                <a:ea typeface="Calibri" pitchFamily="34" charset="-122"/>
                <a:cs typeface="Calibri" pitchFamily="34" charset="-120"/>
              </a:rPr>
              <a:t>The phonebook of the internet. It turns scaler.com into an IP address.</a:t>
            </a:r>
            <a:endParaRPr lang="en-US" sz="1200" dirty="0"/>
          </a:p>
        </p:txBody>
      </p:sp>
      <p:pic>
        <p:nvPicPr>
          <p:cNvPr id="21" name="Image 3" descr="preencoded.png">    </p:cNvPr>
          <p:cNvPicPr>
            <a:picLocks noChangeAspect="1"/>
          </p:cNvPicPr>
          <p:nvPr/>
        </p:nvPicPr>
        <p:blipFill>
          <a:blip r:embed="rId4"/>
          <a:stretch>
            <a:fillRect/>
          </a:stretch>
        </p:blipFill>
        <p:spPr>
          <a:xfrm>
            <a:off x="6080760" y="2395728"/>
            <a:ext cx="201168" cy="201168"/>
          </a:xfrm>
          <a:prstGeom prst="rect">
            <a:avLst/>
          </a:prstGeom>
        </p:spPr>
      </p:pic>
      <p:sp>
        <p:nvSpPr>
          <p:cNvPr id="22" name="Shape 15"/>
          <p:cNvSpPr/>
          <p:nvPr/>
        </p:nvSpPr>
        <p:spPr>
          <a:xfrm>
            <a:off x="6327648" y="1956816"/>
            <a:ext cx="2542032" cy="3035808"/>
          </a:xfrm>
          <a:prstGeom prst="roundRect">
            <a:avLst>
              <a:gd name="adj" fmla="val 3597"/>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23" name="Shape 16"/>
          <p:cNvSpPr/>
          <p:nvPr/>
        </p:nvSpPr>
        <p:spPr>
          <a:xfrm>
            <a:off x="7287768" y="2212848"/>
            <a:ext cx="621792" cy="621792"/>
          </a:xfrm>
          <a:prstGeom prst="roundRect">
            <a:avLst>
              <a:gd name="adj" fmla="val 14706"/>
            </a:avLst>
          </a:prstGeom>
          <a:solidFill>
            <a:srgbClr val="FFFFFF"/>
          </a:solidFill>
          <a:ln w="12700">
            <a:solidFill>
              <a:srgbClr val="D5D1C8"/>
            </a:solidFill>
            <a:prstDash val="solid"/>
          </a:ln>
        </p:spPr>
      </p:sp>
      <p:pic>
        <p:nvPicPr>
          <p:cNvPr id="24" name="Image 4" descr="preencoded.png">    </p:cNvPr>
          <p:cNvPicPr>
            <a:picLocks noChangeAspect="1"/>
          </p:cNvPicPr>
          <p:nvPr/>
        </p:nvPicPr>
        <p:blipFill>
          <a:blip r:embed="rId5"/>
          <a:stretch>
            <a:fillRect/>
          </a:stretch>
        </p:blipFill>
        <p:spPr>
          <a:xfrm>
            <a:off x="7449434" y="2374514"/>
            <a:ext cx="298460" cy="298460"/>
          </a:xfrm>
          <a:prstGeom prst="rect">
            <a:avLst/>
          </a:prstGeom>
        </p:spPr>
      </p:pic>
      <p:sp>
        <p:nvSpPr>
          <p:cNvPr id="25" name="Text 17"/>
          <p:cNvSpPr/>
          <p:nvPr/>
        </p:nvSpPr>
        <p:spPr>
          <a:xfrm>
            <a:off x="6528816" y="2962656"/>
            <a:ext cx="2139696" cy="548640"/>
          </a:xfrm>
          <a:prstGeom prst="rect">
            <a:avLst/>
          </a:prstGeom>
          <a:noFill/>
          <a:ln/>
        </p:spPr>
        <p:txBody>
          <a:bodyPr wrap="square" lIns="0" tIns="0" rIns="0" bIns="0" rtlCol="0" anchor="t"/>
          <a:lstStyle/>
          <a:p>
            <a:pPr algn="ctr" indent="0" marL="0">
              <a:lnSpc>
                <a:spcPts val="1600"/>
              </a:lnSpc>
              <a:buNone/>
            </a:pPr>
            <a:r>
              <a:rPr lang="en-US" sz="1200" i="1" dirty="0">
                <a:solidFill>
                  <a:srgbClr val="5A6069"/>
                </a:solidFill>
                <a:latin typeface="Calibri" pitchFamily="34" charset="0"/>
                <a:ea typeface="Calibri" pitchFamily="34" charset="-122"/>
                <a:cs typeface="Calibri" pitchFamily="34" charset="-120"/>
              </a:rPr>
              <a:t>The farm that assembles the order</a:t>
            </a:r>
            <a:endParaRPr lang="en-US" sz="1200" dirty="0"/>
          </a:p>
        </p:txBody>
      </p:sp>
      <p:sp>
        <p:nvSpPr>
          <p:cNvPr id="26" name="Text 18"/>
          <p:cNvSpPr/>
          <p:nvPr/>
        </p:nvSpPr>
        <p:spPr>
          <a:xfrm>
            <a:off x="6528816" y="3566160"/>
            <a:ext cx="2139696" cy="365760"/>
          </a:xfrm>
          <a:prstGeom prst="rect">
            <a:avLst/>
          </a:prstGeom>
          <a:noFill/>
          <a:ln/>
        </p:spPr>
        <p:txBody>
          <a:bodyPr wrap="square" lIns="0" tIns="0" rIns="0" bIns="0" rtlCol="0" anchor="ctr"/>
          <a:lstStyle/>
          <a:p>
            <a:pPr algn="ctr" indent="0" marL="0">
              <a:buNone/>
            </a:pPr>
            <a:r>
              <a:rPr lang="en-US" sz="1900" b="1" spc="100" kern="0" dirty="0">
                <a:solidFill>
                  <a:srgbClr val="E34F26"/>
                </a:solidFill>
                <a:latin typeface="Calibri" pitchFamily="34" charset="0"/>
                <a:ea typeface="Calibri" pitchFamily="34" charset="-122"/>
                <a:cs typeface="Calibri" pitchFamily="34" charset="-120"/>
              </a:rPr>
              <a:t>SERVER</a:t>
            </a:r>
            <a:endParaRPr lang="en-US" sz="1900" dirty="0"/>
          </a:p>
        </p:txBody>
      </p:sp>
      <p:sp>
        <p:nvSpPr>
          <p:cNvPr id="27" name="Text 19"/>
          <p:cNvSpPr/>
          <p:nvPr/>
        </p:nvSpPr>
        <p:spPr>
          <a:xfrm>
            <a:off x="6528816" y="4023360"/>
            <a:ext cx="2139696" cy="868680"/>
          </a:xfrm>
          <a:prstGeom prst="rect">
            <a:avLst/>
          </a:prstGeom>
          <a:noFill/>
          <a:ln/>
        </p:spPr>
        <p:txBody>
          <a:bodyPr wrap="square" lIns="0" tIns="0" rIns="0" bIns="0" rtlCol="0" anchor="t"/>
          <a:lstStyle/>
          <a:p>
            <a:pPr algn="ctr" indent="0" marL="0">
              <a:lnSpc>
                <a:spcPts val="1600"/>
              </a:lnSpc>
              <a:buNone/>
            </a:pPr>
            <a:r>
              <a:rPr lang="en-US" sz="1200" dirty="0">
                <a:solidFill>
                  <a:srgbClr val="5A6069"/>
                </a:solidFill>
                <a:latin typeface="Calibri" pitchFamily="34" charset="0"/>
                <a:ea typeface="Calibri" pitchFamily="34" charset="-122"/>
                <a:cs typeface="Calibri" pitchFamily="34" charset="-120"/>
              </a:rPr>
              <a:t>A program that follows the rules, puts your response together and sends it.</a:t>
            </a:r>
            <a:endParaRPr lang="en-US" sz="1200" dirty="0"/>
          </a:p>
        </p:txBody>
      </p:sp>
      <p:pic>
        <p:nvPicPr>
          <p:cNvPr id="28" name="Image 5" descr="preencoded.png">    </p:cNvPr>
          <p:cNvPicPr>
            <a:picLocks noChangeAspect="1"/>
          </p:cNvPicPr>
          <p:nvPr/>
        </p:nvPicPr>
        <p:blipFill>
          <a:blip r:embed="rId6"/>
          <a:stretch>
            <a:fillRect/>
          </a:stretch>
        </p:blipFill>
        <p:spPr>
          <a:xfrm>
            <a:off x="8924544" y="2395728"/>
            <a:ext cx="201168" cy="201168"/>
          </a:xfrm>
          <a:prstGeom prst="rect">
            <a:avLst/>
          </a:prstGeom>
        </p:spPr>
      </p:pic>
      <p:sp>
        <p:nvSpPr>
          <p:cNvPr id="29" name="Shape 20"/>
          <p:cNvSpPr/>
          <p:nvPr/>
        </p:nvSpPr>
        <p:spPr>
          <a:xfrm>
            <a:off x="9171432" y="1956816"/>
            <a:ext cx="2542032" cy="3035808"/>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0" name="Shape 21"/>
          <p:cNvSpPr/>
          <p:nvPr/>
        </p:nvSpPr>
        <p:spPr>
          <a:xfrm>
            <a:off x="10131552" y="2212848"/>
            <a:ext cx="621792" cy="621792"/>
          </a:xfrm>
          <a:prstGeom prst="roundRect">
            <a:avLst>
              <a:gd name="adj" fmla="val 14706"/>
            </a:avLst>
          </a:prstGeom>
          <a:solidFill>
            <a:srgbClr val="FFFFFF"/>
          </a:solidFill>
          <a:ln w="12700">
            <a:solidFill>
              <a:srgbClr val="D5D1C8"/>
            </a:solidFill>
            <a:prstDash val="solid"/>
          </a:ln>
        </p:spPr>
      </p:sp>
      <p:pic>
        <p:nvPicPr>
          <p:cNvPr id="31" name="Image 6" descr="preencoded.png">    </p:cNvPr>
          <p:cNvPicPr>
            <a:picLocks noChangeAspect="1"/>
          </p:cNvPicPr>
          <p:nvPr/>
        </p:nvPicPr>
        <p:blipFill>
          <a:blip r:embed="rId7"/>
          <a:stretch>
            <a:fillRect/>
          </a:stretch>
        </p:blipFill>
        <p:spPr>
          <a:xfrm>
            <a:off x="10293218" y="2374514"/>
            <a:ext cx="298460" cy="298460"/>
          </a:xfrm>
          <a:prstGeom prst="rect">
            <a:avLst/>
          </a:prstGeom>
        </p:spPr>
      </p:pic>
      <p:sp>
        <p:nvSpPr>
          <p:cNvPr id="32" name="Text 22"/>
          <p:cNvSpPr/>
          <p:nvPr/>
        </p:nvSpPr>
        <p:spPr>
          <a:xfrm>
            <a:off x="9372600" y="2962656"/>
            <a:ext cx="2139696" cy="548640"/>
          </a:xfrm>
          <a:prstGeom prst="rect">
            <a:avLst/>
          </a:prstGeom>
          <a:noFill/>
          <a:ln/>
        </p:spPr>
        <p:txBody>
          <a:bodyPr wrap="square" lIns="0" tIns="0" rIns="0" bIns="0" rtlCol="0" anchor="t"/>
          <a:lstStyle/>
          <a:p>
            <a:pPr algn="ctr" indent="0" marL="0">
              <a:lnSpc>
                <a:spcPts val="1600"/>
              </a:lnSpc>
              <a:buNone/>
            </a:pPr>
            <a:r>
              <a:rPr lang="en-US" sz="1200" i="1" dirty="0">
                <a:solidFill>
                  <a:srgbClr val="5A6069"/>
                </a:solidFill>
                <a:latin typeface="Calibri" pitchFamily="34" charset="0"/>
                <a:ea typeface="Calibri" pitchFamily="34" charset="-122"/>
                <a:cs typeface="Calibri" pitchFamily="34" charset="-120"/>
              </a:rPr>
              <a:t>The warehouse holding the goods</a:t>
            </a:r>
            <a:endParaRPr lang="en-US" sz="1200" dirty="0"/>
          </a:p>
        </p:txBody>
      </p:sp>
      <p:sp>
        <p:nvSpPr>
          <p:cNvPr id="33" name="Text 23"/>
          <p:cNvSpPr/>
          <p:nvPr/>
        </p:nvSpPr>
        <p:spPr>
          <a:xfrm>
            <a:off x="9372600" y="3566160"/>
            <a:ext cx="2139696" cy="365760"/>
          </a:xfrm>
          <a:prstGeom prst="rect">
            <a:avLst/>
          </a:prstGeom>
          <a:noFill/>
          <a:ln/>
        </p:spPr>
        <p:txBody>
          <a:bodyPr wrap="square" lIns="0" tIns="0" rIns="0" bIns="0" rtlCol="0" anchor="ctr"/>
          <a:lstStyle/>
          <a:p>
            <a:pPr algn="ctr" indent="0" marL="0">
              <a:buNone/>
            </a:pPr>
            <a:r>
              <a:rPr lang="en-US" sz="1900" b="1" spc="100" kern="0" dirty="0">
                <a:solidFill>
                  <a:srgbClr val="E34F26"/>
                </a:solidFill>
                <a:latin typeface="Calibri" pitchFamily="34" charset="0"/>
                <a:ea typeface="Calibri" pitchFamily="34" charset="-122"/>
                <a:cs typeface="Calibri" pitchFamily="34" charset="-120"/>
              </a:rPr>
              <a:t>DATABASE</a:t>
            </a:r>
            <a:endParaRPr lang="en-US" sz="1900" dirty="0"/>
          </a:p>
        </p:txBody>
      </p:sp>
      <p:sp>
        <p:nvSpPr>
          <p:cNvPr id="34" name="Text 24"/>
          <p:cNvSpPr/>
          <p:nvPr/>
        </p:nvSpPr>
        <p:spPr>
          <a:xfrm>
            <a:off x="9372600" y="4023360"/>
            <a:ext cx="2139696" cy="868680"/>
          </a:xfrm>
          <a:prstGeom prst="rect">
            <a:avLst/>
          </a:prstGeom>
          <a:noFill/>
          <a:ln/>
        </p:spPr>
        <p:txBody>
          <a:bodyPr wrap="square" lIns="0" tIns="0" rIns="0" bIns="0" rtlCol="0" anchor="t"/>
          <a:lstStyle/>
          <a:p>
            <a:pPr algn="ctr" indent="0" marL="0">
              <a:lnSpc>
                <a:spcPts val="1600"/>
              </a:lnSpc>
              <a:buNone/>
            </a:pPr>
            <a:r>
              <a:rPr lang="en-US" sz="1200" dirty="0">
                <a:solidFill>
                  <a:srgbClr val="5A6069"/>
                </a:solidFill>
                <a:latin typeface="Calibri" pitchFamily="34" charset="0"/>
                <a:ea typeface="Calibri" pitchFamily="34" charset="-122"/>
                <a:cs typeface="Calibri" pitchFamily="34" charset="-120"/>
              </a:rPr>
              <a:t>Where all the actual data is stored, ready to be pulled when needed.</a:t>
            </a:r>
            <a:endParaRPr lang="en-US" sz="1200" dirty="0"/>
          </a:p>
        </p:txBody>
      </p:sp>
      <p:sp>
        <p:nvSpPr>
          <p:cNvPr id="35" name="Shape 25"/>
          <p:cNvSpPr/>
          <p:nvPr/>
        </p:nvSpPr>
        <p:spPr>
          <a:xfrm>
            <a:off x="640080" y="5175504"/>
            <a:ext cx="10881360" cy="640080"/>
          </a:xfrm>
          <a:prstGeom prst="roundRect">
            <a:avLst>
              <a:gd name="adj" fmla="val 14286"/>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6" name="Text 26"/>
          <p:cNvSpPr/>
          <p:nvPr/>
        </p:nvSpPr>
        <p:spPr>
          <a:xfrm>
            <a:off x="640080" y="5175504"/>
            <a:ext cx="10881360" cy="640080"/>
          </a:xfrm>
          <a:prstGeom prst="rect">
            <a:avLst/>
          </a:prstGeom>
          <a:noFill/>
          <a:ln/>
        </p:spPr>
        <p:txBody>
          <a:bodyPr wrap="square" lIns="0" tIns="0" rIns="0" bIns="0" rtlCol="0" anchor="ctr"/>
          <a:lstStyle/>
          <a:p>
            <a:pPr algn="ctr" indent="0" marL="0">
              <a:buNone/>
            </a:pPr>
            <a:r>
              <a:rPr lang="en-US" sz="1400" b="1" dirty="0">
                <a:solidFill>
                  <a:srgbClr val="1B1F24"/>
                </a:solidFill>
                <a:latin typeface="Courier New" pitchFamily="34" charset="0"/>
                <a:ea typeface="Courier New" pitchFamily="34" charset="-122"/>
                <a:cs typeface="Courier New" pitchFamily="34" charset="-120"/>
              </a:rPr>
              <a:t>You  &gt;  DNS  &gt;  Server  &gt;  Database  &gt;  and all the way back to your screen</a:t>
            </a:r>
            <a:endParaRPr lang="en-US" sz="1400" dirty="0"/>
          </a:p>
        </p:txBody>
      </p:sp>
      <p:sp>
        <p:nvSpPr>
          <p:cNvPr id="37" name="Shape 27"/>
          <p:cNvSpPr/>
          <p:nvPr/>
        </p:nvSpPr>
        <p:spPr>
          <a:xfrm>
            <a:off x="640080" y="5852160"/>
            <a:ext cx="10881360" cy="457200"/>
          </a:xfrm>
          <a:prstGeom prst="roundRect">
            <a:avLst>
              <a:gd name="adj" fmla="val 16000"/>
            </a:avLst>
          </a:prstGeom>
          <a:solidFill>
            <a:srgbClr val="EFEEE9"/>
          </a:solidFill>
          <a:ln w="12700">
            <a:solidFill>
              <a:srgbClr val="D5D1C8"/>
            </a:solidFill>
            <a:prstDash val="solid"/>
          </a:ln>
        </p:spPr>
      </p:sp>
      <p:sp>
        <p:nvSpPr>
          <p:cNvPr id="38" name="Text 28"/>
          <p:cNvSpPr/>
          <p:nvPr/>
        </p:nvSpPr>
        <p:spPr>
          <a:xfrm>
            <a:off x="841248" y="5852160"/>
            <a:ext cx="10479024" cy="457200"/>
          </a:xfrm>
          <a:prstGeom prst="rect">
            <a:avLst/>
          </a:prstGeom>
          <a:noFill/>
          <a:ln/>
        </p:spPr>
        <p:txBody>
          <a:bodyPr wrap="square" lIns="0" tIns="0" rIns="0" bIns="0" rtlCol="0" anchor="ctr"/>
          <a:lstStyle/>
          <a:p>
            <a:pPr indent="0" marL="0">
              <a:lnSpc>
                <a:spcPts val="1470"/>
              </a:lnSpc>
              <a:buNone/>
            </a:pPr>
            <a:r>
              <a:rPr lang="en-US" sz="1050" dirty="0">
                <a:solidFill>
                  <a:srgbClr val="6E8A64"/>
                </a:solidFill>
                <a:latin typeface="Courier New" pitchFamily="34" charset="0"/>
                <a:ea typeface="Courier New" pitchFamily="34" charset="-122"/>
                <a:cs typeface="Courier New" pitchFamily="34" charset="-120"/>
              </a:rPr>
              <a:t>&lt;!-- so yes, every time you open instagram, a tiny dairy farm somewhere gets a work order --&gt;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06</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&lt;quiz-01&gt;</a:t>
            </a:r>
            <a:endParaRPr lang="en-US" sz="1200" dirty="0"/>
          </a:p>
        </p:txBody>
      </p:sp>
      <p:sp>
        <p:nvSpPr>
          <p:cNvPr id="6" name="Text 3"/>
          <p:cNvSpPr/>
          <p:nvPr/>
        </p:nvSpPr>
        <p:spPr>
          <a:xfrm>
            <a:off x="640080" y="694944"/>
            <a:ext cx="10881360" cy="868680"/>
          </a:xfrm>
          <a:prstGeom prst="rect">
            <a:avLst/>
          </a:prstGeom>
          <a:noFill/>
          <a:ln/>
        </p:spPr>
        <p:txBody>
          <a:bodyPr wrap="square" lIns="0" tIns="0" rIns="0" bIns="0" rtlCol="0" anchor="ctr"/>
          <a:lstStyle/>
          <a:p>
            <a:pPr indent="0" marL="0">
              <a:buNone/>
            </a:pPr>
            <a:r>
              <a:rPr lang="en-US" sz="2600" b="1" dirty="0">
                <a:solidFill>
                  <a:srgbClr val="1B1F24"/>
                </a:solidFill>
                <a:latin typeface="Calibri" pitchFamily="34" charset="0"/>
                <a:ea typeface="Calibri" pitchFamily="34" charset="-122"/>
                <a:cs typeface="Calibri" pitchFamily="34" charset="-120"/>
              </a:rPr>
              <a:t>What does DNS stand for?</a:t>
            </a:r>
            <a:endParaRPr lang="en-US" sz="2600" dirty="0"/>
          </a:p>
        </p:txBody>
      </p:sp>
      <p:sp>
        <p:nvSpPr>
          <p:cNvPr id="7" name="Shape 4"/>
          <p:cNvSpPr/>
          <p:nvPr/>
        </p:nvSpPr>
        <p:spPr>
          <a:xfrm>
            <a:off x="640080" y="2194560"/>
            <a:ext cx="5212080" cy="1188720"/>
          </a:xfrm>
          <a:prstGeom prst="roundRect">
            <a:avLst>
              <a:gd name="adj" fmla="val 7692"/>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8" name="Shape 5"/>
          <p:cNvSpPr/>
          <p:nvPr/>
        </p:nvSpPr>
        <p:spPr>
          <a:xfrm>
            <a:off x="914400" y="2560320"/>
            <a:ext cx="457200" cy="457200"/>
          </a:xfrm>
          <a:prstGeom prst="ellipse">
            <a:avLst/>
          </a:prstGeom>
          <a:solidFill>
            <a:srgbClr val="FBE9E2"/>
          </a:solidFill>
          <a:ln w="12700">
            <a:solidFill>
              <a:srgbClr val="F0B9A6"/>
            </a:solidFill>
            <a:prstDash val="solid"/>
          </a:ln>
        </p:spPr>
      </p:sp>
      <p:sp>
        <p:nvSpPr>
          <p:cNvPr id="9" name="Text 6"/>
          <p:cNvSpPr/>
          <p:nvPr/>
        </p:nvSpPr>
        <p:spPr>
          <a:xfrm>
            <a:off x="914400" y="2560320"/>
            <a:ext cx="457200" cy="457200"/>
          </a:xfrm>
          <a:prstGeom prst="rect">
            <a:avLst/>
          </a:prstGeom>
          <a:noFill/>
          <a:ln/>
        </p:spPr>
        <p:txBody>
          <a:bodyPr wrap="square" lIns="0" tIns="0" rIns="0" bIns="0" rtlCol="0" anchor="ctr"/>
          <a:lstStyle/>
          <a:p>
            <a:pPr algn="ctr" indent="0" marL="0">
              <a:buNone/>
            </a:pPr>
            <a:r>
              <a:rPr lang="en-US" sz="1500" b="1" dirty="0">
                <a:solidFill>
                  <a:srgbClr val="E34F26"/>
                </a:solidFill>
                <a:latin typeface="Calibri" pitchFamily="34" charset="0"/>
                <a:ea typeface="Calibri" pitchFamily="34" charset="-122"/>
                <a:cs typeface="Calibri" pitchFamily="34" charset="-120"/>
              </a:rPr>
              <a:t>A</a:t>
            </a:r>
            <a:endParaRPr lang="en-US" sz="1500" dirty="0"/>
          </a:p>
        </p:txBody>
      </p:sp>
      <p:sp>
        <p:nvSpPr>
          <p:cNvPr id="10" name="Text 7"/>
          <p:cNvSpPr/>
          <p:nvPr/>
        </p:nvSpPr>
        <p:spPr>
          <a:xfrm>
            <a:off x="1554480" y="2194560"/>
            <a:ext cx="4023360" cy="1188720"/>
          </a:xfrm>
          <a:prstGeom prst="rect">
            <a:avLst/>
          </a:prstGeom>
          <a:noFill/>
          <a:ln/>
        </p:spPr>
        <p:txBody>
          <a:bodyPr wrap="square" lIns="0" tIns="0" rIns="0" bIns="0" rtlCol="0" anchor="ctr"/>
          <a:lstStyle/>
          <a:p>
            <a:pPr indent="0" marL="0">
              <a:lnSpc>
                <a:spcPts val="1800"/>
              </a:lnSpc>
              <a:buNone/>
            </a:pPr>
            <a:r>
              <a:rPr lang="en-US" sz="1350" dirty="0">
                <a:solidFill>
                  <a:srgbClr val="1B1F24"/>
                </a:solidFill>
                <a:latin typeface="Calibri" pitchFamily="34" charset="0"/>
                <a:ea typeface="Calibri" pitchFamily="34" charset="-122"/>
                <a:cs typeface="Calibri" pitchFamily="34" charset="-120"/>
              </a:rPr>
              <a:t>Domain Name System</a:t>
            </a:r>
            <a:endParaRPr lang="en-US" sz="1350" dirty="0"/>
          </a:p>
        </p:txBody>
      </p:sp>
      <p:sp>
        <p:nvSpPr>
          <p:cNvPr id="11" name="Shape 8"/>
          <p:cNvSpPr/>
          <p:nvPr/>
        </p:nvSpPr>
        <p:spPr>
          <a:xfrm>
            <a:off x="6336792" y="2194560"/>
            <a:ext cx="5212080" cy="1188720"/>
          </a:xfrm>
          <a:prstGeom prst="roundRect">
            <a:avLst>
              <a:gd name="adj" fmla="val 7692"/>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2" name="Shape 9"/>
          <p:cNvSpPr/>
          <p:nvPr/>
        </p:nvSpPr>
        <p:spPr>
          <a:xfrm>
            <a:off x="6611112" y="2560320"/>
            <a:ext cx="457200" cy="457200"/>
          </a:xfrm>
          <a:prstGeom prst="ellipse">
            <a:avLst/>
          </a:prstGeom>
          <a:solidFill>
            <a:srgbClr val="FBE9E2"/>
          </a:solidFill>
          <a:ln w="12700">
            <a:solidFill>
              <a:srgbClr val="F0B9A6"/>
            </a:solidFill>
            <a:prstDash val="solid"/>
          </a:ln>
        </p:spPr>
      </p:sp>
      <p:sp>
        <p:nvSpPr>
          <p:cNvPr id="13" name="Text 10"/>
          <p:cNvSpPr/>
          <p:nvPr/>
        </p:nvSpPr>
        <p:spPr>
          <a:xfrm>
            <a:off x="6611112" y="2560320"/>
            <a:ext cx="457200" cy="457200"/>
          </a:xfrm>
          <a:prstGeom prst="rect">
            <a:avLst/>
          </a:prstGeom>
          <a:noFill/>
          <a:ln/>
        </p:spPr>
        <p:txBody>
          <a:bodyPr wrap="square" lIns="0" tIns="0" rIns="0" bIns="0" rtlCol="0" anchor="ctr"/>
          <a:lstStyle/>
          <a:p>
            <a:pPr algn="ctr" indent="0" marL="0">
              <a:buNone/>
            </a:pPr>
            <a:r>
              <a:rPr lang="en-US" sz="1500" b="1" dirty="0">
                <a:solidFill>
                  <a:srgbClr val="E34F26"/>
                </a:solidFill>
                <a:latin typeface="Calibri" pitchFamily="34" charset="0"/>
                <a:ea typeface="Calibri" pitchFamily="34" charset="-122"/>
                <a:cs typeface="Calibri" pitchFamily="34" charset="-120"/>
              </a:rPr>
              <a:t>B</a:t>
            </a:r>
            <a:endParaRPr lang="en-US" sz="1500" dirty="0"/>
          </a:p>
        </p:txBody>
      </p:sp>
      <p:sp>
        <p:nvSpPr>
          <p:cNvPr id="14" name="Text 11"/>
          <p:cNvSpPr/>
          <p:nvPr/>
        </p:nvSpPr>
        <p:spPr>
          <a:xfrm>
            <a:off x="7251192" y="2194560"/>
            <a:ext cx="4023360" cy="1188720"/>
          </a:xfrm>
          <a:prstGeom prst="rect">
            <a:avLst/>
          </a:prstGeom>
          <a:noFill/>
          <a:ln/>
        </p:spPr>
        <p:txBody>
          <a:bodyPr wrap="square" lIns="0" tIns="0" rIns="0" bIns="0" rtlCol="0" anchor="ctr"/>
          <a:lstStyle/>
          <a:p>
            <a:pPr indent="0" marL="0">
              <a:lnSpc>
                <a:spcPts val="1800"/>
              </a:lnSpc>
              <a:buNone/>
            </a:pPr>
            <a:r>
              <a:rPr lang="en-US" sz="1350" dirty="0">
                <a:solidFill>
                  <a:srgbClr val="1B1F24"/>
                </a:solidFill>
                <a:latin typeface="Calibri" pitchFamily="34" charset="0"/>
                <a:ea typeface="Calibri" pitchFamily="34" charset="-122"/>
                <a:cs typeface="Calibri" pitchFamily="34" charset="-120"/>
              </a:rPr>
              <a:t>Digital Network Security</a:t>
            </a:r>
            <a:endParaRPr lang="en-US" sz="1350" dirty="0"/>
          </a:p>
        </p:txBody>
      </p:sp>
      <p:sp>
        <p:nvSpPr>
          <p:cNvPr id="15" name="Shape 12"/>
          <p:cNvSpPr/>
          <p:nvPr/>
        </p:nvSpPr>
        <p:spPr>
          <a:xfrm>
            <a:off x="640080" y="3621024"/>
            <a:ext cx="5212080" cy="1188720"/>
          </a:xfrm>
          <a:prstGeom prst="roundRect">
            <a:avLst>
              <a:gd name="adj" fmla="val 7692"/>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6" name="Shape 13"/>
          <p:cNvSpPr/>
          <p:nvPr/>
        </p:nvSpPr>
        <p:spPr>
          <a:xfrm>
            <a:off x="914400" y="3986784"/>
            <a:ext cx="457200" cy="457200"/>
          </a:xfrm>
          <a:prstGeom prst="ellipse">
            <a:avLst/>
          </a:prstGeom>
          <a:solidFill>
            <a:srgbClr val="FBE9E2"/>
          </a:solidFill>
          <a:ln w="12700">
            <a:solidFill>
              <a:srgbClr val="F0B9A6"/>
            </a:solidFill>
            <a:prstDash val="solid"/>
          </a:ln>
        </p:spPr>
      </p:sp>
      <p:sp>
        <p:nvSpPr>
          <p:cNvPr id="17" name="Text 14"/>
          <p:cNvSpPr/>
          <p:nvPr/>
        </p:nvSpPr>
        <p:spPr>
          <a:xfrm>
            <a:off x="914400" y="3986784"/>
            <a:ext cx="457200" cy="457200"/>
          </a:xfrm>
          <a:prstGeom prst="rect">
            <a:avLst/>
          </a:prstGeom>
          <a:noFill/>
          <a:ln/>
        </p:spPr>
        <p:txBody>
          <a:bodyPr wrap="square" lIns="0" tIns="0" rIns="0" bIns="0" rtlCol="0" anchor="ctr"/>
          <a:lstStyle/>
          <a:p>
            <a:pPr algn="ctr" indent="0" marL="0">
              <a:buNone/>
            </a:pPr>
            <a:r>
              <a:rPr lang="en-US" sz="1500" b="1" dirty="0">
                <a:solidFill>
                  <a:srgbClr val="E34F26"/>
                </a:solidFill>
                <a:latin typeface="Calibri" pitchFamily="34" charset="0"/>
                <a:ea typeface="Calibri" pitchFamily="34" charset="-122"/>
                <a:cs typeface="Calibri" pitchFamily="34" charset="-120"/>
              </a:rPr>
              <a:t>C</a:t>
            </a:r>
            <a:endParaRPr lang="en-US" sz="1500" dirty="0"/>
          </a:p>
        </p:txBody>
      </p:sp>
      <p:sp>
        <p:nvSpPr>
          <p:cNvPr id="18" name="Text 15"/>
          <p:cNvSpPr/>
          <p:nvPr/>
        </p:nvSpPr>
        <p:spPr>
          <a:xfrm>
            <a:off x="1554480" y="3621024"/>
            <a:ext cx="4023360" cy="1188720"/>
          </a:xfrm>
          <a:prstGeom prst="rect">
            <a:avLst/>
          </a:prstGeom>
          <a:noFill/>
          <a:ln/>
        </p:spPr>
        <p:txBody>
          <a:bodyPr wrap="square" lIns="0" tIns="0" rIns="0" bIns="0" rtlCol="0" anchor="ctr"/>
          <a:lstStyle/>
          <a:p>
            <a:pPr indent="0" marL="0">
              <a:lnSpc>
                <a:spcPts val="1800"/>
              </a:lnSpc>
              <a:buNone/>
            </a:pPr>
            <a:r>
              <a:rPr lang="en-US" sz="1350" dirty="0">
                <a:solidFill>
                  <a:srgbClr val="1B1F24"/>
                </a:solidFill>
                <a:latin typeface="Calibri" pitchFamily="34" charset="0"/>
                <a:ea typeface="Calibri" pitchFamily="34" charset="-122"/>
                <a:cs typeface="Calibri" pitchFamily="34" charset="-120"/>
              </a:rPr>
              <a:t>Dynamic Naming Service</a:t>
            </a:r>
            <a:endParaRPr lang="en-US" sz="1350" dirty="0"/>
          </a:p>
        </p:txBody>
      </p:sp>
      <p:sp>
        <p:nvSpPr>
          <p:cNvPr id="19" name="Shape 16"/>
          <p:cNvSpPr/>
          <p:nvPr/>
        </p:nvSpPr>
        <p:spPr>
          <a:xfrm>
            <a:off x="6336792" y="3621024"/>
            <a:ext cx="5212080" cy="1188720"/>
          </a:xfrm>
          <a:prstGeom prst="roundRect">
            <a:avLst>
              <a:gd name="adj" fmla="val 7692"/>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0" name="Shape 17"/>
          <p:cNvSpPr/>
          <p:nvPr/>
        </p:nvSpPr>
        <p:spPr>
          <a:xfrm>
            <a:off x="6611112" y="3986784"/>
            <a:ext cx="457200" cy="457200"/>
          </a:xfrm>
          <a:prstGeom prst="ellipse">
            <a:avLst/>
          </a:prstGeom>
          <a:solidFill>
            <a:srgbClr val="FBE9E2"/>
          </a:solidFill>
          <a:ln w="12700">
            <a:solidFill>
              <a:srgbClr val="F0B9A6"/>
            </a:solidFill>
            <a:prstDash val="solid"/>
          </a:ln>
        </p:spPr>
      </p:sp>
      <p:sp>
        <p:nvSpPr>
          <p:cNvPr id="21" name="Text 18"/>
          <p:cNvSpPr/>
          <p:nvPr/>
        </p:nvSpPr>
        <p:spPr>
          <a:xfrm>
            <a:off x="6611112" y="3986784"/>
            <a:ext cx="457200" cy="457200"/>
          </a:xfrm>
          <a:prstGeom prst="rect">
            <a:avLst/>
          </a:prstGeom>
          <a:noFill/>
          <a:ln/>
        </p:spPr>
        <p:txBody>
          <a:bodyPr wrap="square" lIns="0" tIns="0" rIns="0" bIns="0" rtlCol="0" anchor="ctr"/>
          <a:lstStyle/>
          <a:p>
            <a:pPr algn="ctr" indent="0" marL="0">
              <a:buNone/>
            </a:pPr>
            <a:r>
              <a:rPr lang="en-US" sz="1500" b="1" dirty="0">
                <a:solidFill>
                  <a:srgbClr val="E34F26"/>
                </a:solidFill>
                <a:latin typeface="Calibri" pitchFamily="34" charset="0"/>
                <a:ea typeface="Calibri" pitchFamily="34" charset="-122"/>
                <a:cs typeface="Calibri" pitchFamily="34" charset="-120"/>
              </a:rPr>
              <a:t>D</a:t>
            </a:r>
            <a:endParaRPr lang="en-US" sz="1500" dirty="0"/>
          </a:p>
        </p:txBody>
      </p:sp>
      <p:sp>
        <p:nvSpPr>
          <p:cNvPr id="22" name="Text 19"/>
          <p:cNvSpPr/>
          <p:nvPr/>
        </p:nvSpPr>
        <p:spPr>
          <a:xfrm>
            <a:off x="7251192" y="3621024"/>
            <a:ext cx="4023360" cy="1188720"/>
          </a:xfrm>
          <a:prstGeom prst="rect">
            <a:avLst/>
          </a:prstGeom>
          <a:noFill/>
          <a:ln/>
        </p:spPr>
        <p:txBody>
          <a:bodyPr wrap="square" lIns="0" tIns="0" rIns="0" bIns="0" rtlCol="0" anchor="ctr"/>
          <a:lstStyle/>
          <a:p>
            <a:pPr indent="0" marL="0">
              <a:lnSpc>
                <a:spcPts val="1800"/>
              </a:lnSpc>
              <a:buNone/>
            </a:pPr>
            <a:r>
              <a:rPr lang="en-US" sz="1350" dirty="0">
                <a:solidFill>
                  <a:srgbClr val="1B1F24"/>
                </a:solidFill>
                <a:latin typeface="Calibri" pitchFamily="34" charset="0"/>
                <a:ea typeface="Calibri" pitchFamily="34" charset="-122"/>
                <a:cs typeface="Calibri" pitchFamily="34" charset="-120"/>
              </a:rPr>
              <a:t>Data Network System</a:t>
            </a:r>
            <a:endParaRPr lang="en-US" sz="1350" dirty="0"/>
          </a:p>
        </p:txBody>
      </p:sp>
      <p:sp>
        <p:nvSpPr>
          <p:cNvPr id="23" name="Shape 20"/>
          <p:cNvSpPr/>
          <p:nvPr/>
        </p:nvSpPr>
        <p:spPr>
          <a:xfrm>
            <a:off x="640080" y="5230368"/>
            <a:ext cx="10881360" cy="841248"/>
          </a:xfrm>
          <a:prstGeom prst="roundRect">
            <a:avLst>
              <a:gd name="adj" fmla="val 10870"/>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24" name="Text 21"/>
          <p:cNvSpPr/>
          <p:nvPr/>
        </p:nvSpPr>
        <p:spPr>
          <a:xfrm>
            <a:off x="640080" y="5230368"/>
            <a:ext cx="10881360" cy="841248"/>
          </a:xfrm>
          <a:prstGeom prst="rect">
            <a:avLst/>
          </a:prstGeom>
          <a:noFill/>
          <a:ln/>
        </p:spPr>
        <p:txBody>
          <a:bodyPr wrap="square" lIns="0" tIns="0" rIns="0" bIns="0" rtlCol="0" anchor="ctr"/>
          <a:lstStyle/>
          <a:p>
            <a:pPr algn="ctr" indent="0" marL="0">
              <a:buNone/>
            </a:pPr>
            <a:r>
              <a:rPr lang="en-US" sz="1300" i="1" dirty="0">
                <a:solidFill>
                  <a:srgbClr val="1B1F24"/>
                </a:solidFill>
                <a:latin typeface="Calibri" pitchFamily="34" charset="0"/>
                <a:ea typeface="Calibri" pitchFamily="34" charset="-122"/>
                <a:cs typeface="Calibri" pitchFamily="34" charset="-120"/>
              </a:rPr>
              <a:t>Hands up for A, then B, then C, then D. Do not skip the count, wrong answers are the whole point of a quiz.</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81D"/>
        </a:solidFill>
      </p:bgPr>
    </p:bg>
    <p:spTree>
      <p:nvGrpSpPr>
        <p:cNvPr id="1" name=""/>
        <p:cNvGrpSpPr/>
        <p:nvPr/>
      </p:nvGrpSpPr>
      <p:grpSpPr>
        <a:xfrm>
          <a:off x="0" y="0"/>
          <a:ext cx="0" cy="0"/>
          <a:chOff x="0" y="0"/>
          <a:chExt cx="0" cy="0"/>
        </a:xfrm>
      </p:grpSpPr>
      <p:sp>
        <p:nvSpPr>
          <p:cNvPr id="3" name="Text 0"/>
          <p:cNvSpPr/>
          <p:nvPr/>
        </p:nvSpPr>
        <p:spPr>
          <a:xfrm>
            <a:off x="0" y="2377440"/>
            <a:ext cx="12188952" cy="329184"/>
          </a:xfrm>
          <a:prstGeom prst="rect">
            <a:avLst/>
          </a:prstGeom>
          <a:noFill/>
          <a:ln/>
        </p:spPr>
        <p:txBody>
          <a:bodyPr wrap="square" lIns="0" tIns="0" rIns="0" bIns="0" rtlCol="0" anchor="ctr"/>
          <a:lstStyle/>
          <a:p>
            <a:pPr algn="ctr" indent="0" marL="0">
              <a:buNone/>
            </a:pPr>
            <a:r>
              <a:rPr lang="en-US" sz="1500" dirty="0">
                <a:solidFill>
                  <a:srgbClr val="7E9C74"/>
                </a:solidFill>
                <a:latin typeface="Courier New" pitchFamily="34" charset="0"/>
                <a:ea typeface="Courier New" pitchFamily="34" charset="-122"/>
                <a:cs typeface="Courier New" pitchFamily="34" charset="-120"/>
              </a:rPr>
              <a:t>&lt;!-- section 02 --&gt;</a:t>
            </a:r>
            <a:endParaRPr lang="en-US" sz="1500" dirty="0"/>
          </a:p>
        </p:txBody>
      </p:sp>
      <p:sp>
        <p:nvSpPr>
          <p:cNvPr id="4" name="Text 1"/>
          <p:cNvSpPr/>
          <p:nvPr/>
        </p:nvSpPr>
        <p:spPr>
          <a:xfrm>
            <a:off x="1097280" y="2798064"/>
            <a:ext cx="9994392"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From blueprint to building</a:t>
            </a:r>
            <a:endParaRPr lang="en-US" sz="4200" dirty="0"/>
          </a:p>
        </p:txBody>
      </p:sp>
      <p:sp>
        <p:nvSpPr>
          <p:cNvPr id="5" name="Shape 2"/>
          <p:cNvSpPr/>
          <p:nvPr/>
        </p:nvSpPr>
        <p:spPr>
          <a:xfrm>
            <a:off x="5545836" y="3803904"/>
            <a:ext cx="1097280" cy="41148"/>
          </a:xfrm>
          <a:prstGeom prst="rect">
            <a:avLst/>
          </a:prstGeom>
          <a:solidFill>
            <a:srgbClr val="E34F26"/>
          </a:solidFill>
          <a:ln w="12700">
            <a:solidFill>
              <a:srgbClr val="E34F26"/>
            </a:solidFill>
            <a:prstDash val="solid"/>
          </a:ln>
        </p:spPr>
      </p:sp>
      <p:sp>
        <p:nvSpPr>
          <p:cNvPr id="6" name="Text 3"/>
          <p:cNvSpPr/>
          <p:nvPr/>
        </p:nvSpPr>
        <p:spPr>
          <a:xfrm>
            <a:off x="1828800" y="4041648"/>
            <a:ext cx="8531352" cy="457200"/>
          </a:xfrm>
          <a:prstGeom prst="rect">
            <a:avLst/>
          </a:prstGeom>
          <a:noFill/>
          <a:ln/>
        </p:spPr>
        <p:txBody>
          <a:bodyPr wrap="square" lIns="0" tIns="0" rIns="0" bIns="0" rtlCol="0" anchor="ctr"/>
          <a:lstStyle/>
          <a:p>
            <a:pPr algn="ctr" indent="0" marL="0">
              <a:buNone/>
            </a:pPr>
            <a:r>
              <a:rPr lang="en-US" sz="1600" dirty="0">
                <a:solidFill>
                  <a:srgbClr val="B9BFC7"/>
                </a:solidFill>
                <a:latin typeface="Calibri" pitchFamily="34" charset="0"/>
                <a:ea typeface="Calibri" pitchFamily="34" charset="-122"/>
                <a:cs typeface="Calibri" pitchFamily="34" charset="-120"/>
              </a:rPr>
              <a:t>HTML, CSS and JavaScript, explained with a shopping mall.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07</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&lt;html-css-js&gt;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You have been asked to build a shopping mall</a:t>
            </a:r>
            <a:endParaRPr lang="en-US" sz="3400" dirty="0"/>
          </a:p>
        </p:txBody>
      </p:sp>
      <p:sp>
        <p:nvSpPr>
          <p:cNvPr id="7" name="Text 4"/>
          <p:cNvSpPr/>
          <p:nvPr/>
        </p:nvSpPr>
        <p:spPr>
          <a:xfrm>
            <a:off x="640080" y="1517904"/>
            <a:ext cx="10881360" cy="365760"/>
          </a:xfrm>
          <a:prstGeom prst="rect">
            <a:avLst/>
          </a:prstGeom>
          <a:noFill/>
          <a:ln/>
        </p:spPr>
        <p:txBody>
          <a:bodyPr wrap="square" lIns="0" tIns="0" rIns="0" bIns="0" rtlCol="0" anchor="t"/>
          <a:lstStyle/>
          <a:p>
            <a:pPr algn="l" indent="0" marL="0">
              <a:lnSpc>
                <a:spcPts val="2001"/>
              </a:lnSpc>
              <a:buNone/>
            </a:pPr>
            <a:r>
              <a:rPr lang="en-US" sz="1450" dirty="0">
                <a:solidFill>
                  <a:srgbClr val="5A6069"/>
                </a:solidFill>
                <a:latin typeface="Calibri" pitchFamily="34" charset="0"/>
                <a:ea typeface="Calibri" pitchFamily="34" charset="-122"/>
                <a:cs typeface="Calibri" pitchFamily="34" charset="-120"/>
              </a:rPr>
              <a:t>Nobody starts by laying bricks. There is an order to it, and web development follows the exact same order.</a:t>
            </a:r>
            <a:endParaRPr lang="en-US" sz="1450" dirty="0"/>
          </a:p>
        </p:txBody>
      </p:sp>
      <p:sp>
        <p:nvSpPr>
          <p:cNvPr id="8" name="Shape 5"/>
          <p:cNvSpPr/>
          <p:nvPr/>
        </p:nvSpPr>
        <p:spPr>
          <a:xfrm>
            <a:off x="640080" y="1956816"/>
            <a:ext cx="2542032" cy="3017520"/>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9" name="Shape 6"/>
          <p:cNvSpPr/>
          <p:nvPr/>
        </p:nvSpPr>
        <p:spPr>
          <a:xfrm>
            <a:off x="896112" y="2231136"/>
            <a:ext cx="585216" cy="585216"/>
          </a:xfrm>
          <a:prstGeom prst="roundRect">
            <a:avLst>
              <a:gd name="adj" fmla="val 15625"/>
            </a:avLst>
          </a:prstGeom>
          <a:solidFill>
            <a:srgbClr val="FBE9E2"/>
          </a:solidFill>
          <a:ln w="12700">
            <a:solidFill>
              <a:srgbClr val="F0B9A6"/>
            </a:solidFill>
            <a:prstDash val="solid"/>
          </a:ln>
        </p:spPr>
      </p:sp>
      <p:pic>
        <p:nvPicPr>
          <p:cNvPr id="10" name="Image 0" descr="preencoded.png">    </p:cNvPr>
          <p:cNvPicPr>
            <a:picLocks noChangeAspect="1"/>
          </p:cNvPicPr>
          <p:nvPr/>
        </p:nvPicPr>
        <p:blipFill>
          <a:blip r:embed="rId1"/>
          <a:stretch>
            <a:fillRect/>
          </a:stretch>
        </p:blipFill>
        <p:spPr>
          <a:xfrm>
            <a:off x="1048268" y="2383292"/>
            <a:ext cx="280904" cy="280904"/>
          </a:xfrm>
          <a:prstGeom prst="rect">
            <a:avLst/>
          </a:prstGeom>
        </p:spPr>
      </p:pic>
      <p:sp>
        <p:nvSpPr>
          <p:cNvPr id="11" name="Text 7"/>
          <p:cNvSpPr/>
          <p:nvPr/>
        </p:nvSpPr>
        <p:spPr>
          <a:xfrm>
            <a:off x="2395728" y="2231136"/>
            <a:ext cx="548640" cy="585216"/>
          </a:xfrm>
          <a:prstGeom prst="rect">
            <a:avLst/>
          </a:prstGeom>
          <a:noFill/>
          <a:ln/>
        </p:spPr>
        <p:txBody>
          <a:bodyPr wrap="square" lIns="0" tIns="0" rIns="0" bIns="0" rtlCol="0" anchor="ctr"/>
          <a:lstStyle/>
          <a:p>
            <a:pPr algn="r" indent="0" marL="0">
              <a:buNone/>
            </a:pPr>
            <a:r>
              <a:rPr lang="en-US" sz="1800" b="1" dirty="0">
                <a:solidFill>
                  <a:srgbClr val="D5D1C8"/>
                </a:solidFill>
                <a:latin typeface="Courier New" pitchFamily="34" charset="0"/>
                <a:ea typeface="Courier New" pitchFamily="34" charset="-122"/>
                <a:cs typeface="Courier New" pitchFamily="34" charset="-120"/>
              </a:rPr>
              <a:t>01</a:t>
            </a:r>
            <a:endParaRPr lang="en-US" sz="1800" dirty="0"/>
          </a:p>
        </p:txBody>
      </p:sp>
      <p:sp>
        <p:nvSpPr>
          <p:cNvPr id="12" name="Text 8"/>
          <p:cNvSpPr/>
          <p:nvPr/>
        </p:nvSpPr>
        <p:spPr>
          <a:xfrm>
            <a:off x="896112" y="2962656"/>
            <a:ext cx="2029968" cy="310896"/>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Blueprint</a:t>
            </a:r>
            <a:endParaRPr lang="en-US" sz="1600" dirty="0"/>
          </a:p>
        </p:txBody>
      </p:sp>
      <p:sp>
        <p:nvSpPr>
          <p:cNvPr id="13" name="Shape 9"/>
          <p:cNvSpPr/>
          <p:nvPr/>
        </p:nvSpPr>
        <p:spPr>
          <a:xfrm>
            <a:off x="896112" y="3346704"/>
            <a:ext cx="1371600" cy="365760"/>
          </a:xfrm>
          <a:prstGeom prst="roundRect">
            <a:avLst>
              <a:gd name="adj" fmla="val 20000"/>
            </a:avLst>
          </a:prstGeom>
          <a:solidFill>
            <a:srgbClr val="FBE9E2"/>
          </a:solidFill>
          <a:ln w="12700">
            <a:solidFill>
              <a:srgbClr val="F0B9A6"/>
            </a:solidFill>
            <a:prstDash val="solid"/>
          </a:ln>
        </p:spPr>
      </p:sp>
      <p:sp>
        <p:nvSpPr>
          <p:cNvPr id="14" name="Text 10"/>
          <p:cNvSpPr/>
          <p:nvPr/>
        </p:nvSpPr>
        <p:spPr>
          <a:xfrm>
            <a:off x="896112" y="3346704"/>
            <a:ext cx="1371600" cy="365760"/>
          </a:xfrm>
          <a:prstGeom prst="rect">
            <a:avLst/>
          </a:prstGeom>
          <a:noFill/>
          <a:ln/>
        </p:spPr>
        <p:txBody>
          <a:bodyPr wrap="square" lIns="0" tIns="0" rIns="0" bIns="0" rtlCol="0" anchor="ctr"/>
          <a:lstStyle/>
          <a:p>
            <a:pPr algn="ctr" indent="0" marL="0">
              <a:buNone/>
            </a:pPr>
            <a:r>
              <a:rPr lang="en-US" sz="1150" b="1" dirty="0">
                <a:solidFill>
                  <a:srgbClr val="E34F26"/>
                </a:solidFill>
                <a:latin typeface="Courier New" pitchFamily="34" charset="0"/>
                <a:ea typeface="Courier New" pitchFamily="34" charset="-122"/>
                <a:cs typeface="Courier New" pitchFamily="34" charset="-120"/>
              </a:rPr>
              <a:t>Wireframe</a:t>
            </a:r>
            <a:endParaRPr lang="en-US" sz="1150" dirty="0"/>
          </a:p>
        </p:txBody>
      </p:sp>
      <p:sp>
        <p:nvSpPr>
          <p:cNvPr id="15" name="Text 11"/>
          <p:cNvSpPr/>
          <p:nvPr/>
        </p:nvSpPr>
        <p:spPr>
          <a:xfrm>
            <a:off x="896112" y="3840480"/>
            <a:ext cx="2029968" cy="1005840"/>
          </a:xfrm>
          <a:prstGeom prst="rect">
            <a:avLst/>
          </a:prstGeom>
          <a:noFill/>
          <a:ln/>
        </p:spPr>
        <p:txBody>
          <a:bodyPr wrap="square" lIns="0" tIns="0" rIns="0" bIns="0" rtlCol="0" anchor="t"/>
          <a:lstStyle/>
          <a:p>
            <a:pPr algn="l" indent="0" marL="0">
              <a:lnSpc>
                <a:spcPts val="1700"/>
              </a:lnSpc>
              <a:buNone/>
            </a:pPr>
            <a:r>
              <a:rPr lang="en-US" sz="1250" dirty="0">
                <a:solidFill>
                  <a:srgbClr val="5A6069"/>
                </a:solidFill>
                <a:latin typeface="Calibri" pitchFamily="34" charset="0"/>
                <a:ea typeface="Calibri" pitchFamily="34" charset="-122"/>
                <a:cs typeface="Calibri" pitchFamily="34" charset="-120"/>
              </a:rPr>
              <a:t>A plan of what goes where and how people move through it. Figma or Adobe XD, usually drawn by the UX team.</a:t>
            </a:r>
            <a:endParaRPr lang="en-US" sz="1250" dirty="0"/>
          </a:p>
        </p:txBody>
      </p:sp>
      <p:pic>
        <p:nvPicPr>
          <p:cNvPr id="16" name="Image 1" descr="preencoded.png">    </p:cNvPr>
          <p:cNvPicPr>
            <a:picLocks noChangeAspect="1"/>
          </p:cNvPicPr>
          <p:nvPr/>
        </p:nvPicPr>
        <p:blipFill>
          <a:blip r:embed="rId2"/>
          <a:stretch>
            <a:fillRect/>
          </a:stretch>
        </p:blipFill>
        <p:spPr>
          <a:xfrm>
            <a:off x="3236976" y="2414016"/>
            <a:ext cx="201168" cy="201168"/>
          </a:xfrm>
          <a:prstGeom prst="rect">
            <a:avLst/>
          </a:prstGeom>
        </p:spPr>
      </p:pic>
      <p:sp>
        <p:nvSpPr>
          <p:cNvPr id="17" name="Shape 12"/>
          <p:cNvSpPr/>
          <p:nvPr/>
        </p:nvSpPr>
        <p:spPr>
          <a:xfrm>
            <a:off x="3483864" y="1956816"/>
            <a:ext cx="2542032" cy="3017520"/>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8" name="Shape 13"/>
          <p:cNvSpPr/>
          <p:nvPr/>
        </p:nvSpPr>
        <p:spPr>
          <a:xfrm>
            <a:off x="3739896" y="2231136"/>
            <a:ext cx="585216" cy="585216"/>
          </a:xfrm>
          <a:prstGeom prst="roundRect">
            <a:avLst>
              <a:gd name="adj" fmla="val 15625"/>
            </a:avLst>
          </a:prstGeom>
          <a:solidFill>
            <a:srgbClr val="FBE9E2"/>
          </a:solidFill>
          <a:ln w="12700">
            <a:solidFill>
              <a:srgbClr val="F0B9A6"/>
            </a:solidFill>
            <a:prstDash val="solid"/>
          </a:ln>
        </p:spPr>
      </p:sp>
      <p:pic>
        <p:nvPicPr>
          <p:cNvPr id="19" name="Image 2" descr="preencoded.png">    </p:cNvPr>
          <p:cNvPicPr>
            <a:picLocks noChangeAspect="1"/>
          </p:cNvPicPr>
          <p:nvPr/>
        </p:nvPicPr>
        <p:blipFill>
          <a:blip r:embed="rId3"/>
          <a:stretch>
            <a:fillRect/>
          </a:stretch>
        </p:blipFill>
        <p:spPr>
          <a:xfrm>
            <a:off x="3892052" y="2383292"/>
            <a:ext cx="280904" cy="280904"/>
          </a:xfrm>
          <a:prstGeom prst="rect">
            <a:avLst/>
          </a:prstGeom>
        </p:spPr>
      </p:pic>
      <p:sp>
        <p:nvSpPr>
          <p:cNvPr id="20" name="Text 14"/>
          <p:cNvSpPr/>
          <p:nvPr/>
        </p:nvSpPr>
        <p:spPr>
          <a:xfrm>
            <a:off x="5239512" y="2231136"/>
            <a:ext cx="548640" cy="585216"/>
          </a:xfrm>
          <a:prstGeom prst="rect">
            <a:avLst/>
          </a:prstGeom>
          <a:noFill/>
          <a:ln/>
        </p:spPr>
        <p:txBody>
          <a:bodyPr wrap="square" lIns="0" tIns="0" rIns="0" bIns="0" rtlCol="0" anchor="ctr"/>
          <a:lstStyle/>
          <a:p>
            <a:pPr algn="r" indent="0" marL="0">
              <a:buNone/>
            </a:pPr>
            <a:r>
              <a:rPr lang="en-US" sz="1800" b="1" dirty="0">
                <a:solidFill>
                  <a:srgbClr val="D5D1C8"/>
                </a:solidFill>
                <a:latin typeface="Courier New" pitchFamily="34" charset="0"/>
                <a:ea typeface="Courier New" pitchFamily="34" charset="-122"/>
                <a:cs typeface="Courier New" pitchFamily="34" charset="-120"/>
              </a:rPr>
              <a:t>02</a:t>
            </a:r>
            <a:endParaRPr lang="en-US" sz="1800" dirty="0"/>
          </a:p>
        </p:txBody>
      </p:sp>
      <p:sp>
        <p:nvSpPr>
          <p:cNvPr id="21" name="Text 15"/>
          <p:cNvSpPr/>
          <p:nvPr/>
        </p:nvSpPr>
        <p:spPr>
          <a:xfrm>
            <a:off x="3739896" y="2962656"/>
            <a:ext cx="2029968" cy="310896"/>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Structure</a:t>
            </a:r>
            <a:endParaRPr lang="en-US" sz="1600" dirty="0"/>
          </a:p>
        </p:txBody>
      </p:sp>
      <p:sp>
        <p:nvSpPr>
          <p:cNvPr id="22" name="Shape 16"/>
          <p:cNvSpPr/>
          <p:nvPr/>
        </p:nvSpPr>
        <p:spPr>
          <a:xfrm>
            <a:off x="3739896" y="3346704"/>
            <a:ext cx="1371600" cy="365760"/>
          </a:xfrm>
          <a:prstGeom prst="roundRect">
            <a:avLst>
              <a:gd name="adj" fmla="val 20000"/>
            </a:avLst>
          </a:prstGeom>
          <a:solidFill>
            <a:srgbClr val="FBE9E2"/>
          </a:solidFill>
          <a:ln w="12700">
            <a:solidFill>
              <a:srgbClr val="F0B9A6"/>
            </a:solidFill>
            <a:prstDash val="solid"/>
          </a:ln>
        </p:spPr>
      </p:sp>
      <p:sp>
        <p:nvSpPr>
          <p:cNvPr id="23" name="Text 17"/>
          <p:cNvSpPr/>
          <p:nvPr/>
        </p:nvSpPr>
        <p:spPr>
          <a:xfrm>
            <a:off x="3739896" y="3346704"/>
            <a:ext cx="1371600" cy="365760"/>
          </a:xfrm>
          <a:prstGeom prst="rect">
            <a:avLst/>
          </a:prstGeom>
          <a:noFill/>
          <a:ln/>
        </p:spPr>
        <p:txBody>
          <a:bodyPr wrap="square" lIns="0" tIns="0" rIns="0" bIns="0" rtlCol="0" anchor="ctr"/>
          <a:lstStyle/>
          <a:p>
            <a:pPr algn="ctr" indent="0" marL="0">
              <a:buNone/>
            </a:pPr>
            <a:r>
              <a:rPr lang="en-US" sz="1150" b="1" dirty="0">
                <a:solidFill>
                  <a:srgbClr val="E34F26"/>
                </a:solidFill>
                <a:latin typeface="Courier New" pitchFamily="34" charset="0"/>
                <a:ea typeface="Courier New" pitchFamily="34" charset="-122"/>
                <a:cs typeface="Courier New" pitchFamily="34" charset="-120"/>
              </a:rPr>
              <a:t>HTML</a:t>
            </a:r>
            <a:endParaRPr lang="en-US" sz="1150" dirty="0"/>
          </a:p>
        </p:txBody>
      </p:sp>
      <p:sp>
        <p:nvSpPr>
          <p:cNvPr id="24" name="Text 18"/>
          <p:cNvSpPr/>
          <p:nvPr/>
        </p:nvSpPr>
        <p:spPr>
          <a:xfrm>
            <a:off x="3739896" y="3840480"/>
            <a:ext cx="2029968" cy="1005840"/>
          </a:xfrm>
          <a:prstGeom prst="rect">
            <a:avLst/>
          </a:prstGeom>
          <a:noFill/>
          <a:ln/>
        </p:spPr>
        <p:txBody>
          <a:bodyPr wrap="square" lIns="0" tIns="0" rIns="0" bIns="0" rtlCol="0" anchor="t"/>
          <a:lstStyle/>
          <a:p>
            <a:pPr algn="l" indent="0" marL="0">
              <a:lnSpc>
                <a:spcPts val="1700"/>
              </a:lnSpc>
              <a:buNone/>
            </a:pPr>
            <a:r>
              <a:rPr lang="en-US" sz="1250" dirty="0">
                <a:solidFill>
                  <a:srgbClr val="5A6069"/>
                </a:solidFill>
                <a:latin typeface="Calibri" pitchFamily="34" charset="0"/>
                <a:ea typeface="Calibri" pitchFamily="34" charset="-122"/>
                <a:cs typeface="Calibri" pitchFamily="34" charset="-120"/>
              </a:rPr>
              <a:t>Bricks, walls, floors. The skeleton that holds the body up. Ugly at this stage, and that is fine.</a:t>
            </a:r>
            <a:endParaRPr lang="en-US" sz="1250" dirty="0"/>
          </a:p>
        </p:txBody>
      </p:sp>
      <p:pic>
        <p:nvPicPr>
          <p:cNvPr id="25" name="Image 3" descr="preencoded.png">    </p:cNvPr>
          <p:cNvPicPr>
            <a:picLocks noChangeAspect="1"/>
          </p:cNvPicPr>
          <p:nvPr/>
        </p:nvPicPr>
        <p:blipFill>
          <a:blip r:embed="rId4"/>
          <a:stretch>
            <a:fillRect/>
          </a:stretch>
        </p:blipFill>
        <p:spPr>
          <a:xfrm>
            <a:off x="6080760" y="2414016"/>
            <a:ext cx="201168" cy="201168"/>
          </a:xfrm>
          <a:prstGeom prst="rect">
            <a:avLst/>
          </a:prstGeom>
        </p:spPr>
      </p:pic>
      <p:sp>
        <p:nvSpPr>
          <p:cNvPr id="26" name="Shape 19"/>
          <p:cNvSpPr/>
          <p:nvPr/>
        </p:nvSpPr>
        <p:spPr>
          <a:xfrm>
            <a:off x="6327648" y="1956816"/>
            <a:ext cx="2542032" cy="3017520"/>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7" name="Shape 20"/>
          <p:cNvSpPr/>
          <p:nvPr/>
        </p:nvSpPr>
        <p:spPr>
          <a:xfrm>
            <a:off x="6583680" y="2231136"/>
            <a:ext cx="585216" cy="585216"/>
          </a:xfrm>
          <a:prstGeom prst="roundRect">
            <a:avLst>
              <a:gd name="adj" fmla="val 15625"/>
            </a:avLst>
          </a:prstGeom>
          <a:solidFill>
            <a:srgbClr val="FBE9E2"/>
          </a:solidFill>
          <a:ln w="12700">
            <a:solidFill>
              <a:srgbClr val="F0B9A6"/>
            </a:solidFill>
            <a:prstDash val="solid"/>
          </a:ln>
        </p:spPr>
      </p:sp>
      <p:pic>
        <p:nvPicPr>
          <p:cNvPr id="28" name="Image 4" descr="preencoded.png">    </p:cNvPr>
          <p:cNvPicPr>
            <a:picLocks noChangeAspect="1"/>
          </p:cNvPicPr>
          <p:nvPr/>
        </p:nvPicPr>
        <p:blipFill>
          <a:blip r:embed="rId5"/>
          <a:stretch>
            <a:fillRect/>
          </a:stretch>
        </p:blipFill>
        <p:spPr>
          <a:xfrm>
            <a:off x="6735836" y="2383292"/>
            <a:ext cx="280904" cy="280904"/>
          </a:xfrm>
          <a:prstGeom prst="rect">
            <a:avLst/>
          </a:prstGeom>
        </p:spPr>
      </p:pic>
      <p:sp>
        <p:nvSpPr>
          <p:cNvPr id="29" name="Text 21"/>
          <p:cNvSpPr/>
          <p:nvPr/>
        </p:nvSpPr>
        <p:spPr>
          <a:xfrm>
            <a:off x="8083296" y="2231136"/>
            <a:ext cx="548640" cy="585216"/>
          </a:xfrm>
          <a:prstGeom prst="rect">
            <a:avLst/>
          </a:prstGeom>
          <a:noFill/>
          <a:ln/>
        </p:spPr>
        <p:txBody>
          <a:bodyPr wrap="square" lIns="0" tIns="0" rIns="0" bIns="0" rtlCol="0" anchor="ctr"/>
          <a:lstStyle/>
          <a:p>
            <a:pPr algn="r" indent="0" marL="0">
              <a:buNone/>
            </a:pPr>
            <a:r>
              <a:rPr lang="en-US" sz="1800" b="1" dirty="0">
                <a:solidFill>
                  <a:srgbClr val="D5D1C8"/>
                </a:solidFill>
                <a:latin typeface="Courier New" pitchFamily="34" charset="0"/>
                <a:ea typeface="Courier New" pitchFamily="34" charset="-122"/>
                <a:cs typeface="Courier New" pitchFamily="34" charset="-120"/>
              </a:rPr>
              <a:t>03</a:t>
            </a:r>
            <a:endParaRPr lang="en-US" sz="1800" dirty="0"/>
          </a:p>
        </p:txBody>
      </p:sp>
      <p:sp>
        <p:nvSpPr>
          <p:cNvPr id="30" name="Text 22"/>
          <p:cNvSpPr/>
          <p:nvPr/>
        </p:nvSpPr>
        <p:spPr>
          <a:xfrm>
            <a:off x="6583680" y="2962656"/>
            <a:ext cx="2029968" cy="310896"/>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Paint and polish</a:t>
            </a:r>
            <a:endParaRPr lang="en-US" sz="1600" dirty="0"/>
          </a:p>
        </p:txBody>
      </p:sp>
      <p:sp>
        <p:nvSpPr>
          <p:cNvPr id="31" name="Shape 23"/>
          <p:cNvSpPr/>
          <p:nvPr/>
        </p:nvSpPr>
        <p:spPr>
          <a:xfrm>
            <a:off x="6583680" y="3346704"/>
            <a:ext cx="1371600" cy="365760"/>
          </a:xfrm>
          <a:prstGeom prst="roundRect">
            <a:avLst>
              <a:gd name="adj" fmla="val 20000"/>
            </a:avLst>
          </a:prstGeom>
          <a:solidFill>
            <a:srgbClr val="FBE9E2"/>
          </a:solidFill>
          <a:ln w="12700">
            <a:solidFill>
              <a:srgbClr val="F0B9A6"/>
            </a:solidFill>
            <a:prstDash val="solid"/>
          </a:ln>
        </p:spPr>
      </p:sp>
      <p:sp>
        <p:nvSpPr>
          <p:cNvPr id="32" name="Text 24"/>
          <p:cNvSpPr/>
          <p:nvPr/>
        </p:nvSpPr>
        <p:spPr>
          <a:xfrm>
            <a:off x="6583680" y="3346704"/>
            <a:ext cx="1371600" cy="365760"/>
          </a:xfrm>
          <a:prstGeom prst="rect">
            <a:avLst/>
          </a:prstGeom>
          <a:noFill/>
          <a:ln/>
        </p:spPr>
        <p:txBody>
          <a:bodyPr wrap="square" lIns="0" tIns="0" rIns="0" bIns="0" rtlCol="0" anchor="ctr"/>
          <a:lstStyle/>
          <a:p>
            <a:pPr algn="ctr" indent="0" marL="0">
              <a:buNone/>
            </a:pPr>
            <a:r>
              <a:rPr lang="en-US" sz="1150" b="1" dirty="0">
                <a:solidFill>
                  <a:srgbClr val="E34F26"/>
                </a:solidFill>
                <a:latin typeface="Courier New" pitchFamily="34" charset="0"/>
                <a:ea typeface="Courier New" pitchFamily="34" charset="-122"/>
                <a:cs typeface="Courier New" pitchFamily="34" charset="-120"/>
              </a:rPr>
              <a:t>CSS</a:t>
            </a:r>
            <a:endParaRPr lang="en-US" sz="1150" dirty="0"/>
          </a:p>
        </p:txBody>
      </p:sp>
      <p:sp>
        <p:nvSpPr>
          <p:cNvPr id="33" name="Text 25"/>
          <p:cNvSpPr/>
          <p:nvPr/>
        </p:nvSpPr>
        <p:spPr>
          <a:xfrm>
            <a:off x="6583680" y="3840480"/>
            <a:ext cx="2029968" cy="1005840"/>
          </a:xfrm>
          <a:prstGeom prst="rect">
            <a:avLst/>
          </a:prstGeom>
          <a:noFill/>
          <a:ln/>
        </p:spPr>
        <p:txBody>
          <a:bodyPr wrap="square" lIns="0" tIns="0" rIns="0" bIns="0" rtlCol="0" anchor="t"/>
          <a:lstStyle/>
          <a:p>
            <a:pPr algn="l" indent="0" marL="0">
              <a:lnSpc>
                <a:spcPts val="1700"/>
              </a:lnSpc>
              <a:buNone/>
            </a:pPr>
            <a:r>
              <a:rPr lang="en-US" sz="1250" dirty="0">
                <a:solidFill>
                  <a:srgbClr val="5A6069"/>
                </a:solidFill>
                <a:latin typeface="Calibri" pitchFamily="34" charset="0"/>
                <a:ea typeface="Calibri" pitchFamily="34" charset="-122"/>
                <a:cs typeface="Calibri" pitchFamily="34" charset="-120"/>
              </a:rPr>
              <a:t>Colour, spacing, fonts, layout. The part everyone notices and nobody thanks you for.</a:t>
            </a:r>
            <a:endParaRPr lang="en-US" sz="1250" dirty="0"/>
          </a:p>
        </p:txBody>
      </p:sp>
      <p:pic>
        <p:nvPicPr>
          <p:cNvPr id="34" name="Image 5" descr="preencoded.png">    </p:cNvPr>
          <p:cNvPicPr>
            <a:picLocks noChangeAspect="1"/>
          </p:cNvPicPr>
          <p:nvPr/>
        </p:nvPicPr>
        <p:blipFill>
          <a:blip r:embed="rId6"/>
          <a:stretch>
            <a:fillRect/>
          </a:stretch>
        </p:blipFill>
        <p:spPr>
          <a:xfrm>
            <a:off x="8924544" y="2414016"/>
            <a:ext cx="201168" cy="201168"/>
          </a:xfrm>
          <a:prstGeom prst="rect">
            <a:avLst/>
          </a:prstGeom>
        </p:spPr>
      </p:pic>
      <p:sp>
        <p:nvSpPr>
          <p:cNvPr id="35" name="Shape 26"/>
          <p:cNvSpPr/>
          <p:nvPr/>
        </p:nvSpPr>
        <p:spPr>
          <a:xfrm>
            <a:off x="9171432" y="1956816"/>
            <a:ext cx="2542032" cy="3017520"/>
          </a:xfrm>
          <a:prstGeom prst="roundRect">
            <a:avLst>
              <a:gd name="adj" fmla="val 359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6" name="Shape 27"/>
          <p:cNvSpPr/>
          <p:nvPr/>
        </p:nvSpPr>
        <p:spPr>
          <a:xfrm>
            <a:off x="9427464" y="2231136"/>
            <a:ext cx="585216" cy="585216"/>
          </a:xfrm>
          <a:prstGeom prst="roundRect">
            <a:avLst>
              <a:gd name="adj" fmla="val 15625"/>
            </a:avLst>
          </a:prstGeom>
          <a:solidFill>
            <a:srgbClr val="FBE9E2"/>
          </a:solidFill>
          <a:ln w="12700">
            <a:solidFill>
              <a:srgbClr val="F0B9A6"/>
            </a:solidFill>
            <a:prstDash val="solid"/>
          </a:ln>
        </p:spPr>
      </p:sp>
      <p:pic>
        <p:nvPicPr>
          <p:cNvPr id="37" name="Image 6" descr="preencoded.png">    </p:cNvPr>
          <p:cNvPicPr>
            <a:picLocks noChangeAspect="1"/>
          </p:cNvPicPr>
          <p:nvPr/>
        </p:nvPicPr>
        <p:blipFill>
          <a:blip r:embed="rId7"/>
          <a:stretch>
            <a:fillRect/>
          </a:stretch>
        </p:blipFill>
        <p:spPr>
          <a:xfrm>
            <a:off x="9579620" y="2383292"/>
            <a:ext cx="280904" cy="280904"/>
          </a:xfrm>
          <a:prstGeom prst="rect">
            <a:avLst/>
          </a:prstGeom>
        </p:spPr>
      </p:pic>
      <p:sp>
        <p:nvSpPr>
          <p:cNvPr id="38" name="Text 28"/>
          <p:cNvSpPr/>
          <p:nvPr/>
        </p:nvSpPr>
        <p:spPr>
          <a:xfrm>
            <a:off x="10927080" y="2231136"/>
            <a:ext cx="548640" cy="585216"/>
          </a:xfrm>
          <a:prstGeom prst="rect">
            <a:avLst/>
          </a:prstGeom>
          <a:noFill/>
          <a:ln/>
        </p:spPr>
        <p:txBody>
          <a:bodyPr wrap="square" lIns="0" tIns="0" rIns="0" bIns="0" rtlCol="0" anchor="ctr"/>
          <a:lstStyle/>
          <a:p>
            <a:pPr algn="r" indent="0" marL="0">
              <a:buNone/>
            </a:pPr>
            <a:r>
              <a:rPr lang="en-US" sz="1800" b="1" dirty="0">
                <a:solidFill>
                  <a:srgbClr val="D5D1C8"/>
                </a:solidFill>
                <a:latin typeface="Courier New" pitchFamily="34" charset="0"/>
                <a:ea typeface="Courier New" pitchFamily="34" charset="-122"/>
                <a:cs typeface="Courier New" pitchFamily="34" charset="-120"/>
              </a:rPr>
              <a:t>04</a:t>
            </a:r>
            <a:endParaRPr lang="en-US" sz="1800" dirty="0"/>
          </a:p>
        </p:txBody>
      </p:sp>
      <p:sp>
        <p:nvSpPr>
          <p:cNvPr id="39" name="Text 29"/>
          <p:cNvSpPr/>
          <p:nvPr/>
        </p:nvSpPr>
        <p:spPr>
          <a:xfrm>
            <a:off x="9427464" y="2962656"/>
            <a:ext cx="2029968" cy="310896"/>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Escalators and gates</a:t>
            </a:r>
            <a:endParaRPr lang="en-US" sz="1600" dirty="0"/>
          </a:p>
        </p:txBody>
      </p:sp>
      <p:sp>
        <p:nvSpPr>
          <p:cNvPr id="40" name="Shape 30"/>
          <p:cNvSpPr/>
          <p:nvPr/>
        </p:nvSpPr>
        <p:spPr>
          <a:xfrm>
            <a:off x="9427464" y="3346704"/>
            <a:ext cx="1371600" cy="365760"/>
          </a:xfrm>
          <a:prstGeom prst="roundRect">
            <a:avLst>
              <a:gd name="adj" fmla="val 20000"/>
            </a:avLst>
          </a:prstGeom>
          <a:solidFill>
            <a:srgbClr val="FBE9E2"/>
          </a:solidFill>
          <a:ln w="12700">
            <a:solidFill>
              <a:srgbClr val="F0B9A6"/>
            </a:solidFill>
            <a:prstDash val="solid"/>
          </a:ln>
        </p:spPr>
      </p:sp>
      <p:sp>
        <p:nvSpPr>
          <p:cNvPr id="41" name="Text 31"/>
          <p:cNvSpPr/>
          <p:nvPr/>
        </p:nvSpPr>
        <p:spPr>
          <a:xfrm>
            <a:off x="9427464" y="3346704"/>
            <a:ext cx="1371600" cy="365760"/>
          </a:xfrm>
          <a:prstGeom prst="rect">
            <a:avLst/>
          </a:prstGeom>
          <a:noFill/>
          <a:ln/>
        </p:spPr>
        <p:txBody>
          <a:bodyPr wrap="square" lIns="0" tIns="0" rIns="0" bIns="0" rtlCol="0" anchor="ctr"/>
          <a:lstStyle/>
          <a:p>
            <a:pPr algn="ctr" indent="0" marL="0">
              <a:buNone/>
            </a:pPr>
            <a:r>
              <a:rPr lang="en-US" sz="1150" b="1" dirty="0">
                <a:solidFill>
                  <a:srgbClr val="E34F26"/>
                </a:solidFill>
                <a:latin typeface="Courier New" pitchFamily="34" charset="0"/>
                <a:ea typeface="Courier New" pitchFamily="34" charset="-122"/>
                <a:cs typeface="Courier New" pitchFamily="34" charset="-120"/>
              </a:rPr>
              <a:t>JavaScript</a:t>
            </a:r>
            <a:endParaRPr lang="en-US" sz="1150" dirty="0"/>
          </a:p>
        </p:txBody>
      </p:sp>
      <p:sp>
        <p:nvSpPr>
          <p:cNvPr id="42" name="Text 32"/>
          <p:cNvSpPr/>
          <p:nvPr/>
        </p:nvSpPr>
        <p:spPr>
          <a:xfrm>
            <a:off x="9427464" y="3840480"/>
            <a:ext cx="2029968" cy="1005840"/>
          </a:xfrm>
          <a:prstGeom prst="rect">
            <a:avLst/>
          </a:prstGeom>
          <a:noFill/>
          <a:ln/>
        </p:spPr>
        <p:txBody>
          <a:bodyPr wrap="square" lIns="0" tIns="0" rIns="0" bIns="0" rtlCol="0" anchor="t"/>
          <a:lstStyle/>
          <a:p>
            <a:pPr algn="l" indent="0" marL="0">
              <a:lnSpc>
                <a:spcPts val="1700"/>
              </a:lnSpc>
              <a:buNone/>
            </a:pPr>
            <a:r>
              <a:rPr lang="en-US" sz="1250" dirty="0">
                <a:solidFill>
                  <a:srgbClr val="5A6069"/>
                </a:solidFill>
                <a:latin typeface="Calibri" pitchFamily="34" charset="0"/>
                <a:ea typeface="Calibri" pitchFamily="34" charset="-122"/>
                <a:cs typeface="Calibri" pitchFamily="34" charset="-120"/>
              </a:rPr>
              <a:t>Lifts, parking gates, payment counters. Anything that reacts when a human does something.</a:t>
            </a:r>
            <a:endParaRPr lang="en-US" sz="1250" dirty="0"/>
          </a:p>
        </p:txBody>
      </p:sp>
      <p:sp>
        <p:nvSpPr>
          <p:cNvPr id="43" name="Shape 33"/>
          <p:cNvSpPr/>
          <p:nvPr/>
        </p:nvSpPr>
        <p:spPr>
          <a:xfrm>
            <a:off x="640080" y="5138928"/>
            <a:ext cx="10881360" cy="685800"/>
          </a:xfrm>
          <a:prstGeom prst="roundRect">
            <a:avLst>
              <a:gd name="adj" fmla="val 13333"/>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44" name="Text 34"/>
          <p:cNvSpPr/>
          <p:nvPr/>
        </p:nvSpPr>
        <p:spPr>
          <a:xfrm>
            <a:off x="640080" y="5138928"/>
            <a:ext cx="10881360" cy="685800"/>
          </a:xfrm>
          <a:prstGeom prst="rect">
            <a:avLst/>
          </a:prstGeom>
          <a:noFill/>
          <a:ln/>
        </p:spPr>
        <p:txBody>
          <a:bodyPr wrap="square" lIns="0" tIns="0" rIns="0" bIns="0" rtlCol="0" anchor="ctr"/>
          <a:lstStyle/>
          <a:p>
            <a:pPr algn="ctr" indent="0" marL="0">
              <a:buNone/>
            </a:pPr>
            <a:r>
              <a:rPr lang="en-US" sz="1600" b="1" dirty="0">
                <a:solidFill>
                  <a:srgbClr val="1B1F24"/>
                </a:solidFill>
                <a:latin typeface="Calibri" pitchFamily="34" charset="0"/>
                <a:ea typeface="Calibri" pitchFamily="34" charset="-122"/>
                <a:cs typeface="Calibri" pitchFamily="34" charset="-120"/>
              </a:rPr>
              <a:t>HTML is the structure. Think of it as the skeleton that holds the body up. That is all we are building today.</a:t>
            </a:r>
            <a:endParaRPr lang="en-US" sz="1600" dirty="0"/>
          </a:p>
        </p:txBody>
      </p:sp>
      <p:sp>
        <p:nvSpPr>
          <p:cNvPr id="45" name="Shape 35"/>
          <p:cNvSpPr/>
          <p:nvPr/>
        </p:nvSpPr>
        <p:spPr>
          <a:xfrm>
            <a:off x="640080" y="5852160"/>
            <a:ext cx="10881360" cy="457200"/>
          </a:xfrm>
          <a:prstGeom prst="roundRect">
            <a:avLst>
              <a:gd name="adj" fmla="val 16000"/>
            </a:avLst>
          </a:prstGeom>
          <a:solidFill>
            <a:srgbClr val="EFEEE9"/>
          </a:solidFill>
          <a:ln w="12700">
            <a:solidFill>
              <a:srgbClr val="D5D1C8"/>
            </a:solidFill>
            <a:prstDash val="solid"/>
          </a:ln>
        </p:spPr>
      </p:sp>
      <p:sp>
        <p:nvSpPr>
          <p:cNvPr id="46" name="Text 36"/>
          <p:cNvSpPr/>
          <p:nvPr/>
        </p:nvSpPr>
        <p:spPr>
          <a:xfrm>
            <a:off x="841248" y="5852160"/>
            <a:ext cx="10479024" cy="457200"/>
          </a:xfrm>
          <a:prstGeom prst="rect">
            <a:avLst/>
          </a:prstGeom>
          <a:noFill/>
          <a:ln/>
        </p:spPr>
        <p:txBody>
          <a:bodyPr wrap="square" lIns="0" tIns="0" rIns="0" bIns="0" rtlCol="0" anchor="ctr"/>
          <a:lstStyle/>
          <a:p>
            <a:pPr indent="0" marL="0">
              <a:lnSpc>
                <a:spcPts val="1470"/>
              </a:lnSpc>
              <a:buNone/>
            </a:pPr>
            <a:r>
              <a:rPr lang="en-US" sz="1050" dirty="0">
                <a:solidFill>
                  <a:srgbClr val="6E8A64"/>
                </a:solidFill>
                <a:latin typeface="Courier New" pitchFamily="34" charset="0"/>
                <a:ea typeface="Courier New" pitchFamily="34" charset="-122"/>
                <a:cs typeface="Courier New" pitchFamily="34" charset="-120"/>
              </a:rPr>
              <a:t>&lt;!-- a mall with no escalators is still a mall. it is just a mall where everyone is annoyed --&gt;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08</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&lt;demo&gt;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Turn the CSS off and look underneath</a:t>
            </a:r>
            <a:endParaRPr lang="en-US" sz="3400" dirty="0"/>
          </a:p>
        </p:txBody>
      </p:sp>
      <p:sp>
        <p:nvSpPr>
          <p:cNvPr id="7" name="Text 4"/>
          <p:cNvSpPr/>
          <p:nvPr/>
        </p:nvSpPr>
        <p:spPr>
          <a:xfrm>
            <a:off x="640080" y="1517904"/>
            <a:ext cx="10881360" cy="365760"/>
          </a:xfrm>
          <a:prstGeom prst="rect">
            <a:avLst/>
          </a:prstGeom>
          <a:noFill/>
          <a:ln/>
        </p:spPr>
        <p:txBody>
          <a:bodyPr wrap="square" lIns="0" tIns="0" rIns="0" bIns="0" rtlCol="0" anchor="t"/>
          <a:lstStyle/>
          <a:p>
            <a:pPr algn="l" indent="0" marL="0">
              <a:lnSpc>
                <a:spcPts val="2001"/>
              </a:lnSpc>
              <a:buNone/>
            </a:pPr>
            <a:r>
              <a:rPr lang="en-US" sz="1450" dirty="0">
                <a:solidFill>
                  <a:srgbClr val="5A6069"/>
                </a:solidFill>
                <a:latin typeface="Calibri" pitchFamily="34" charset="0"/>
                <a:ea typeface="Calibri" pitchFamily="34" charset="-122"/>
                <a:cs typeface="Calibri" pitchFamily="34" charset="-120"/>
              </a:rPr>
              <a:t>Disable CSS on any site with the Web Developer extension and watch what is left. Nothing is missing, it is just unstyled.</a:t>
            </a:r>
            <a:endParaRPr lang="en-US" sz="1450" dirty="0"/>
          </a:p>
        </p:txBody>
      </p:sp>
      <p:sp>
        <p:nvSpPr>
          <p:cNvPr id="8" name="Shape 5"/>
          <p:cNvSpPr/>
          <p:nvPr/>
        </p:nvSpPr>
        <p:spPr>
          <a:xfrm>
            <a:off x="640080" y="2011680"/>
            <a:ext cx="5212080" cy="3017520"/>
          </a:xfrm>
          <a:prstGeom prst="roundRect">
            <a:avLst>
              <a:gd name="adj" fmla="val 3030"/>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9" name="Text 6"/>
          <p:cNvSpPr/>
          <p:nvPr/>
        </p:nvSpPr>
        <p:spPr>
          <a:xfrm>
            <a:off x="914400" y="2157984"/>
            <a:ext cx="4663440" cy="274320"/>
          </a:xfrm>
          <a:prstGeom prst="rect">
            <a:avLst/>
          </a:prstGeom>
          <a:noFill/>
          <a:ln/>
        </p:spPr>
        <p:txBody>
          <a:bodyPr wrap="square" lIns="0" tIns="0" rIns="0" bIns="0" rtlCol="0" anchor="ctr"/>
          <a:lstStyle/>
          <a:p>
            <a:pPr indent="0" marL="0">
              <a:buNone/>
            </a:pPr>
            <a:r>
              <a:rPr lang="en-US" sz="1000" b="1" spc="180" kern="0" dirty="0">
                <a:solidFill>
                  <a:srgbClr val="E34F26"/>
                </a:solidFill>
                <a:latin typeface="Calibri" pitchFamily="34" charset="0"/>
                <a:ea typeface="Calibri" pitchFamily="34" charset="-122"/>
                <a:cs typeface="Calibri" pitchFamily="34" charset="-120"/>
              </a:rPr>
              <a:t>WITH CSS</a:t>
            </a:r>
            <a:endParaRPr lang="en-US" sz="1000" dirty="0"/>
          </a:p>
        </p:txBody>
      </p:sp>
      <p:sp>
        <p:nvSpPr>
          <p:cNvPr id="10" name="Shape 7"/>
          <p:cNvSpPr/>
          <p:nvPr/>
        </p:nvSpPr>
        <p:spPr>
          <a:xfrm>
            <a:off x="914400" y="2505456"/>
            <a:ext cx="4663440" cy="2377440"/>
          </a:xfrm>
          <a:prstGeom prst="roundRect">
            <a:avLst>
              <a:gd name="adj" fmla="val 2308"/>
            </a:avLst>
          </a:prstGeom>
          <a:solidFill>
            <a:srgbClr val="FBFAF8"/>
          </a:solidFill>
          <a:ln w="12700">
            <a:solidFill>
              <a:srgbClr val="E2DFD8"/>
            </a:solidFill>
            <a:prstDash val="solid"/>
          </a:ln>
        </p:spPr>
      </p:sp>
      <p:sp>
        <p:nvSpPr>
          <p:cNvPr id="11" name="Shape 8"/>
          <p:cNvSpPr/>
          <p:nvPr/>
        </p:nvSpPr>
        <p:spPr>
          <a:xfrm>
            <a:off x="1097280" y="2688336"/>
            <a:ext cx="4297680" cy="384048"/>
          </a:xfrm>
          <a:prstGeom prst="rect">
            <a:avLst/>
          </a:prstGeom>
          <a:solidFill>
            <a:srgbClr val="E34F26"/>
          </a:solidFill>
          <a:ln w="12700">
            <a:solidFill>
              <a:srgbClr val="E34F26"/>
            </a:solidFill>
            <a:prstDash val="solid"/>
          </a:ln>
        </p:spPr>
      </p:sp>
      <p:sp>
        <p:nvSpPr>
          <p:cNvPr id="12" name="Shape 9"/>
          <p:cNvSpPr/>
          <p:nvPr/>
        </p:nvSpPr>
        <p:spPr>
          <a:xfrm>
            <a:off x="1097280" y="3218688"/>
            <a:ext cx="2011680" cy="914400"/>
          </a:xfrm>
          <a:prstGeom prst="rect">
            <a:avLst/>
          </a:prstGeom>
          <a:solidFill>
            <a:srgbClr val="EDEBE6"/>
          </a:solidFill>
          <a:ln w="12700">
            <a:solidFill>
              <a:srgbClr val="E2DFD8"/>
            </a:solidFill>
            <a:prstDash val="solid"/>
          </a:ln>
        </p:spPr>
      </p:sp>
      <p:sp>
        <p:nvSpPr>
          <p:cNvPr id="13" name="Shape 10"/>
          <p:cNvSpPr/>
          <p:nvPr/>
        </p:nvSpPr>
        <p:spPr>
          <a:xfrm>
            <a:off x="3246120" y="3218688"/>
            <a:ext cx="2148840" cy="146304"/>
          </a:xfrm>
          <a:prstGeom prst="rect">
            <a:avLst/>
          </a:prstGeom>
          <a:solidFill>
            <a:srgbClr val="3C4149"/>
          </a:solidFill>
          <a:ln w="12700">
            <a:solidFill>
              <a:srgbClr val="3C4149"/>
            </a:solidFill>
            <a:prstDash val="solid"/>
          </a:ln>
        </p:spPr>
      </p:sp>
      <p:sp>
        <p:nvSpPr>
          <p:cNvPr id="14" name="Shape 11"/>
          <p:cNvSpPr/>
          <p:nvPr/>
        </p:nvSpPr>
        <p:spPr>
          <a:xfrm>
            <a:off x="3246120" y="3474720"/>
            <a:ext cx="1828800" cy="91440"/>
          </a:xfrm>
          <a:prstGeom prst="rect">
            <a:avLst/>
          </a:prstGeom>
          <a:solidFill>
            <a:srgbClr val="C7C4BC"/>
          </a:solidFill>
          <a:ln w="12700">
            <a:solidFill>
              <a:srgbClr val="C7C4BC"/>
            </a:solidFill>
            <a:prstDash val="solid"/>
          </a:ln>
        </p:spPr>
      </p:sp>
      <p:sp>
        <p:nvSpPr>
          <p:cNvPr id="15" name="Shape 12"/>
          <p:cNvSpPr/>
          <p:nvPr/>
        </p:nvSpPr>
        <p:spPr>
          <a:xfrm>
            <a:off x="3246120" y="3639312"/>
            <a:ext cx="2148840" cy="91440"/>
          </a:xfrm>
          <a:prstGeom prst="rect">
            <a:avLst/>
          </a:prstGeom>
          <a:solidFill>
            <a:srgbClr val="C7C4BC"/>
          </a:solidFill>
          <a:ln w="12700">
            <a:solidFill>
              <a:srgbClr val="C7C4BC"/>
            </a:solidFill>
            <a:prstDash val="solid"/>
          </a:ln>
        </p:spPr>
      </p:sp>
      <p:sp>
        <p:nvSpPr>
          <p:cNvPr id="16" name="Shape 13"/>
          <p:cNvSpPr/>
          <p:nvPr/>
        </p:nvSpPr>
        <p:spPr>
          <a:xfrm>
            <a:off x="3246120" y="3877056"/>
            <a:ext cx="1097280" cy="292608"/>
          </a:xfrm>
          <a:prstGeom prst="roundRect">
            <a:avLst>
              <a:gd name="adj" fmla="val 18750"/>
            </a:avLst>
          </a:prstGeom>
          <a:solidFill>
            <a:srgbClr val="E34F26"/>
          </a:solidFill>
          <a:ln w="12700">
            <a:solidFill>
              <a:srgbClr val="E34F26"/>
            </a:solidFill>
            <a:prstDash val="solid"/>
          </a:ln>
        </p:spPr>
      </p:sp>
      <p:sp>
        <p:nvSpPr>
          <p:cNvPr id="17" name="Shape 14"/>
          <p:cNvSpPr/>
          <p:nvPr/>
        </p:nvSpPr>
        <p:spPr>
          <a:xfrm>
            <a:off x="1097280" y="4334256"/>
            <a:ext cx="1298448" cy="384048"/>
          </a:xfrm>
          <a:prstGeom prst="rect">
            <a:avLst/>
          </a:prstGeom>
          <a:solidFill>
            <a:srgbClr val="EDEBE6"/>
          </a:solidFill>
          <a:ln w="12700">
            <a:solidFill>
              <a:srgbClr val="E2DFD8"/>
            </a:solidFill>
            <a:prstDash val="solid"/>
          </a:ln>
        </p:spPr>
      </p:sp>
      <p:sp>
        <p:nvSpPr>
          <p:cNvPr id="18" name="Shape 15"/>
          <p:cNvSpPr/>
          <p:nvPr/>
        </p:nvSpPr>
        <p:spPr>
          <a:xfrm>
            <a:off x="2578608" y="4334256"/>
            <a:ext cx="1298448" cy="384048"/>
          </a:xfrm>
          <a:prstGeom prst="rect">
            <a:avLst/>
          </a:prstGeom>
          <a:solidFill>
            <a:srgbClr val="EDEBE6"/>
          </a:solidFill>
          <a:ln w="12700">
            <a:solidFill>
              <a:srgbClr val="E2DFD8"/>
            </a:solidFill>
            <a:prstDash val="solid"/>
          </a:ln>
        </p:spPr>
      </p:sp>
      <p:sp>
        <p:nvSpPr>
          <p:cNvPr id="19" name="Shape 16"/>
          <p:cNvSpPr/>
          <p:nvPr/>
        </p:nvSpPr>
        <p:spPr>
          <a:xfrm>
            <a:off x="4059936" y="4334256"/>
            <a:ext cx="1298448" cy="384048"/>
          </a:xfrm>
          <a:prstGeom prst="rect">
            <a:avLst/>
          </a:prstGeom>
          <a:solidFill>
            <a:srgbClr val="EDEBE6"/>
          </a:solidFill>
          <a:ln w="12700">
            <a:solidFill>
              <a:srgbClr val="E2DFD8"/>
            </a:solidFill>
            <a:prstDash val="solid"/>
          </a:ln>
        </p:spPr>
      </p:sp>
      <p:sp>
        <p:nvSpPr>
          <p:cNvPr id="20" name="Shape 17"/>
          <p:cNvSpPr/>
          <p:nvPr/>
        </p:nvSpPr>
        <p:spPr>
          <a:xfrm>
            <a:off x="6336792" y="2011680"/>
            <a:ext cx="5212080" cy="3017520"/>
          </a:xfrm>
          <a:prstGeom prst="roundRect">
            <a:avLst>
              <a:gd name="adj" fmla="val 3030"/>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1" name="Text 18"/>
          <p:cNvSpPr/>
          <p:nvPr/>
        </p:nvSpPr>
        <p:spPr>
          <a:xfrm>
            <a:off x="6611112" y="2157984"/>
            <a:ext cx="4663440" cy="274320"/>
          </a:xfrm>
          <a:prstGeom prst="rect">
            <a:avLst/>
          </a:prstGeom>
          <a:noFill/>
          <a:ln/>
        </p:spPr>
        <p:txBody>
          <a:bodyPr wrap="square" lIns="0" tIns="0" rIns="0" bIns="0" rtlCol="0" anchor="ctr"/>
          <a:lstStyle/>
          <a:p>
            <a:pPr indent="0" marL="0">
              <a:buNone/>
            </a:pPr>
            <a:r>
              <a:rPr lang="en-US" sz="1000" b="1" spc="180" kern="0" dirty="0">
                <a:solidFill>
                  <a:srgbClr val="8A9099"/>
                </a:solidFill>
                <a:latin typeface="Calibri" pitchFamily="34" charset="0"/>
                <a:ea typeface="Calibri" pitchFamily="34" charset="-122"/>
                <a:cs typeface="Calibri" pitchFamily="34" charset="-120"/>
              </a:rPr>
              <a:t>WITHOUT CSS (this is your HTML)</a:t>
            </a:r>
            <a:endParaRPr lang="en-US" sz="1000" dirty="0"/>
          </a:p>
        </p:txBody>
      </p:sp>
      <p:sp>
        <p:nvSpPr>
          <p:cNvPr id="22" name="Shape 19"/>
          <p:cNvSpPr/>
          <p:nvPr/>
        </p:nvSpPr>
        <p:spPr>
          <a:xfrm>
            <a:off x="6611112" y="2505456"/>
            <a:ext cx="4663440" cy="2377440"/>
          </a:xfrm>
          <a:prstGeom prst="roundRect">
            <a:avLst>
              <a:gd name="adj" fmla="val 2308"/>
            </a:avLst>
          </a:prstGeom>
          <a:solidFill>
            <a:srgbClr val="FFFFFF"/>
          </a:solidFill>
          <a:ln w="12700">
            <a:solidFill>
              <a:srgbClr val="E2DFD8"/>
            </a:solidFill>
            <a:prstDash val="solid"/>
          </a:ln>
        </p:spPr>
      </p:sp>
      <p:sp>
        <p:nvSpPr>
          <p:cNvPr id="23" name="Shape 20"/>
          <p:cNvSpPr/>
          <p:nvPr/>
        </p:nvSpPr>
        <p:spPr>
          <a:xfrm>
            <a:off x="6793992" y="2706624"/>
            <a:ext cx="3931920" cy="146304"/>
          </a:xfrm>
          <a:prstGeom prst="rect">
            <a:avLst/>
          </a:prstGeom>
          <a:solidFill>
            <a:srgbClr val="3C4149"/>
          </a:solidFill>
          <a:ln w="12700">
            <a:solidFill>
              <a:srgbClr val="FFFFFF"/>
            </a:solidFill>
            <a:prstDash val="solid"/>
          </a:ln>
        </p:spPr>
      </p:sp>
      <p:sp>
        <p:nvSpPr>
          <p:cNvPr id="24" name="Shape 21"/>
          <p:cNvSpPr/>
          <p:nvPr/>
        </p:nvSpPr>
        <p:spPr>
          <a:xfrm>
            <a:off x="6793992" y="2962656"/>
            <a:ext cx="2834640" cy="82296"/>
          </a:xfrm>
          <a:prstGeom prst="rect">
            <a:avLst/>
          </a:prstGeom>
          <a:solidFill>
            <a:srgbClr val="B9B6AE"/>
          </a:solidFill>
          <a:ln w="12700">
            <a:solidFill>
              <a:srgbClr val="FFFFFF"/>
            </a:solidFill>
            <a:prstDash val="solid"/>
          </a:ln>
        </p:spPr>
      </p:sp>
      <p:sp>
        <p:nvSpPr>
          <p:cNvPr id="25" name="Shape 22"/>
          <p:cNvSpPr/>
          <p:nvPr/>
        </p:nvSpPr>
        <p:spPr>
          <a:xfrm>
            <a:off x="6793992" y="3218688"/>
            <a:ext cx="4206240" cy="82296"/>
          </a:xfrm>
          <a:prstGeom prst="rect">
            <a:avLst/>
          </a:prstGeom>
          <a:solidFill>
            <a:srgbClr val="B9B6AE"/>
          </a:solidFill>
          <a:ln w="12700">
            <a:solidFill>
              <a:srgbClr val="FFFFFF"/>
            </a:solidFill>
            <a:prstDash val="solid"/>
          </a:ln>
        </p:spPr>
      </p:sp>
      <p:sp>
        <p:nvSpPr>
          <p:cNvPr id="26" name="Shape 23"/>
          <p:cNvSpPr/>
          <p:nvPr/>
        </p:nvSpPr>
        <p:spPr>
          <a:xfrm>
            <a:off x="6793992" y="3474720"/>
            <a:ext cx="2194560" cy="82296"/>
          </a:xfrm>
          <a:prstGeom prst="rect">
            <a:avLst/>
          </a:prstGeom>
          <a:solidFill>
            <a:srgbClr val="B9B6AE"/>
          </a:solidFill>
          <a:ln w="12700">
            <a:solidFill>
              <a:srgbClr val="FFFFFF"/>
            </a:solidFill>
            <a:prstDash val="solid"/>
          </a:ln>
        </p:spPr>
      </p:sp>
      <p:sp>
        <p:nvSpPr>
          <p:cNvPr id="27" name="Shape 24"/>
          <p:cNvSpPr/>
          <p:nvPr/>
        </p:nvSpPr>
        <p:spPr>
          <a:xfrm>
            <a:off x="6793992" y="3730752"/>
            <a:ext cx="3566160" cy="82296"/>
          </a:xfrm>
          <a:prstGeom prst="rect">
            <a:avLst/>
          </a:prstGeom>
          <a:solidFill>
            <a:srgbClr val="B9B6AE"/>
          </a:solidFill>
          <a:ln w="12700">
            <a:solidFill>
              <a:srgbClr val="FFFFFF"/>
            </a:solidFill>
            <a:prstDash val="solid"/>
          </a:ln>
        </p:spPr>
      </p:sp>
      <p:sp>
        <p:nvSpPr>
          <p:cNvPr id="28" name="Shape 25"/>
          <p:cNvSpPr/>
          <p:nvPr/>
        </p:nvSpPr>
        <p:spPr>
          <a:xfrm>
            <a:off x="6793992" y="3986784"/>
            <a:ext cx="4023360" cy="82296"/>
          </a:xfrm>
          <a:prstGeom prst="rect">
            <a:avLst/>
          </a:prstGeom>
          <a:solidFill>
            <a:srgbClr val="B9B6AE"/>
          </a:solidFill>
          <a:ln w="12700">
            <a:solidFill>
              <a:srgbClr val="FFFFFF"/>
            </a:solidFill>
            <a:prstDash val="solid"/>
          </a:ln>
        </p:spPr>
      </p:sp>
      <p:sp>
        <p:nvSpPr>
          <p:cNvPr id="29" name="Shape 26"/>
          <p:cNvSpPr/>
          <p:nvPr/>
        </p:nvSpPr>
        <p:spPr>
          <a:xfrm>
            <a:off x="6793992" y="4242816"/>
            <a:ext cx="2560320" cy="82296"/>
          </a:xfrm>
          <a:prstGeom prst="rect">
            <a:avLst/>
          </a:prstGeom>
          <a:solidFill>
            <a:srgbClr val="B9B6AE"/>
          </a:solidFill>
          <a:ln w="12700">
            <a:solidFill>
              <a:srgbClr val="FFFFFF"/>
            </a:solidFill>
            <a:prstDash val="solid"/>
          </a:ln>
        </p:spPr>
      </p:sp>
      <p:sp>
        <p:nvSpPr>
          <p:cNvPr id="30" name="Shape 27"/>
          <p:cNvSpPr/>
          <p:nvPr/>
        </p:nvSpPr>
        <p:spPr>
          <a:xfrm>
            <a:off x="6793992" y="4498848"/>
            <a:ext cx="3749040" cy="82296"/>
          </a:xfrm>
          <a:prstGeom prst="rect">
            <a:avLst/>
          </a:prstGeom>
          <a:solidFill>
            <a:srgbClr val="B9B6AE"/>
          </a:solidFill>
          <a:ln w="12700">
            <a:solidFill>
              <a:srgbClr val="FFFFFF"/>
            </a:solidFill>
            <a:prstDash val="solid"/>
          </a:ln>
        </p:spPr>
      </p:sp>
      <p:sp>
        <p:nvSpPr>
          <p:cNvPr id="31" name="Shape 28"/>
          <p:cNvSpPr/>
          <p:nvPr/>
        </p:nvSpPr>
        <p:spPr>
          <a:xfrm>
            <a:off x="640080" y="5175504"/>
            <a:ext cx="10881360" cy="658368"/>
          </a:xfrm>
          <a:prstGeom prst="roundRect">
            <a:avLst>
              <a:gd name="adj" fmla="val 13889"/>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32" name="Text 29"/>
          <p:cNvSpPr/>
          <p:nvPr/>
        </p:nvSpPr>
        <p:spPr>
          <a:xfrm>
            <a:off x="640080" y="5175504"/>
            <a:ext cx="10881360" cy="658368"/>
          </a:xfrm>
          <a:prstGeom prst="rect">
            <a:avLst/>
          </a:prstGeom>
          <a:noFill/>
          <a:ln/>
        </p:spPr>
        <p:txBody>
          <a:bodyPr wrap="square" lIns="0" tIns="0" rIns="0" bIns="0" rtlCol="0" anchor="ctr"/>
          <a:lstStyle/>
          <a:p>
            <a:pPr algn="ctr" indent="0" marL="0">
              <a:buNone/>
            </a:pPr>
            <a:r>
              <a:rPr lang="en-US" sz="1600" b="1" dirty="0">
                <a:solidFill>
                  <a:srgbClr val="1B1F24"/>
                </a:solidFill>
                <a:latin typeface="Calibri" pitchFamily="34" charset="0"/>
                <a:ea typeface="Calibri" pitchFamily="34" charset="-122"/>
                <a:cs typeface="Calibri" pitchFamily="34" charset="-120"/>
              </a:rPr>
              <a:t>Same content, same order, zero styling. HTML decides what exists. CSS decides how it feels.</a:t>
            </a:r>
            <a:endParaRPr lang="en-US" sz="1600" dirty="0"/>
          </a:p>
        </p:txBody>
      </p:sp>
      <p:sp>
        <p:nvSpPr>
          <p:cNvPr id="33" name="Shape 30"/>
          <p:cNvSpPr/>
          <p:nvPr/>
        </p:nvSpPr>
        <p:spPr>
          <a:xfrm>
            <a:off x="640080" y="5852160"/>
            <a:ext cx="10881360" cy="457200"/>
          </a:xfrm>
          <a:prstGeom prst="roundRect">
            <a:avLst>
              <a:gd name="adj" fmla="val 16000"/>
            </a:avLst>
          </a:prstGeom>
          <a:solidFill>
            <a:srgbClr val="EFEEE9"/>
          </a:solidFill>
          <a:ln w="12700">
            <a:solidFill>
              <a:srgbClr val="D5D1C8"/>
            </a:solidFill>
            <a:prstDash val="solid"/>
          </a:ln>
        </p:spPr>
      </p:sp>
      <p:sp>
        <p:nvSpPr>
          <p:cNvPr id="34" name="Text 31"/>
          <p:cNvSpPr/>
          <p:nvPr/>
        </p:nvSpPr>
        <p:spPr>
          <a:xfrm>
            <a:off x="841248" y="5852160"/>
            <a:ext cx="10479024" cy="457200"/>
          </a:xfrm>
          <a:prstGeom prst="rect">
            <a:avLst/>
          </a:prstGeom>
          <a:noFill/>
          <a:ln/>
        </p:spPr>
        <p:txBody>
          <a:bodyPr wrap="square" lIns="0" tIns="0" rIns="0" bIns="0" rtlCol="0" anchor="ctr"/>
          <a:lstStyle/>
          <a:p>
            <a:pPr indent="0" marL="0">
              <a:lnSpc>
                <a:spcPts val="1470"/>
              </a:lnSpc>
              <a:buNone/>
            </a:pPr>
            <a:r>
              <a:rPr lang="en-US" sz="1050" dirty="0">
                <a:solidFill>
                  <a:srgbClr val="6E8A64"/>
                </a:solidFill>
                <a:latin typeface="Courier New" pitchFamily="34" charset="0"/>
                <a:ea typeface="Courier New" pitchFamily="34" charset="-122"/>
                <a:cs typeface="Courier New" pitchFamily="34" charset="-120"/>
              </a:rPr>
              <a:t>&lt;!-- this is also what the entire internet looked like in 1996, and people were thrilled about it --&gt;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09</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&lt;setup&gt;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Your workshop: VS Code</a:t>
            </a:r>
            <a:endParaRPr lang="en-US" sz="3400" dirty="0"/>
          </a:p>
        </p:txBody>
      </p:sp>
      <p:sp>
        <p:nvSpPr>
          <p:cNvPr id="7" name="Text 4"/>
          <p:cNvSpPr/>
          <p:nvPr/>
        </p:nvSpPr>
        <p:spPr>
          <a:xfrm>
            <a:off x="640080" y="1517904"/>
            <a:ext cx="10881360" cy="411480"/>
          </a:xfrm>
          <a:prstGeom prst="rect">
            <a:avLst/>
          </a:prstGeom>
          <a:noFill/>
          <a:ln/>
        </p:spPr>
        <p:txBody>
          <a:bodyPr wrap="square" lIns="0" tIns="0" rIns="0" bIns="0" rtlCol="0" anchor="t"/>
          <a:lstStyle/>
          <a:p>
            <a:pPr algn="l" indent="0" marL="0">
              <a:lnSpc>
                <a:spcPts val="2000"/>
              </a:lnSpc>
              <a:buNone/>
            </a:pPr>
            <a:r>
              <a:rPr lang="en-US" sz="1450" dirty="0">
                <a:solidFill>
                  <a:srgbClr val="5A6069"/>
                </a:solidFill>
                <a:latin typeface="Calibri" pitchFamily="34" charset="0"/>
                <a:ea typeface="Calibri" pitchFamily="34" charset="-122"/>
                <a:cs typeface="Calibri" pitchFamily="34" charset="-120"/>
              </a:rPr>
              <a:t>An IDE (Integrated Development Environment) is the tool developers write and test software in. We are using Visual Studio Code: free, lightweight, made by Microsoft, and used by a very large part of the industry.</a:t>
            </a:r>
            <a:endParaRPr lang="en-US" sz="1450" dirty="0"/>
          </a:p>
        </p:txBody>
      </p:sp>
      <p:sp>
        <p:nvSpPr>
          <p:cNvPr id="8" name="Shape 5"/>
          <p:cNvSpPr/>
          <p:nvPr/>
        </p:nvSpPr>
        <p:spPr>
          <a:xfrm>
            <a:off x="640080" y="2103120"/>
            <a:ext cx="3419856" cy="1691640"/>
          </a:xfrm>
          <a:prstGeom prst="roundRect">
            <a:avLst>
              <a:gd name="adj" fmla="val 5405"/>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9" name="Shape 6"/>
          <p:cNvSpPr/>
          <p:nvPr/>
        </p:nvSpPr>
        <p:spPr>
          <a:xfrm>
            <a:off x="914400" y="2377440"/>
            <a:ext cx="512064" cy="512064"/>
          </a:xfrm>
          <a:prstGeom prst="roundRect">
            <a:avLst>
              <a:gd name="adj" fmla="val 17857"/>
            </a:avLst>
          </a:prstGeom>
          <a:solidFill>
            <a:srgbClr val="FBE9E2"/>
          </a:solidFill>
          <a:ln w="12700">
            <a:solidFill>
              <a:srgbClr val="F0B9A6"/>
            </a:solidFill>
            <a:prstDash val="solid"/>
          </a:ln>
        </p:spPr>
      </p:sp>
      <p:pic>
        <p:nvPicPr>
          <p:cNvPr id="10" name="Image 0" descr="preencoded.png">    </p:cNvPr>
          <p:cNvPicPr>
            <a:picLocks noChangeAspect="1"/>
          </p:cNvPicPr>
          <p:nvPr/>
        </p:nvPicPr>
        <p:blipFill>
          <a:blip r:embed="rId1"/>
          <a:stretch>
            <a:fillRect/>
          </a:stretch>
        </p:blipFill>
        <p:spPr>
          <a:xfrm>
            <a:off x="1047537" y="2510577"/>
            <a:ext cx="245791" cy="245791"/>
          </a:xfrm>
          <a:prstGeom prst="rect">
            <a:avLst/>
          </a:prstGeom>
        </p:spPr>
      </p:pic>
      <p:sp>
        <p:nvSpPr>
          <p:cNvPr id="11" name="Text 7"/>
          <p:cNvSpPr/>
          <p:nvPr/>
        </p:nvSpPr>
        <p:spPr>
          <a:xfrm>
            <a:off x="1536192" y="2377440"/>
            <a:ext cx="2286000" cy="512064"/>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Syntax highlighting</a:t>
            </a:r>
            <a:endParaRPr lang="en-US" sz="1500" dirty="0"/>
          </a:p>
        </p:txBody>
      </p:sp>
      <p:sp>
        <p:nvSpPr>
          <p:cNvPr id="12" name="Text 8"/>
          <p:cNvSpPr/>
          <p:nvPr/>
        </p:nvSpPr>
        <p:spPr>
          <a:xfrm>
            <a:off x="914400" y="3017520"/>
            <a:ext cx="2871216" cy="640080"/>
          </a:xfrm>
          <a:prstGeom prst="rect">
            <a:avLst/>
          </a:prstGeom>
          <a:noFill/>
          <a:ln/>
        </p:spPr>
        <p:txBody>
          <a:bodyPr wrap="square" lIns="0" tIns="0" rIns="0" bIns="0" rtlCol="0" anchor="t"/>
          <a:lstStyle/>
          <a:p>
            <a:pPr algn="l" indent="0" marL="0">
              <a:lnSpc>
                <a:spcPts val="1650"/>
              </a:lnSpc>
              <a:buNone/>
            </a:pPr>
            <a:r>
              <a:rPr lang="en-US" sz="1250" dirty="0">
                <a:solidFill>
                  <a:srgbClr val="5A6069"/>
                </a:solidFill>
                <a:latin typeface="Calibri" pitchFamily="34" charset="0"/>
                <a:ea typeface="Calibri" pitchFamily="34" charset="-122"/>
                <a:cs typeface="Calibri" pitchFamily="34" charset="-120"/>
              </a:rPr>
              <a:t>Your code gets colours, so mistakes start to look wrong before they break.</a:t>
            </a:r>
            <a:endParaRPr lang="en-US" sz="1250" dirty="0"/>
          </a:p>
        </p:txBody>
      </p:sp>
      <p:sp>
        <p:nvSpPr>
          <p:cNvPr id="13" name="Shape 9"/>
          <p:cNvSpPr/>
          <p:nvPr/>
        </p:nvSpPr>
        <p:spPr>
          <a:xfrm>
            <a:off x="4379976" y="2103120"/>
            <a:ext cx="3419856" cy="1691640"/>
          </a:xfrm>
          <a:prstGeom prst="roundRect">
            <a:avLst>
              <a:gd name="adj" fmla="val 5405"/>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4" name="Shape 10"/>
          <p:cNvSpPr/>
          <p:nvPr/>
        </p:nvSpPr>
        <p:spPr>
          <a:xfrm>
            <a:off x="4654296" y="2377440"/>
            <a:ext cx="512064" cy="512064"/>
          </a:xfrm>
          <a:prstGeom prst="roundRect">
            <a:avLst>
              <a:gd name="adj" fmla="val 17857"/>
            </a:avLst>
          </a:prstGeom>
          <a:solidFill>
            <a:srgbClr val="FBE9E2"/>
          </a:solidFill>
          <a:ln w="12700">
            <a:solidFill>
              <a:srgbClr val="F0B9A6"/>
            </a:solidFill>
            <a:prstDash val="solid"/>
          </a:ln>
        </p:spPr>
      </p:sp>
      <p:pic>
        <p:nvPicPr>
          <p:cNvPr id="15" name="Image 1" descr="preencoded.png">    </p:cNvPr>
          <p:cNvPicPr>
            <a:picLocks noChangeAspect="1"/>
          </p:cNvPicPr>
          <p:nvPr/>
        </p:nvPicPr>
        <p:blipFill>
          <a:blip r:embed="rId2"/>
          <a:stretch>
            <a:fillRect/>
          </a:stretch>
        </p:blipFill>
        <p:spPr>
          <a:xfrm>
            <a:off x="4787433" y="2510577"/>
            <a:ext cx="245791" cy="245791"/>
          </a:xfrm>
          <a:prstGeom prst="rect">
            <a:avLst/>
          </a:prstGeom>
        </p:spPr>
      </p:pic>
      <p:sp>
        <p:nvSpPr>
          <p:cNvPr id="16" name="Text 11"/>
          <p:cNvSpPr/>
          <p:nvPr/>
        </p:nvSpPr>
        <p:spPr>
          <a:xfrm>
            <a:off x="5276088" y="2377440"/>
            <a:ext cx="2286000" cy="512064"/>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Intelligent completion</a:t>
            </a:r>
            <a:endParaRPr lang="en-US" sz="1500" dirty="0"/>
          </a:p>
        </p:txBody>
      </p:sp>
      <p:sp>
        <p:nvSpPr>
          <p:cNvPr id="17" name="Text 12"/>
          <p:cNvSpPr/>
          <p:nvPr/>
        </p:nvSpPr>
        <p:spPr>
          <a:xfrm>
            <a:off x="4654296" y="3017520"/>
            <a:ext cx="2871216" cy="640080"/>
          </a:xfrm>
          <a:prstGeom prst="rect">
            <a:avLst/>
          </a:prstGeom>
          <a:noFill/>
          <a:ln/>
        </p:spPr>
        <p:txBody>
          <a:bodyPr wrap="square" lIns="0" tIns="0" rIns="0" bIns="0" rtlCol="0" anchor="t"/>
          <a:lstStyle/>
          <a:p>
            <a:pPr algn="l" indent="0" marL="0">
              <a:lnSpc>
                <a:spcPts val="1650"/>
              </a:lnSpc>
              <a:buNone/>
            </a:pPr>
            <a:r>
              <a:rPr lang="en-US" sz="1250" dirty="0">
                <a:solidFill>
                  <a:srgbClr val="5A6069"/>
                </a:solidFill>
                <a:latin typeface="Calibri" pitchFamily="34" charset="0"/>
                <a:ea typeface="Calibri" pitchFamily="34" charset="-122"/>
                <a:cs typeface="Calibri" pitchFamily="34" charset="-120"/>
              </a:rPr>
              <a:t>It finishes tags and attributes for you. Let it.</a:t>
            </a:r>
            <a:endParaRPr lang="en-US" sz="1250" dirty="0"/>
          </a:p>
        </p:txBody>
      </p:sp>
      <p:sp>
        <p:nvSpPr>
          <p:cNvPr id="18" name="Shape 13"/>
          <p:cNvSpPr/>
          <p:nvPr/>
        </p:nvSpPr>
        <p:spPr>
          <a:xfrm>
            <a:off x="8119872" y="2103120"/>
            <a:ext cx="3419856" cy="1691640"/>
          </a:xfrm>
          <a:prstGeom prst="roundRect">
            <a:avLst>
              <a:gd name="adj" fmla="val 5405"/>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9" name="Shape 14"/>
          <p:cNvSpPr/>
          <p:nvPr/>
        </p:nvSpPr>
        <p:spPr>
          <a:xfrm>
            <a:off x="8394192" y="2377440"/>
            <a:ext cx="512064" cy="512064"/>
          </a:xfrm>
          <a:prstGeom prst="roundRect">
            <a:avLst>
              <a:gd name="adj" fmla="val 17857"/>
            </a:avLst>
          </a:prstGeom>
          <a:solidFill>
            <a:srgbClr val="FBE9E2"/>
          </a:solidFill>
          <a:ln w="12700">
            <a:solidFill>
              <a:srgbClr val="F0B9A6"/>
            </a:solidFill>
            <a:prstDash val="solid"/>
          </a:ln>
        </p:spPr>
      </p:sp>
      <p:pic>
        <p:nvPicPr>
          <p:cNvPr id="20" name="Image 2" descr="preencoded.png">    </p:cNvPr>
          <p:cNvPicPr>
            <a:picLocks noChangeAspect="1"/>
          </p:cNvPicPr>
          <p:nvPr/>
        </p:nvPicPr>
        <p:blipFill>
          <a:blip r:embed="rId3"/>
          <a:stretch>
            <a:fillRect/>
          </a:stretch>
        </p:blipFill>
        <p:spPr>
          <a:xfrm>
            <a:off x="8527329" y="2510577"/>
            <a:ext cx="245791" cy="245791"/>
          </a:xfrm>
          <a:prstGeom prst="rect">
            <a:avLst/>
          </a:prstGeom>
        </p:spPr>
      </p:pic>
      <p:sp>
        <p:nvSpPr>
          <p:cNvPr id="21" name="Text 15"/>
          <p:cNvSpPr/>
          <p:nvPr/>
        </p:nvSpPr>
        <p:spPr>
          <a:xfrm>
            <a:off x="9015984" y="2377440"/>
            <a:ext cx="2286000" cy="512064"/>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Extensions for everything</a:t>
            </a:r>
            <a:endParaRPr lang="en-US" sz="1500" dirty="0"/>
          </a:p>
        </p:txBody>
      </p:sp>
      <p:sp>
        <p:nvSpPr>
          <p:cNvPr id="22" name="Text 16"/>
          <p:cNvSpPr/>
          <p:nvPr/>
        </p:nvSpPr>
        <p:spPr>
          <a:xfrm>
            <a:off x="8394192" y="3017520"/>
            <a:ext cx="2871216" cy="640080"/>
          </a:xfrm>
          <a:prstGeom prst="rect">
            <a:avLst/>
          </a:prstGeom>
          <a:noFill/>
          <a:ln/>
        </p:spPr>
        <p:txBody>
          <a:bodyPr wrap="square" lIns="0" tIns="0" rIns="0" bIns="0" rtlCol="0" anchor="t"/>
          <a:lstStyle/>
          <a:p>
            <a:pPr algn="l" indent="0" marL="0">
              <a:lnSpc>
                <a:spcPts val="1650"/>
              </a:lnSpc>
              <a:buNone/>
            </a:pPr>
            <a:r>
              <a:rPr lang="en-US" sz="1250" dirty="0">
                <a:solidFill>
                  <a:srgbClr val="5A6069"/>
                </a:solidFill>
                <a:latin typeface="Calibri" pitchFamily="34" charset="0"/>
                <a:ea typeface="Calibri" pitchFamily="34" charset="-122"/>
                <a:cs typeface="Calibri" pitchFamily="34" charset="-120"/>
              </a:rPr>
              <a:t>Including Live Server, which we install in about five minutes.</a:t>
            </a:r>
            <a:endParaRPr lang="en-US" sz="1250" dirty="0"/>
          </a:p>
        </p:txBody>
      </p:sp>
      <p:sp>
        <p:nvSpPr>
          <p:cNvPr id="23" name="Shape 17"/>
          <p:cNvSpPr/>
          <p:nvPr/>
        </p:nvSpPr>
        <p:spPr>
          <a:xfrm>
            <a:off x="640080" y="4023360"/>
            <a:ext cx="2542032" cy="1371600"/>
          </a:xfrm>
          <a:prstGeom prst="roundRect">
            <a:avLst>
              <a:gd name="adj" fmla="val 666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4" name="Shape 18"/>
          <p:cNvSpPr/>
          <p:nvPr/>
        </p:nvSpPr>
        <p:spPr>
          <a:xfrm>
            <a:off x="896112" y="4242816"/>
            <a:ext cx="420624" cy="420624"/>
          </a:xfrm>
          <a:prstGeom prst="ellipse">
            <a:avLst/>
          </a:prstGeom>
          <a:solidFill>
            <a:srgbClr val="FFFFFF"/>
          </a:solidFill>
          <a:ln w="12700">
            <a:solidFill>
              <a:srgbClr val="D5D1C8"/>
            </a:solidFill>
            <a:prstDash val="solid"/>
          </a:ln>
        </p:spPr>
      </p:sp>
      <p:sp>
        <p:nvSpPr>
          <p:cNvPr id="25" name="Text 19"/>
          <p:cNvSpPr/>
          <p:nvPr/>
        </p:nvSpPr>
        <p:spPr>
          <a:xfrm>
            <a:off x="896112" y="4242816"/>
            <a:ext cx="420624" cy="42062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1</a:t>
            </a:r>
            <a:endParaRPr lang="en-US" sz="1300" dirty="0"/>
          </a:p>
        </p:txBody>
      </p:sp>
      <p:sp>
        <p:nvSpPr>
          <p:cNvPr id="26" name="Text 20"/>
          <p:cNvSpPr/>
          <p:nvPr/>
        </p:nvSpPr>
        <p:spPr>
          <a:xfrm>
            <a:off x="1426464" y="4242816"/>
            <a:ext cx="1536192" cy="420624"/>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Download it</a:t>
            </a:r>
            <a:endParaRPr lang="en-US" sz="1450" dirty="0"/>
          </a:p>
        </p:txBody>
      </p:sp>
      <p:sp>
        <p:nvSpPr>
          <p:cNvPr id="27" name="Text 21"/>
          <p:cNvSpPr/>
          <p:nvPr/>
        </p:nvSpPr>
        <p:spPr>
          <a:xfrm>
            <a:off x="896112" y="4791456"/>
            <a:ext cx="2029968" cy="365760"/>
          </a:xfrm>
          <a:prstGeom prst="rect">
            <a:avLst/>
          </a:prstGeom>
          <a:noFill/>
          <a:ln/>
        </p:spPr>
        <p:txBody>
          <a:bodyPr wrap="square" lIns="0" tIns="0" rIns="0" bIns="0" rtlCol="0" anchor="ctr"/>
          <a:lstStyle/>
          <a:p>
            <a:pPr indent="0" marL="0">
              <a:buNone/>
            </a:pPr>
            <a:r>
              <a:rPr lang="en-US" sz="1150" dirty="0">
                <a:solidFill>
                  <a:srgbClr val="E34F26"/>
                </a:solidFill>
                <a:latin typeface="Courier New" pitchFamily="34" charset="0"/>
                <a:ea typeface="Courier New" pitchFamily="34" charset="-122"/>
                <a:cs typeface="Courier New" pitchFamily="34" charset="-120"/>
              </a:rPr>
              <a:t>code.visualstudio.com</a:t>
            </a:r>
            <a:endParaRPr lang="en-US" sz="1150" dirty="0"/>
          </a:p>
        </p:txBody>
      </p:sp>
      <p:sp>
        <p:nvSpPr>
          <p:cNvPr id="28" name="Shape 22"/>
          <p:cNvSpPr/>
          <p:nvPr/>
        </p:nvSpPr>
        <p:spPr>
          <a:xfrm>
            <a:off x="3483864" y="4023360"/>
            <a:ext cx="2542032" cy="1371600"/>
          </a:xfrm>
          <a:prstGeom prst="roundRect">
            <a:avLst>
              <a:gd name="adj" fmla="val 666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9" name="Shape 23"/>
          <p:cNvSpPr/>
          <p:nvPr/>
        </p:nvSpPr>
        <p:spPr>
          <a:xfrm>
            <a:off x="3739896" y="4242816"/>
            <a:ext cx="420624" cy="420624"/>
          </a:xfrm>
          <a:prstGeom prst="ellipse">
            <a:avLst/>
          </a:prstGeom>
          <a:solidFill>
            <a:srgbClr val="FFFFFF"/>
          </a:solidFill>
          <a:ln w="12700">
            <a:solidFill>
              <a:srgbClr val="D5D1C8"/>
            </a:solidFill>
            <a:prstDash val="solid"/>
          </a:ln>
        </p:spPr>
      </p:sp>
      <p:sp>
        <p:nvSpPr>
          <p:cNvPr id="30" name="Text 24"/>
          <p:cNvSpPr/>
          <p:nvPr/>
        </p:nvSpPr>
        <p:spPr>
          <a:xfrm>
            <a:off x="3739896" y="4242816"/>
            <a:ext cx="420624" cy="42062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2</a:t>
            </a:r>
            <a:endParaRPr lang="en-US" sz="1300" dirty="0"/>
          </a:p>
        </p:txBody>
      </p:sp>
      <p:sp>
        <p:nvSpPr>
          <p:cNvPr id="31" name="Text 25"/>
          <p:cNvSpPr/>
          <p:nvPr/>
        </p:nvSpPr>
        <p:spPr>
          <a:xfrm>
            <a:off x="4270248" y="4242816"/>
            <a:ext cx="1536192" cy="420624"/>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Create a folder</a:t>
            </a:r>
            <a:endParaRPr lang="en-US" sz="1450" dirty="0"/>
          </a:p>
        </p:txBody>
      </p:sp>
      <p:sp>
        <p:nvSpPr>
          <p:cNvPr id="32" name="Text 26"/>
          <p:cNvSpPr/>
          <p:nvPr/>
        </p:nvSpPr>
        <p:spPr>
          <a:xfrm>
            <a:off x="3739896" y="4791456"/>
            <a:ext cx="2029968" cy="365760"/>
          </a:xfrm>
          <a:prstGeom prst="rect">
            <a:avLst/>
          </a:prstGeom>
          <a:noFill/>
          <a:ln/>
        </p:spPr>
        <p:txBody>
          <a:bodyPr wrap="square" lIns="0" tIns="0" rIns="0" bIns="0" rtlCol="0" anchor="ctr"/>
          <a:lstStyle/>
          <a:p>
            <a:pPr indent="0" marL="0">
              <a:buNone/>
            </a:pPr>
            <a:r>
              <a:rPr lang="en-US" sz="1150" dirty="0">
                <a:solidFill>
                  <a:srgbClr val="E34F26"/>
                </a:solidFill>
                <a:latin typeface="Courier New" pitchFamily="34" charset="0"/>
                <a:ea typeface="Courier New" pitchFamily="34" charset="-122"/>
                <a:cs typeface="Courier New" pitchFamily="34" charset="-120"/>
              </a:rPr>
              <a:t>Name it after this batch</a:t>
            </a:r>
            <a:endParaRPr lang="en-US" sz="1150" dirty="0"/>
          </a:p>
        </p:txBody>
      </p:sp>
      <p:sp>
        <p:nvSpPr>
          <p:cNvPr id="33" name="Shape 27"/>
          <p:cNvSpPr/>
          <p:nvPr/>
        </p:nvSpPr>
        <p:spPr>
          <a:xfrm>
            <a:off x="6327648" y="4023360"/>
            <a:ext cx="2542032" cy="1371600"/>
          </a:xfrm>
          <a:prstGeom prst="roundRect">
            <a:avLst>
              <a:gd name="adj" fmla="val 666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4" name="Shape 28"/>
          <p:cNvSpPr/>
          <p:nvPr/>
        </p:nvSpPr>
        <p:spPr>
          <a:xfrm>
            <a:off x="6583680" y="4242816"/>
            <a:ext cx="420624" cy="420624"/>
          </a:xfrm>
          <a:prstGeom prst="ellipse">
            <a:avLst/>
          </a:prstGeom>
          <a:solidFill>
            <a:srgbClr val="FFFFFF"/>
          </a:solidFill>
          <a:ln w="12700">
            <a:solidFill>
              <a:srgbClr val="D5D1C8"/>
            </a:solidFill>
            <a:prstDash val="solid"/>
          </a:ln>
        </p:spPr>
      </p:sp>
      <p:sp>
        <p:nvSpPr>
          <p:cNvPr id="35" name="Text 29"/>
          <p:cNvSpPr/>
          <p:nvPr/>
        </p:nvSpPr>
        <p:spPr>
          <a:xfrm>
            <a:off x="6583680" y="4242816"/>
            <a:ext cx="420624" cy="42062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3</a:t>
            </a:r>
            <a:endParaRPr lang="en-US" sz="1300" dirty="0"/>
          </a:p>
        </p:txBody>
      </p:sp>
      <p:sp>
        <p:nvSpPr>
          <p:cNvPr id="36" name="Text 30"/>
          <p:cNvSpPr/>
          <p:nvPr/>
        </p:nvSpPr>
        <p:spPr>
          <a:xfrm>
            <a:off x="7114032" y="4242816"/>
            <a:ext cx="1536192" cy="420624"/>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Open it in VS Code</a:t>
            </a:r>
            <a:endParaRPr lang="en-US" sz="1450" dirty="0"/>
          </a:p>
        </p:txBody>
      </p:sp>
      <p:sp>
        <p:nvSpPr>
          <p:cNvPr id="37" name="Text 31"/>
          <p:cNvSpPr/>
          <p:nvPr/>
        </p:nvSpPr>
        <p:spPr>
          <a:xfrm>
            <a:off x="6583680" y="4791456"/>
            <a:ext cx="2029968" cy="365760"/>
          </a:xfrm>
          <a:prstGeom prst="rect">
            <a:avLst/>
          </a:prstGeom>
          <a:noFill/>
          <a:ln/>
        </p:spPr>
        <p:txBody>
          <a:bodyPr wrap="square" lIns="0" tIns="0" rIns="0" bIns="0" rtlCol="0" anchor="ctr"/>
          <a:lstStyle/>
          <a:p>
            <a:pPr indent="0" marL="0">
              <a:buNone/>
            </a:pPr>
            <a:r>
              <a:rPr lang="en-US" sz="1150" dirty="0">
                <a:solidFill>
                  <a:srgbClr val="E34F26"/>
                </a:solidFill>
                <a:latin typeface="Courier New" pitchFamily="34" charset="0"/>
                <a:ea typeface="Courier New" pitchFamily="34" charset="-122"/>
                <a:cs typeface="Courier New" pitchFamily="34" charset="-120"/>
              </a:rPr>
              <a:t>File, then Open Folder</a:t>
            </a:r>
            <a:endParaRPr lang="en-US" sz="1150" dirty="0"/>
          </a:p>
        </p:txBody>
      </p:sp>
      <p:sp>
        <p:nvSpPr>
          <p:cNvPr id="38" name="Shape 32"/>
          <p:cNvSpPr/>
          <p:nvPr/>
        </p:nvSpPr>
        <p:spPr>
          <a:xfrm>
            <a:off x="9171432" y="4023360"/>
            <a:ext cx="2542032" cy="1371600"/>
          </a:xfrm>
          <a:prstGeom prst="roundRect">
            <a:avLst>
              <a:gd name="adj" fmla="val 6667"/>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39" name="Shape 33"/>
          <p:cNvSpPr/>
          <p:nvPr/>
        </p:nvSpPr>
        <p:spPr>
          <a:xfrm>
            <a:off x="9427464" y="4242816"/>
            <a:ext cx="420624" cy="420624"/>
          </a:xfrm>
          <a:prstGeom prst="ellipse">
            <a:avLst/>
          </a:prstGeom>
          <a:solidFill>
            <a:srgbClr val="FFFFFF"/>
          </a:solidFill>
          <a:ln w="12700">
            <a:solidFill>
              <a:srgbClr val="D5D1C8"/>
            </a:solidFill>
            <a:prstDash val="solid"/>
          </a:ln>
        </p:spPr>
      </p:sp>
      <p:sp>
        <p:nvSpPr>
          <p:cNvPr id="40" name="Text 34"/>
          <p:cNvSpPr/>
          <p:nvPr/>
        </p:nvSpPr>
        <p:spPr>
          <a:xfrm>
            <a:off x="9427464" y="4242816"/>
            <a:ext cx="420624" cy="42062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4</a:t>
            </a:r>
            <a:endParaRPr lang="en-US" sz="1300" dirty="0"/>
          </a:p>
        </p:txBody>
      </p:sp>
      <p:sp>
        <p:nvSpPr>
          <p:cNvPr id="41" name="Text 35"/>
          <p:cNvSpPr/>
          <p:nvPr/>
        </p:nvSpPr>
        <p:spPr>
          <a:xfrm>
            <a:off x="9957816" y="4242816"/>
            <a:ext cx="1536192" cy="420624"/>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Turn on Auto Save</a:t>
            </a:r>
            <a:endParaRPr lang="en-US" sz="1450" dirty="0"/>
          </a:p>
        </p:txBody>
      </p:sp>
      <p:sp>
        <p:nvSpPr>
          <p:cNvPr id="42" name="Text 36"/>
          <p:cNvSpPr/>
          <p:nvPr/>
        </p:nvSpPr>
        <p:spPr>
          <a:xfrm>
            <a:off x="9427464" y="4791456"/>
            <a:ext cx="2029968" cy="365760"/>
          </a:xfrm>
          <a:prstGeom prst="rect">
            <a:avLst/>
          </a:prstGeom>
          <a:noFill/>
          <a:ln/>
        </p:spPr>
        <p:txBody>
          <a:bodyPr wrap="square" lIns="0" tIns="0" rIns="0" bIns="0" rtlCol="0" anchor="ctr"/>
          <a:lstStyle/>
          <a:p>
            <a:pPr indent="0" marL="0">
              <a:buNone/>
            </a:pPr>
            <a:r>
              <a:rPr lang="en-US" sz="1150" dirty="0">
                <a:solidFill>
                  <a:srgbClr val="E34F26"/>
                </a:solidFill>
                <a:latin typeface="Courier New" pitchFamily="34" charset="0"/>
                <a:ea typeface="Courier New" pitchFamily="34" charset="-122"/>
                <a:cs typeface="Courier New" pitchFamily="34" charset="-120"/>
              </a:rPr>
              <a:t>File, then Auto Save</a:t>
            </a:r>
            <a:endParaRPr lang="en-US" sz="1150" dirty="0"/>
          </a:p>
        </p:txBody>
      </p:sp>
      <p:sp>
        <p:nvSpPr>
          <p:cNvPr id="43" name="Shape 37"/>
          <p:cNvSpPr/>
          <p:nvPr/>
        </p:nvSpPr>
        <p:spPr>
          <a:xfrm>
            <a:off x="640080" y="5632704"/>
            <a:ext cx="10881360" cy="548640"/>
          </a:xfrm>
          <a:prstGeom prst="roundRect">
            <a:avLst>
              <a:gd name="adj" fmla="val 13333"/>
            </a:avLst>
          </a:prstGeom>
          <a:solidFill>
            <a:srgbClr val="EFEEE9"/>
          </a:solidFill>
          <a:ln w="12700">
            <a:solidFill>
              <a:srgbClr val="D5D1C8"/>
            </a:solidFill>
            <a:prstDash val="solid"/>
          </a:ln>
        </p:spPr>
      </p:sp>
      <p:sp>
        <p:nvSpPr>
          <p:cNvPr id="44" name="Text 38"/>
          <p:cNvSpPr/>
          <p:nvPr/>
        </p:nvSpPr>
        <p:spPr>
          <a:xfrm>
            <a:off x="841248" y="5632704"/>
            <a:ext cx="10479024" cy="548640"/>
          </a:xfrm>
          <a:prstGeom prst="rect">
            <a:avLst/>
          </a:prstGeom>
          <a:noFill/>
          <a:ln/>
        </p:spPr>
        <p:txBody>
          <a:bodyPr wrap="square" lIns="0" tIns="0" rIns="0" bIns="0" rtlCol="0" anchor="ctr"/>
          <a:lstStyle/>
          <a:p>
            <a:pPr indent="0" marL="0">
              <a:lnSpc>
                <a:spcPts val="1600"/>
              </a:lnSpc>
              <a:buNone/>
            </a:pPr>
            <a:r>
              <a:rPr lang="en-US" sz="1150" dirty="0">
                <a:solidFill>
                  <a:srgbClr val="6E8A64"/>
                </a:solidFill>
                <a:latin typeface="Courier New" pitchFamily="34" charset="0"/>
                <a:ea typeface="Courier New" pitchFamily="34" charset="-122"/>
                <a:cs typeface="Courier New" pitchFamily="34" charset="-120"/>
              </a:rPr>
              <a:t>&lt;!-- auto save is not optional. half of all debugging in week one is just an unsaved file having a laugh --&gt;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81D"/>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4A5058"/>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4A5058"/>
                </a:solidFill>
                <a:latin typeface="Courier New" pitchFamily="34" charset="0"/>
                <a:ea typeface="Courier New" pitchFamily="34" charset="-122"/>
                <a:cs typeface="Courier New" pitchFamily="34" charset="-120"/>
              </a:rPr>
              <a:t>10</a:t>
            </a:r>
            <a:endParaRPr lang="en-US" sz="900" dirty="0"/>
          </a:p>
        </p:txBody>
      </p:sp>
      <p:sp>
        <p:nvSpPr>
          <p:cNvPr id="5" name="Shape 2"/>
          <p:cNvSpPr/>
          <p:nvPr/>
        </p:nvSpPr>
        <p:spPr>
          <a:xfrm>
            <a:off x="640080" y="384048"/>
            <a:ext cx="1508760" cy="329184"/>
          </a:xfrm>
          <a:prstGeom prst="roundRect">
            <a:avLst>
              <a:gd name="adj" fmla="val 22222"/>
            </a:avLst>
          </a:prstGeom>
          <a:solidFill>
            <a:srgbClr val="E34F26"/>
          </a:solidFill>
          <a:ln w="12700">
            <a:solidFill>
              <a:srgbClr val="E34F26"/>
            </a:solidFill>
            <a:prstDash val="solid"/>
          </a:ln>
        </p:spPr>
      </p:sp>
      <p:sp>
        <p:nvSpPr>
          <p:cNvPr id="6" name="Text 3"/>
          <p:cNvSpPr/>
          <p:nvPr/>
        </p:nvSpPr>
        <p:spPr>
          <a:xfrm>
            <a:off x="640080" y="384048"/>
            <a:ext cx="1508760" cy="32918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LIVE CODE</a:t>
            </a:r>
            <a:endParaRPr lang="en-US" sz="1050" dirty="0"/>
          </a:p>
        </p:txBody>
      </p:sp>
      <p:sp>
        <p:nvSpPr>
          <p:cNvPr id="7" name="Text 4"/>
          <p:cNvSpPr/>
          <p:nvPr/>
        </p:nvSpPr>
        <p:spPr>
          <a:xfrm>
            <a:off x="2331720" y="384048"/>
            <a:ext cx="5486400" cy="329184"/>
          </a:xfrm>
          <a:prstGeom prst="rect">
            <a:avLst/>
          </a:prstGeom>
          <a:noFill/>
          <a:ln/>
        </p:spPr>
        <p:txBody>
          <a:bodyPr wrap="square" lIns="0" tIns="0" rIns="0" bIns="0" rtlCol="0" anchor="ctr"/>
          <a:lstStyle/>
          <a:p>
            <a:pPr indent="0" marL="0">
              <a:buNone/>
            </a:pPr>
            <a:r>
              <a:rPr lang="en-US" sz="1200" dirty="0">
                <a:solidFill>
                  <a:srgbClr val="E3C07B"/>
                </a:solidFill>
                <a:latin typeface="Courier New" pitchFamily="34" charset="0"/>
                <a:ea typeface="Courier New" pitchFamily="34" charset="-122"/>
                <a:cs typeface="Courier New" pitchFamily="34" charset="-120"/>
              </a:rPr>
              <a:t>index.html</a:t>
            </a:r>
            <a:endParaRPr lang="en-US" sz="1200" dirty="0"/>
          </a:p>
        </p:txBody>
      </p:sp>
      <p:sp>
        <p:nvSpPr>
          <p:cNvPr id="8" name="Text 5"/>
          <p:cNvSpPr/>
          <p:nvPr/>
        </p:nvSpPr>
        <p:spPr>
          <a:xfrm>
            <a:off x="640080" y="822960"/>
            <a:ext cx="1088136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Your first file, in one keystroke</a:t>
            </a:r>
            <a:endParaRPr lang="en-US" sz="3000" dirty="0"/>
          </a:p>
        </p:txBody>
      </p:sp>
      <p:sp>
        <p:nvSpPr>
          <p:cNvPr id="9" name="Shape 6"/>
          <p:cNvSpPr/>
          <p:nvPr/>
        </p:nvSpPr>
        <p:spPr>
          <a:xfrm>
            <a:off x="640080" y="1536192"/>
            <a:ext cx="6858000" cy="4023360"/>
          </a:xfrm>
          <a:prstGeom prst="roundRect">
            <a:avLst>
              <a:gd name="adj" fmla="val 2273"/>
            </a:avLst>
          </a:prstGeom>
          <a:solidFill>
            <a:srgbClr val="0B0E12"/>
          </a:solidFill>
          <a:ln w="12700">
            <a:solidFill>
              <a:srgbClr val="2A2F37"/>
            </a:solidFill>
            <a:prstDash val="solid"/>
          </a:ln>
        </p:spPr>
      </p:sp>
      <p:sp>
        <p:nvSpPr>
          <p:cNvPr id="10" name="Text 7"/>
          <p:cNvSpPr/>
          <p:nvPr/>
        </p:nvSpPr>
        <p:spPr>
          <a:xfrm>
            <a:off x="914400" y="1792224"/>
            <a:ext cx="6309360" cy="3511296"/>
          </a:xfrm>
          <a:prstGeom prst="rect">
            <a:avLst/>
          </a:prstGeom>
          <a:noFill/>
          <a:ln/>
        </p:spPr>
        <p:txBody>
          <a:bodyPr wrap="square" lIns="0" tIns="0" rIns="0" bIns="0" rtlCol="0" anchor="t"/>
          <a:lstStyle/>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&lt;!DOCTYPE html&gt;</a:t>
            </a:r>
            <a:pPr indent="0" marL="0">
              <a:lnSpc>
                <a:spcPts val="2100"/>
              </a:lnSpc>
              <a:buNone/>
            </a:pPr>
            <a:endParaRPr lang="en-US" sz="1200" dirty="0"/>
          </a:p>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html</a:t>
            </a:r>
            <a:pPr indent="0" marL="0">
              <a:lnSpc>
                <a:spcPts val="2100"/>
              </a:lnSpc>
              <a:buNone/>
            </a:pPr>
            <a:r>
              <a:rPr lang="en-US" sz="1200" dirty="0">
                <a:solidFill>
                  <a:srgbClr val="E8E6E1"/>
                </a:solidFill>
                <a:latin typeface="Courier New" pitchFamily="34" charset="0"/>
                <a:ea typeface="Courier New" pitchFamily="34" charset="-122"/>
                <a:cs typeface="Courier New" pitchFamily="34" charset="-120"/>
              </a:rPr>
              <a:t> </a:t>
            </a:r>
            <a:pPr indent="0" marL="0">
              <a:lnSpc>
                <a:spcPts val="2100"/>
              </a:lnSpc>
              <a:buNone/>
            </a:pPr>
            <a:r>
              <a:rPr lang="en-US" sz="1200" dirty="0">
                <a:solidFill>
                  <a:srgbClr val="E3C07B"/>
                </a:solidFill>
                <a:latin typeface="Courier New" pitchFamily="34" charset="0"/>
                <a:ea typeface="Courier New" pitchFamily="34" charset="-122"/>
                <a:cs typeface="Courier New" pitchFamily="34" charset="-120"/>
              </a:rPr>
              <a:t>lang</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a:t>
            </a:r>
            <a:pPr indent="0" marL="0">
              <a:lnSpc>
                <a:spcPts val="2100"/>
              </a:lnSpc>
              <a:buNone/>
            </a:pPr>
            <a:r>
              <a:rPr lang="en-US" sz="1200" dirty="0">
                <a:solidFill>
                  <a:srgbClr val="92C5F7"/>
                </a:solidFill>
                <a:latin typeface="Courier New" pitchFamily="34" charset="0"/>
                <a:ea typeface="Courier New" pitchFamily="34" charset="-122"/>
                <a:cs typeface="Courier New" pitchFamily="34" charset="-120"/>
              </a:rPr>
              <a:t>"en"</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head</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meta</a:t>
            </a:r>
            <a:pPr indent="0" marL="0">
              <a:lnSpc>
                <a:spcPts val="2100"/>
              </a:lnSpc>
              <a:buNone/>
            </a:pPr>
            <a:r>
              <a:rPr lang="en-US" sz="1200" dirty="0">
                <a:solidFill>
                  <a:srgbClr val="E8E6E1"/>
                </a:solidFill>
                <a:latin typeface="Courier New" pitchFamily="34" charset="0"/>
                <a:ea typeface="Courier New" pitchFamily="34" charset="-122"/>
                <a:cs typeface="Courier New" pitchFamily="34" charset="-120"/>
              </a:rPr>
              <a:t> </a:t>
            </a:r>
            <a:pPr indent="0" marL="0">
              <a:lnSpc>
                <a:spcPts val="2100"/>
              </a:lnSpc>
              <a:buNone/>
            </a:pPr>
            <a:r>
              <a:rPr lang="en-US" sz="1200" dirty="0">
                <a:solidFill>
                  <a:srgbClr val="E3C07B"/>
                </a:solidFill>
                <a:latin typeface="Courier New" pitchFamily="34" charset="0"/>
                <a:ea typeface="Courier New" pitchFamily="34" charset="-122"/>
                <a:cs typeface="Courier New" pitchFamily="34" charset="-120"/>
              </a:rPr>
              <a:t>charset</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a:t>
            </a:r>
            <a:pPr indent="0" marL="0">
              <a:lnSpc>
                <a:spcPts val="2100"/>
              </a:lnSpc>
              <a:buNone/>
            </a:pPr>
            <a:r>
              <a:rPr lang="en-US" sz="1200" dirty="0">
                <a:solidFill>
                  <a:srgbClr val="92C5F7"/>
                </a:solidFill>
                <a:latin typeface="Courier New" pitchFamily="34" charset="0"/>
                <a:ea typeface="Courier New" pitchFamily="34" charset="-122"/>
                <a:cs typeface="Courier New" pitchFamily="34" charset="-120"/>
              </a:rPr>
              <a:t>"utf-8"</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meta</a:t>
            </a:r>
            <a:pPr indent="0" marL="0">
              <a:lnSpc>
                <a:spcPts val="2100"/>
              </a:lnSpc>
              <a:buNone/>
            </a:pPr>
            <a:r>
              <a:rPr lang="en-US" sz="1200" dirty="0">
                <a:solidFill>
                  <a:srgbClr val="E8E6E1"/>
                </a:solidFill>
                <a:latin typeface="Courier New" pitchFamily="34" charset="0"/>
                <a:ea typeface="Courier New" pitchFamily="34" charset="-122"/>
                <a:cs typeface="Courier New" pitchFamily="34" charset="-120"/>
              </a:rPr>
              <a:t> </a:t>
            </a:r>
            <a:pPr indent="0" marL="0">
              <a:lnSpc>
                <a:spcPts val="2100"/>
              </a:lnSpc>
              <a:buNone/>
            </a:pPr>
            <a:r>
              <a:rPr lang="en-US" sz="1200" dirty="0">
                <a:solidFill>
                  <a:srgbClr val="E3C07B"/>
                </a:solidFill>
                <a:latin typeface="Courier New" pitchFamily="34" charset="0"/>
                <a:ea typeface="Courier New" pitchFamily="34" charset="-122"/>
                <a:cs typeface="Courier New" pitchFamily="34" charset="-120"/>
              </a:rPr>
              <a:t>name</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a:t>
            </a:r>
            <a:pPr indent="0" marL="0">
              <a:lnSpc>
                <a:spcPts val="2100"/>
              </a:lnSpc>
              <a:buNone/>
            </a:pPr>
            <a:r>
              <a:rPr lang="en-US" sz="1200" dirty="0">
                <a:solidFill>
                  <a:srgbClr val="92C5F7"/>
                </a:solidFill>
                <a:latin typeface="Courier New" pitchFamily="34" charset="0"/>
                <a:ea typeface="Courier New" pitchFamily="34" charset="-122"/>
                <a:cs typeface="Courier New" pitchFamily="34" charset="-120"/>
              </a:rPr>
              <a:t>"viewport"</a:t>
            </a:r>
            <a:pPr indent="0" marL="0">
              <a:lnSpc>
                <a:spcPts val="2100"/>
              </a:lnSpc>
              <a:buNone/>
            </a:pPr>
            <a:endParaRPr lang="en-US" sz="1200" dirty="0"/>
          </a:p>
          <a:p>
            <a:pPr indent="0" marL="0">
              <a:lnSpc>
                <a:spcPts val="2100"/>
              </a:lnSpc>
              <a:buNone/>
            </a:pPr>
            <a:r>
              <a:rPr lang="en-US" sz="1200" dirty="0">
                <a:solidFill>
                  <a:srgbClr val="E8E6E1"/>
                </a:solidFill>
                <a:latin typeface="Courier New" pitchFamily="34" charset="0"/>
                <a:ea typeface="Courier New" pitchFamily="34" charset="-122"/>
                <a:cs typeface="Courier New" pitchFamily="34" charset="-120"/>
              </a:rPr>
              <a:t>          </a:t>
            </a:r>
            <a:pPr indent="0" marL="0">
              <a:lnSpc>
                <a:spcPts val="2100"/>
              </a:lnSpc>
              <a:buNone/>
            </a:pPr>
            <a:r>
              <a:rPr lang="en-US" sz="1200" dirty="0">
                <a:solidFill>
                  <a:srgbClr val="E3C07B"/>
                </a:solidFill>
                <a:latin typeface="Courier New" pitchFamily="34" charset="0"/>
                <a:ea typeface="Courier New" pitchFamily="34" charset="-122"/>
                <a:cs typeface="Courier New" pitchFamily="34" charset="-120"/>
              </a:rPr>
              <a:t>content</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a:t>
            </a:r>
            <a:pPr indent="0" marL="0">
              <a:lnSpc>
                <a:spcPts val="2100"/>
              </a:lnSpc>
              <a:buNone/>
            </a:pPr>
            <a:r>
              <a:rPr lang="en-US" sz="1200" dirty="0">
                <a:solidFill>
                  <a:srgbClr val="92C5F7"/>
                </a:solidFill>
                <a:latin typeface="Courier New" pitchFamily="34" charset="0"/>
                <a:ea typeface="Courier New" pitchFamily="34" charset="-122"/>
                <a:cs typeface="Courier New" pitchFamily="34" charset="-120"/>
              </a:rPr>
              <a:t>"width=device-width"</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title</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r>
              <a:rPr lang="en-US" sz="1200" dirty="0">
                <a:solidFill>
                  <a:srgbClr val="E8E6E1"/>
                </a:solidFill>
                <a:latin typeface="Courier New" pitchFamily="34" charset="0"/>
                <a:ea typeface="Courier New" pitchFamily="34" charset="-122"/>
                <a:cs typeface="Courier New" pitchFamily="34" charset="-120"/>
              </a:rPr>
              <a:t>HTML DEMO</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title</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head</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body</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h1</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r>
              <a:rPr lang="en-US" sz="1200" dirty="0">
                <a:solidFill>
                  <a:srgbClr val="E8E6E1"/>
                </a:solidFill>
                <a:latin typeface="Courier New" pitchFamily="34" charset="0"/>
                <a:ea typeface="Courier New" pitchFamily="34" charset="-122"/>
                <a:cs typeface="Courier New" pitchFamily="34" charset="-120"/>
              </a:rPr>
              <a:t>Hello, world!</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h1</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body</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&lt;/</a:t>
            </a:r>
            <a:pPr indent="0" marL="0">
              <a:lnSpc>
                <a:spcPts val="2100"/>
              </a:lnSpc>
              <a:buNone/>
            </a:pPr>
            <a:r>
              <a:rPr lang="en-US" sz="1200" dirty="0">
                <a:solidFill>
                  <a:srgbClr val="F79A80"/>
                </a:solidFill>
                <a:latin typeface="Courier New" pitchFamily="34" charset="0"/>
                <a:ea typeface="Courier New" pitchFamily="34" charset="-122"/>
                <a:cs typeface="Courier New" pitchFamily="34" charset="-120"/>
              </a:rPr>
              <a:t>html</a:t>
            </a:r>
            <a:pPr indent="0" marL="0">
              <a:lnSpc>
                <a:spcPts val="2100"/>
              </a:lnSpc>
              <a:buNone/>
            </a:pPr>
            <a:r>
              <a:rPr lang="en-US" sz="1200" dirty="0">
                <a:solidFill>
                  <a:srgbClr val="9BA1A9"/>
                </a:solidFill>
                <a:latin typeface="Courier New" pitchFamily="34" charset="0"/>
                <a:ea typeface="Courier New" pitchFamily="34" charset="-122"/>
                <a:cs typeface="Courier New" pitchFamily="34" charset="-120"/>
              </a:rPr>
              <a:t>&gt;</a:t>
            </a:r>
            <a:endParaRPr lang="en-US" sz="1200" dirty="0"/>
          </a:p>
        </p:txBody>
      </p:sp>
      <p:sp>
        <p:nvSpPr>
          <p:cNvPr id="11" name="Text 8"/>
          <p:cNvSpPr/>
          <p:nvPr/>
        </p:nvSpPr>
        <p:spPr>
          <a:xfrm>
            <a:off x="7863840" y="1536192"/>
            <a:ext cx="3685032" cy="292608"/>
          </a:xfrm>
          <a:prstGeom prst="rect">
            <a:avLst/>
          </a:prstGeom>
          <a:noFill/>
          <a:ln/>
        </p:spPr>
        <p:txBody>
          <a:bodyPr wrap="square" lIns="0" tIns="0" rIns="0" bIns="0" rtlCol="0" anchor="ctr"/>
          <a:lstStyle/>
          <a:p>
            <a:pPr indent="0" marL="0">
              <a:buNone/>
            </a:pPr>
            <a:r>
              <a:rPr lang="en-US" sz="1050" b="1" spc="200" kern="0" dirty="0">
                <a:solidFill>
                  <a:srgbClr val="F79A80"/>
                </a:solidFill>
                <a:latin typeface="Calibri" pitchFamily="34" charset="0"/>
                <a:ea typeface="Calibri" pitchFamily="34" charset="-122"/>
                <a:cs typeface="Calibri" pitchFamily="34" charset="-120"/>
              </a:rPr>
              <a:t>SAY THIS WHILE YOU TYPE</a:t>
            </a:r>
            <a:endParaRPr lang="en-US" sz="1050" dirty="0"/>
          </a:p>
        </p:txBody>
      </p:sp>
      <p:sp>
        <p:nvSpPr>
          <p:cNvPr id="12" name="Shape 9"/>
          <p:cNvSpPr/>
          <p:nvPr/>
        </p:nvSpPr>
        <p:spPr>
          <a:xfrm>
            <a:off x="7863840" y="1920240"/>
            <a:ext cx="3685032" cy="658368"/>
          </a:xfrm>
          <a:prstGeom prst="roundRect">
            <a:avLst>
              <a:gd name="adj" fmla="val 11111"/>
            </a:avLst>
          </a:prstGeom>
          <a:solidFill>
            <a:srgbClr val="20242B"/>
          </a:solidFill>
          <a:ln w="12700">
            <a:solidFill>
              <a:srgbClr val="2E343D"/>
            </a:solidFill>
            <a:prstDash val="solid"/>
          </a:ln>
        </p:spPr>
      </p:sp>
      <p:sp>
        <p:nvSpPr>
          <p:cNvPr id="13" name="Text 10"/>
          <p:cNvSpPr/>
          <p:nvPr/>
        </p:nvSpPr>
        <p:spPr>
          <a:xfrm>
            <a:off x="8065008" y="1920240"/>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Create index.html inside the batch folder. The name matters: index is what a server looks for first.</a:t>
            </a:r>
            <a:endParaRPr lang="en-US" sz="1200" dirty="0"/>
          </a:p>
        </p:txBody>
      </p:sp>
      <p:sp>
        <p:nvSpPr>
          <p:cNvPr id="14" name="Shape 11"/>
          <p:cNvSpPr/>
          <p:nvPr/>
        </p:nvSpPr>
        <p:spPr>
          <a:xfrm>
            <a:off x="7863840" y="2670048"/>
            <a:ext cx="3685032" cy="658368"/>
          </a:xfrm>
          <a:prstGeom prst="roundRect">
            <a:avLst>
              <a:gd name="adj" fmla="val 11111"/>
            </a:avLst>
          </a:prstGeom>
          <a:solidFill>
            <a:srgbClr val="20242B"/>
          </a:solidFill>
          <a:ln w="12700">
            <a:solidFill>
              <a:srgbClr val="2E343D"/>
            </a:solidFill>
            <a:prstDash val="solid"/>
          </a:ln>
        </p:spPr>
      </p:sp>
      <p:sp>
        <p:nvSpPr>
          <p:cNvPr id="15" name="Text 12"/>
          <p:cNvSpPr/>
          <p:nvPr/>
        </p:nvSpPr>
        <p:spPr>
          <a:xfrm>
            <a:off x="8065008" y="2670048"/>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Type an exclamation mark and hit Enter. That is Emmet, and it just wrote the whole skeleton for you.</a:t>
            </a:r>
            <a:endParaRPr lang="en-US" sz="1200" dirty="0"/>
          </a:p>
        </p:txBody>
      </p:sp>
      <p:sp>
        <p:nvSpPr>
          <p:cNvPr id="16" name="Shape 13"/>
          <p:cNvSpPr/>
          <p:nvPr/>
        </p:nvSpPr>
        <p:spPr>
          <a:xfrm>
            <a:off x="7863840" y="3419856"/>
            <a:ext cx="3685032" cy="658368"/>
          </a:xfrm>
          <a:prstGeom prst="roundRect">
            <a:avLst>
              <a:gd name="adj" fmla="val 11111"/>
            </a:avLst>
          </a:prstGeom>
          <a:solidFill>
            <a:srgbClr val="20242B"/>
          </a:solidFill>
          <a:ln w="12700">
            <a:solidFill>
              <a:srgbClr val="2E343D"/>
            </a:solidFill>
            <a:prstDash val="solid"/>
          </a:ln>
        </p:spPr>
      </p:sp>
      <p:sp>
        <p:nvSpPr>
          <p:cNvPr id="17" name="Text 14"/>
          <p:cNvSpPr/>
          <p:nvPr/>
        </p:nvSpPr>
        <p:spPr>
          <a:xfrm>
            <a:off x="8065008" y="3419856"/>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Turn Auto Save on before anything else. File, then Auto Save, and never think about it again.</a:t>
            </a:r>
            <a:endParaRPr lang="en-US" sz="1200" dirty="0"/>
          </a:p>
        </p:txBody>
      </p:sp>
      <p:sp>
        <p:nvSpPr>
          <p:cNvPr id="18" name="Shape 15"/>
          <p:cNvSpPr/>
          <p:nvPr/>
        </p:nvSpPr>
        <p:spPr>
          <a:xfrm>
            <a:off x="7863840" y="4169664"/>
            <a:ext cx="3685032" cy="658368"/>
          </a:xfrm>
          <a:prstGeom prst="roundRect">
            <a:avLst>
              <a:gd name="adj" fmla="val 11111"/>
            </a:avLst>
          </a:prstGeom>
          <a:solidFill>
            <a:srgbClr val="20242B"/>
          </a:solidFill>
          <a:ln w="12700">
            <a:solidFill>
              <a:srgbClr val="2E343D"/>
            </a:solidFill>
            <a:prstDash val="solid"/>
          </a:ln>
        </p:spPr>
      </p:sp>
      <p:sp>
        <p:nvSpPr>
          <p:cNvPr id="19" name="Text 16"/>
          <p:cNvSpPr/>
          <p:nvPr/>
        </p:nvSpPr>
        <p:spPr>
          <a:xfrm>
            <a:off x="8065008" y="4169664"/>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Write Hello world inside the body, then double click the file in your file explorer to open it in a browser.</a:t>
            </a:r>
            <a:endParaRPr lang="en-US" sz="1200" dirty="0"/>
          </a:p>
        </p:txBody>
      </p:sp>
      <p:sp>
        <p:nvSpPr>
          <p:cNvPr id="20" name="Shape 17"/>
          <p:cNvSpPr/>
          <p:nvPr/>
        </p:nvSpPr>
        <p:spPr>
          <a:xfrm>
            <a:off x="7863840" y="5541264"/>
            <a:ext cx="3685032" cy="658368"/>
          </a:xfrm>
          <a:prstGeom prst="roundRect">
            <a:avLst>
              <a:gd name="adj" fmla="val 11111"/>
            </a:avLst>
          </a:prstGeom>
          <a:solidFill>
            <a:srgbClr val="20242B"/>
          </a:solidFill>
          <a:ln w="12700">
            <a:solidFill>
              <a:srgbClr val="2E343D"/>
            </a:solidFill>
            <a:prstDash val="solid"/>
          </a:ln>
        </p:spPr>
      </p:sp>
      <p:sp>
        <p:nvSpPr>
          <p:cNvPr id="21" name="Text 18"/>
          <p:cNvSpPr/>
          <p:nvPr/>
        </p:nvSpPr>
        <p:spPr>
          <a:xfrm>
            <a:off x="8065008" y="5541264"/>
            <a:ext cx="3282696" cy="658368"/>
          </a:xfrm>
          <a:prstGeom prst="rect">
            <a:avLst/>
          </a:prstGeom>
          <a:noFill/>
          <a:ln/>
        </p:spPr>
        <p:txBody>
          <a:bodyPr wrap="square" lIns="0" tIns="0" rIns="0" bIns="0" rtlCol="0" anchor="ctr"/>
          <a:lstStyle/>
          <a:p>
            <a:pPr indent="0" marL="0">
              <a:lnSpc>
                <a:spcPts val="1470"/>
              </a:lnSpc>
              <a:buNone/>
            </a:pPr>
            <a:r>
              <a:rPr lang="en-US" sz="1050" dirty="0">
                <a:solidFill>
                  <a:srgbClr val="7E9C74"/>
                </a:solidFill>
                <a:latin typeface="Courier New" pitchFamily="34" charset="0"/>
                <a:ea typeface="Courier New" pitchFamily="34" charset="-122"/>
                <a:cs typeface="Courier New" pitchFamily="34" charset="-120"/>
              </a:rPr>
              <a:t>&lt;!-- the ! shortcut is the highest paid keystroke in web development --&gt;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11</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&lt;anatomy&gt;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What every line of that actually means</a:t>
            </a:r>
            <a:endParaRPr lang="en-US" sz="3400" dirty="0"/>
          </a:p>
        </p:txBody>
      </p:sp>
      <p:sp>
        <p:nvSpPr>
          <p:cNvPr id="7" name="Shape 4"/>
          <p:cNvSpPr/>
          <p:nvPr/>
        </p:nvSpPr>
        <p:spPr>
          <a:xfrm>
            <a:off x="640080" y="1572768"/>
            <a:ext cx="5212080" cy="3931920"/>
          </a:xfrm>
          <a:prstGeom prst="roundRect">
            <a:avLst>
              <a:gd name="adj" fmla="val 2326"/>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8" name="Shape 5"/>
          <p:cNvSpPr/>
          <p:nvPr/>
        </p:nvSpPr>
        <p:spPr>
          <a:xfrm>
            <a:off x="2148840" y="1810512"/>
            <a:ext cx="2194560" cy="420624"/>
          </a:xfrm>
          <a:prstGeom prst="roundRect">
            <a:avLst>
              <a:gd name="adj" fmla="val 17391"/>
            </a:avLst>
          </a:prstGeom>
          <a:solidFill>
            <a:srgbClr val="FBE9E2"/>
          </a:solidFill>
          <a:ln w="12700">
            <a:solidFill>
              <a:srgbClr val="F0B9A6"/>
            </a:solidFill>
            <a:prstDash val="solid"/>
          </a:ln>
        </p:spPr>
      </p:sp>
      <p:sp>
        <p:nvSpPr>
          <p:cNvPr id="9" name="Text 6"/>
          <p:cNvSpPr/>
          <p:nvPr/>
        </p:nvSpPr>
        <p:spPr>
          <a:xfrm>
            <a:off x="2148840" y="1810512"/>
            <a:ext cx="2194560" cy="420624"/>
          </a:xfrm>
          <a:prstGeom prst="rect">
            <a:avLst/>
          </a:prstGeom>
          <a:noFill/>
          <a:ln/>
        </p:spPr>
        <p:txBody>
          <a:bodyPr wrap="square" lIns="0" tIns="0" rIns="0" bIns="0" rtlCol="0" anchor="ctr"/>
          <a:lstStyle/>
          <a:p>
            <a:pPr algn="ctr" indent="0" marL="0">
              <a:buNone/>
            </a:pPr>
            <a:r>
              <a:rPr lang="en-US" sz="1150" dirty="0">
                <a:solidFill>
                  <a:srgbClr val="E34F26"/>
                </a:solidFill>
                <a:latin typeface="Courier New" pitchFamily="34" charset="0"/>
                <a:ea typeface="Courier New" pitchFamily="34" charset="-122"/>
                <a:cs typeface="Courier New" pitchFamily="34" charset="-120"/>
              </a:rPr>
              <a:t>&lt;html lang="en"&gt;</a:t>
            </a:r>
            <a:endParaRPr lang="en-US" sz="1150" dirty="0"/>
          </a:p>
        </p:txBody>
      </p:sp>
      <p:sp>
        <p:nvSpPr>
          <p:cNvPr id="10" name="Shape 7"/>
          <p:cNvSpPr/>
          <p:nvPr/>
        </p:nvSpPr>
        <p:spPr>
          <a:xfrm>
            <a:off x="3227832" y="2231136"/>
            <a:ext cx="18288" cy="310896"/>
          </a:xfrm>
          <a:prstGeom prst="rect">
            <a:avLst/>
          </a:prstGeom>
          <a:solidFill>
            <a:srgbClr val="D5D1C8"/>
          </a:solidFill>
          <a:ln w="12700">
            <a:solidFill>
              <a:srgbClr val="D5D1C8"/>
            </a:solidFill>
            <a:prstDash val="solid"/>
          </a:ln>
        </p:spPr>
      </p:sp>
      <p:sp>
        <p:nvSpPr>
          <p:cNvPr id="11" name="Shape 8"/>
          <p:cNvSpPr/>
          <p:nvPr/>
        </p:nvSpPr>
        <p:spPr>
          <a:xfrm>
            <a:off x="1691640" y="2542032"/>
            <a:ext cx="3090672" cy="18288"/>
          </a:xfrm>
          <a:prstGeom prst="rect">
            <a:avLst/>
          </a:prstGeom>
          <a:solidFill>
            <a:srgbClr val="D5D1C8"/>
          </a:solidFill>
          <a:ln w="12700">
            <a:solidFill>
              <a:srgbClr val="D5D1C8"/>
            </a:solidFill>
            <a:prstDash val="solid"/>
          </a:ln>
        </p:spPr>
      </p:sp>
      <p:sp>
        <p:nvSpPr>
          <p:cNvPr id="12" name="Shape 9"/>
          <p:cNvSpPr/>
          <p:nvPr/>
        </p:nvSpPr>
        <p:spPr>
          <a:xfrm>
            <a:off x="1691640" y="2542032"/>
            <a:ext cx="18288" cy="274320"/>
          </a:xfrm>
          <a:prstGeom prst="rect">
            <a:avLst/>
          </a:prstGeom>
          <a:solidFill>
            <a:srgbClr val="D5D1C8"/>
          </a:solidFill>
          <a:ln w="12700">
            <a:solidFill>
              <a:srgbClr val="D5D1C8"/>
            </a:solidFill>
            <a:prstDash val="solid"/>
          </a:ln>
        </p:spPr>
      </p:sp>
      <p:sp>
        <p:nvSpPr>
          <p:cNvPr id="13" name="Shape 10"/>
          <p:cNvSpPr/>
          <p:nvPr/>
        </p:nvSpPr>
        <p:spPr>
          <a:xfrm>
            <a:off x="4764024" y="2542032"/>
            <a:ext cx="18288" cy="274320"/>
          </a:xfrm>
          <a:prstGeom prst="rect">
            <a:avLst/>
          </a:prstGeom>
          <a:solidFill>
            <a:srgbClr val="D5D1C8"/>
          </a:solidFill>
          <a:ln w="12700">
            <a:solidFill>
              <a:srgbClr val="D5D1C8"/>
            </a:solidFill>
            <a:prstDash val="solid"/>
          </a:ln>
        </p:spPr>
      </p:sp>
      <p:sp>
        <p:nvSpPr>
          <p:cNvPr id="14" name="Shape 11"/>
          <p:cNvSpPr/>
          <p:nvPr/>
        </p:nvSpPr>
        <p:spPr>
          <a:xfrm>
            <a:off x="1005840" y="2816352"/>
            <a:ext cx="1371600" cy="420624"/>
          </a:xfrm>
          <a:prstGeom prst="roundRect">
            <a:avLst>
              <a:gd name="adj" fmla="val 17391"/>
            </a:avLst>
          </a:prstGeom>
          <a:solidFill>
            <a:srgbClr val="F2F1ED"/>
          </a:solidFill>
          <a:ln w="12700">
            <a:solidFill>
              <a:srgbClr val="D5D1C8"/>
            </a:solidFill>
            <a:prstDash val="solid"/>
          </a:ln>
        </p:spPr>
      </p:sp>
      <p:sp>
        <p:nvSpPr>
          <p:cNvPr id="15" name="Text 12"/>
          <p:cNvSpPr/>
          <p:nvPr/>
        </p:nvSpPr>
        <p:spPr>
          <a:xfrm>
            <a:off x="1005840" y="2816352"/>
            <a:ext cx="1371600" cy="420624"/>
          </a:xfrm>
          <a:prstGeom prst="rect">
            <a:avLst/>
          </a:prstGeom>
          <a:noFill/>
          <a:ln/>
        </p:spPr>
        <p:txBody>
          <a:bodyPr wrap="square" lIns="0" tIns="0" rIns="0" bIns="0" rtlCol="0" anchor="ctr"/>
          <a:lstStyle/>
          <a:p>
            <a:pPr algn="ctr" indent="0" marL="0">
              <a:buNone/>
            </a:pPr>
            <a:r>
              <a:rPr lang="en-US" sz="1150" dirty="0">
                <a:solidFill>
                  <a:srgbClr val="1B1F24"/>
                </a:solidFill>
                <a:latin typeface="Courier New" pitchFamily="34" charset="0"/>
                <a:ea typeface="Courier New" pitchFamily="34" charset="-122"/>
                <a:cs typeface="Courier New" pitchFamily="34" charset="-120"/>
              </a:rPr>
              <a:t>&lt;head&gt;</a:t>
            </a:r>
            <a:endParaRPr lang="en-US" sz="1150" dirty="0"/>
          </a:p>
        </p:txBody>
      </p:sp>
      <p:sp>
        <p:nvSpPr>
          <p:cNvPr id="16" name="Shape 13"/>
          <p:cNvSpPr/>
          <p:nvPr/>
        </p:nvSpPr>
        <p:spPr>
          <a:xfrm>
            <a:off x="4078224" y="2816352"/>
            <a:ext cx="1371600" cy="420624"/>
          </a:xfrm>
          <a:prstGeom prst="roundRect">
            <a:avLst>
              <a:gd name="adj" fmla="val 17391"/>
            </a:avLst>
          </a:prstGeom>
          <a:solidFill>
            <a:srgbClr val="F2F1ED"/>
          </a:solidFill>
          <a:ln w="12700">
            <a:solidFill>
              <a:srgbClr val="D5D1C8"/>
            </a:solidFill>
            <a:prstDash val="solid"/>
          </a:ln>
        </p:spPr>
      </p:sp>
      <p:sp>
        <p:nvSpPr>
          <p:cNvPr id="17" name="Text 14"/>
          <p:cNvSpPr/>
          <p:nvPr/>
        </p:nvSpPr>
        <p:spPr>
          <a:xfrm>
            <a:off x="4078224" y="2816352"/>
            <a:ext cx="1371600" cy="420624"/>
          </a:xfrm>
          <a:prstGeom prst="rect">
            <a:avLst/>
          </a:prstGeom>
          <a:noFill/>
          <a:ln/>
        </p:spPr>
        <p:txBody>
          <a:bodyPr wrap="square" lIns="0" tIns="0" rIns="0" bIns="0" rtlCol="0" anchor="ctr"/>
          <a:lstStyle/>
          <a:p>
            <a:pPr algn="ctr" indent="0" marL="0">
              <a:buNone/>
            </a:pPr>
            <a:r>
              <a:rPr lang="en-US" sz="1150" dirty="0">
                <a:solidFill>
                  <a:srgbClr val="1B1F24"/>
                </a:solidFill>
                <a:latin typeface="Courier New" pitchFamily="34" charset="0"/>
                <a:ea typeface="Courier New" pitchFamily="34" charset="-122"/>
                <a:cs typeface="Courier New" pitchFamily="34" charset="-120"/>
              </a:rPr>
              <a:t>&lt;body&gt;</a:t>
            </a:r>
            <a:endParaRPr lang="en-US" sz="1150" dirty="0"/>
          </a:p>
        </p:txBody>
      </p:sp>
      <p:sp>
        <p:nvSpPr>
          <p:cNvPr id="18" name="Shape 15"/>
          <p:cNvSpPr/>
          <p:nvPr/>
        </p:nvSpPr>
        <p:spPr>
          <a:xfrm>
            <a:off x="1691640" y="3236976"/>
            <a:ext cx="18288" cy="1371600"/>
          </a:xfrm>
          <a:prstGeom prst="rect">
            <a:avLst/>
          </a:prstGeom>
          <a:solidFill>
            <a:srgbClr val="D5D1C8"/>
          </a:solidFill>
          <a:ln w="12700">
            <a:solidFill>
              <a:srgbClr val="D5D1C8"/>
            </a:solidFill>
            <a:prstDash val="solid"/>
          </a:ln>
        </p:spPr>
      </p:sp>
      <p:sp>
        <p:nvSpPr>
          <p:cNvPr id="19" name="Shape 16"/>
          <p:cNvSpPr/>
          <p:nvPr/>
        </p:nvSpPr>
        <p:spPr>
          <a:xfrm>
            <a:off x="1691640" y="3648456"/>
            <a:ext cx="320040" cy="18288"/>
          </a:xfrm>
          <a:prstGeom prst="rect">
            <a:avLst/>
          </a:prstGeom>
          <a:solidFill>
            <a:srgbClr val="D5D1C8"/>
          </a:solidFill>
          <a:ln w="12700">
            <a:solidFill>
              <a:srgbClr val="D5D1C8"/>
            </a:solidFill>
            <a:prstDash val="solid"/>
          </a:ln>
        </p:spPr>
      </p:sp>
      <p:sp>
        <p:nvSpPr>
          <p:cNvPr id="20" name="Shape 17"/>
          <p:cNvSpPr/>
          <p:nvPr/>
        </p:nvSpPr>
        <p:spPr>
          <a:xfrm>
            <a:off x="2011680" y="3438144"/>
            <a:ext cx="1737360" cy="420624"/>
          </a:xfrm>
          <a:prstGeom prst="roundRect">
            <a:avLst>
              <a:gd name="adj" fmla="val 17391"/>
            </a:avLst>
          </a:prstGeom>
          <a:solidFill>
            <a:srgbClr val="F2F1ED"/>
          </a:solidFill>
          <a:ln w="12700">
            <a:solidFill>
              <a:srgbClr val="D5D1C8"/>
            </a:solidFill>
            <a:prstDash val="solid"/>
          </a:ln>
        </p:spPr>
      </p:sp>
      <p:sp>
        <p:nvSpPr>
          <p:cNvPr id="21" name="Text 18"/>
          <p:cNvSpPr/>
          <p:nvPr/>
        </p:nvSpPr>
        <p:spPr>
          <a:xfrm>
            <a:off x="2011680" y="3438144"/>
            <a:ext cx="1737360" cy="420624"/>
          </a:xfrm>
          <a:prstGeom prst="rect">
            <a:avLst/>
          </a:prstGeom>
          <a:noFill/>
          <a:ln/>
        </p:spPr>
        <p:txBody>
          <a:bodyPr wrap="square" lIns="0" tIns="0" rIns="0" bIns="0" rtlCol="0" anchor="ctr"/>
          <a:lstStyle/>
          <a:p>
            <a:pPr algn="ctr" indent="0" marL="0">
              <a:buNone/>
            </a:pPr>
            <a:r>
              <a:rPr lang="en-US" sz="1150" dirty="0">
                <a:solidFill>
                  <a:srgbClr val="1B1F24"/>
                </a:solidFill>
                <a:latin typeface="Courier New" pitchFamily="34" charset="0"/>
                <a:ea typeface="Courier New" pitchFamily="34" charset="-122"/>
                <a:cs typeface="Courier New" pitchFamily="34" charset="-120"/>
              </a:rPr>
              <a:t>&lt;meta&gt;</a:t>
            </a:r>
            <a:endParaRPr lang="en-US" sz="1150" dirty="0"/>
          </a:p>
        </p:txBody>
      </p:sp>
      <p:sp>
        <p:nvSpPr>
          <p:cNvPr id="22" name="Shape 19"/>
          <p:cNvSpPr/>
          <p:nvPr/>
        </p:nvSpPr>
        <p:spPr>
          <a:xfrm>
            <a:off x="1691640" y="4197096"/>
            <a:ext cx="320040" cy="18288"/>
          </a:xfrm>
          <a:prstGeom prst="rect">
            <a:avLst/>
          </a:prstGeom>
          <a:solidFill>
            <a:srgbClr val="D5D1C8"/>
          </a:solidFill>
          <a:ln w="12700">
            <a:solidFill>
              <a:srgbClr val="D5D1C8"/>
            </a:solidFill>
            <a:prstDash val="solid"/>
          </a:ln>
        </p:spPr>
      </p:sp>
      <p:sp>
        <p:nvSpPr>
          <p:cNvPr id="23" name="Shape 20"/>
          <p:cNvSpPr/>
          <p:nvPr/>
        </p:nvSpPr>
        <p:spPr>
          <a:xfrm>
            <a:off x="2011680" y="3986784"/>
            <a:ext cx="1737360" cy="420624"/>
          </a:xfrm>
          <a:prstGeom prst="roundRect">
            <a:avLst>
              <a:gd name="adj" fmla="val 17391"/>
            </a:avLst>
          </a:prstGeom>
          <a:solidFill>
            <a:srgbClr val="F2F1ED"/>
          </a:solidFill>
          <a:ln w="12700">
            <a:solidFill>
              <a:srgbClr val="D5D1C8"/>
            </a:solidFill>
            <a:prstDash val="solid"/>
          </a:ln>
        </p:spPr>
      </p:sp>
      <p:sp>
        <p:nvSpPr>
          <p:cNvPr id="24" name="Text 21"/>
          <p:cNvSpPr/>
          <p:nvPr/>
        </p:nvSpPr>
        <p:spPr>
          <a:xfrm>
            <a:off x="2011680" y="3986784"/>
            <a:ext cx="1737360" cy="420624"/>
          </a:xfrm>
          <a:prstGeom prst="rect">
            <a:avLst/>
          </a:prstGeom>
          <a:noFill/>
          <a:ln/>
        </p:spPr>
        <p:txBody>
          <a:bodyPr wrap="square" lIns="0" tIns="0" rIns="0" bIns="0" rtlCol="0" anchor="ctr"/>
          <a:lstStyle/>
          <a:p>
            <a:pPr algn="ctr" indent="0" marL="0">
              <a:buNone/>
            </a:pPr>
            <a:r>
              <a:rPr lang="en-US" sz="1150" dirty="0">
                <a:solidFill>
                  <a:srgbClr val="1B1F24"/>
                </a:solidFill>
                <a:latin typeface="Courier New" pitchFamily="34" charset="0"/>
                <a:ea typeface="Courier New" pitchFamily="34" charset="-122"/>
                <a:cs typeface="Courier New" pitchFamily="34" charset="-120"/>
              </a:rPr>
              <a:t>&lt;title&gt;</a:t>
            </a:r>
            <a:endParaRPr lang="en-US" sz="1150" dirty="0"/>
          </a:p>
        </p:txBody>
      </p:sp>
      <p:sp>
        <p:nvSpPr>
          <p:cNvPr id="25" name="Shape 22"/>
          <p:cNvSpPr/>
          <p:nvPr/>
        </p:nvSpPr>
        <p:spPr>
          <a:xfrm>
            <a:off x="1691640" y="4745736"/>
            <a:ext cx="320040" cy="18288"/>
          </a:xfrm>
          <a:prstGeom prst="rect">
            <a:avLst/>
          </a:prstGeom>
          <a:solidFill>
            <a:srgbClr val="D5D1C8"/>
          </a:solidFill>
          <a:ln w="12700">
            <a:solidFill>
              <a:srgbClr val="D5D1C8"/>
            </a:solidFill>
            <a:prstDash val="solid"/>
          </a:ln>
        </p:spPr>
      </p:sp>
      <p:sp>
        <p:nvSpPr>
          <p:cNvPr id="26" name="Shape 23"/>
          <p:cNvSpPr/>
          <p:nvPr/>
        </p:nvSpPr>
        <p:spPr>
          <a:xfrm>
            <a:off x="2011680" y="4535424"/>
            <a:ext cx="1737360" cy="420624"/>
          </a:xfrm>
          <a:prstGeom prst="roundRect">
            <a:avLst>
              <a:gd name="adj" fmla="val 17391"/>
            </a:avLst>
          </a:prstGeom>
          <a:solidFill>
            <a:srgbClr val="F2F1ED"/>
          </a:solidFill>
          <a:ln w="12700">
            <a:solidFill>
              <a:srgbClr val="D5D1C8"/>
            </a:solidFill>
            <a:prstDash val="solid"/>
          </a:ln>
        </p:spPr>
      </p:sp>
      <p:sp>
        <p:nvSpPr>
          <p:cNvPr id="27" name="Text 24"/>
          <p:cNvSpPr/>
          <p:nvPr/>
        </p:nvSpPr>
        <p:spPr>
          <a:xfrm>
            <a:off x="2011680" y="4535424"/>
            <a:ext cx="1737360" cy="420624"/>
          </a:xfrm>
          <a:prstGeom prst="rect">
            <a:avLst/>
          </a:prstGeom>
          <a:noFill/>
          <a:ln/>
        </p:spPr>
        <p:txBody>
          <a:bodyPr wrap="square" lIns="0" tIns="0" rIns="0" bIns="0" rtlCol="0" anchor="ctr"/>
          <a:lstStyle/>
          <a:p>
            <a:pPr algn="ctr" indent="0" marL="0">
              <a:buNone/>
            </a:pPr>
            <a:r>
              <a:rPr lang="en-US" sz="1150" dirty="0">
                <a:solidFill>
                  <a:srgbClr val="1B1F24"/>
                </a:solidFill>
                <a:latin typeface="Courier New" pitchFamily="34" charset="0"/>
                <a:ea typeface="Courier New" pitchFamily="34" charset="-122"/>
                <a:cs typeface="Courier New" pitchFamily="34" charset="-120"/>
              </a:rPr>
              <a:t>&lt;!-- the brain --&gt;</a:t>
            </a:r>
            <a:endParaRPr lang="en-US" sz="1150" dirty="0"/>
          </a:p>
        </p:txBody>
      </p:sp>
      <p:sp>
        <p:nvSpPr>
          <p:cNvPr id="28" name="Shape 25"/>
          <p:cNvSpPr/>
          <p:nvPr/>
        </p:nvSpPr>
        <p:spPr>
          <a:xfrm>
            <a:off x="4764024" y="3236976"/>
            <a:ext cx="18288" cy="411480"/>
          </a:xfrm>
          <a:prstGeom prst="rect">
            <a:avLst/>
          </a:prstGeom>
          <a:solidFill>
            <a:srgbClr val="D5D1C8"/>
          </a:solidFill>
          <a:ln w="12700">
            <a:solidFill>
              <a:srgbClr val="D5D1C8"/>
            </a:solidFill>
            <a:prstDash val="solid"/>
          </a:ln>
        </p:spPr>
      </p:sp>
      <p:sp>
        <p:nvSpPr>
          <p:cNvPr id="29" name="Shape 26"/>
          <p:cNvSpPr/>
          <p:nvPr/>
        </p:nvSpPr>
        <p:spPr>
          <a:xfrm>
            <a:off x="4443984" y="3648456"/>
            <a:ext cx="320040" cy="18288"/>
          </a:xfrm>
          <a:prstGeom prst="rect">
            <a:avLst/>
          </a:prstGeom>
          <a:solidFill>
            <a:srgbClr val="D5D1C8"/>
          </a:solidFill>
          <a:ln w="12700">
            <a:solidFill>
              <a:srgbClr val="D5D1C8"/>
            </a:solidFill>
            <a:prstDash val="solid"/>
          </a:ln>
        </p:spPr>
      </p:sp>
      <p:sp>
        <p:nvSpPr>
          <p:cNvPr id="30" name="Shape 27"/>
          <p:cNvSpPr/>
          <p:nvPr/>
        </p:nvSpPr>
        <p:spPr>
          <a:xfrm>
            <a:off x="4443984" y="3438144"/>
            <a:ext cx="1463040" cy="420624"/>
          </a:xfrm>
          <a:prstGeom prst="roundRect">
            <a:avLst>
              <a:gd name="adj" fmla="val 17391"/>
            </a:avLst>
          </a:prstGeom>
          <a:solidFill>
            <a:srgbClr val="F2F1ED"/>
          </a:solidFill>
          <a:ln w="12700">
            <a:solidFill>
              <a:srgbClr val="D5D1C8"/>
            </a:solidFill>
            <a:prstDash val="solid"/>
          </a:ln>
        </p:spPr>
      </p:sp>
      <p:sp>
        <p:nvSpPr>
          <p:cNvPr id="31" name="Text 28"/>
          <p:cNvSpPr/>
          <p:nvPr/>
        </p:nvSpPr>
        <p:spPr>
          <a:xfrm>
            <a:off x="4443984" y="3438144"/>
            <a:ext cx="1463040" cy="420624"/>
          </a:xfrm>
          <a:prstGeom prst="rect">
            <a:avLst/>
          </a:prstGeom>
          <a:noFill/>
          <a:ln/>
        </p:spPr>
        <p:txBody>
          <a:bodyPr wrap="square" lIns="0" tIns="0" rIns="0" bIns="0" rtlCol="0" anchor="ctr"/>
          <a:lstStyle/>
          <a:p>
            <a:pPr algn="ctr" indent="0" marL="0">
              <a:buNone/>
            </a:pPr>
            <a:r>
              <a:rPr lang="en-US" sz="1150" dirty="0">
                <a:solidFill>
                  <a:srgbClr val="1B1F24"/>
                </a:solidFill>
                <a:latin typeface="Courier New" pitchFamily="34" charset="0"/>
                <a:ea typeface="Courier New" pitchFamily="34" charset="-122"/>
                <a:cs typeface="Courier New" pitchFamily="34" charset="-120"/>
              </a:rPr>
              <a:t>&lt;h1&gt;</a:t>
            </a:r>
            <a:endParaRPr lang="en-US" sz="1150" dirty="0"/>
          </a:p>
        </p:txBody>
      </p:sp>
      <p:sp>
        <p:nvSpPr>
          <p:cNvPr id="32" name="Text 29"/>
          <p:cNvSpPr/>
          <p:nvPr/>
        </p:nvSpPr>
        <p:spPr>
          <a:xfrm>
            <a:off x="4169664" y="3968496"/>
            <a:ext cx="1645920" cy="274320"/>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everything you see</a:t>
            </a:r>
            <a:endParaRPr lang="en-US" sz="1000" dirty="0"/>
          </a:p>
        </p:txBody>
      </p:sp>
      <p:sp>
        <p:nvSpPr>
          <p:cNvPr id="33" name="Shape 30"/>
          <p:cNvSpPr/>
          <p:nvPr/>
        </p:nvSpPr>
        <p:spPr>
          <a:xfrm>
            <a:off x="6336792" y="1572768"/>
            <a:ext cx="5212080" cy="640080"/>
          </a:xfrm>
          <a:prstGeom prst="roundRect">
            <a:avLst>
              <a:gd name="adj" fmla="val 14286"/>
            </a:avLst>
          </a:prstGeom>
          <a:solidFill>
            <a:srgbClr val="FFFFFF"/>
          </a:solidFill>
          <a:ln w="12700">
            <a:solidFill>
              <a:srgbClr val="E2DFD8"/>
            </a:solidFill>
            <a:prstDash val="solid"/>
          </a:ln>
        </p:spPr>
      </p:sp>
      <p:sp>
        <p:nvSpPr>
          <p:cNvPr id="34" name="Text 31"/>
          <p:cNvSpPr/>
          <p:nvPr/>
        </p:nvSpPr>
        <p:spPr>
          <a:xfrm>
            <a:off x="6556248" y="1600200"/>
            <a:ext cx="1828800" cy="256032"/>
          </a:xfrm>
          <a:prstGeom prst="rect">
            <a:avLst/>
          </a:prstGeom>
          <a:noFill/>
          <a:ln/>
        </p:spPr>
        <p:txBody>
          <a:bodyPr wrap="square" lIns="0" tIns="0" rIns="0" bIns="0" rtlCol="0" anchor="ctr"/>
          <a:lstStyle/>
          <a:p>
            <a:pPr indent="0" marL="0">
              <a:buNone/>
            </a:pPr>
            <a:r>
              <a:rPr lang="en-US" sz="1050" dirty="0">
                <a:solidFill>
                  <a:srgbClr val="E34F26"/>
                </a:solidFill>
                <a:latin typeface="Courier New" pitchFamily="34" charset="0"/>
                <a:ea typeface="Courier New" pitchFamily="34" charset="-122"/>
                <a:cs typeface="Courier New" pitchFamily="34" charset="-120"/>
              </a:rPr>
              <a:t>&lt;!DOCTYPE html&gt;</a:t>
            </a:r>
            <a:endParaRPr lang="en-US" sz="1050" dirty="0"/>
          </a:p>
        </p:txBody>
      </p:sp>
      <p:sp>
        <p:nvSpPr>
          <p:cNvPr id="35" name="Text 32"/>
          <p:cNvSpPr/>
          <p:nvPr/>
        </p:nvSpPr>
        <p:spPr>
          <a:xfrm>
            <a:off x="6556248" y="1837944"/>
            <a:ext cx="4773168" cy="347472"/>
          </a:xfrm>
          <a:prstGeom prst="rect">
            <a:avLst/>
          </a:prstGeom>
          <a:noFill/>
          <a:ln/>
        </p:spPr>
        <p:txBody>
          <a:bodyPr wrap="square" lIns="0" tIns="0" rIns="0" bIns="0" rtlCol="0" anchor="t"/>
          <a:lstStyle/>
          <a:p>
            <a:pPr algn="l" indent="0" marL="0">
              <a:lnSpc>
                <a:spcPts val="1350"/>
              </a:lnSpc>
              <a:buNone/>
            </a:pPr>
            <a:r>
              <a:rPr lang="en-US" sz="1100" dirty="0">
                <a:solidFill>
                  <a:srgbClr val="5A6069"/>
                </a:solidFill>
                <a:latin typeface="Calibri" pitchFamily="34" charset="0"/>
                <a:ea typeface="Calibri" pitchFamily="34" charset="-122"/>
                <a:cs typeface="Calibri" pitchFamily="34" charset="-120"/>
              </a:rPr>
              <a:t>Says: this page is HTML5, the latest version. One line, no drama.</a:t>
            </a:r>
            <a:endParaRPr lang="en-US" sz="1100" dirty="0"/>
          </a:p>
        </p:txBody>
      </p:sp>
      <p:sp>
        <p:nvSpPr>
          <p:cNvPr id="36" name="Shape 33"/>
          <p:cNvSpPr/>
          <p:nvPr/>
        </p:nvSpPr>
        <p:spPr>
          <a:xfrm>
            <a:off x="6336792" y="2276856"/>
            <a:ext cx="5212080" cy="640080"/>
          </a:xfrm>
          <a:prstGeom prst="roundRect">
            <a:avLst>
              <a:gd name="adj" fmla="val 14286"/>
            </a:avLst>
          </a:prstGeom>
          <a:solidFill>
            <a:srgbClr val="FFFFFF"/>
          </a:solidFill>
          <a:ln w="12700">
            <a:solidFill>
              <a:srgbClr val="E2DFD8"/>
            </a:solidFill>
            <a:prstDash val="solid"/>
          </a:ln>
        </p:spPr>
      </p:sp>
      <p:sp>
        <p:nvSpPr>
          <p:cNvPr id="37" name="Text 34"/>
          <p:cNvSpPr/>
          <p:nvPr/>
        </p:nvSpPr>
        <p:spPr>
          <a:xfrm>
            <a:off x="6556248" y="2304288"/>
            <a:ext cx="1828800" cy="256032"/>
          </a:xfrm>
          <a:prstGeom prst="rect">
            <a:avLst/>
          </a:prstGeom>
          <a:noFill/>
          <a:ln/>
        </p:spPr>
        <p:txBody>
          <a:bodyPr wrap="square" lIns="0" tIns="0" rIns="0" bIns="0" rtlCol="0" anchor="ctr"/>
          <a:lstStyle/>
          <a:p>
            <a:pPr indent="0" marL="0">
              <a:buNone/>
            </a:pPr>
            <a:r>
              <a:rPr lang="en-US" sz="1050" dirty="0">
                <a:solidFill>
                  <a:srgbClr val="E34F26"/>
                </a:solidFill>
                <a:latin typeface="Courier New" pitchFamily="34" charset="0"/>
                <a:ea typeface="Courier New" pitchFamily="34" charset="-122"/>
                <a:cs typeface="Courier New" pitchFamily="34" charset="-120"/>
              </a:rPr>
              <a:t>&lt;html lang="en"&gt;</a:t>
            </a:r>
            <a:endParaRPr lang="en-US" sz="1050" dirty="0"/>
          </a:p>
        </p:txBody>
      </p:sp>
      <p:sp>
        <p:nvSpPr>
          <p:cNvPr id="38" name="Text 35"/>
          <p:cNvSpPr/>
          <p:nvPr/>
        </p:nvSpPr>
        <p:spPr>
          <a:xfrm>
            <a:off x="6556248" y="2542032"/>
            <a:ext cx="4773168" cy="347472"/>
          </a:xfrm>
          <a:prstGeom prst="rect">
            <a:avLst/>
          </a:prstGeom>
          <a:noFill/>
          <a:ln/>
        </p:spPr>
        <p:txBody>
          <a:bodyPr wrap="square" lIns="0" tIns="0" rIns="0" bIns="0" rtlCol="0" anchor="t"/>
          <a:lstStyle/>
          <a:p>
            <a:pPr algn="l" indent="0" marL="0">
              <a:lnSpc>
                <a:spcPts val="1350"/>
              </a:lnSpc>
              <a:buNone/>
            </a:pPr>
            <a:r>
              <a:rPr lang="en-US" sz="1100" dirty="0">
                <a:solidFill>
                  <a:srgbClr val="5A6069"/>
                </a:solidFill>
                <a:latin typeface="Calibri" pitchFamily="34" charset="0"/>
                <a:ea typeface="Calibri" pitchFamily="34" charset="-122"/>
                <a:cs typeface="Calibri" pitchFamily="34" charset="-120"/>
              </a:rPr>
              <a:t>The container for the whole page. lang tells browsers and screen readers it is in English.</a:t>
            </a:r>
            <a:endParaRPr lang="en-US" sz="1100" dirty="0"/>
          </a:p>
        </p:txBody>
      </p:sp>
      <p:sp>
        <p:nvSpPr>
          <p:cNvPr id="39" name="Shape 36"/>
          <p:cNvSpPr/>
          <p:nvPr/>
        </p:nvSpPr>
        <p:spPr>
          <a:xfrm>
            <a:off x="6336792" y="2980944"/>
            <a:ext cx="5212080" cy="640080"/>
          </a:xfrm>
          <a:prstGeom prst="roundRect">
            <a:avLst>
              <a:gd name="adj" fmla="val 14286"/>
            </a:avLst>
          </a:prstGeom>
          <a:solidFill>
            <a:srgbClr val="FFFFFF"/>
          </a:solidFill>
          <a:ln w="12700">
            <a:solidFill>
              <a:srgbClr val="E2DFD8"/>
            </a:solidFill>
            <a:prstDash val="solid"/>
          </a:ln>
        </p:spPr>
      </p:sp>
      <p:sp>
        <p:nvSpPr>
          <p:cNvPr id="40" name="Text 37"/>
          <p:cNvSpPr/>
          <p:nvPr/>
        </p:nvSpPr>
        <p:spPr>
          <a:xfrm>
            <a:off x="6556248" y="3008376"/>
            <a:ext cx="1828800" cy="256032"/>
          </a:xfrm>
          <a:prstGeom prst="rect">
            <a:avLst/>
          </a:prstGeom>
          <a:noFill/>
          <a:ln/>
        </p:spPr>
        <p:txBody>
          <a:bodyPr wrap="square" lIns="0" tIns="0" rIns="0" bIns="0" rtlCol="0" anchor="ctr"/>
          <a:lstStyle/>
          <a:p>
            <a:pPr indent="0" marL="0">
              <a:buNone/>
            </a:pPr>
            <a:r>
              <a:rPr lang="en-US" sz="1050" dirty="0">
                <a:solidFill>
                  <a:srgbClr val="E34F26"/>
                </a:solidFill>
                <a:latin typeface="Courier New" pitchFamily="34" charset="0"/>
                <a:ea typeface="Courier New" pitchFamily="34" charset="-122"/>
                <a:cs typeface="Courier New" pitchFamily="34" charset="-120"/>
              </a:rPr>
              <a:t>&lt;head&gt;</a:t>
            </a:r>
            <a:endParaRPr lang="en-US" sz="1050" dirty="0"/>
          </a:p>
        </p:txBody>
      </p:sp>
      <p:sp>
        <p:nvSpPr>
          <p:cNvPr id="41" name="Text 38"/>
          <p:cNvSpPr/>
          <p:nvPr/>
        </p:nvSpPr>
        <p:spPr>
          <a:xfrm>
            <a:off x="6556248" y="3246120"/>
            <a:ext cx="4773168" cy="347472"/>
          </a:xfrm>
          <a:prstGeom prst="rect">
            <a:avLst/>
          </a:prstGeom>
          <a:noFill/>
          <a:ln/>
        </p:spPr>
        <p:txBody>
          <a:bodyPr wrap="square" lIns="0" tIns="0" rIns="0" bIns="0" rtlCol="0" anchor="t"/>
          <a:lstStyle/>
          <a:p>
            <a:pPr algn="l" indent="0" marL="0">
              <a:lnSpc>
                <a:spcPts val="1350"/>
              </a:lnSpc>
              <a:buNone/>
            </a:pPr>
            <a:r>
              <a:rPr lang="en-US" sz="1100" dirty="0">
                <a:solidFill>
                  <a:srgbClr val="5A6069"/>
                </a:solidFill>
                <a:latin typeface="Calibri" pitchFamily="34" charset="0"/>
                <a:ea typeface="Calibri" pitchFamily="34" charset="-122"/>
                <a:cs typeface="Calibri" pitchFamily="34" charset="-120"/>
              </a:rPr>
              <a:t>The brain. Nothing here is visible on the page, it is all instructions.</a:t>
            </a:r>
            <a:endParaRPr lang="en-US" sz="1100" dirty="0"/>
          </a:p>
        </p:txBody>
      </p:sp>
      <p:sp>
        <p:nvSpPr>
          <p:cNvPr id="42" name="Shape 39"/>
          <p:cNvSpPr/>
          <p:nvPr/>
        </p:nvSpPr>
        <p:spPr>
          <a:xfrm>
            <a:off x="6336792" y="3685032"/>
            <a:ext cx="5212080" cy="640080"/>
          </a:xfrm>
          <a:prstGeom prst="roundRect">
            <a:avLst>
              <a:gd name="adj" fmla="val 14286"/>
            </a:avLst>
          </a:prstGeom>
          <a:solidFill>
            <a:srgbClr val="FFFFFF"/>
          </a:solidFill>
          <a:ln w="12700">
            <a:solidFill>
              <a:srgbClr val="E2DFD8"/>
            </a:solidFill>
            <a:prstDash val="solid"/>
          </a:ln>
        </p:spPr>
      </p:sp>
      <p:sp>
        <p:nvSpPr>
          <p:cNvPr id="43" name="Text 40"/>
          <p:cNvSpPr/>
          <p:nvPr/>
        </p:nvSpPr>
        <p:spPr>
          <a:xfrm>
            <a:off x="6556248" y="3712464"/>
            <a:ext cx="1828800" cy="256032"/>
          </a:xfrm>
          <a:prstGeom prst="rect">
            <a:avLst/>
          </a:prstGeom>
          <a:noFill/>
          <a:ln/>
        </p:spPr>
        <p:txBody>
          <a:bodyPr wrap="square" lIns="0" tIns="0" rIns="0" bIns="0" rtlCol="0" anchor="ctr"/>
          <a:lstStyle/>
          <a:p>
            <a:pPr indent="0" marL="0">
              <a:buNone/>
            </a:pPr>
            <a:r>
              <a:rPr lang="en-US" sz="1050" dirty="0">
                <a:solidFill>
                  <a:srgbClr val="E34F26"/>
                </a:solidFill>
                <a:latin typeface="Courier New" pitchFamily="34" charset="0"/>
                <a:ea typeface="Courier New" pitchFamily="34" charset="-122"/>
                <a:cs typeface="Courier New" pitchFamily="34" charset="-120"/>
              </a:rPr>
              <a:t>&lt;meta ...&gt;</a:t>
            </a:r>
            <a:endParaRPr lang="en-US" sz="1050" dirty="0"/>
          </a:p>
        </p:txBody>
      </p:sp>
      <p:sp>
        <p:nvSpPr>
          <p:cNvPr id="44" name="Text 41"/>
          <p:cNvSpPr/>
          <p:nvPr/>
        </p:nvSpPr>
        <p:spPr>
          <a:xfrm>
            <a:off x="6556248" y="3950208"/>
            <a:ext cx="4773168" cy="347472"/>
          </a:xfrm>
          <a:prstGeom prst="rect">
            <a:avLst/>
          </a:prstGeom>
          <a:noFill/>
          <a:ln/>
        </p:spPr>
        <p:txBody>
          <a:bodyPr wrap="square" lIns="0" tIns="0" rIns="0" bIns="0" rtlCol="0" anchor="t"/>
          <a:lstStyle/>
          <a:p>
            <a:pPr algn="l" indent="0" marL="0">
              <a:lnSpc>
                <a:spcPts val="1350"/>
              </a:lnSpc>
              <a:buNone/>
            </a:pPr>
            <a:r>
              <a:rPr lang="en-US" sz="1100" dirty="0">
                <a:solidFill>
                  <a:srgbClr val="5A6069"/>
                </a:solidFill>
                <a:latin typeface="Calibri" pitchFamily="34" charset="0"/>
                <a:ea typeface="Calibri" pitchFamily="34" charset="-122"/>
                <a:cs typeface="Calibri" pitchFamily="34" charset="-120"/>
              </a:rPr>
              <a:t>Metadata for browsers and search engines: character set, how to scale on phones, and more later.</a:t>
            </a:r>
            <a:endParaRPr lang="en-US" sz="1100" dirty="0"/>
          </a:p>
        </p:txBody>
      </p:sp>
      <p:sp>
        <p:nvSpPr>
          <p:cNvPr id="45" name="Shape 42"/>
          <p:cNvSpPr/>
          <p:nvPr/>
        </p:nvSpPr>
        <p:spPr>
          <a:xfrm>
            <a:off x="6336792" y="4389120"/>
            <a:ext cx="5212080" cy="640080"/>
          </a:xfrm>
          <a:prstGeom prst="roundRect">
            <a:avLst>
              <a:gd name="adj" fmla="val 14286"/>
            </a:avLst>
          </a:prstGeom>
          <a:solidFill>
            <a:srgbClr val="FFFFFF"/>
          </a:solidFill>
          <a:ln w="12700">
            <a:solidFill>
              <a:srgbClr val="E2DFD8"/>
            </a:solidFill>
            <a:prstDash val="solid"/>
          </a:ln>
        </p:spPr>
      </p:sp>
      <p:sp>
        <p:nvSpPr>
          <p:cNvPr id="46" name="Text 43"/>
          <p:cNvSpPr/>
          <p:nvPr/>
        </p:nvSpPr>
        <p:spPr>
          <a:xfrm>
            <a:off x="6556248" y="4416552"/>
            <a:ext cx="1828800" cy="256032"/>
          </a:xfrm>
          <a:prstGeom prst="rect">
            <a:avLst/>
          </a:prstGeom>
          <a:noFill/>
          <a:ln/>
        </p:spPr>
        <p:txBody>
          <a:bodyPr wrap="square" lIns="0" tIns="0" rIns="0" bIns="0" rtlCol="0" anchor="ctr"/>
          <a:lstStyle/>
          <a:p>
            <a:pPr indent="0" marL="0">
              <a:buNone/>
            </a:pPr>
            <a:r>
              <a:rPr lang="en-US" sz="1050" dirty="0">
                <a:solidFill>
                  <a:srgbClr val="E34F26"/>
                </a:solidFill>
                <a:latin typeface="Courier New" pitchFamily="34" charset="0"/>
                <a:ea typeface="Courier New" pitchFamily="34" charset="-122"/>
                <a:cs typeface="Courier New" pitchFamily="34" charset="-120"/>
              </a:rPr>
              <a:t>&lt;title&gt;</a:t>
            </a:r>
            <a:endParaRPr lang="en-US" sz="1050" dirty="0"/>
          </a:p>
        </p:txBody>
      </p:sp>
      <p:sp>
        <p:nvSpPr>
          <p:cNvPr id="47" name="Text 44"/>
          <p:cNvSpPr/>
          <p:nvPr/>
        </p:nvSpPr>
        <p:spPr>
          <a:xfrm>
            <a:off x="6556248" y="4654296"/>
            <a:ext cx="4773168" cy="347472"/>
          </a:xfrm>
          <a:prstGeom prst="rect">
            <a:avLst/>
          </a:prstGeom>
          <a:noFill/>
          <a:ln/>
        </p:spPr>
        <p:txBody>
          <a:bodyPr wrap="square" lIns="0" tIns="0" rIns="0" bIns="0" rtlCol="0" anchor="t"/>
          <a:lstStyle/>
          <a:p>
            <a:pPr algn="l" indent="0" marL="0">
              <a:lnSpc>
                <a:spcPts val="1350"/>
              </a:lnSpc>
              <a:buNone/>
            </a:pPr>
            <a:r>
              <a:rPr lang="en-US" sz="1100" dirty="0">
                <a:solidFill>
                  <a:srgbClr val="5A6069"/>
                </a:solidFill>
                <a:latin typeface="Calibri" pitchFamily="34" charset="0"/>
                <a:ea typeface="Calibri" pitchFamily="34" charset="-122"/>
                <a:cs typeface="Calibri" pitchFamily="34" charset="-120"/>
              </a:rPr>
              <a:t>The name you see on the browser tab.</a:t>
            </a:r>
            <a:endParaRPr lang="en-US" sz="1100" dirty="0"/>
          </a:p>
        </p:txBody>
      </p:sp>
      <p:sp>
        <p:nvSpPr>
          <p:cNvPr id="48" name="Shape 45"/>
          <p:cNvSpPr/>
          <p:nvPr/>
        </p:nvSpPr>
        <p:spPr>
          <a:xfrm>
            <a:off x="6336792" y="5093208"/>
            <a:ext cx="5212080" cy="640080"/>
          </a:xfrm>
          <a:prstGeom prst="roundRect">
            <a:avLst>
              <a:gd name="adj" fmla="val 14286"/>
            </a:avLst>
          </a:prstGeom>
          <a:solidFill>
            <a:srgbClr val="FFFFFF"/>
          </a:solidFill>
          <a:ln w="12700">
            <a:solidFill>
              <a:srgbClr val="E2DFD8"/>
            </a:solidFill>
            <a:prstDash val="solid"/>
          </a:ln>
        </p:spPr>
      </p:sp>
      <p:sp>
        <p:nvSpPr>
          <p:cNvPr id="49" name="Text 46"/>
          <p:cNvSpPr/>
          <p:nvPr/>
        </p:nvSpPr>
        <p:spPr>
          <a:xfrm>
            <a:off x="6556248" y="5120640"/>
            <a:ext cx="1828800" cy="256032"/>
          </a:xfrm>
          <a:prstGeom prst="rect">
            <a:avLst/>
          </a:prstGeom>
          <a:noFill/>
          <a:ln/>
        </p:spPr>
        <p:txBody>
          <a:bodyPr wrap="square" lIns="0" tIns="0" rIns="0" bIns="0" rtlCol="0" anchor="ctr"/>
          <a:lstStyle/>
          <a:p>
            <a:pPr indent="0" marL="0">
              <a:buNone/>
            </a:pPr>
            <a:r>
              <a:rPr lang="en-US" sz="1050" dirty="0">
                <a:solidFill>
                  <a:srgbClr val="E34F26"/>
                </a:solidFill>
                <a:latin typeface="Courier New" pitchFamily="34" charset="0"/>
                <a:ea typeface="Courier New" pitchFamily="34" charset="-122"/>
                <a:cs typeface="Courier New" pitchFamily="34" charset="-120"/>
              </a:rPr>
              <a:t>&lt;body&gt;</a:t>
            </a:r>
            <a:endParaRPr lang="en-US" sz="1050" dirty="0"/>
          </a:p>
        </p:txBody>
      </p:sp>
      <p:sp>
        <p:nvSpPr>
          <p:cNvPr id="50" name="Text 47"/>
          <p:cNvSpPr/>
          <p:nvPr/>
        </p:nvSpPr>
        <p:spPr>
          <a:xfrm>
            <a:off x="6556248" y="5358384"/>
            <a:ext cx="4773168" cy="347472"/>
          </a:xfrm>
          <a:prstGeom prst="rect">
            <a:avLst/>
          </a:prstGeom>
          <a:noFill/>
          <a:ln/>
        </p:spPr>
        <p:txBody>
          <a:bodyPr wrap="square" lIns="0" tIns="0" rIns="0" bIns="0" rtlCol="0" anchor="t"/>
          <a:lstStyle/>
          <a:p>
            <a:pPr algn="l" indent="0" marL="0">
              <a:lnSpc>
                <a:spcPts val="1350"/>
              </a:lnSpc>
              <a:buNone/>
            </a:pPr>
            <a:r>
              <a:rPr lang="en-US" sz="1100" dirty="0">
                <a:solidFill>
                  <a:srgbClr val="5A6069"/>
                </a:solidFill>
                <a:latin typeface="Calibri" pitchFamily="34" charset="0"/>
                <a:ea typeface="Calibri" pitchFamily="34" charset="-122"/>
                <a:cs typeface="Calibri" pitchFamily="34" charset="-120"/>
              </a:rPr>
              <a:t>Everything a human actually sees: text, images, buttons, all of it.</a:t>
            </a:r>
            <a:endParaRPr lang="en-US" sz="1100" dirty="0"/>
          </a:p>
        </p:txBody>
      </p:sp>
      <p:sp>
        <p:nvSpPr>
          <p:cNvPr id="51" name="Shape 48"/>
          <p:cNvSpPr/>
          <p:nvPr/>
        </p:nvSpPr>
        <p:spPr>
          <a:xfrm>
            <a:off x="640080" y="5815584"/>
            <a:ext cx="10881360" cy="457200"/>
          </a:xfrm>
          <a:prstGeom prst="roundRect">
            <a:avLst>
              <a:gd name="adj" fmla="val 16000"/>
            </a:avLst>
          </a:prstGeom>
          <a:solidFill>
            <a:srgbClr val="EFEEE9"/>
          </a:solidFill>
          <a:ln w="12700">
            <a:solidFill>
              <a:srgbClr val="D5D1C8"/>
            </a:solidFill>
            <a:prstDash val="solid"/>
          </a:ln>
        </p:spPr>
      </p:sp>
      <p:sp>
        <p:nvSpPr>
          <p:cNvPr id="52" name="Text 49"/>
          <p:cNvSpPr/>
          <p:nvPr/>
        </p:nvSpPr>
        <p:spPr>
          <a:xfrm>
            <a:off x="841248" y="5815584"/>
            <a:ext cx="10479024" cy="457200"/>
          </a:xfrm>
          <a:prstGeom prst="rect">
            <a:avLst/>
          </a:prstGeom>
          <a:noFill/>
          <a:ln/>
        </p:spPr>
        <p:txBody>
          <a:bodyPr wrap="square" lIns="0" tIns="0" rIns="0" bIns="0" rtlCol="0" anchor="ctr"/>
          <a:lstStyle/>
          <a:p>
            <a:pPr indent="0" marL="0">
              <a:lnSpc>
                <a:spcPts val="1470"/>
              </a:lnSpc>
              <a:buNone/>
            </a:pPr>
            <a:r>
              <a:rPr lang="en-US" sz="1050" dirty="0">
                <a:solidFill>
                  <a:srgbClr val="6E8A64"/>
                </a:solidFill>
                <a:latin typeface="Courier New" pitchFamily="34" charset="0"/>
                <a:ea typeface="Courier New" pitchFamily="34" charset="-122"/>
                <a:cs typeface="Courier New" pitchFamily="34" charset="-120"/>
              </a:rPr>
              <a:t>&lt;!-- the head is the brain, the body is the face. HTML is very literal about it --&gt;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12</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&lt;run-it&gt;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Two ways to see your page</a:t>
            </a:r>
            <a:endParaRPr lang="en-US" sz="3400" dirty="0"/>
          </a:p>
        </p:txBody>
      </p:sp>
      <p:sp>
        <p:nvSpPr>
          <p:cNvPr id="7" name="Shape 4"/>
          <p:cNvSpPr/>
          <p:nvPr/>
        </p:nvSpPr>
        <p:spPr>
          <a:xfrm>
            <a:off x="640080" y="1627632"/>
            <a:ext cx="5212080" cy="1920240"/>
          </a:xfrm>
          <a:prstGeom prst="roundRect">
            <a:avLst>
              <a:gd name="adj" fmla="val 4762"/>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8" name="Shape 5"/>
          <p:cNvSpPr/>
          <p:nvPr/>
        </p:nvSpPr>
        <p:spPr>
          <a:xfrm>
            <a:off x="932688" y="1901952"/>
            <a:ext cx="548640" cy="548640"/>
          </a:xfrm>
          <a:prstGeom prst="roundRect">
            <a:avLst>
              <a:gd name="adj" fmla="val 16667"/>
            </a:avLst>
          </a:prstGeom>
          <a:solidFill>
            <a:srgbClr val="FFFFFF"/>
          </a:solidFill>
          <a:ln w="12700">
            <a:solidFill>
              <a:srgbClr val="D5D1C8"/>
            </a:solidFill>
            <a:prstDash val="solid"/>
          </a:ln>
        </p:spPr>
      </p:sp>
      <p:pic>
        <p:nvPicPr>
          <p:cNvPr id="9" name="Image 0" descr="preencoded.png">    </p:cNvPr>
          <p:cNvPicPr>
            <a:picLocks noChangeAspect="1"/>
          </p:cNvPicPr>
          <p:nvPr/>
        </p:nvPicPr>
        <p:blipFill>
          <a:blip r:embed="rId1"/>
          <a:stretch>
            <a:fillRect/>
          </a:stretch>
        </p:blipFill>
        <p:spPr>
          <a:xfrm>
            <a:off x="1075334" y="2044598"/>
            <a:ext cx="263347" cy="263347"/>
          </a:xfrm>
          <a:prstGeom prst="rect">
            <a:avLst/>
          </a:prstGeom>
        </p:spPr>
      </p:pic>
      <p:sp>
        <p:nvSpPr>
          <p:cNvPr id="10" name="Text 6"/>
          <p:cNvSpPr/>
          <p:nvPr/>
        </p:nvSpPr>
        <p:spPr>
          <a:xfrm>
            <a:off x="1627632" y="1901952"/>
            <a:ext cx="3931920"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Double click the file</a:t>
            </a:r>
            <a:endParaRPr lang="en-US" sz="1700" dirty="0"/>
          </a:p>
        </p:txBody>
      </p:sp>
      <p:sp>
        <p:nvSpPr>
          <p:cNvPr id="11" name="Text 7"/>
          <p:cNvSpPr/>
          <p:nvPr/>
        </p:nvSpPr>
        <p:spPr>
          <a:xfrm>
            <a:off x="932688" y="2596896"/>
            <a:ext cx="4626864" cy="777240"/>
          </a:xfrm>
          <a:prstGeom prst="rect">
            <a:avLst/>
          </a:prstGeom>
          <a:noFill/>
          <a:ln/>
        </p:spPr>
        <p:txBody>
          <a:bodyPr wrap="square" lIns="0" tIns="0" rIns="0" bIns="0" rtlCol="0" anchor="t"/>
          <a:lstStyle/>
          <a:p>
            <a:pPr algn="l" indent="0" marL="0">
              <a:lnSpc>
                <a:spcPts val="1750"/>
              </a:lnSpc>
              <a:buNone/>
            </a:pPr>
            <a:r>
              <a:rPr lang="en-US" sz="1300" dirty="0">
                <a:solidFill>
                  <a:srgbClr val="5A6069"/>
                </a:solidFill>
                <a:latin typeface="Calibri" pitchFamily="34" charset="0"/>
                <a:ea typeface="Calibri" pitchFamily="34" charset="-122"/>
                <a:cs typeface="Calibri" pitchFamily="34" charset="-120"/>
              </a:rPr>
              <a:t>Find index.html in your file explorer, double click, and it opens in your browser. Works fine. You have to refresh manually every single time.</a:t>
            </a:r>
            <a:endParaRPr lang="en-US" sz="1300" dirty="0"/>
          </a:p>
        </p:txBody>
      </p:sp>
      <p:sp>
        <p:nvSpPr>
          <p:cNvPr id="12" name="Shape 8"/>
          <p:cNvSpPr/>
          <p:nvPr/>
        </p:nvSpPr>
        <p:spPr>
          <a:xfrm>
            <a:off x="6336792" y="1627632"/>
            <a:ext cx="5212080" cy="1920240"/>
          </a:xfrm>
          <a:prstGeom prst="roundRect">
            <a:avLst>
              <a:gd name="adj" fmla="val 4762"/>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13" name="Shape 9"/>
          <p:cNvSpPr/>
          <p:nvPr/>
        </p:nvSpPr>
        <p:spPr>
          <a:xfrm>
            <a:off x="6629400" y="1901952"/>
            <a:ext cx="548640" cy="548640"/>
          </a:xfrm>
          <a:prstGeom prst="roundRect">
            <a:avLst>
              <a:gd name="adj" fmla="val 16667"/>
            </a:avLst>
          </a:prstGeom>
          <a:solidFill>
            <a:srgbClr val="FFFFFF"/>
          </a:solidFill>
          <a:ln w="12700">
            <a:solidFill>
              <a:srgbClr val="D5D1C8"/>
            </a:solidFill>
            <a:prstDash val="solid"/>
          </a:ln>
        </p:spPr>
      </p:sp>
      <p:pic>
        <p:nvPicPr>
          <p:cNvPr id="14" name="Image 1" descr="preencoded.png">    </p:cNvPr>
          <p:cNvPicPr>
            <a:picLocks noChangeAspect="1"/>
          </p:cNvPicPr>
          <p:nvPr/>
        </p:nvPicPr>
        <p:blipFill>
          <a:blip r:embed="rId2"/>
          <a:stretch>
            <a:fillRect/>
          </a:stretch>
        </p:blipFill>
        <p:spPr>
          <a:xfrm>
            <a:off x="6772046" y="2044598"/>
            <a:ext cx="263347" cy="263347"/>
          </a:xfrm>
          <a:prstGeom prst="rect">
            <a:avLst/>
          </a:prstGeom>
        </p:spPr>
      </p:pic>
      <p:sp>
        <p:nvSpPr>
          <p:cNvPr id="15" name="Text 10"/>
          <p:cNvSpPr/>
          <p:nvPr/>
        </p:nvSpPr>
        <p:spPr>
          <a:xfrm>
            <a:off x="7324344" y="1901952"/>
            <a:ext cx="3931920"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Live Server (better)</a:t>
            </a:r>
            <a:endParaRPr lang="en-US" sz="1700" dirty="0"/>
          </a:p>
        </p:txBody>
      </p:sp>
      <p:sp>
        <p:nvSpPr>
          <p:cNvPr id="16" name="Text 11"/>
          <p:cNvSpPr/>
          <p:nvPr/>
        </p:nvSpPr>
        <p:spPr>
          <a:xfrm>
            <a:off x="6629400" y="2596896"/>
            <a:ext cx="4626864" cy="777240"/>
          </a:xfrm>
          <a:prstGeom prst="rect">
            <a:avLst/>
          </a:prstGeom>
          <a:noFill/>
          <a:ln/>
        </p:spPr>
        <p:txBody>
          <a:bodyPr wrap="square" lIns="0" tIns="0" rIns="0" bIns="0" rtlCol="0" anchor="t"/>
          <a:lstStyle/>
          <a:p>
            <a:pPr algn="l" indent="0" marL="0">
              <a:lnSpc>
                <a:spcPts val="1750"/>
              </a:lnSpc>
              <a:buNone/>
            </a:pPr>
            <a:r>
              <a:rPr lang="en-US" sz="1300" dirty="0">
                <a:solidFill>
                  <a:srgbClr val="5A6069"/>
                </a:solidFill>
                <a:latin typeface="Calibri" pitchFamily="34" charset="0"/>
                <a:ea typeface="Calibri" pitchFamily="34" charset="-122"/>
                <a:cs typeface="Calibri" pitchFamily="34" charset="-120"/>
              </a:rPr>
              <a:t>Install the Live Server extension, then right click the file and choose Open with Live Server. It reloads the page every time you save.</a:t>
            </a:r>
            <a:endParaRPr lang="en-US" sz="1300" dirty="0"/>
          </a:p>
        </p:txBody>
      </p:sp>
      <p:sp>
        <p:nvSpPr>
          <p:cNvPr id="17" name="Shape 12"/>
          <p:cNvSpPr/>
          <p:nvPr/>
        </p:nvSpPr>
        <p:spPr>
          <a:xfrm>
            <a:off x="640080" y="3767328"/>
            <a:ext cx="10881360" cy="1828800"/>
          </a:xfrm>
          <a:prstGeom prst="roundRect">
            <a:avLst>
              <a:gd name="adj" fmla="val 5000"/>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8" name="Text 13"/>
          <p:cNvSpPr/>
          <p:nvPr/>
        </p:nvSpPr>
        <p:spPr>
          <a:xfrm>
            <a:off x="1005840" y="3968496"/>
            <a:ext cx="10149840" cy="365760"/>
          </a:xfrm>
          <a:prstGeom prst="rect">
            <a:avLst/>
          </a:prstGeom>
          <a:noFill/>
          <a:ln/>
        </p:spPr>
        <p:txBody>
          <a:bodyPr wrap="square" lIns="0" tIns="0" rIns="0" bIns="0" rtlCol="0" anchor="ctr"/>
          <a:lstStyle/>
          <a:p>
            <a:pPr indent="0" marL="0">
              <a:buNone/>
            </a:pPr>
            <a:r>
              <a:rPr lang="en-US" sz="1900" b="1" dirty="0">
                <a:solidFill>
                  <a:srgbClr val="1B1F24"/>
                </a:solidFill>
                <a:latin typeface="Calibri" pitchFamily="34" charset="0"/>
                <a:ea typeface="Calibri" pitchFamily="34" charset="-122"/>
                <a:cs typeface="Calibri" pitchFamily="34" charset="-120"/>
              </a:rPr>
              <a:t>One more thing: HTML does not care about capital letters</a:t>
            </a:r>
            <a:endParaRPr lang="en-US" sz="1900" dirty="0"/>
          </a:p>
        </p:txBody>
      </p:sp>
      <p:sp>
        <p:nvSpPr>
          <p:cNvPr id="19" name="Text 14"/>
          <p:cNvSpPr/>
          <p:nvPr/>
        </p:nvSpPr>
        <p:spPr>
          <a:xfrm>
            <a:off x="1005840" y="4389120"/>
            <a:ext cx="6400800" cy="822960"/>
          </a:xfrm>
          <a:prstGeom prst="rect">
            <a:avLst/>
          </a:prstGeom>
          <a:noFill/>
          <a:ln/>
        </p:spPr>
        <p:txBody>
          <a:bodyPr wrap="square" lIns="0" tIns="0" rIns="0" bIns="0" rtlCol="0" anchor="t"/>
          <a:lstStyle/>
          <a:p>
            <a:pPr algn="l" indent="0" marL="0">
              <a:lnSpc>
                <a:spcPts val="1800"/>
              </a:lnSpc>
              <a:buNone/>
            </a:pPr>
            <a:r>
              <a:rPr lang="en-US" sz="1350" dirty="0">
                <a:solidFill>
                  <a:srgbClr val="5A6069"/>
                </a:solidFill>
                <a:latin typeface="Calibri" pitchFamily="34" charset="0"/>
                <a:ea typeface="Calibri" pitchFamily="34" charset="-122"/>
                <a:cs typeface="Calibri" pitchFamily="34" charset="-120"/>
              </a:rPr>
              <a:t>HTML is case insensitive for tag names. Whether you write it in lower case, upper case, or a mix of both, the browser reads it the same way. That is part of the spec, and it exists to make the language forgiving.</a:t>
            </a:r>
            <a:endParaRPr lang="en-US" sz="1350" dirty="0"/>
          </a:p>
        </p:txBody>
      </p:sp>
      <p:sp>
        <p:nvSpPr>
          <p:cNvPr id="20" name="Shape 15"/>
          <p:cNvSpPr/>
          <p:nvPr/>
        </p:nvSpPr>
        <p:spPr>
          <a:xfrm>
            <a:off x="7132320" y="4334256"/>
            <a:ext cx="4114800" cy="1051560"/>
          </a:xfrm>
          <a:prstGeom prst="roundRect">
            <a:avLst>
              <a:gd name="adj" fmla="val 8696"/>
            </a:avLst>
          </a:prstGeom>
          <a:solidFill>
            <a:srgbClr val="15181D"/>
          </a:solidFill>
          <a:ln w="12700">
            <a:solidFill>
              <a:srgbClr val="2A2F37"/>
            </a:solidFill>
            <a:prstDash val="solid"/>
          </a:ln>
        </p:spPr>
      </p:sp>
      <p:sp>
        <p:nvSpPr>
          <p:cNvPr id="21" name="Text 16"/>
          <p:cNvSpPr/>
          <p:nvPr/>
        </p:nvSpPr>
        <p:spPr>
          <a:xfrm>
            <a:off x="7406640" y="4590288"/>
            <a:ext cx="3566160" cy="539496"/>
          </a:xfrm>
          <a:prstGeom prst="rect">
            <a:avLst/>
          </a:prstGeom>
          <a:noFill/>
          <a:ln/>
        </p:spPr>
        <p:txBody>
          <a:bodyPr wrap="square" lIns="0" tIns="0" rIns="0" bIns="0" rtlCol="0" anchor="t"/>
          <a:lstStyle/>
          <a:p>
            <a:pPr indent="0" marL="0">
              <a:lnSpc>
                <a:spcPts val="19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00"/>
              </a:lnSpc>
              <a:buNone/>
            </a:pPr>
            <a:r>
              <a:rPr lang="en-US" sz="1150" dirty="0">
                <a:solidFill>
                  <a:srgbClr val="F79A80"/>
                </a:solidFill>
                <a:latin typeface="Courier New" pitchFamily="34" charset="0"/>
                <a:ea typeface="Courier New" pitchFamily="34" charset="-122"/>
                <a:cs typeface="Courier New" pitchFamily="34" charset="-120"/>
              </a:rPr>
              <a:t>head</a:t>
            </a:r>
            <a:pPr indent="0" marL="0">
              <a:lnSpc>
                <a:spcPts val="19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00"/>
              </a:lnSpc>
              <a:buNone/>
            </a:pPr>
            <a:r>
              <a:rPr lang="en-US" sz="1150" dirty="0">
                <a:solidFill>
                  <a:srgbClr val="E8E6E1"/>
                </a:solidFill>
                <a:latin typeface="Courier New" pitchFamily="34" charset="0"/>
                <a:ea typeface="Courier New" pitchFamily="34" charset="-122"/>
                <a:cs typeface="Courier New" pitchFamily="34" charset="-120"/>
              </a:rPr>
              <a:t>   </a:t>
            </a:r>
            <a:pPr indent="0" marL="0">
              <a:lnSpc>
                <a:spcPts val="1900"/>
              </a:lnSpc>
              <a:buNone/>
            </a:pPr>
            <a:r>
              <a:rPr lang="en-US" sz="1150" dirty="0">
                <a:solidFill>
                  <a:srgbClr val="7E9C74"/>
                </a:solidFill>
                <a:latin typeface="Courier New" pitchFamily="34" charset="0"/>
                <a:ea typeface="Courier New" pitchFamily="34" charset="-122"/>
                <a:cs typeface="Courier New" pitchFamily="34" charset="-120"/>
              </a:rPr>
              <a:t>same</a:t>
            </a:r>
            <a:pPr indent="0" marL="0">
              <a:lnSpc>
                <a:spcPts val="1900"/>
              </a:lnSpc>
              <a:buNone/>
            </a:pPr>
            <a:endParaRPr lang="en-US" sz="1150" dirty="0"/>
          </a:p>
          <a:p>
            <a:pPr indent="0" marL="0">
              <a:lnSpc>
                <a:spcPts val="19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00"/>
              </a:lnSpc>
              <a:buNone/>
            </a:pPr>
            <a:r>
              <a:rPr lang="en-US" sz="1150" dirty="0">
                <a:solidFill>
                  <a:srgbClr val="F79A80"/>
                </a:solidFill>
                <a:latin typeface="Courier New" pitchFamily="34" charset="0"/>
                <a:ea typeface="Courier New" pitchFamily="34" charset="-122"/>
                <a:cs typeface="Courier New" pitchFamily="34" charset="-120"/>
              </a:rPr>
              <a:t>HEAD</a:t>
            </a:r>
            <a:pPr indent="0" marL="0">
              <a:lnSpc>
                <a:spcPts val="19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00"/>
              </a:lnSpc>
              <a:buNone/>
            </a:pPr>
            <a:r>
              <a:rPr lang="en-US" sz="1150" dirty="0">
                <a:solidFill>
                  <a:srgbClr val="E8E6E1"/>
                </a:solidFill>
                <a:latin typeface="Courier New" pitchFamily="34" charset="0"/>
                <a:ea typeface="Courier New" pitchFamily="34" charset="-122"/>
                <a:cs typeface="Courier New" pitchFamily="34" charset="-120"/>
              </a:rPr>
              <a:t>   </a:t>
            </a:r>
            <a:pPr indent="0" marL="0">
              <a:lnSpc>
                <a:spcPts val="1900"/>
              </a:lnSpc>
              <a:buNone/>
            </a:pPr>
            <a:r>
              <a:rPr lang="en-US" sz="1150" dirty="0">
                <a:solidFill>
                  <a:srgbClr val="7E9C74"/>
                </a:solidFill>
                <a:latin typeface="Courier New" pitchFamily="34" charset="0"/>
                <a:ea typeface="Courier New" pitchFamily="34" charset="-122"/>
                <a:cs typeface="Courier New" pitchFamily="34" charset="-120"/>
              </a:rPr>
              <a:t>same</a:t>
            </a:r>
            <a:pPr indent="0" marL="0">
              <a:lnSpc>
                <a:spcPts val="1900"/>
              </a:lnSpc>
              <a:buNone/>
            </a:pPr>
            <a:endParaRPr lang="en-US" sz="1150" dirty="0"/>
          </a:p>
          <a:p>
            <a:pPr indent="0" marL="0">
              <a:lnSpc>
                <a:spcPts val="19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00"/>
              </a:lnSpc>
              <a:buNone/>
            </a:pPr>
            <a:r>
              <a:rPr lang="en-US" sz="1150" dirty="0">
                <a:solidFill>
                  <a:srgbClr val="F79A80"/>
                </a:solidFill>
                <a:latin typeface="Courier New" pitchFamily="34" charset="0"/>
                <a:ea typeface="Courier New" pitchFamily="34" charset="-122"/>
                <a:cs typeface="Courier New" pitchFamily="34" charset="-120"/>
              </a:rPr>
              <a:t>HeAd</a:t>
            </a:r>
            <a:pPr indent="0" marL="0">
              <a:lnSpc>
                <a:spcPts val="19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00"/>
              </a:lnSpc>
              <a:buNone/>
            </a:pPr>
            <a:r>
              <a:rPr lang="en-US" sz="1150" dirty="0">
                <a:solidFill>
                  <a:srgbClr val="E8E6E1"/>
                </a:solidFill>
                <a:latin typeface="Courier New" pitchFamily="34" charset="0"/>
                <a:ea typeface="Courier New" pitchFamily="34" charset="-122"/>
                <a:cs typeface="Courier New" pitchFamily="34" charset="-120"/>
              </a:rPr>
              <a:t>   </a:t>
            </a:r>
            <a:pPr indent="0" marL="0">
              <a:lnSpc>
                <a:spcPts val="1900"/>
              </a:lnSpc>
              <a:buNone/>
            </a:pPr>
            <a:r>
              <a:rPr lang="en-US" sz="1150" dirty="0">
                <a:solidFill>
                  <a:srgbClr val="7E9C74"/>
                </a:solidFill>
                <a:latin typeface="Courier New" pitchFamily="34" charset="0"/>
                <a:ea typeface="Courier New" pitchFamily="34" charset="-122"/>
                <a:cs typeface="Courier New" pitchFamily="34" charset="-120"/>
              </a:rPr>
              <a:t>same, but why</a:t>
            </a:r>
            <a:endParaRPr lang="en-US" sz="1150" dirty="0"/>
          </a:p>
        </p:txBody>
      </p:sp>
      <p:sp>
        <p:nvSpPr>
          <p:cNvPr id="22" name="Shape 17"/>
          <p:cNvSpPr/>
          <p:nvPr/>
        </p:nvSpPr>
        <p:spPr>
          <a:xfrm>
            <a:off x="640080" y="5760720"/>
            <a:ext cx="10881360" cy="548640"/>
          </a:xfrm>
          <a:prstGeom prst="roundRect">
            <a:avLst>
              <a:gd name="adj" fmla="val 13333"/>
            </a:avLst>
          </a:prstGeom>
          <a:solidFill>
            <a:srgbClr val="EFEEE9"/>
          </a:solidFill>
          <a:ln w="12700">
            <a:solidFill>
              <a:srgbClr val="D5D1C8"/>
            </a:solidFill>
            <a:prstDash val="solid"/>
          </a:ln>
        </p:spPr>
      </p:sp>
      <p:sp>
        <p:nvSpPr>
          <p:cNvPr id="23" name="Text 18"/>
          <p:cNvSpPr/>
          <p:nvPr/>
        </p:nvSpPr>
        <p:spPr>
          <a:xfrm>
            <a:off x="841248" y="5760720"/>
            <a:ext cx="10479024" cy="548640"/>
          </a:xfrm>
          <a:prstGeom prst="rect">
            <a:avLst/>
          </a:prstGeom>
          <a:noFill/>
          <a:ln/>
        </p:spPr>
        <p:txBody>
          <a:bodyPr wrap="square" lIns="0" tIns="0" rIns="0" bIns="0" rtlCol="0" anchor="ctr"/>
          <a:lstStyle/>
          <a:p>
            <a:pPr indent="0" marL="0">
              <a:lnSpc>
                <a:spcPts val="1600"/>
              </a:lnSpc>
              <a:buNone/>
            </a:pPr>
            <a:r>
              <a:rPr lang="en-US" sz="1150" dirty="0">
                <a:solidFill>
                  <a:srgbClr val="6E8A64"/>
                </a:solidFill>
                <a:latin typeface="Courier New" pitchFamily="34" charset="0"/>
                <a:ea typeface="Courier New" pitchFamily="34" charset="-122"/>
                <a:cs typeface="Courier New" pitchFamily="34" charset="-120"/>
              </a:rPr>
              <a:t>&lt;!-- write lower case anyway. &lt;HeAd&gt; is legal, and so is putting pineapple on a pizza --&gt;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13</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&lt;tags&gt;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Text: headings and paragraphs</a:t>
            </a:r>
            <a:endParaRPr lang="en-US" sz="3400" dirty="0"/>
          </a:p>
        </p:txBody>
      </p:sp>
      <p:sp>
        <p:nvSpPr>
          <p:cNvPr id="7" name="Text 4"/>
          <p:cNvSpPr/>
          <p:nvPr/>
        </p:nvSpPr>
        <p:spPr>
          <a:xfrm>
            <a:off x="640080" y="1499616"/>
            <a:ext cx="10881360" cy="365760"/>
          </a:xfrm>
          <a:prstGeom prst="rect">
            <a:avLst/>
          </a:prstGeom>
          <a:noFill/>
          <a:ln/>
        </p:spPr>
        <p:txBody>
          <a:bodyPr wrap="square" lIns="0" tIns="0" rIns="0" bIns="0" rtlCol="0" anchor="t"/>
          <a:lstStyle/>
          <a:p>
            <a:pPr algn="l" indent="0" marL="0">
              <a:lnSpc>
                <a:spcPts val="1932"/>
              </a:lnSpc>
              <a:buNone/>
            </a:pPr>
            <a:r>
              <a:rPr lang="en-US" sz="1400" dirty="0">
                <a:solidFill>
                  <a:srgbClr val="5A6069"/>
                </a:solidFill>
                <a:latin typeface="Calibri" pitchFamily="34" charset="0"/>
                <a:ea typeface="Calibri" pitchFamily="34" charset="-122"/>
                <a:cs typeface="Calibri" pitchFamily="34" charset="-120"/>
              </a:rPr>
              <a:t>Headings and paragraphs give meaning to text, and that meaning is read by people, by search engines and by screen readers.</a:t>
            </a:r>
            <a:endParaRPr lang="en-US" sz="1400" dirty="0"/>
          </a:p>
        </p:txBody>
      </p:sp>
      <p:sp>
        <p:nvSpPr>
          <p:cNvPr id="8" name="Shape 5"/>
          <p:cNvSpPr/>
          <p:nvPr/>
        </p:nvSpPr>
        <p:spPr>
          <a:xfrm>
            <a:off x="640080" y="1920240"/>
            <a:ext cx="5760720" cy="3108960"/>
          </a:xfrm>
          <a:prstGeom prst="roundRect">
            <a:avLst>
              <a:gd name="adj" fmla="val 2941"/>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9" name="Text 6"/>
          <p:cNvSpPr/>
          <p:nvPr/>
        </p:nvSpPr>
        <p:spPr>
          <a:xfrm>
            <a:off x="914400" y="2103120"/>
            <a:ext cx="640080" cy="402336"/>
          </a:xfrm>
          <a:prstGeom prst="rect">
            <a:avLst/>
          </a:prstGeom>
          <a:noFill/>
          <a:ln/>
        </p:spPr>
        <p:txBody>
          <a:bodyPr wrap="square" lIns="0" tIns="0" rIns="0" bIns="0" rtlCol="0" anchor="ctr"/>
          <a:lstStyle/>
          <a:p>
            <a:pPr indent="0" marL="0">
              <a:buNone/>
            </a:pPr>
            <a:r>
              <a:rPr lang="en-US" sz="1100" dirty="0">
                <a:solidFill>
                  <a:srgbClr val="E34F26"/>
                </a:solidFill>
                <a:latin typeface="Courier New" pitchFamily="34" charset="0"/>
                <a:ea typeface="Courier New" pitchFamily="34" charset="-122"/>
                <a:cs typeface="Courier New" pitchFamily="34" charset="-120"/>
              </a:rPr>
              <a:t>h1</a:t>
            </a:r>
            <a:endParaRPr lang="en-US" sz="1100" dirty="0"/>
          </a:p>
        </p:txBody>
      </p:sp>
      <p:sp>
        <p:nvSpPr>
          <p:cNvPr id="10" name="Text 7"/>
          <p:cNvSpPr/>
          <p:nvPr/>
        </p:nvSpPr>
        <p:spPr>
          <a:xfrm>
            <a:off x="1645920" y="2103120"/>
            <a:ext cx="4572000" cy="402336"/>
          </a:xfrm>
          <a:prstGeom prst="rect">
            <a:avLst/>
          </a:prstGeom>
          <a:noFill/>
          <a:ln/>
        </p:spPr>
        <p:txBody>
          <a:bodyPr wrap="square" lIns="0" tIns="0" rIns="0" bIns="0" rtlCol="0" anchor="ctr"/>
          <a:lstStyle/>
          <a:p>
            <a:pPr indent="0" marL="0">
              <a:buNone/>
            </a:pPr>
            <a:r>
              <a:rPr lang="en-US" sz="2500" b="1" dirty="0">
                <a:solidFill>
                  <a:srgbClr val="1B1F24"/>
                </a:solidFill>
                <a:latin typeface="Calibri" pitchFamily="34" charset="0"/>
                <a:ea typeface="Calibri" pitchFamily="34" charset="-122"/>
                <a:cs typeface="Calibri" pitchFamily="34" charset="-120"/>
              </a:rPr>
              <a:t>Heading 1</a:t>
            </a:r>
            <a:endParaRPr lang="en-US" sz="2500" dirty="0"/>
          </a:p>
        </p:txBody>
      </p:sp>
      <p:sp>
        <p:nvSpPr>
          <p:cNvPr id="11" name="Text 8"/>
          <p:cNvSpPr/>
          <p:nvPr/>
        </p:nvSpPr>
        <p:spPr>
          <a:xfrm>
            <a:off x="914400" y="2578608"/>
            <a:ext cx="640080" cy="402336"/>
          </a:xfrm>
          <a:prstGeom prst="rect">
            <a:avLst/>
          </a:prstGeom>
          <a:noFill/>
          <a:ln/>
        </p:spPr>
        <p:txBody>
          <a:bodyPr wrap="square" lIns="0" tIns="0" rIns="0" bIns="0" rtlCol="0" anchor="ctr"/>
          <a:lstStyle/>
          <a:p>
            <a:pPr indent="0" marL="0">
              <a:buNone/>
            </a:pPr>
            <a:r>
              <a:rPr lang="en-US" sz="1100" dirty="0">
                <a:solidFill>
                  <a:srgbClr val="E34F26"/>
                </a:solidFill>
                <a:latin typeface="Courier New" pitchFamily="34" charset="0"/>
                <a:ea typeface="Courier New" pitchFamily="34" charset="-122"/>
                <a:cs typeface="Courier New" pitchFamily="34" charset="-120"/>
              </a:rPr>
              <a:t>h2</a:t>
            </a:r>
            <a:endParaRPr lang="en-US" sz="1100" dirty="0"/>
          </a:p>
        </p:txBody>
      </p:sp>
      <p:sp>
        <p:nvSpPr>
          <p:cNvPr id="12" name="Text 9"/>
          <p:cNvSpPr/>
          <p:nvPr/>
        </p:nvSpPr>
        <p:spPr>
          <a:xfrm>
            <a:off x="1645920" y="2578608"/>
            <a:ext cx="4572000" cy="402336"/>
          </a:xfrm>
          <a:prstGeom prst="rect">
            <a:avLst/>
          </a:prstGeom>
          <a:noFill/>
          <a:ln/>
        </p:spPr>
        <p:txBody>
          <a:bodyPr wrap="square" lIns="0" tIns="0" rIns="0" bIns="0" rtlCol="0" anchor="ctr"/>
          <a:lstStyle/>
          <a:p>
            <a:pPr indent="0" marL="0">
              <a:buNone/>
            </a:pPr>
            <a:r>
              <a:rPr lang="en-US" sz="2100" b="1" dirty="0">
                <a:solidFill>
                  <a:srgbClr val="1B1F24"/>
                </a:solidFill>
                <a:latin typeface="Calibri" pitchFamily="34" charset="0"/>
                <a:ea typeface="Calibri" pitchFamily="34" charset="-122"/>
                <a:cs typeface="Calibri" pitchFamily="34" charset="-120"/>
              </a:rPr>
              <a:t>Heading 2</a:t>
            </a:r>
            <a:endParaRPr lang="en-US" sz="2100" dirty="0"/>
          </a:p>
        </p:txBody>
      </p:sp>
      <p:sp>
        <p:nvSpPr>
          <p:cNvPr id="13" name="Text 10"/>
          <p:cNvSpPr/>
          <p:nvPr/>
        </p:nvSpPr>
        <p:spPr>
          <a:xfrm>
            <a:off x="914400" y="3054096"/>
            <a:ext cx="640080" cy="402336"/>
          </a:xfrm>
          <a:prstGeom prst="rect">
            <a:avLst/>
          </a:prstGeom>
          <a:noFill/>
          <a:ln/>
        </p:spPr>
        <p:txBody>
          <a:bodyPr wrap="square" lIns="0" tIns="0" rIns="0" bIns="0" rtlCol="0" anchor="ctr"/>
          <a:lstStyle/>
          <a:p>
            <a:pPr indent="0" marL="0">
              <a:buNone/>
            </a:pPr>
            <a:r>
              <a:rPr lang="en-US" sz="1100" dirty="0">
                <a:solidFill>
                  <a:srgbClr val="E34F26"/>
                </a:solidFill>
                <a:latin typeface="Courier New" pitchFamily="34" charset="0"/>
                <a:ea typeface="Courier New" pitchFamily="34" charset="-122"/>
                <a:cs typeface="Courier New" pitchFamily="34" charset="-120"/>
              </a:rPr>
              <a:t>h3</a:t>
            </a:r>
            <a:endParaRPr lang="en-US" sz="1100" dirty="0"/>
          </a:p>
        </p:txBody>
      </p:sp>
      <p:sp>
        <p:nvSpPr>
          <p:cNvPr id="14" name="Text 11"/>
          <p:cNvSpPr/>
          <p:nvPr/>
        </p:nvSpPr>
        <p:spPr>
          <a:xfrm>
            <a:off x="1645920" y="3054096"/>
            <a:ext cx="4572000" cy="402336"/>
          </a:xfrm>
          <a:prstGeom prst="rect">
            <a:avLst/>
          </a:prstGeom>
          <a:noFill/>
          <a:ln/>
        </p:spPr>
        <p:txBody>
          <a:bodyPr wrap="square" lIns="0" tIns="0" rIns="0" bIns="0" rtlCol="0" anchor="ctr"/>
          <a:lstStyle/>
          <a:p>
            <a:pPr indent="0" marL="0">
              <a:buNone/>
            </a:pPr>
            <a:r>
              <a:rPr lang="en-US" sz="1850" b="1" dirty="0">
                <a:solidFill>
                  <a:srgbClr val="1B1F24"/>
                </a:solidFill>
                <a:latin typeface="Calibri" pitchFamily="34" charset="0"/>
                <a:ea typeface="Calibri" pitchFamily="34" charset="-122"/>
                <a:cs typeface="Calibri" pitchFamily="34" charset="-120"/>
              </a:rPr>
              <a:t>Heading 3</a:t>
            </a:r>
            <a:endParaRPr lang="en-US" sz="1850" dirty="0"/>
          </a:p>
        </p:txBody>
      </p:sp>
      <p:sp>
        <p:nvSpPr>
          <p:cNvPr id="15" name="Text 12"/>
          <p:cNvSpPr/>
          <p:nvPr/>
        </p:nvSpPr>
        <p:spPr>
          <a:xfrm>
            <a:off x="914400" y="3529584"/>
            <a:ext cx="640080" cy="402336"/>
          </a:xfrm>
          <a:prstGeom prst="rect">
            <a:avLst/>
          </a:prstGeom>
          <a:noFill/>
          <a:ln/>
        </p:spPr>
        <p:txBody>
          <a:bodyPr wrap="square" lIns="0" tIns="0" rIns="0" bIns="0" rtlCol="0" anchor="ctr"/>
          <a:lstStyle/>
          <a:p>
            <a:pPr indent="0" marL="0">
              <a:buNone/>
            </a:pPr>
            <a:r>
              <a:rPr lang="en-US" sz="1100" dirty="0">
                <a:solidFill>
                  <a:srgbClr val="E34F26"/>
                </a:solidFill>
                <a:latin typeface="Courier New" pitchFamily="34" charset="0"/>
                <a:ea typeface="Courier New" pitchFamily="34" charset="-122"/>
                <a:cs typeface="Courier New" pitchFamily="34" charset="-120"/>
              </a:rPr>
              <a:t>h4</a:t>
            </a:r>
            <a:endParaRPr lang="en-US" sz="1100" dirty="0"/>
          </a:p>
        </p:txBody>
      </p:sp>
      <p:sp>
        <p:nvSpPr>
          <p:cNvPr id="16" name="Text 13"/>
          <p:cNvSpPr/>
          <p:nvPr/>
        </p:nvSpPr>
        <p:spPr>
          <a:xfrm>
            <a:off x="1645920" y="3529584"/>
            <a:ext cx="4572000" cy="402336"/>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Heading 4</a:t>
            </a:r>
            <a:endParaRPr lang="en-US" sz="1600" dirty="0"/>
          </a:p>
        </p:txBody>
      </p:sp>
      <p:sp>
        <p:nvSpPr>
          <p:cNvPr id="17" name="Text 14"/>
          <p:cNvSpPr/>
          <p:nvPr/>
        </p:nvSpPr>
        <p:spPr>
          <a:xfrm>
            <a:off x="914400" y="4005072"/>
            <a:ext cx="640080" cy="402336"/>
          </a:xfrm>
          <a:prstGeom prst="rect">
            <a:avLst/>
          </a:prstGeom>
          <a:noFill/>
          <a:ln/>
        </p:spPr>
        <p:txBody>
          <a:bodyPr wrap="square" lIns="0" tIns="0" rIns="0" bIns="0" rtlCol="0" anchor="ctr"/>
          <a:lstStyle/>
          <a:p>
            <a:pPr indent="0" marL="0">
              <a:buNone/>
            </a:pPr>
            <a:r>
              <a:rPr lang="en-US" sz="1100" dirty="0">
                <a:solidFill>
                  <a:srgbClr val="E34F26"/>
                </a:solidFill>
                <a:latin typeface="Courier New" pitchFamily="34" charset="0"/>
                <a:ea typeface="Courier New" pitchFamily="34" charset="-122"/>
                <a:cs typeface="Courier New" pitchFamily="34" charset="-120"/>
              </a:rPr>
              <a:t>h5</a:t>
            </a:r>
            <a:endParaRPr lang="en-US" sz="1100" dirty="0"/>
          </a:p>
        </p:txBody>
      </p:sp>
      <p:sp>
        <p:nvSpPr>
          <p:cNvPr id="18" name="Text 15"/>
          <p:cNvSpPr/>
          <p:nvPr/>
        </p:nvSpPr>
        <p:spPr>
          <a:xfrm>
            <a:off x="1645920" y="4005072"/>
            <a:ext cx="4572000" cy="402336"/>
          </a:xfrm>
          <a:prstGeom prst="rect">
            <a:avLst/>
          </a:prstGeom>
          <a:noFill/>
          <a:ln/>
        </p:spPr>
        <p:txBody>
          <a:bodyPr wrap="square" lIns="0" tIns="0" rIns="0" bIns="0" rtlCol="0" anchor="ctr"/>
          <a:lstStyle/>
          <a:p>
            <a:pPr indent="0" marL="0">
              <a:buNone/>
            </a:pPr>
            <a:r>
              <a:rPr lang="en-US" sz="1400" b="1" dirty="0">
                <a:solidFill>
                  <a:srgbClr val="1B1F24"/>
                </a:solidFill>
                <a:latin typeface="Calibri" pitchFamily="34" charset="0"/>
                <a:ea typeface="Calibri" pitchFamily="34" charset="-122"/>
                <a:cs typeface="Calibri" pitchFamily="34" charset="-120"/>
              </a:rPr>
              <a:t>Heading 5</a:t>
            </a:r>
            <a:endParaRPr lang="en-US" sz="1400" dirty="0"/>
          </a:p>
        </p:txBody>
      </p:sp>
      <p:sp>
        <p:nvSpPr>
          <p:cNvPr id="19" name="Text 16"/>
          <p:cNvSpPr/>
          <p:nvPr/>
        </p:nvSpPr>
        <p:spPr>
          <a:xfrm>
            <a:off x="914400" y="4480560"/>
            <a:ext cx="640080" cy="402336"/>
          </a:xfrm>
          <a:prstGeom prst="rect">
            <a:avLst/>
          </a:prstGeom>
          <a:noFill/>
          <a:ln/>
        </p:spPr>
        <p:txBody>
          <a:bodyPr wrap="square" lIns="0" tIns="0" rIns="0" bIns="0" rtlCol="0" anchor="ctr"/>
          <a:lstStyle/>
          <a:p>
            <a:pPr indent="0" marL="0">
              <a:buNone/>
            </a:pPr>
            <a:r>
              <a:rPr lang="en-US" sz="1100" dirty="0">
                <a:solidFill>
                  <a:srgbClr val="E34F26"/>
                </a:solidFill>
                <a:latin typeface="Courier New" pitchFamily="34" charset="0"/>
                <a:ea typeface="Courier New" pitchFamily="34" charset="-122"/>
                <a:cs typeface="Courier New" pitchFamily="34" charset="-120"/>
              </a:rPr>
              <a:t>h6</a:t>
            </a:r>
            <a:endParaRPr lang="en-US" sz="1100" dirty="0"/>
          </a:p>
        </p:txBody>
      </p:sp>
      <p:sp>
        <p:nvSpPr>
          <p:cNvPr id="20" name="Text 17"/>
          <p:cNvSpPr/>
          <p:nvPr/>
        </p:nvSpPr>
        <p:spPr>
          <a:xfrm>
            <a:off x="1645920" y="4480560"/>
            <a:ext cx="4572000" cy="40233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Heading 6</a:t>
            </a:r>
            <a:endParaRPr lang="en-US" sz="1250" dirty="0"/>
          </a:p>
        </p:txBody>
      </p:sp>
      <p:sp>
        <p:nvSpPr>
          <p:cNvPr id="21" name="Shape 18"/>
          <p:cNvSpPr/>
          <p:nvPr/>
        </p:nvSpPr>
        <p:spPr>
          <a:xfrm>
            <a:off x="6858000" y="1920240"/>
            <a:ext cx="4690872" cy="1371600"/>
          </a:xfrm>
          <a:prstGeom prst="roundRect">
            <a:avLst>
              <a:gd name="adj" fmla="val 6667"/>
            </a:avLst>
          </a:prstGeom>
          <a:solidFill>
            <a:srgbClr val="15181D"/>
          </a:solidFill>
          <a:ln w="12700">
            <a:solidFill>
              <a:srgbClr val="2A2F37"/>
            </a:solidFill>
            <a:prstDash val="solid"/>
          </a:ln>
        </p:spPr>
      </p:sp>
      <p:sp>
        <p:nvSpPr>
          <p:cNvPr id="22" name="Shape 19"/>
          <p:cNvSpPr/>
          <p:nvPr/>
        </p:nvSpPr>
        <p:spPr>
          <a:xfrm>
            <a:off x="7095744" y="2139696"/>
            <a:ext cx="109728" cy="109728"/>
          </a:xfrm>
          <a:prstGeom prst="ellipse">
            <a:avLst/>
          </a:prstGeom>
          <a:solidFill>
            <a:srgbClr val="FF5F57"/>
          </a:solidFill>
          <a:ln w="6350">
            <a:solidFill>
              <a:srgbClr val="FF5F57"/>
            </a:solidFill>
            <a:prstDash val="solid"/>
          </a:ln>
        </p:spPr>
      </p:sp>
      <p:sp>
        <p:nvSpPr>
          <p:cNvPr id="23" name="Shape 20"/>
          <p:cNvSpPr/>
          <p:nvPr/>
        </p:nvSpPr>
        <p:spPr>
          <a:xfrm>
            <a:off x="7296912" y="2139696"/>
            <a:ext cx="109728" cy="109728"/>
          </a:xfrm>
          <a:prstGeom prst="ellipse">
            <a:avLst/>
          </a:prstGeom>
          <a:solidFill>
            <a:srgbClr val="FEBC2E"/>
          </a:solidFill>
          <a:ln w="6350">
            <a:solidFill>
              <a:srgbClr val="FEBC2E"/>
            </a:solidFill>
            <a:prstDash val="solid"/>
          </a:ln>
        </p:spPr>
      </p:sp>
      <p:sp>
        <p:nvSpPr>
          <p:cNvPr id="24" name="Shape 21"/>
          <p:cNvSpPr/>
          <p:nvPr/>
        </p:nvSpPr>
        <p:spPr>
          <a:xfrm>
            <a:off x="7498080" y="2139696"/>
            <a:ext cx="109728" cy="109728"/>
          </a:xfrm>
          <a:prstGeom prst="ellipse">
            <a:avLst/>
          </a:prstGeom>
          <a:solidFill>
            <a:srgbClr val="28C840"/>
          </a:solidFill>
          <a:ln w="6350">
            <a:solidFill>
              <a:srgbClr val="28C840"/>
            </a:solidFill>
            <a:prstDash val="solid"/>
          </a:ln>
        </p:spPr>
      </p:sp>
      <p:sp>
        <p:nvSpPr>
          <p:cNvPr id="25" name="Text 22"/>
          <p:cNvSpPr/>
          <p:nvPr/>
        </p:nvSpPr>
        <p:spPr>
          <a:xfrm>
            <a:off x="7827264" y="2048256"/>
            <a:ext cx="3410712" cy="292608"/>
          </a:xfrm>
          <a:prstGeom prst="rect">
            <a:avLst/>
          </a:prstGeom>
          <a:noFill/>
          <a:ln/>
        </p:spPr>
        <p:txBody>
          <a:bodyPr wrap="square" lIns="0" tIns="0" rIns="0" bIns="0" rtlCol="0" anchor="ctr"/>
          <a:lstStyle/>
          <a:p>
            <a:pPr indent="0" marL="0">
              <a:buNone/>
            </a:pPr>
            <a:r>
              <a:rPr lang="en-US" sz="1050" dirty="0">
                <a:solidFill>
                  <a:srgbClr val="7C838C"/>
                </a:solidFill>
                <a:latin typeface="Courier New" pitchFamily="34" charset="0"/>
                <a:ea typeface="Courier New" pitchFamily="34" charset="-122"/>
                <a:cs typeface="Courier New" pitchFamily="34" charset="-120"/>
              </a:rPr>
              <a:t>index.html</a:t>
            </a:r>
            <a:endParaRPr lang="en-US" sz="1050" dirty="0"/>
          </a:p>
        </p:txBody>
      </p:sp>
      <p:sp>
        <p:nvSpPr>
          <p:cNvPr id="26" name="Text 23"/>
          <p:cNvSpPr/>
          <p:nvPr/>
        </p:nvSpPr>
        <p:spPr>
          <a:xfrm>
            <a:off x="7132320" y="2487168"/>
            <a:ext cx="4142232" cy="548640"/>
          </a:xfrm>
          <a:prstGeom prst="rect">
            <a:avLst/>
          </a:prstGeom>
          <a:noFill/>
          <a:ln/>
        </p:spPr>
        <p:txBody>
          <a:bodyPr wrap="square" lIns="0" tIns="0" rIns="0" bIns="0" rtlCol="0" anchor="t"/>
          <a:lstStyle/>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p</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r>
              <a:rPr lang="en-US" sz="1150" dirty="0">
                <a:solidFill>
                  <a:srgbClr val="E8E6E1"/>
                </a:solidFill>
                <a:latin typeface="Courier New" pitchFamily="34" charset="0"/>
                <a:ea typeface="Courier New" pitchFamily="34" charset="-122"/>
                <a:cs typeface="Courier New" pitchFamily="34" charset="-120"/>
              </a:rPr>
              <a:t>Lorem ipsum dolor sit</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p</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endParaRPr lang="en-US" sz="1150" dirty="0"/>
          </a:p>
        </p:txBody>
      </p:sp>
      <p:sp>
        <p:nvSpPr>
          <p:cNvPr id="27" name="Shape 24"/>
          <p:cNvSpPr/>
          <p:nvPr/>
        </p:nvSpPr>
        <p:spPr>
          <a:xfrm>
            <a:off x="6858000" y="3429000"/>
            <a:ext cx="4690872" cy="1600200"/>
          </a:xfrm>
          <a:prstGeom prst="roundRect">
            <a:avLst>
              <a:gd name="adj" fmla="val 5714"/>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28" name="Text 25"/>
          <p:cNvSpPr/>
          <p:nvPr/>
        </p:nvSpPr>
        <p:spPr>
          <a:xfrm>
            <a:off x="7132320" y="3566160"/>
            <a:ext cx="4206240" cy="310896"/>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Emmet: type it, press Enter</a:t>
            </a:r>
            <a:endParaRPr lang="en-US" sz="1500" dirty="0"/>
          </a:p>
        </p:txBody>
      </p:sp>
      <p:sp>
        <p:nvSpPr>
          <p:cNvPr id="29" name="Shape 26"/>
          <p:cNvSpPr/>
          <p:nvPr/>
        </p:nvSpPr>
        <p:spPr>
          <a:xfrm>
            <a:off x="7132320" y="3950208"/>
            <a:ext cx="1051560" cy="292608"/>
          </a:xfrm>
          <a:prstGeom prst="roundRect">
            <a:avLst>
              <a:gd name="adj" fmla="val 18750"/>
            </a:avLst>
          </a:prstGeom>
          <a:solidFill>
            <a:srgbClr val="15181D"/>
          </a:solidFill>
          <a:ln w="12700">
            <a:solidFill>
              <a:srgbClr val="15181D"/>
            </a:solidFill>
            <a:prstDash val="solid"/>
          </a:ln>
        </p:spPr>
      </p:sp>
      <p:sp>
        <p:nvSpPr>
          <p:cNvPr id="30" name="Text 27"/>
          <p:cNvSpPr/>
          <p:nvPr/>
        </p:nvSpPr>
        <p:spPr>
          <a:xfrm>
            <a:off x="7132320" y="3950208"/>
            <a:ext cx="1051560" cy="292608"/>
          </a:xfrm>
          <a:prstGeom prst="rect">
            <a:avLst/>
          </a:prstGeom>
          <a:noFill/>
          <a:ln/>
        </p:spPr>
        <p:txBody>
          <a:bodyPr wrap="square" lIns="0" tIns="0" rIns="0" bIns="0" rtlCol="0" anchor="ctr"/>
          <a:lstStyle/>
          <a:p>
            <a:pPr algn="ctr" indent="0" marL="0">
              <a:buNone/>
            </a:pPr>
            <a:r>
              <a:rPr lang="en-US" sz="1000" dirty="0">
                <a:solidFill>
                  <a:srgbClr val="F79A80"/>
                </a:solidFill>
                <a:latin typeface="Courier New" pitchFamily="34" charset="0"/>
                <a:ea typeface="Courier New" pitchFamily="34" charset="-122"/>
                <a:cs typeface="Courier New" pitchFamily="34" charset="-120"/>
              </a:rPr>
              <a:t>lorem</a:t>
            </a:r>
            <a:endParaRPr lang="en-US" sz="1000" dirty="0"/>
          </a:p>
        </p:txBody>
      </p:sp>
      <p:sp>
        <p:nvSpPr>
          <p:cNvPr id="31" name="Text 28"/>
          <p:cNvSpPr/>
          <p:nvPr/>
        </p:nvSpPr>
        <p:spPr>
          <a:xfrm>
            <a:off x="8321040" y="3950208"/>
            <a:ext cx="3017520" cy="292608"/>
          </a:xfrm>
          <a:prstGeom prst="rect">
            <a:avLst/>
          </a:prstGeom>
          <a:noFill/>
          <a:ln/>
        </p:spPr>
        <p:txBody>
          <a:bodyPr wrap="square" lIns="0" tIns="0" rIns="0" bIns="0" rtlCol="0" anchor="ctr"/>
          <a:lstStyle/>
          <a:p>
            <a:pPr algn="l" indent="0" marL="0">
              <a:lnSpc>
                <a:spcPts val="1587"/>
              </a:lnSpc>
              <a:buNone/>
            </a:pPr>
            <a:r>
              <a:rPr lang="en-US" sz="1150" dirty="0">
                <a:solidFill>
                  <a:srgbClr val="1B1F24"/>
                </a:solidFill>
                <a:latin typeface="Calibri" pitchFamily="34" charset="0"/>
                <a:ea typeface="Calibri" pitchFamily="34" charset="-122"/>
                <a:cs typeface="Calibri" pitchFamily="34" charset="-120"/>
              </a:rPr>
              <a:t>a paragraph of filler text</a:t>
            </a:r>
            <a:endParaRPr lang="en-US" sz="1150" dirty="0"/>
          </a:p>
        </p:txBody>
      </p:sp>
      <p:sp>
        <p:nvSpPr>
          <p:cNvPr id="32" name="Shape 29"/>
          <p:cNvSpPr/>
          <p:nvPr/>
        </p:nvSpPr>
        <p:spPr>
          <a:xfrm>
            <a:off x="7132320" y="4315968"/>
            <a:ext cx="1051560" cy="292608"/>
          </a:xfrm>
          <a:prstGeom prst="roundRect">
            <a:avLst>
              <a:gd name="adj" fmla="val 18750"/>
            </a:avLst>
          </a:prstGeom>
          <a:solidFill>
            <a:srgbClr val="15181D"/>
          </a:solidFill>
          <a:ln w="12700">
            <a:solidFill>
              <a:srgbClr val="15181D"/>
            </a:solidFill>
            <a:prstDash val="solid"/>
          </a:ln>
        </p:spPr>
      </p:sp>
      <p:sp>
        <p:nvSpPr>
          <p:cNvPr id="33" name="Text 30"/>
          <p:cNvSpPr/>
          <p:nvPr/>
        </p:nvSpPr>
        <p:spPr>
          <a:xfrm>
            <a:off x="7132320" y="4315968"/>
            <a:ext cx="1051560" cy="292608"/>
          </a:xfrm>
          <a:prstGeom prst="rect">
            <a:avLst/>
          </a:prstGeom>
          <a:noFill/>
          <a:ln/>
        </p:spPr>
        <p:txBody>
          <a:bodyPr wrap="square" lIns="0" tIns="0" rIns="0" bIns="0" rtlCol="0" anchor="ctr"/>
          <a:lstStyle/>
          <a:p>
            <a:pPr algn="ctr" indent="0" marL="0">
              <a:buNone/>
            </a:pPr>
            <a:r>
              <a:rPr lang="en-US" sz="1000" dirty="0">
                <a:solidFill>
                  <a:srgbClr val="F79A80"/>
                </a:solidFill>
                <a:latin typeface="Courier New" pitchFamily="34" charset="0"/>
                <a:ea typeface="Courier New" pitchFamily="34" charset="-122"/>
                <a:cs typeface="Courier New" pitchFamily="34" charset="-120"/>
              </a:rPr>
              <a:t>p*3</a:t>
            </a:r>
            <a:endParaRPr lang="en-US" sz="1000" dirty="0"/>
          </a:p>
        </p:txBody>
      </p:sp>
      <p:sp>
        <p:nvSpPr>
          <p:cNvPr id="34" name="Text 31"/>
          <p:cNvSpPr/>
          <p:nvPr/>
        </p:nvSpPr>
        <p:spPr>
          <a:xfrm>
            <a:off x="8321040" y="4315968"/>
            <a:ext cx="3017520" cy="292608"/>
          </a:xfrm>
          <a:prstGeom prst="rect">
            <a:avLst/>
          </a:prstGeom>
          <a:noFill/>
          <a:ln/>
        </p:spPr>
        <p:txBody>
          <a:bodyPr wrap="square" lIns="0" tIns="0" rIns="0" bIns="0" rtlCol="0" anchor="ctr"/>
          <a:lstStyle/>
          <a:p>
            <a:pPr algn="l" indent="0" marL="0">
              <a:lnSpc>
                <a:spcPts val="1587"/>
              </a:lnSpc>
              <a:buNone/>
            </a:pPr>
            <a:r>
              <a:rPr lang="en-US" sz="1150" dirty="0">
                <a:solidFill>
                  <a:srgbClr val="1B1F24"/>
                </a:solidFill>
                <a:latin typeface="Calibri" pitchFamily="34" charset="0"/>
                <a:ea typeface="Calibri" pitchFamily="34" charset="-122"/>
                <a:cs typeface="Calibri" pitchFamily="34" charset="-120"/>
              </a:rPr>
              <a:t>three empty paragraphs</a:t>
            </a:r>
            <a:endParaRPr lang="en-US" sz="1150" dirty="0"/>
          </a:p>
        </p:txBody>
      </p:sp>
      <p:sp>
        <p:nvSpPr>
          <p:cNvPr id="35" name="Shape 32"/>
          <p:cNvSpPr/>
          <p:nvPr/>
        </p:nvSpPr>
        <p:spPr>
          <a:xfrm>
            <a:off x="7132320" y="4681728"/>
            <a:ext cx="1051560" cy="292608"/>
          </a:xfrm>
          <a:prstGeom prst="roundRect">
            <a:avLst>
              <a:gd name="adj" fmla="val 18750"/>
            </a:avLst>
          </a:prstGeom>
          <a:solidFill>
            <a:srgbClr val="15181D"/>
          </a:solidFill>
          <a:ln w="12700">
            <a:solidFill>
              <a:srgbClr val="15181D"/>
            </a:solidFill>
            <a:prstDash val="solid"/>
          </a:ln>
        </p:spPr>
      </p:sp>
      <p:sp>
        <p:nvSpPr>
          <p:cNvPr id="36" name="Text 33"/>
          <p:cNvSpPr/>
          <p:nvPr/>
        </p:nvSpPr>
        <p:spPr>
          <a:xfrm>
            <a:off x="7132320" y="4681728"/>
            <a:ext cx="1051560" cy="292608"/>
          </a:xfrm>
          <a:prstGeom prst="rect">
            <a:avLst/>
          </a:prstGeom>
          <a:noFill/>
          <a:ln/>
        </p:spPr>
        <p:txBody>
          <a:bodyPr wrap="square" lIns="0" tIns="0" rIns="0" bIns="0" rtlCol="0" anchor="ctr"/>
          <a:lstStyle/>
          <a:p>
            <a:pPr algn="ctr" indent="0" marL="0">
              <a:buNone/>
            </a:pPr>
            <a:r>
              <a:rPr lang="en-US" sz="1000" dirty="0">
                <a:solidFill>
                  <a:srgbClr val="F79A80"/>
                </a:solidFill>
                <a:latin typeface="Courier New" pitchFamily="34" charset="0"/>
                <a:ea typeface="Courier New" pitchFamily="34" charset="-122"/>
                <a:cs typeface="Courier New" pitchFamily="34" charset="-120"/>
              </a:rPr>
              <a:t>h1+p</a:t>
            </a:r>
            <a:endParaRPr lang="en-US" sz="1000" dirty="0"/>
          </a:p>
        </p:txBody>
      </p:sp>
      <p:sp>
        <p:nvSpPr>
          <p:cNvPr id="37" name="Text 34"/>
          <p:cNvSpPr/>
          <p:nvPr/>
        </p:nvSpPr>
        <p:spPr>
          <a:xfrm>
            <a:off x="8321040" y="4681728"/>
            <a:ext cx="3017520" cy="292608"/>
          </a:xfrm>
          <a:prstGeom prst="rect">
            <a:avLst/>
          </a:prstGeom>
          <a:noFill/>
          <a:ln/>
        </p:spPr>
        <p:txBody>
          <a:bodyPr wrap="square" lIns="0" tIns="0" rIns="0" bIns="0" rtlCol="0" anchor="ctr"/>
          <a:lstStyle/>
          <a:p>
            <a:pPr algn="l" indent="0" marL="0">
              <a:lnSpc>
                <a:spcPts val="1587"/>
              </a:lnSpc>
              <a:buNone/>
            </a:pPr>
            <a:r>
              <a:rPr lang="en-US" sz="1150" dirty="0">
                <a:solidFill>
                  <a:srgbClr val="1B1F24"/>
                </a:solidFill>
                <a:latin typeface="Calibri" pitchFamily="34" charset="0"/>
                <a:ea typeface="Calibri" pitchFamily="34" charset="-122"/>
                <a:cs typeface="Calibri" pitchFamily="34" charset="-120"/>
              </a:rPr>
              <a:t>a heading with a paragraph</a:t>
            </a:r>
            <a:endParaRPr lang="en-US" sz="1150" dirty="0"/>
          </a:p>
        </p:txBody>
      </p:sp>
      <p:sp>
        <p:nvSpPr>
          <p:cNvPr id="38" name="Shape 35"/>
          <p:cNvSpPr/>
          <p:nvPr/>
        </p:nvSpPr>
        <p:spPr>
          <a:xfrm>
            <a:off x="640080" y="5157216"/>
            <a:ext cx="10908792" cy="621792"/>
          </a:xfrm>
          <a:prstGeom prst="roundRect">
            <a:avLst>
              <a:gd name="adj" fmla="val 14706"/>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9" name="Text 36"/>
          <p:cNvSpPr/>
          <p:nvPr/>
        </p:nvSpPr>
        <p:spPr>
          <a:xfrm>
            <a:off x="640080" y="5157216"/>
            <a:ext cx="10908792" cy="621792"/>
          </a:xfrm>
          <a:prstGeom prst="rect">
            <a:avLst/>
          </a:prstGeom>
          <a:noFill/>
          <a:ln/>
        </p:spPr>
        <p:txBody>
          <a:bodyPr wrap="square" lIns="0" tIns="0" rIns="0" bIns="0" rtlCol="0" anchor="ctr"/>
          <a:lstStyle/>
          <a:p>
            <a:pPr algn="ctr" indent="0" marL="0">
              <a:buNone/>
            </a:pPr>
            <a:r>
              <a:rPr lang="en-US" sz="1400" i="1" dirty="0">
                <a:solidFill>
                  <a:srgbClr val="5A6069"/>
                </a:solidFill>
                <a:latin typeface="Calibri" pitchFamily="34" charset="0"/>
                <a:ea typeface="Calibri" pitchFamily="34" charset="-122"/>
                <a:cs typeface="Calibri" pitchFamily="34" charset="-120"/>
              </a:rPr>
              <a:t>Back to the mall: the brand banner outside is huge, the shop sign is smaller, the label on the shirt is smaller still.</a:t>
            </a:r>
            <a:endParaRPr lang="en-US" sz="1400" dirty="0"/>
          </a:p>
        </p:txBody>
      </p:sp>
      <p:sp>
        <p:nvSpPr>
          <p:cNvPr id="40" name="Shape 37"/>
          <p:cNvSpPr/>
          <p:nvPr/>
        </p:nvSpPr>
        <p:spPr>
          <a:xfrm>
            <a:off x="640080" y="5852160"/>
            <a:ext cx="10908792" cy="457200"/>
          </a:xfrm>
          <a:prstGeom prst="roundRect">
            <a:avLst>
              <a:gd name="adj" fmla="val 16000"/>
            </a:avLst>
          </a:prstGeom>
          <a:solidFill>
            <a:srgbClr val="EFEEE9"/>
          </a:solidFill>
          <a:ln w="12700">
            <a:solidFill>
              <a:srgbClr val="D5D1C8"/>
            </a:solidFill>
            <a:prstDash val="solid"/>
          </a:ln>
        </p:spPr>
      </p:sp>
      <p:sp>
        <p:nvSpPr>
          <p:cNvPr id="41" name="Text 38"/>
          <p:cNvSpPr/>
          <p:nvPr/>
        </p:nvSpPr>
        <p:spPr>
          <a:xfrm>
            <a:off x="841248" y="5852160"/>
            <a:ext cx="10506456" cy="457200"/>
          </a:xfrm>
          <a:prstGeom prst="rect">
            <a:avLst/>
          </a:prstGeom>
          <a:noFill/>
          <a:ln/>
        </p:spPr>
        <p:txBody>
          <a:bodyPr wrap="square" lIns="0" tIns="0" rIns="0" bIns="0" rtlCol="0" anchor="ctr"/>
          <a:lstStyle/>
          <a:p>
            <a:pPr indent="0" marL="0">
              <a:lnSpc>
                <a:spcPts val="1470"/>
              </a:lnSpc>
              <a:buNone/>
            </a:pPr>
            <a:r>
              <a:rPr lang="en-US" sz="1050" dirty="0">
                <a:solidFill>
                  <a:srgbClr val="6E8A64"/>
                </a:solidFill>
                <a:latin typeface="Courier New" pitchFamily="34" charset="0"/>
                <a:ea typeface="Courier New" pitchFamily="34" charset="-122"/>
                <a:cs typeface="Courier New" pitchFamily="34" charset="-120"/>
              </a:rPr>
              <a:t>&lt;!-- lorem ipsum is fake latin, and it has shipped to production more times than anyone admits --&gt;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14</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&lt;tags&gt;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Images, and the attributes that describe them</a:t>
            </a:r>
            <a:endParaRPr lang="en-US" sz="3400" dirty="0"/>
          </a:p>
        </p:txBody>
      </p:sp>
      <p:sp>
        <p:nvSpPr>
          <p:cNvPr id="7" name="Shape 4"/>
          <p:cNvSpPr/>
          <p:nvPr/>
        </p:nvSpPr>
        <p:spPr>
          <a:xfrm>
            <a:off x="640080" y="1627632"/>
            <a:ext cx="10881360" cy="1051560"/>
          </a:xfrm>
          <a:prstGeom prst="roundRect">
            <a:avLst>
              <a:gd name="adj" fmla="val 8696"/>
            </a:avLst>
          </a:prstGeom>
          <a:solidFill>
            <a:srgbClr val="15181D"/>
          </a:solidFill>
          <a:ln w="12700">
            <a:solidFill>
              <a:srgbClr val="2A2F37"/>
            </a:solidFill>
            <a:prstDash val="solid"/>
          </a:ln>
        </p:spPr>
      </p:sp>
      <p:sp>
        <p:nvSpPr>
          <p:cNvPr id="8" name="Text 5"/>
          <p:cNvSpPr/>
          <p:nvPr/>
        </p:nvSpPr>
        <p:spPr>
          <a:xfrm>
            <a:off x="914400" y="1883664"/>
            <a:ext cx="10332720" cy="539496"/>
          </a:xfrm>
          <a:prstGeom prst="rect">
            <a:avLst/>
          </a:prstGeom>
          <a:noFill/>
          <a:ln/>
        </p:spPr>
        <p:txBody>
          <a:bodyPr wrap="square" lIns="0" tIns="0" rIns="0" bIns="0" rtlCol="0" anchor="t"/>
          <a:lstStyle/>
          <a:p>
            <a:pPr indent="0" marL="0">
              <a:lnSpc>
                <a:spcPts val="2400"/>
              </a:lnSpc>
              <a:buNone/>
            </a:pPr>
            <a:r>
              <a:rPr lang="en-US" sz="1500" dirty="0">
                <a:solidFill>
                  <a:srgbClr val="9BA1A9"/>
                </a:solidFill>
                <a:latin typeface="Courier New" pitchFamily="34" charset="0"/>
                <a:ea typeface="Courier New" pitchFamily="34" charset="-122"/>
                <a:cs typeface="Courier New" pitchFamily="34" charset="-120"/>
              </a:rPr>
              <a:t>&lt;</a:t>
            </a:r>
            <a:pPr indent="0" marL="0">
              <a:lnSpc>
                <a:spcPts val="2400"/>
              </a:lnSpc>
              <a:buNone/>
            </a:pPr>
            <a:r>
              <a:rPr lang="en-US" sz="1500" dirty="0">
                <a:solidFill>
                  <a:srgbClr val="F79A80"/>
                </a:solidFill>
                <a:latin typeface="Courier New" pitchFamily="34" charset="0"/>
                <a:ea typeface="Courier New" pitchFamily="34" charset="-122"/>
                <a:cs typeface="Courier New" pitchFamily="34" charset="-120"/>
              </a:rPr>
              <a:t>img</a:t>
            </a:r>
            <a:pPr indent="0" marL="0">
              <a:lnSpc>
                <a:spcPts val="2400"/>
              </a:lnSpc>
              <a:buNone/>
            </a:pPr>
            <a:r>
              <a:rPr lang="en-US" sz="1500" dirty="0">
                <a:solidFill>
                  <a:srgbClr val="E8E6E1"/>
                </a:solidFill>
                <a:latin typeface="Courier New" pitchFamily="34" charset="0"/>
                <a:ea typeface="Courier New" pitchFamily="34" charset="-122"/>
                <a:cs typeface="Courier New" pitchFamily="34" charset="-120"/>
              </a:rPr>
              <a:t> </a:t>
            </a:r>
            <a:pPr indent="0" marL="0">
              <a:lnSpc>
                <a:spcPts val="2400"/>
              </a:lnSpc>
              <a:buNone/>
            </a:pPr>
            <a:r>
              <a:rPr lang="en-US" sz="1500" dirty="0">
                <a:solidFill>
                  <a:srgbClr val="E3C07B"/>
                </a:solidFill>
                <a:latin typeface="Courier New" pitchFamily="34" charset="0"/>
                <a:ea typeface="Courier New" pitchFamily="34" charset="-122"/>
                <a:cs typeface="Courier New" pitchFamily="34" charset="-120"/>
              </a:rPr>
              <a:t>src</a:t>
            </a:r>
            <a:pPr indent="0" marL="0">
              <a:lnSpc>
                <a:spcPts val="2400"/>
              </a:lnSpc>
              <a:buNone/>
            </a:pPr>
            <a:r>
              <a:rPr lang="en-US" sz="1500" dirty="0">
                <a:solidFill>
                  <a:srgbClr val="9BA1A9"/>
                </a:solidFill>
                <a:latin typeface="Courier New" pitchFamily="34" charset="0"/>
                <a:ea typeface="Courier New" pitchFamily="34" charset="-122"/>
                <a:cs typeface="Courier New" pitchFamily="34" charset="-120"/>
              </a:rPr>
              <a:t>=</a:t>
            </a:r>
            <a:pPr indent="0" marL="0">
              <a:lnSpc>
                <a:spcPts val="2400"/>
              </a:lnSpc>
              <a:buNone/>
            </a:pPr>
            <a:r>
              <a:rPr lang="en-US" sz="1500" dirty="0">
                <a:solidFill>
                  <a:srgbClr val="92C5F7"/>
                </a:solidFill>
                <a:latin typeface="Courier New" pitchFamily="34" charset="0"/>
                <a:ea typeface="Courier New" pitchFamily="34" charset="-122"/>
                <a:cs typeface="Courier New" pitchFamily="34" charset="-120"/>
              </a:rPr>
              <a:t>"puppy.jpg"</a:t>
            </a:r>
            <a:pPr indent="0" marL="0">
              <a:lnSpc>
                <a:spcPts val="2400"/>
              </a:lnSpc>
              <a:buNone/>
            </a:pPr>
            <a:r>
              <a:rPr lang="en-US" sz="1500" dirty="0">
                <a:solidFill>
                  <a:srgbClr val="E8E6E1"/>
                </a:solidFill>
                <a:latin typeface="Courier New" pitchFamily="34" charset="0"/>
                <a:ea typeface="Courier New" pitchFamily="34" charset="-122"/>
                <a:cs typeface="Courier New" pitchFamily="34" charset="-120"/>
              </a:rPr>
              <a:t> </a:t>
            </a:r>
            <a:pPr indent="0" marL="0">
              <a:lnSpc>
                <a:spcPts val="2400"/>
              </a:lnSpc>
              <a:buNone/>
            </a:pPr>
            <a:r>
              <a:rPr lang="en-US" sz="1500" dirty="0">
                <a:solidFill>
                  <a:srgbClr val="E3C07B"/>
                </a:solidFill>
                <a:latin typeface="Courier New" pitchFamily="34" charset="0"/>
                <a:ea typeface="Courier New" pitchFamily="34" charset="-122"/>
                <a:cs typeface="Courier New" pitchFamily="34" charset="-120"/>
              </a:rPr>
              <a:t>alt</a:t>
            </a:r>
            <a:pPr indent="0" marL="0">
              <a:lnSpc>
                <a:spcPts val="2400"/>
              </a:lnSpc>
              <a:buNone/>
            </a:pPr>
            <a:r>
              <a:rPr lang="en-US" sz="1500" dirty="0">
                <a:solidFill>
                  <a:srgbClr val="9BA1A9"/>
                </a:solidFill>
                <a:latin typeface="Courier New" pitchFamily="34" charset="0"/>
                <a:ea typeface="Courier New" pitchFamily="34" charset="-122"/>
                <a:cs typeface="Courier New" pitchFamily="34" charset="-120"/>
              </a:rPr>
              <a:t>=</a:t>
            </a:r>
            <a:pPr indent="0" marL="0">
              <a:lnSpc>
                <a:spcPts val="2400"/>
              </a:lnSpc>
              <a:buNone/>
            </a:pPr>
            <a:r>
              <a:rPr lang="en-US" sz="1500" dirty="0">
                <a:solidFill>
                  <a:srgbClr val="92C5F7"/>
                </a:solidFill>
                <a:latin typeface="Courier New" pitchFamily="34" charset="0"/>
                <a:ea typeface="Courier New" pitchFamily="34" charset="-122"/>
                <a:cs typeface="Courier New" pitchFamily="34" charset="-120"/>
              </a:rPr>
              <a:t>"a golden retriever puppy on grass"</a:t>
            </a:r>
            <a:pPr indent="0" marL="0">
              <a:lnSpc>
                <a:spcPts val="2400"/>
              </a:lnSpc>
              <a:buNone/>
            </a:pPr>
            <a:r>
              <a:rPr lang="en-US" sz="1500" dirty="0">
                <a:solidFill>
                  <a:srgbClr val="9BA1A9"/>
                </a:solidFill>
                <a:latin typeface="Courier New" pitchFamily="34" charset="0"/>
                <a:ea typeface="Courier New" pitchFamily="34" charset="-122"/>
                <a:cs typeface="Courier New" pitchFamily="34" charset="-120"/>
              </a:rPr>
              <a:t> /&gt;</a:t>
            </a:r>
            <a:endParaRPr lang="en-US" sz="1500" dirty="0"/>
          </a:p>
        </p:txBody>
      </p:sp>
      <p:sp>
        <p:nvSpPr>
          <p:cNvPr id="9" name="Shape 6"/>
          <p:cNvSpPr/>
          <p:nvPr/>
        </p:nvSpPr>
        <p:spPr>
          <a:xfrm>
            <a:off x="640080" y="2880360"/>
            <a:ext cx="3419856" cy="1783080"/>
          </a:xfrm>
          <a:prstGeom prst="roundRect">
            <a:avLst>
              <a:gd name="adj" fmla="val 5128"/>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0" name="Shape 7"/>
          <p:cNvSpPr/>
          <p:nvPr/>
        </p:nvSpPr>
        <p:spPr>
          <a:xfrm>
            <a:off x="914400" y="3136392"/>
            <a:ext cx="512064" cy="512064"/>
          </a:xfrm>
          <a:prstGeom prst="roundRect">
            <a:avLst>
              <a:gd name="adj" fmla="val 17857"/>
            </a:avLst>
          </a:prstGeom>
          <a:solidFill>
            <a:srgbClr val="FBE9E2"/>
          </a:solidFill>
          <a:ln w="12700">
            <a:solidFill>
              <a:srgbClr val="F0B9A6"/>
            </a:solidFill>
            <a:prstDash val="solid"/>
          </a:ln>
        </p:spPr>
      </p:sp>
      <p:pic>
        <p:nvPicPr>
          <p:cNvPr id="11" name="Image 0" descr="preencoded.png">    </p:cNvPr>
          <p:cNvPicPr>
            <a:picLocks noChangeAspect="1"/>
          </p:cNvPicPr>
          <p:nvPr/>
        </p:nvPicPr>
        <p:blipFill>
          <a:blip r:embed="rId1"/>
          <a:stretch>
            <a:fillRect/>
          </a:stretch>
        </p:blipFill>
        <p:spPr>
          <a:xfrm>
            <a:off x="1047537" y="3269529"/>
            <a:ext cx="245791" cy="245791"/>
          </a:xfrm>
          <a:prstGeom prst="rect">
            <a:avLst/>
          </a:prstGeom>
        </p:spPr>
      </p:pic>
      <p:sp>
        <p:nvSpPr>
          <p:cNvPr id="12" name="Text 8"/>
          <p:cNvSpPr/>
          <p:nvPr/>
        </p:nvSpPr>
        <p:spPr>
          <a:xfrm>
            <a:off x="1536192" y="3136392"/>
            <a:ext cx="2286000" cy="512064"/>
          </a:xfrm>
          <a:prstGeom prst="rect">
            <a:avLst/>
          </a:prstGeom>
          <a:noFill/>
          <a:ln/>
        </p:spPr>
        <p:txBody>
          <a:bodyPr wrap="square" lIns="0" tIns="0" rIns="0" bIns="0" rtlCol="0" anchor="ctr"/>
          <a:lstStyle/>
          <a:p>
            <a:pPr indent="0" marL="0">
              <a:buNone/>
            </a:pPr>
            <a:r>
              <a:rPr lang="en-US" sz="1500" b="1" dirty="0">
                <a:solidFill>
                  <a:srgbClr val="E34F26"/>
                </a:solidFill>
                <a:latin typeface="Courier New" pitchFamily="34" charset="0"/>
                <a:ea typeface="Courier New" pitchFamily="34" charset="-122"/>
                <a:cs typeface="Courier New" pitchFamily="34" charset="-120"/>
              </a:rPr>
              <a:t>img</a:t>
            </a:r>
            <a:endParaRPr lang="en-US" sz="1500" dirty="0"/>
          </a:p>
        </p:txBody>
      </p:sp>
      <p:sp>
        <p:nvSpPr>
          <p:cNvPr id="13" name="Text 9"/>
          <p:cNvSpPr/>
          <p:nvPr/>
        </p:nvSpPr>
        <p:spPr>
          <a:xfrm>
            <a:off x="914400" y="3794760"/>
            <a:ext cx="2871216" cy="749808"/>
          </a:xfrm>
          <a:prstGeom prst="rect">
            <a:avLst/>
          </a:prstGeom>
          <a:noFill/>
          <a:ln/>
        </p:spPr>
        <p:txBody>
          <a:bodyPr wrap="square" lIns="0" tIns="0" rIns="0" bIns="0" rtlCol="0" anchor="t"/>
          <a:lstStyle/>
          <a:p>
            <a:pPr algn="l" indent="0" marL="0">
              <a:lnSpc>
                <a:spcPts val="1650"/>
              </a:lnSpc>
              <a:buNone/>
            </a:pPr>
            <a:r>
              <a:rPr lang="en-US" sz="1250" dirty="0">
                <a:solidFill>
                  <a:srgbClr val="5A6069"/>
                </a:solidFill>
                <a:latin typeface="Calibri" pitchFamily="34" charset="0"/>
                <a:ea typeface="Calibri" pitchFamily="34" charset="-122"/>
                <a:cs typeface="Calibri" pitchFamily="34" charset="-120"/>
              </a:rPr>
              <a:t>The tag itself. It is self closing: there is no &lt;/img&gt;, because there is nothing to wrap.</a:t>
            </a:r>
            <a:endParaRPr lang="en-US" sz="1250" dirty="0"/>
          </a:p>
        </p:txBody>
      </p:sp>
      <p:sp>
        <p:nvSpPr>
          <p:cNvPr id="14" name="Shape 10"/>
          <p:cNvSpPr/>
          <p:nvPr/>
        </p:nvSpPr>
        <p:spPr>
          <a:xfrm>
            <a:off x="4379976" y="2880360"/>
            <a:ext cx="3419856" cy="1783080"/>
          </a:xfrm>
          <a:prstGeom prst="roundRect">
            <a:avLst>
              <a:gd name="adj" fmla="val 5128"/>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5" name="Shape 11"/>
          <p:cNvSpPr/>
          <p:nvPr/>
        </p:nvSpPr>
        <p:spPr>
          <a:xfrm>
            <a:off x="4654296" y="3136392"/>
            <a:ext cx="512064" cy="512064"/>
          </a:xfrm>
          <a:prstGeom prst="roundRect">
            <a:avLst>
              <a:gd name="adj" fmla="val 17857"/>
            </a:avLst>
          </a:prstGeom>
          <a:solidFill>
            <a:srgbClr val="FBE9E2"/>
          </a:solidFill>
          <a:ln w="12700">
            <a:solidFill>
              <a:srgbClr val="F0B9A6"/>
            </a:solidFill>
            <a:prstDash val="solid"/>
          </a:ln>
        </p:spPr>
      </p:sp>
      <p:pic>
        <p:nvPicPr>
          <p:cNvPr id="16" name="Image 1" descr="preencoded.png">    </p:cNvPr>
          <p:cNvPicPr>
            <a:picLocks noChangeAspect="1"/>
          </p:cNvPicPr>
          <p:nvPr/>
        </p:nvPicPr>
        <p:blipFill>
          <a:blip r:embed="rId2"/>
          <a:stretch>
            <a:fillRect/>
          </a:stretch>
        </p:blipFill>
        <p:spPr>
          <a:xfrm>
            <a:off x="4787433" y="3269529"/>
            <a:ext cx="245791" cy="245791"/>
          </a:xfrm>
          <a:prstGeom prst="rect">
            <a:avLst/>
          </a:prstGeom>
        </p:spPr>
      </p:pic>
      <p:sp>
        <p:nvSpPr>
          <p:cNvPr id="17" name="Text 12"/>
          <p:cNvSpPr/>
          <p:nvPr/>
        </p:nvSpPr>
        <p:spPr>
          <a:xfrm>
            <a:off x="5276088" y="3136392"/>
            <a:ext cx="2286000" cy="512064"/>
          </a:xfrm>
          <a:prstGeom prst="rect">
            <a:avLst/>
          </a:prstGeom>
          <a:noFill/>
          <a:ln/>
        </p:spPr>
        <p:txBody>
          <a:bodyPr wrap="square" lIns="0" tIns="0" rIns="0" bIns="0" rtlCol="0" anchor="ctr"/>
          <a:lstStyle/>
          <a:p>
            <a:pPr indent="0" marL="0">
              <a:buNone/>
            </a:pPr>
            <a:r>
              <a:rPr lang="en-US" sz="1500" b="1" dirty="0">
                <a:solidFill>
                  <a:srgbClr val="E34F26"/>
                </a:solidFill>
                <a:latin typeface="Courier New" pitchFamily="34" charset="0"/>
                <a:ea typeface="Courier New" pitchFamily="34" charset="-122"/>
                <a:cs typeface="Courier New" pitchFamily="34" charset="-120"/>
              </a:rPr>
              <a:t>src</a:t>
            </a:r>
            <a:endParaRPr lang="en-US" sz="1500" dirty="0"/>
          </a:p>
        </p:txBody>
      </p:sp>
      <p:sp>
        <p:nvSpPr>
          <p:cNvPr id="18" name="Text 13"/>
          <p:cNvSpPr/>
          <p:nvPr/>
        </p:nvSpPr>
        <p:spPr>
          <a:xfrm>
            <a:off x="4654296" y="3794760"/>
            <a:ext cx="2871216" cy="749808"/>
          </a:xfrm>
          <a:prstGeom prst="rect">
            <a:avLst/>
          </a:prstGeom>
          <a:noFill/>
          <a:ln/>
        </p:spPr>
        <p:txBody>
          <a:bodyPr wrap="square" lIns="0" tIns="0" rIns="0" bIns="0" rtlCol="0" anchor="t"/>
          <a:lstStyle/>
          <a:p>
            <a:pPr algn="l" indent="0" marL="0">
              <a:lnSpc>
                <a:spcPts val="1650"/>
              </a:lnSpc>
              <a:buNone/>
            </a:pPr>
            <a:r>
              <a:rPr lang="en-US" sz="1250" dirty="0">
                <a:solidFill>
                  <a:srgbClr val="5A6069"/>
                </a:solidFill>
                <a:latin typeface="Calibri" pitchFamily="34" charset="0"/>
                <a:ea typeface="Calibri" pitchFamily="34" charset="-122"/>
                <a:cs typeface="Calibri" pitchFamily="34" charset="-120"/>
              </a:rPr>
              <a:t>The source. Where the picture actually lives, either a file in your folder or a link on the internet.</a:t>
            </a:r>
            <a:endParaRPr lang="en-US" sz="1250" dirty="0"/>
          </a:p>
        </p:txBody>
      </p:sp>
      <p:sp>
        <p:nvSpPr>
          <p:cNvPr id="19" name="Shape 14"/>
          <p:cNvSpPr/>
          <p:nvPr/>
        </p:nvSpPr>
        <p:spPr>
          <a:xfrm>
            <a:off x="8119872" y="2880360"/>
            <a:ext cx="3419856" cy="1783080"/>
          </a:xfrm>
          <a:prstGeom prst="roundRect">
            <a:avLst>
              <a:gd name="adj" fmla="val 5128"/>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0" name="Shape 15"/>
          <p:cNvSpPr/>
          <p:nvPr/>
        </p:nvSpPr>
        <p:spPr>
          <a:xfrm>
            <a:off x="8394192" y="3136392"/>
            <a:ext cx="512064" cy="512064"/>
          </a:xfrm>
          <a:prstGeom prst="roundRect">
            <a:avLst>
              <a:gd name="adj" fmla="val 17857"/>
            </a:avLst>
          </a:prstGeom>
          <a:solidFill>
            <a:srgbClr val="FBE9E2"/>
          </a:solidFill>
          <a:ln w="12700">
            <a:solidFill>
              <a:srgbClr val="F0B9A6"/>
            </a:solidFill>
            <a:prstDash val="solid"/>
          </a:ln>
        </p:spPr>
      </p:sp>
      <p:pic>
        <p:nvPicPr>
          <p:cNvPr id="21" name="Image 2" descr="preencoded.png">    </p:cNvPr>
          <p:cNvPicPr>
            <a:picLocks noChangeAspect="1"/>
          </p:cNvPicPr>
          <p:nvPr/>
        </p:nvPicPr>
        <p:blipFill>
          <a:blip r:embed="rId3"/>
          <a:stretch>
            <a:fillRect/>
          </a:stretch>
        </p:blipFill>
        <p:spPr>
          <a:xfrm>
            <a:off x="8527329" y="3269529"/>
            <a:ext cx="245791" cy="245791"/>
          </a:xfrm>
          <a:prstGeom prst="rect">
            <a:avLst/>
          </a:prstGeom>
        </p:spPr>
      </p:pic>
      <p:sp>
        <p:nvSpPr>
          <p:cNvPr id="22" name="Text 16"/>
          <p:cNvSpPr/>
          <p:nvPr/>
        </p:nvSpPr>
        <p:spPr>
          <a:xfrm>
            <a:off x="9015984" y="3136392"/>
            <a:ext cx="2286000" cy="512064"/>
          </a:xfrm>
          <a:prstGeom prst="rect">
            <a:avLst/>
          </a:prstGeom>
          <a:noFill/>
          <a:ln/>
        </p:spPr>
        <p:txBody>
          <a:bodyPr wrap="square" lIns="0" tIns="0" rIns="0" bIns="0" rtlCol="0" anchor="ctr"/>
          <a:lstStyle/>
          <a:p>
            <a:pPr indent="0" marL="0">
              <a:buNone/>
            </a:pPr>
            <a:r>
              <a:rPr lang="en-US" sz="1500" b="1" dirty="0">
                <a:solidFill>
                  <a:srgbClr val="E34F26"/>
                </a:solidFill>
                <a:latin typeface="Courier New" pitchFamily="34" charset="0"/>
                <a:ea typeface="Courier New" pitchFamily="34" charset="-122"/>
                <a:cs typeface="Courier New" pitchFamily="34" charset="-120"/>
              </a:rPr>
              <a:t>alt</a:t>
            </a:r>
            <a:endParaRPr lang="en-US" sz="1500" dirty="0"/>
          </a:p>
        </p:txBody>
      </p:sp>
      <p:sp>
        <p:nvSpPr>
          <p:cNvPr id="23" name="Text 17"/>
          <p:cNvSpPr/>
          <p:nvPr/>
        </p:nvSpPr>
        <p:spPr>
          <a:xfrm>
            <a:off x="8394192" y="3794760"/>
            <a:ext cx="2871216" cy="749808"/>
          </a:xfrm>
          <a:prstGeom prst="rect">
            <a:avLst/>
          </a:prstGeom>
          <a:noFill/>
          <a:ln/>
        </p:spPr>
        <p:txBody>
          <a:bodyPr wrap="square" lIns="0" tIns="0" rIns="0" bIns="0" rtlCol="0" anchor="t"/>
          <a:lstStyle/>
          <a:p>
            <a:pPr algn="l" indent="0" marL="0">
              <a:lnSpc>
                <a:spcPts val="1650"/>
              </a:lnSpc>
              <a:buNone/>
            </a:pPr>
            <a:r>
              <a:rPr lang="en-US" sz="1250" dirty="0">
                <a:solidFill>
                  <a:srgbClr val="5A6069"/>
                </a:solidFill>
                <a:latin typeface="Calibri" pitchFamily="34" charset="0"/>
                <a:ea typeface="Calibri" pitchFamily="34" charset="-122"/>
                <a:cs typeface="Calibri" pitchFamily="34" charset="-120"/>
              </a:rPr>
              <a:t>Alternate text. Shown when the image fails, and read out loud by screen readers. Never skip it.</a:t>
            </a:r>
            <a:endParaRPr lang="en-US" sz="1250" dirty="0"/>
          </a:p>
        </p:txBody>
      </p:sp>
      <p:sp>
        <p:nvSpPr>
          <p:cNvPr id="24" name="Shape 18"/>
          <p:cNvSpPr/>
          <p:nvPr/>
        </p:nvSpPr>
        <p:spPr>
          <a:xfrm>
            <a:off x="640080" y="4864608"/>
            <a:ext cx="10881360" cy="914400"/>
          </a:xfrm>
          <a:prstGeom prst="roundRect">
            <a:avLst>
              <a:gd name="adj" fmla="val 10000"/>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25" name="Shape 19"/>
          <p:cNvSpPr/>
          <p:nvPr/>
        </p:nvSpPr>
        <p:spPr>
          <a:xfrm>
            <a:off x="950976" y="5065776"/>
            <a:ext cx="512064" cy="512064"/>
          </a:xfrm>
          <a:prstGeom prst="roundRect">
            <a:avLst>
              <a:gd name="adj" fmla="val 17857"/>
            </a:avLst>
          </a:prstGeom>
          <a:solidFill>
            <a:srgbClr val="FFFFFF"/>
          </a:solidFill>
          <a:ln w="12700">
            <a:solidFill>
              <a:srgbClr val="F0B9A6"/>
            </a:solidFill>
            <a:prstDash val="solid"/>
          </a:ln>
        </p:spPr>
      </p:sp>
      <p:pic>
        <p:nvPicPr>
          <p:cNvPr id="26" name="Image 3" descr="preencoded.png">    </p:cNvPr>
          <p:cNvPicPr>
            <a:picLocks noChangeAspect="1"/>
          </p:cNvPicPr>
          <p:nvPr/>
        </p:nvPicPr>
        <p:blipFill>
          <a:blip r:embed="rId4"/>
          <a:stretch>
            <a:fillRect/>
          </a:stretch>
        </p:blipFill>
        <p:spPr>
          <a:xfrm>
            <a:off x="1084113" y="5198913"/>
            <a:ext cx="245791" cy="245791"/>
          </a:xfrm>
          <a:prstGeom prst="rect">
            <a:avLst/>
          </a:prstGeom>
        </p:spPr>
      </p:pic>
      <p:sp>
        <p:nvSpPr>
          <p:cNvPr id="27" name="Text 20"/>
          <p:cNvSpPr/>
          <p:nvPr/>
        </p:nvSpPr>
        <p:spPr>
          <a:xfrm>
            <a:off x="1645920" y="4974336"/>
            <a:ext cx="9509760" cy="292608"/>
          </a:xfrm>
          <a:prstGeom prst="rect">
            <a:avLst/>
          </a:prstGeom>
          <a:noFill/>
          <a:ln/>
        </p:spPr>
        <p:txBody>
          <a:bodyPr wrap="square" lIns="0" tIns="0" rIns="0" bIns="0" rtlCol="0" anchor="ctr"/>
          <a:lstStyle/>
          <a:p>
            <a:pPr indent="0" marL="0">
              <a:buNone/>
            </a:pPr>
            <a:r>
              <a:rPr lang="en-US" sz="1650" b="1" dirty="0">
                <a:solidFill>
                  <a:srgbClr val="1B1F24"/>
                </a:solidFill>
                <a:latin typeface="Calibri" pitchFamily="34" charset="0"/>
                <a:ea typeface="Calibri" pitchFamily="34" charset="-122"/>
                <a:cs typeface="Calibri" pitchFamily="34" charset="-120"/>
              </a:rPr>
              <a:t>Attributes are adjectives for tags.</a:t>
            </a:r>
            <a:endParaRPr lang="en-US" sz="1650" dirty="0"/>
          </a:p>
        </p:txBody>
      </p:sp>
      <p:sp>
        <p:nvSpPr>
          <p:cNvPr id="28" name="Text 21"/>
          <p:cNvSpPr/>
          <p:nvPr/>
        </p:nvSpPr>
        <p:spPr>
          <a:xfrm>
            <a:off x="1645920" y="5303520"/>
            <a:ext cx="9509760" cy="365760"/>
          </a:xfrm>
          <a:prstGeom prst="rect">
            <a:avLst/>
          </a:prstGeom>
          <a:noFill/>
          <a:ln/>
        </p:spPr>
        <p:txBody>
          <a:bodyPr wrap="square" lIns="0" tIns="0" rIns="0" bIns="0" rtlCol="0" anchor="t"/>
          <a:lstStyle/>
          <a:p>
            <a:pPr algn="l" indent="0" marL="0">
              <a:lnSpc>
                <a:spcPts val="1794"/>
              </a:lnSpc>
              <a:buNone/>
            </a:pPr>
            <a:r>
              <a:rPr lang="en-US" sz="1300" dirty="0">
                <a:solidFill>
                  <a:srgbClr val="1B1F24"/>
                </a:solidFill>
                <a:latin typeface="Calibri" pitchFamily="34" charset="0"/>
                <a:ea typeface="Calibri" pitchFamily="34" charset="-122"/>
                <a:cs typeface="Calibri" pitchFamily="34" charset="-120"/>
              </a:rPr>
              <a:t>A noun becomes specific when you add adjectives. A car becomes specific when you add a sunroof and a colour. A tag becomes specific when you add attributes.</a:t>
            </a:r>
            <a:endParaRPr lang="en-US" sz="1300" dirty="0"/>
          </a:p>
        </p:txBody>
      </p:sp>
      <p:sp>
        <p:nvSpPr>
          <p:cNvPr id="29" name="Shape 22"/>
          <p:cNvSpPr/>
          <p:nvPr/>
        </p:nvSpPr>
        <p:spPr>
          <a:xfrm>
            <a:off x="640080" y="5852160"/>
            <a:ext cx="10881360" cy="457200"/>
          </a:xfrm>
          <a:prstGeom prst="roundRect">
            <a:avLst>
              <a:gd name="adj" fmla="val 16000"/>
            </a:avLst>
          </a:prstGeom>
          <a:solidFill>
            <a:srgbClr val="EFEEE9"/>
          </a:solidFill>
          <a:ln w="12700">
            <a:solidFill>
              <a:srgbClr val="D5D1C8"/>
            </a:solidFill>
            <a:prstDash val="solid"/>
          </a:ln>
        </p:spPr>
      </p:sp>
      <p:sp>
        <p:nvSpPr>
          <p:cNvPr id="30" name="Text 23"/>
          <p:cNvSpPr/>
          <p:nvPr/>
        </p:nvSpPr>
        <p:spPr>
          <a:xfrm>
            <a:off x="841248" y="5852160"/>
            <a:ext cx="10479024" cy="457200"/>
          </a:xfrm>
          <a:prstGeom prst="rect">
            <a:avLst/>
          </a:prstGeom>
          <a:noFill/>
          <a:ln/>
        </p:spPr>
        <p:txBody>
          <a:bodyPr wrap="square" lIns="0" tIns="0" rIns="0" bIns="0" rtlCol="0" anchor="ctr"/>
          <a:lstStyle/>
          <a:p>
            <a:pPr indent="0" marL="0">
              <a:lnSpc>
                <a:spcPts val="1470"/>
              </a:lnSpc>
              <a:buNone/>
            </a:pPr>
            <a:r>
              <a:rPr lang="en-US" sz="1050" dirty="0">
                <a:solidFill>
                  <a:srgbClr val="6E8A64"/>
                </a:solidFill>
                <a:latin typeface="Courier New" pitchFamily="34" charset="0"/>
                <a:ea typeface="Courier New" pitchFamily="34" charset="-122"/>
                <a:cs typeface="Courier New" pitchFamily="34" charset="-120"/>
              </a:rPr>
              <a:t>&lt;!-- alt text is what your image says about itself when the internet ghosts it --&gt;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15</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&lt;tags&gt;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Links, buttons and comments</a:t>
            </a:r>
            <a:endParaRPr lang="en-US" sz="3400" dirty="0"/>
          </a:p>
        </p:txBody>
      </p:sp>
      <p:sp>
        <p:nvSpPr>
          <p:cNvPr id="7" name="Shape 4"/>
          <p:cNvSpPr/>
          <p:nvPr/>
        </p:nvSpPr>
        <p:spPr>
          <a:xfrm>
            <a:off x="640080" y="1572768"/>
            <a:ext cx="10881360" cy="960120"/>
          </a:xfrm>
          <a:prstGeom prst="roundRect">
            <a:avLst>
              <a:gd name="adj" fmla="val 9524"/>
            </a:avLst>
          </a:prstGeom>
          <a:solidFill>
            <a:srgbClr val="15181D"/>
          </a:solidFill>
          <a:ln w="12700">
            <a:solidFill>
              <a:srgbClr val="2A2F37"/>
            </a:solidFill>
            <a:prstDash val="solid"/>
          </a:ln>
        </p:spPr>
      </p:sp>
      <p:sp>
        <p:nvSpPr>
          <p:cNvPr id="8" name="Text 5"/>
          <p:cNvSpPr/>
          <p:nvPr/>
        </p:nvSpPr>
        <p:spPr>
          <a:xfrm>
            <a:off x="914400" y="1828800"/>
            <a:ext cx="10332720" cy="448056"/>
          </a:xfrm>
          <a:prstGeom prst="rect">
            <a:avLst/>
          </a:prstGeom>
          <a:noFill/>
          <a:ln/>
        </p:spPr>
        <p:txBody>
          <a:bodyPr wrap="square" lIns="0" tIns="0" rIns="0" bIns="0" rtlCol="0" anchor="t"/>
          <a:lstStyle/>
          <a:p>
            <a:pPr indent="0" marL="0">
              <a:lnSpc>
                <a:spcPts val="2200"/>
              </a:lnSpc>
              <a:buNone/>
            </a:pPr>
            <a:r>
              <a:rPr lang="en-US" sz="1300" dirty="0">
                <a:solidFill>
                  <a:srgbClr val="9BA1A9"/>
                </a:solidFill>
                <a:latin typeface="Courier New" pitchFamily="34" charset="0"/>
                <a:ea typeface="Courier New" pitchFamily="34" charset="-122"/>
                <a:cs typeface="Courier New" pitchFamily="34" charset="-120"/>
              </a:rPr>
              <a:t>&lt;</a:t>
            </a:r>
            <a:pPr indent="0" marL="0">
              <a:lnSpc>
                <a:spcPts val="2200"/>
              </a:lnSpc>
              <a:buNone/>
            </a:pPr>
            <a:r>
              <a:rPr lang="en-US" sz="1300" dirty="0">
                <a:solidFill>
                  <a:srgbClr val="F79A80"/>
                </a:solidFill>
                <a:latin typeface="Courier New" pitchFamily="34" charset="0"/>
                <a:ea typeface="Courier New" pitchFamily="34" charset="-122"/>
                <a:cs typeface="Courier New" pitchFamily="34" charset="-120"/>
              </a:rPr>
              <a:t>a</a:t>
            </a:r>
            <a:pPr indent="0" marL="0">
              <a:lnSpc>
                <a:spcPts val="2200"/>
              </a:lnSpc>
              <a:buNone/>
            </a:pPr>
            <a:r>
              <a:rPr lang="en-US" sz="1300" dirty="0">
                <a:solidFill>
                  <a:srgbClr val="E8E6E1"/>
                </a:solidFill>
                <a:latin typeface="Courier New" pitchFamily="34" charset="0"/>
                <a:ea typeface="Courier New" pitchFamily="34" charset="-122"/>
                <a:cs typeface="Courier New" pitchFamily="34" charset="-120"/>
              </a:rPr>
              <a:t> </a:t>
            </a:r>
            <a:pPr indent="0" marL="0">
              <a:lnSpc>
                <a:spcPts val="2200"/>
              </a:lnSpc>
              <a:buNone/>
            </a:pPr>
            <a:r>
              <a:rPr lang="en-US" sz="1300" dirty="0">
                <a:solidFill>
                  <a:srgbClr val="E3C07B"/>
                </a:solidFill>
                <a:latin typeface="Courier New" pitchFamily="34" charset="0"/>
                <a:ea typeface="Courier New" pitchFamily="34" charset="-122"/>
                <a:cs typeface="Courier New" pitchFamily="34" charset="-120"/>
              </a:rPr>
              <a:t>href</a:t>
            </a:r>
            <a:pPr indent="0" marL="0">
              <a:lnSpc>
                <a:spcPts val="2200"/>
              </a:lnSpc>
              <a:buNone/>
            </a:pPr>
            <a:r>
              <a:rPr lang="en-US" sz="1300" dirty="0">
                <a:solidFill>
                  <a:srgbClr val="9BA1A9"/>
                </a:solidFill>
                <a:latin typeface="Courier New" pitchFamily="34" charset="0"/>
                <a:ea typeface="Courier New" pitchFamily="34" charset="-122"/>
                <a:cs typeface="Courier New" pitchFamily="34" charset="-120"/>
              </a:rPr>
              <a:t>=</a:t>
            </a:r>
            <a:pPr indent="0" marL="0">
              <a:lnSpc>
                <a:spcPts val="2200"/>
              </a:lnSpc>
              <a:buNone/>
            </a:pPr>
            <a:r>
              <a:rPr lang="en-US" sz="1300" dirty="0">
                <a:solidFill>
                  <a:srgbClr val="92C5F7"/>
                </a:solidFill>
                <a:latin typeface="Courier New" pitchFamily="34" charset="0"/>
                <a:ea typeface="Courier New" pitchFamily="34" charset="-122"/>
                <a:cs typeface="Courier New" pitchFamily="34" charset="-120"/>
              </a:rPr>
              <a:t>"https://www.google.com"</a:t>
            </a:r>
            <a:pPr indent="0" marL="0">
              <a:lnSpc>
                <a:spcPts val="2200"/>
              </a:lnSpc>
              <a:buNone/>
            </a:pPr>
            <a:r>
              <a:rPr lang="en-US" sz="1300" dirty="0">
                <a:solidFill>
                  <a:srgbClr val="E8E6E1"/>
                </a:solidFill>
                <a:latin typeface="Courier New" pitchFamily="34" charset="0"/>
                <a:ea typeface="Courier New" pitchFamily="34" charset="-122"/>
                <a:cs typeface="Courier New" pitchFamily="34" charset="-120"/>
              </a:rPr>
              <a:t> </a:t>
            </a:r>
            <a:pPr indent="0" marL="0">
              <a:lnSpc>
                <a:spcPts val="2200"/>
              </a:lnSpc>
              <a:buNone/>
            </a:pPr>
            <a:r>
              <a:rPr lang="en-US" sz="1300" dirty="0">
                <a:solidFill>
                  <a:srgbClr val="E3C07B"/>
                </a:solidFill>
                <a:latin typeface="Courier New" pitchFamily="34" charset="0"/>
                <a:ea typeface="Courier New" pitchFamily="34" charset="-122"/>
                <a:cs typeface="Courier New" pitchFamily="34" charset="-120"/>
              </a:rPr>
              <a:t>target</a:t>
            </a:r>
            <a:pPr indent="0" marL="0">
              <a:lnSpc>
                <a:spcPts val="2200"/>
              </a:lnSpc>
              <a:buNone/>
            </a:pPr>
            <a:r>
              <a:rPr lang="en-US" sz="1300" dirty="0">
                <a:solidFill>
                  <a:srgbClr val="9BA1A9"/>
                </a:solidFill>
                <a:latin typeface="Courier New" pitchFamily="34" charset="0"/>
                <a:ea typeface="Courier New" pitchFamily="34" charset="-122"/>
                <a:cs typeface="Courier New" pitchFamily="34" charset="-120"/>
              </a:rPr>
              <a:t>=</a:t>
            </a:r>
            <a:pPr indent="0" marL="0">
              <a:lnSpc>
                <a:spcPts val="2200"/>
              </a:lnSpc>
              <a:buNone/>
            </a:pPr>
            <a:r>
              <a:rPr lang="en-US" sz="1300" dirty="0">
                <a:solidFill>
                  <a:srgbClr val="92C5F7"/>
                </a:solidFill>
                <a:latin typeface="Courier New" pitchFamily="34" charset="0"/>
                <a:ea typeface="Courier New" pitchFamily="34" charset="-122"/>
                <a:cs typeface="Courier New" pitchFamily="34" charset="-120"/>
              </a:rPr>
              <a:t>"_blank"</a:t>
            </a:r>
            <a:pPr indent="0" marL="0">
              <a:lnSpc>
                <a:spcPts val="2200"/>
              </a:lnSpc>
              <a:buNone/>
            </a:pPr>
            <a:r>
              <a:rPr lang="en-US" sz="1300" dirty="0">
                <a:solidFill>
                  <a:srgbClr val="9BA1A9"/>
                </a:solidFill>
                <a:latin typeface="Courier New" pitchFamily="34" charset="0"/>
                <a:ea typeface="Courier New" pitchFamily="34" charset="-122"/>
                <a:cs typeface="Courier New" pitchFamily="34" charset="-120"/>
              </a:rPr>
              <a:t>&gt;</a:t>
            </a:r>
            <a:pPr indent="0" marL="0">
              <a:lnSpc>
                <a:spcPts val="2200"/>
              </a:lnSpc>
              <a:buNone/>
            </a:pPr>
            <a:r>
              <a:rPr lang="en-US" sz="1300" dirty="0">
                <a:solidFill>
                  <a:srgbClr val="E8E6E1"/>
                </a:solidFill>
                <a:latin typeface="Courier New" pitchFamily="34" charset="0"/>
                <a:ea typeface="Courier New" pitchFamily="34" charset="-122"/>
                <a:cs typeface="Courier New" pitchFamily="34" charset="-120"/>
              </a:rPr>
              <a:t>take me to google</a:t>
            </a:r>
            <a:pPr indent="0" marL="0">
              <a:lnSpc>
                <a:spcPts val="2200"/>
              </a:lnSpc>
              <a:buNone/>
            </a:pPr>
            <a:r>
              <a:rPr lang="en-US" sz="1300" dirty="0">
                <a:solidFill>
                  <a:srgbClr val="9BA1A9"/>
                </a:solidFill>
                <a:latin typeface="Courier New" pitchFamily="34" charset="0"/>
                <a:ea typeface="Courier New" pitchFamily="34" charset="-122"/>
                <a:cs typeface="Courier New" pitchFamily="34" charset="-120"/>
              </a:rPr>
              <a:t>&lt;/</a:t>
            </a:r>
            <a:pPr indent="0" marL="0">
              <a:lnSpc>
                <a:spcPts val="2200"/>
              </a:lnSpc>
              <a:buNone/>
            </a:pPr>
            <a:r>
              <a:rPr lang="en-US" sz="1300" dirty="0">
                <a:solidFill>
                  <a:srgbClr val="F79A80"/>
                </a:solidFill>
                <a:latin typeface="Courier New" pitchFamily="34" charset="0"/>
                <a:ea typeface="Courier New" pitchFamily="34" charset="-122"/>
                <a:cs typeface="Courier New" pitchFamily="34" charset="-120"/>
              </a:rPr>
              <a:t>a</a:t>
            </a:r>
            <a:pPr indent="0" marL="0">
              <a:lnSpc>
                <a:spcPts val="2200"/>
              </a:lnSpc>
              <a:buNone/>
            </a:pPr>
            <a:r>
              <a:rPr lang="en-US" sz="1300" dirty="0">
                <a:solidFill>
                  <a:srgbClr val="9BA1A9"/>
                </a:solidFill>
                <a:latin typeface="Courier New" pitchFamily="34" charset="0"/>
                <a:ea typeface="Courier New" pitchFamily="34" charset="-122"/>
                <a:cs typeface="Courier New" pitchFamily="34" charset="-120"/>
              </a:rPr>
              <a:t>&gt;</a:t>
            </a:r>
            <a:endParaRPr lang="en-US" sz="1300" dirty="0"/>
          </a:p>
        </p:txBody>
      </p:sp>
      <p:sp>
        <p:nvSpPr>
          <p:cNvPr id="9" name="Shape 6"/>
          <p:cNvSpPr/>
          <p:nvPr/>
        </p:nvSpPr>
        <p:spPr>
          <a:xfrm>
            <a:off x="640080" y="2688336"/>
            <a:ext cx="3419856" cy="1481328"/>
          </a:xfrm>
          <a:prstGeom prst="roundRect">
            <a:avLst>
              <a:gd name="adj" fmla="val 6173"/>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0" name="Shape 7"/>
          <p:cNvSpPr/>
          <p:nvPr/>
        </p:nvSpPr>
        <p:spPr>
          <a:xfrm>
            <a:off x="896112" y="2907792"/>
            <a:ext cx="475488" cy="475488"/>
          </a:xfrm>
          <a:prstGeom prst="roundRect">
            <a:avLst>
              <a:gd name="adj" fmla="val 19231"/>
            </a:avLst>
          </a:prstGeom>
          <a:solidFill>
            <a:srgbClr val="FBE9E2"/>
          </a:solidFill>
          <a:ln w="12700">
            <a:solidFill>
              <a:srgbClr val="F0B9A6"/>
            </a:solidFill>
            <a:prstDash val="solid"/>
          </a:ln>
        </p:spPr>
      </p:sp>
      <p:pic>
        <p:nvPicPr>
          <p:cNvPr id="11" name="Image 0" descr="preencoded.png">    </p:cNvPr>
          <p:cNvPicPr>
            <a:picLocks noChangeAspect="1"/>
          </p:cNvPicPr>
          <p:nvPr/>
        </p:nvPicPr>
        <p:blipFill>
          <a:blip r:embed="rId1"/>
          <a:stretch>
            <a:fillRect/>
          </a:stretch>
        </p:blipFill>
        <p:spPr>
          <a:xfrm>
            <a:off x="1019739" y="3031419"/>
            <a:ext cx="228234" cy="228234"/>
          </a:xfrm>
          <a:prstGeom prst="rect">
            <a:avLst/>
          </a:prstGeom>
        </p:spPr>
      </p:pic>
      <p:sp>
        <p:nvSpPr>
          <p:cNvPr id="12" name="Text 8"/>
          <p:cNvSpPr/>
          <p:nvPr/>
        </p:nvSpPr>
        <p:spPr>
          <a:xfrm>
            <a:off x="1481328" y="2907792"/>
            <a:ext cx="2322576" cy="475488"/>
          </a:xfrm>
          <a:prstGeom prst="rect">
            <a:avLst/>
          </a:prstGeom>
          <a:noFill/>
          <a:ln/>
        </p:spPr>
        <p:txBody>
          <a:bodyPr wrap="square" lIns="0" tIns="0" rIns="0" bIns="0" rtlCol="0" anchor="ctr"/>
          <a:lstStyle/>
          <a:p>
            <a:pPr indent="0" marL="0">
              <a:buNone/>
            </a:pPr>
            <a:r>
              <a:rPr lang="en-US" sz="1300" b="1" dirty="0">
                <a:solidFill>
                  <a:srgbClr val="E34F26"/>
                </a:solidFill>
                <a:latin typeface="Courier New" pitchFamily="34" charset="0"/>
                <a:ea typeface="Courier New" pitchFamily="34" charset="-122"/>
                <a:cs typeface="Courier New" pitchFamily="34" charset="-120"/>
              </a:rPr>
              <a:t>a</a:t>
            </a:r>
            <a:endParaRPr lang="en-US" sz="1300" dirty="0"/>
          </a:p>
        </p:txBody>
      </p:sp>
      <p:sp>
        <p:nvSpPr>
          <p:cNvPr id="13" name="Text 9"/>
          <p:cNvSpPr/>
          <p:nvPr/>
        </p:nvSpPr>
        <p:spPr>
          <a:xfrm>
            <a:off x="896112" y="3493008"/>
            <a:ext cx="2907792" cy="603504"/>
          </a:xfrm>
          <a:prstGeom prst="rect">
            <a:avLst/>
          </a:prstGeom>
          <a:noFill/>
          <a:ln/>
        </p:spPr>
        <p:txBody>
          <a:bodyPr wrap="square" lIns="0" tIns="0" rIns="0" bIns="0" rtlCol="0" anchor="t"/>
          <a:lstStyle/>
          <a:p>
            <a:pPr algn="l" indent="0" marL="0">
              <a:lnSpc>
                <a:spcPts val="1600"/>
              </a:lnSpc>
              <a:buNone/>
            </a:pPr>
            <a:r>
              <a:rPr lang="en-US" sz="1200" dirty="0">
                <a:solidFill>
                  <a:srgbClr val="5A6069"/>
                </a:solidFill>
                <a:latin typeface="Calibri" pitchFamily="34" charset="0"/>
                <a:ea typeface="Calibri" pitchFamily="34" charset="-122"/>
                <a:cs typeface="Calibri" pitchFamily="34" charset="-120"/>
              </a:rPr>
              <a:t>Short for anchor. It creates a hyperlink, the thing that connects one page to another.</a:t>
            </a:r>
            <a:endParaRPr lang="en-US" sz="1200" dirty="0"/>
          </a:p>
        </p:txBody>
      </p:sp>
      <p:sp>
        <p:nvSpPr>
          <p:cNvPr id="14" name="Shape 10"/>
          <p:cNvSpPr/>
          <p:nvPr/>
        </p:nvSpPr>
        <p:spPr>
          <a:xfrm>
            <a:off x="4379976" y="2688336"/>
            <a:ext cx="3419856" cy="1481328"/>
          </a:xfrm>
          <a:prstGeom prst="roundRect">
            <a:avLst>
              <a:gd name="adj" fmla="val 6173"/>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5" name="Shape 11"/>
          <p:cNvSpPr/>
          <p:nvPr/>
        </p:nvSpPr>
        <p:spPr>
          <a:xfrm>
            <a:off x="4636008" y="2907792"/>
            <a:ext cx="475488" cy="475488"/>
          </a:xfrm>
          <a:prstGeom prst="roundRect">
            <a:avLst>
              <a:gd name="adj" fmla="val 19231"/>
            </a:avLst>
          </a:prstGeom>
          <a:solidFill>
            <a:srgbClr val="FBE9E2"/>
          </a:solidFill>
          <a:ln w="12700">
            <a:solidFill>
              <a:srgbClr val="F0B9A6"/>
            </a:solidFill>
            <a:prstDash val="solid"/>
          </a:ln>
        </p:spPr>
      </p:sp>
      <p:pic>
        <p:nvPicPr>
          <p:cNvPr id="16" name="Image 1" descr="preencoded.png">    </p:cNvPr>
          <p:cNvPicPr>
            <a:picLocks noChangeAspect="1"/>
          </p:cNvPicPr>
          <p:nvPr/>
        </p:nvPicPr>
        <p:blipFill>
          <a:blip r:embed="rId2"/>
          <a:stretch>
            <a:fillRect/>
          </a:stretch>
        </p:blipFill>
        <p:spPr>
          <a:xfrm>
            <a:off x="4759635" y="3031419"/>
            <a:ext cx="228234" cy="228234"/>
          </a:xfrm>
          <a:prstGeom prst="rect">
            <a:avLst/>
          </a:prstGeom>
        </p:spPr>
      </p:pic>
      <p:sp>
        <p:nvSpPr>
          <p:cNvPr id="17" name="Text 12"/>
          <p:cNvSpPr/>
          <p:nvPr/>
        </p:nvSpPr>
        <p:spPr>
          <a:xfrm>
            <a:off x="5221224" y="2907792"/>
            <a:ext cx="2322576" cy="475488"/>
          </a:xfrm>
          <a:prstGeom prst="rect">
            <a:avLst/>
          </a:prstGeom>
          <a:noFill/>
          <a:ln/>
        </p:spPr>
        <p:txBody>
          <a:bodyPr wrap="square" lIns="0" tIns="0" rIns="0" bIns="0" rtlCol="0" anchor="ctr"/>
          <a:lstStyle/>
          <a:p>
            <a:pPr indent="0" marL="0">
              <a:buNone/>
            </a:pPr>
            <a:r>
              <a:rPr lang="en-US" sz="1300" b="1" dirty="0">
                <a:solidFill>
                  <a:srgbClr val="E34F26"/>
                </a:solidFill>
                <a:latin typeface="Courier New" pitchFamily="34" charset="0"/>
                <a:ea typeface="Courier New" pitchFamily="34" charset="-122"/>
                <a:cs typeface="Courier New" pitchFamily="34" charset="-120"/>
              </a:rPr>
              <a:t>href</a:t>
            </a:r>
            <a:endParaRPr lang="en-US" sz="1300" dirty="0"/>
          </a:p>
        </p:txBody>
      </p:sp>
      <p:sp>
        <p:nvSpPr>
          <p:cNvPr id="18" name="Text 13"/>
          <p:cNvSpPr/>
          <p:nvPr/>
        </p:nvSpPr>
        <p:spPr>
          <a:xfrm>
            <a:off x="4636008" y="3493008"/>
            <a:ext cx="2907792" cy="603504"/>
          </a:xfrm>
          <a:prstGeom prst="rect">
            <a:avLst/>
          </a:prstGeom>
          <a:noFill/>
          <a:ln/>
        </p:spPr>
        <p:txBody>
          <a:bodyPr wrap="square" lIns="0" tIns="0" rIns="0" bIns="0" rtlCol="0" anchor="t"/>
          <a:lstStyle/>
          <a:p>
            <a:pPr algn="l" indent="0" marL="0">
              <a:lnSpc>
                <a:spcPts val="1600"/>
              </a:lnSpc>
              <a:buNone/>
            </a:pPr>
            <a:r>
              <a:rPr lang="en-US" sz="1200" dirty="0">
                <a:solidFill>
                  <a:srgbClr val="5A6069"/>
                </a:solidFill>
                <a:latin typeface="Calibri" pitchFamily="34" charset="0"/>
                <a:ea typeface="Calibri" pitchFamily="34" charset="-122"/>
                <a:cs typeface="Calibri" pitchFamily="34" charset="-120"/>
              </a:rPr>
              <a:t>Where the link goes: another page of yours, or anywhere on the internet.</a:t>
            </a:r>
            <a:endParaRPr lang="en-US" sz="1200" dirty="0"/>
          </a:p>
        </p:txBody>
      </p:sp>
      <p:sp>
        <p:nvSpPr>
          <p:cNvPr id="19" name="Shape 14"/>
          <p:cNvSpPr/>
          <p:nvPr/>
        </p:nvSpPr>
        <p:spPr>
          <a:xfrm>
            <a:off x="8119872" y="2688336"/>
            <a:ext cx="3419856" cy="1481328"/>
          </a:xfrm>
          <a:prstGeom prst="roundRect">
            <a:avLst>
              <a:gd name="adj" fmla="val 6173"/>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0" name="Shape 15"/>
          <p:cNvSpPr/>
          <p:nvPr/>
        </p:nvSpPr>
        <p:spPr>
          <a:xfrm>
            <a:off x="8375904" y="2907792"/>
            <a:ext cx="475488" cy="475488"/>
          </a:xfrm>
          <a:prstGeom prst="roundRect">
            <a:avLst>
              <a:gd name="adj" fmla="val 19231"/>
            </a:avLst>
          </a:prstGeom>
          <a:solidFill>
            <a:srgbClr val="FBE9E2"/>
          </a:solidFill>
          <a:ln w="12700">
            <a:solidFill>
              <a:srgbClr val="F0B9A6"/>
            </a:solidFill>
            <a:prstDash val="solid"/>
          </a:ln>
        </p:spPr>
      </p:sp>
      <p:pic>
        <p:nvPicPr>
          <p:cNvPr id="21" name="Image 2" descr="preencoded.png">    </p:cNvPr>
          <p:cNvPicPr>
            <a:picLocks noChangeAspect="1"/>
          </p:cNvPicPr>
          <p:nvPr/>
        </p:nvPicPr>
        <p:blipFill>
          <a:blip r:embed="rId3"/>
          <a:stretch>
            <a:fillRect/>
          </a:stretch>
        </p:blipFill>
        <p:spPr>
          <a:xfrm>
            <a:off x="8499531" y="3031419"/>
            <a:ext cx="228234" cy="228234"/>
          </a:xfrm>
          <a:prstGeom prst="rect">
            <a:avLst/>
          </a:prstGeom>
        </p:spPr>
      </p:pic>
      <p:sp>
        <p:nvSpPr>
          <p:cNvPr id="22" name="Text 16"/>
          <p:cNvSpPr/>
          <p:nvPr/>
        </p:nvSpPr>
        <p:spPr>
          <a:xfrm>
            <a:off x="8961120" y="2907792"/>
            <a:ext cx="2322576" cy="475488"/>
          </a:xfrm>
          <a:prstGeom prst="rect">
            <a:avLst/>
          </a:prstGeom>
          <a:noFill/>
          <a:ln/>
        </p:spPr>
        <p:txBody>
          <a:bodyPr wrap="square" lIns="0" tIns="0" rIns="0" bIns="0" rtlCol="0" anchor="ctr"/>
          <a:lstStyle/>
          <a:p>
            <a:pPr indent="0" marL="0">
              <a:buNone/>
            </a:pPr>
            <a:r>
              <a:rPr lang="en-US" sz="1300" b="1" dirty="0">
                <a:solidFill>
                  <a:srgbClr val="E34F26"/>
                </a:solidFill>
                <a:latin typeface="Courier New" pitchFamily="34" charset="0"/>
                <a:ea typeface="Courier New" pitchFamily="34" charset="-122"/>
                <a:cs typeface="Courier New" pitchFamily="34" charset="-120"/>
              </a:rPr>
              <a:t>target="_blank"</a:t>
            </a:r>
            <a:endParaRPr lang="en-US" sz="1300" dirty="0"/>
          </a:p>
        </p:txBody>
      </p:sp>
      <p:sp>
        <p:nvSpPr>
          <p:cNvPr id="23" name="Text 17"/>
          <p:cNvSpPr/>
          <p:nvPr/>
        </p:nvSpPr>
        <p:spPr>
          <a:xfrm>
            <a:off x="8375904" y="3493008"/>
            <a:ext cx="2907792" cy="603504"/>
          </a:xfrm>
          <a:prstGeom prst="rect">
            <a:avLst/>
          </a:prstGeom>
          <a:noFill/>
          <a:ln/>
        </p:spPr>
        <p:txBody>
          <a:bodyPr wrap="square" lIns="0" tIns="0" rIns="0" bIns="0" rtlCol="0" anchor="t"/>
          <a:lstStyle/>
          <a:p>
            <a:pPr algn="l" indent="0" marL="0">
              <a:lnSpc>
                <a:spcPts val="1600"/>
              </a:lnSpc>
              <a:buNone/>
            </a:pPr>
            <a:r>
              <a:rPr lang="en-US" sz="1200" dirty="0">
                <a:solidFill>
                  <a:srgbClr val="5A6069"/>
                </a:solidFill>
                <a:latin typeface="Calibri" pitchFamily="34" charset="0"/>
                <a:ea typeface="Calibri" pitchFamily="34" charset="-122"/>
                <a:cs typeface="Calibri" pitchFamily="34" charset="-120"/>
              </a:rPr>
              <a:t>Opens it in a new tab instead of replacing the page you are on.</a:t>
            </a:r>
            <a:endParaRPr lang="en-US" sz="1200" dirty="0"/>
          </a:p>
        </p:txBody>
      </p:sp>
      <p:sp>
        <p:nvSpPr>
          <p:cNvPr id="24" name="Shape 18"/>
          <p:cNvSpPr/>
          <p:nvPr/>
        </p:nvSpPr>
        <p:spPr>
          <a:xfrm>
            <a:off x="640080" y="4315968"/>
            <a:ext cx="5212080" cy="1371600"/>
          </a:xfrm>
          <a:prstGeom prst="roundRect">
            <a:avLst>
              <a:gd name="adj" fmla="val 666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5" name="Shape 19"/>
          <p:cNvSpPr/>
          <p:nvPr/>
        </p:nvSpPr>
        <p:spPr>
          <a:xfrm>
            <a:off x="896112" y="4517136"/>
            <a:ext cx="475488" cy="475488"/>
          </a:xfrm>
          <a:prstGeom prst="roundRect">
            <a:avLst>
              <a:gd name="adj" fmla="val 19231"/>
            </a:avLst>
          </a:prstGeom>
          <a:solidFill>
            <a:srgbClr val="FBE9E2"/>
          </a:solidFill>
          <a:ln w="12700">
            <a:solidFill>
              <a:srgbClr val="F0B9A6"/>
            </a:solidFill>
            <a:prstDash val="solid"/>
          </a:ln>
        </p:spPr>
      </p:sp>
      <p:pic>
        <p:nvPicPr>
          <p:cNvPr id="26" name="Image 3" descr="preencoded.png">    </p:cNvPr>
          <p:cNvPicPr>
            <a:picLocks noChangeAspect="1"/>
          </p:cNvPicPr>
          <p:nvPr/>
        </p:nvPicPr>
        <p:blipFill>
          <a:blip r:embed="rId4"/>
          <a:stretch>
            <a:fillRect/>
          </a:stretch>
        </p:blipFill>
        <p:spPr>
          <a:xfrm>
            <a:off x="1019739" y="4640763"/>
            <a:ext cx="228234" cy="228234"/>
          </a:xfrm>
          <a:prstGeom prst="rect">
            <a:avLst/>
          </a:prstGeom>
        </p:spPr>
      </p:pic>
      <p:sp>
        <p:nvSpPr>
          <p:cNvPr id="27" name="Text 20"/>
          <p:cNvSpPr/>
          <p:nvPr/>
        </p:nvSpPr>
        <p:spPr>
          <a:xfrm>
            <a:off x="1481328" y="4517136"/>
            <a:ext cx="1645920" cy="475488"/>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Buttons</a:t>
            </a:r>
            <a:endParaRPr lang="en-US" sz="1600" dirty="0"/>
          </a:p>
        </p:txBody>
      </p:sp>
      <p:sp>
        <p:nvSpPr>
          <p:cNvPr id="28" name="Shape 21"/>
          <p:cNvSpPr/>
          <p:nvPr/>
        </p:nvSpPr>
        <p:spPr>
          <a:xfrm>
            <a:off x="3108960" y="4480560"/>
            <a:ext cx="2487168" cy="548640"/>
          </a:xfrm>
          <a:prstGeom prst="roundRect">
            <a:avLst>
              <a:gd name="adj" fmla="val 16667"/>
            </a:avLst>
          </a:prstGeom>
          <a:solidFill>
            <a:srgbClr val="15181D"/>
          </a:solidFill>
          <a:ln w="12700">
            <a:solidFill>
              <a:srgbClr val="2A2F37"/>
            </a:solidFill>
            <a:prstDash val="solid"/>
          </a:ln>
        </p:spPr>
      </p:sp>
      <p:sp>
        <p:nvSpPr>
          <p:cNvPr id="29" name="Text 22"/>
          <p:cNvSpPr/>
          <p:nvPr/>
        </p:nvSpPr>
        <p:spPr>
          <a:xfrm>
            <a:off x="3383280" y="4736592"/>
            <a:ext cx="1938528" cy="36576"/>
          </a:xfrm>
          <a:prstGeom prst="rect">
            <a:avLst/>
          </a:prstGeom>
          <a:noFill/>
          <a:ln/>
        </p:spPr>
        <p:txBody>
          <a:bodyPr wrap="square" lIns="0" tIns="0" rIns="0" bIns="0" rtlCol="0" anchor="t"/>
          <a:lstStyle/>
          <a:p>
            <a:pPr indent="0" marL="0">
              <a:lnSpc>
                <a:spcPts val="1500"/>
              </a:lnSpc>
              <a:buNone/>
            </a:pPr>
            <a:r>
              <a:rPr lang="en-US" sz="950" dirty="0">
                <a:solidFill>
                  <a:srgbClr val="9BA1A9"/>
                </a:solidFill>
                <a:latin typeface="Courier New" pitchFamily="34" charset="0"/>
                <a:ea typeface="Courier New" pitchFamily="34" charset="-122"/>
                <a:cs typeface="Courier New" pitchFamily="34" charset="-120"/>
              </a:rPr>
              <a:t>&lt;</a:t>
            </a:r>
            <a:pPr indent="0" marL="0">
              <a:lnSpc>
                <a:spcPts val="1500"/>
              </a:lnSpc>
              <a:buNone/>
            </a:pPr>
            <a:r>
              <a:rPr lang="en-US" sz="950" dirty="0">
                <a:solidFill>
                  <a:srgbClr val="F79A80"/>
                </a:solidFill>
                <a:latin typeface="Courier New" pitchFamily="34" charset="0"/>
                <a:ea typeface="Courier New" pitchFamily="34" charset="-122"/>
                <a:cs typeface="Courier New" pitchFamily="34" charset="-120"/>
              </a:rPr>
              <a:t>button</a:t>
            </a:r>
            <a:pPr indent="0" marL="0">
              <a:lnSpc>
                <a:spcPts val="1500"/>
              </a:lnSpc>
              <a:buNone/>
            </a:pPr>
            <a:r>
              <a:rPr lang="en-US" sz="950" dirty="0">
                <a:solidFill>
                  <a:srgbClr val="9BA1A9"/>
                </a:solidFill>
                <a:latin typeface="Courier New" pitchFamily="34" charset="0"/>
                <a:ea typeface="Courier New" pitchFamily="34" charset="-122"/>
                <a:cs typeface="Courier New" pitchFamily="34" charset="-120"/>
              </a:rPr>
              <a:t>&gt;</a:t>
            </a:r>
            <a:pPr indent="0" marL="0">
              <a:lnSpc>
                <a:spcPts val="1500"/>
              </a:lnSpc>
              <a:buNone/>
            </a:pPr>
            <a:r>
              <a:rPr lang="en-US" sz="950" dirty="0">
                <a:solidFill>
                  <a:srgbClr val="E8E6E1"/>
                </a:solidFill>
                <a:latin typeface="Courier New" pitchFamily="34" charset="0"/>
                <a:ea typeface="Courier New" pitchFamily="34" charset="-122"/>
                <a:cs typeface="Courier New" pitchFamily="34" charset="-120"/>
              </a:rPr>
              <a:t>BUY</a:t>
            </a:r>
            <a:pPr indent="0" marL="0">
              <a:lnSpc>
                <a:spcPts val="1500"/>
              </a:lnSpc>
              <a:buNone/>
            </a:pPr>
            <a:r>
              <a:rPr lang="en-US" sz="950" dirty="0">
                <a:solidFill>
                  <a:srgbClr val="9BA1A9"/>
                </a:solidFill>
                <a:latin typeface="Courier New" pitchFamily="34" charset="0"/>
                <a:ea typeface="Courier New" pitchFamily="34" charset="-122"/>
                <a:cs typeface="Courier New" pitchFamily="34" charset="-120"/>
              </a:rPr>
              <a:t>&lt;/</a:t>
            </a:r>
            <a:pPr indent="0" marL="0">
              <a:lnSpc>
                <a:spcPts val="1500"/>
              </a:lnSpc>
              <a:buNone/>
            </a:pPr>
            <a:r>
              <a:rPr lang="en-US" sz="950" dirty="0">
                <a:solidFill>
                  <a:srgbClr val="F79A80"/>
                </a:solidFill>
                <a:latin typeface="Courier New" pitchFamily="34" charset="0"/>
                <a:ea typeface="Courier New" pitchFamily="34" charset="-122"/>
                <a:cs typeface="Courier New" pitchFamily="34" charset="-120"/>
              </a:rPr>
              <a:t>button</a:t>
            </a:r>
            <a:pPr indent="0" marL="0">
              <a:lnSpc>
                <a:spcPts val="1500"/>
              </a:lnSpc>
              <a:buNone/>
            </a:pPr>
            <a:r>
              <a:rPr lang="en-US" sz="950" dirty="0">
                <a:solidFill>
                  <a:srgbClr val="9BA1A9"/>
                </a:solidFill>
                <a:latin typeface="Courier New" pitchFamily="34" charset="0"/>
                <a:ea typeface="Courier New" pitchFamily="34" charset="-122"/>
                <a:cs typeface="Courier New" pitchFamily="34" charset="-120"/>
              </a:rPr>
              <a:t>&gt;</a:t>
            </a:r>
            <a:endParaRPr lang="en-US" sz="950" dirty="0"/>
          </a:p>
        </p:txBody>
      </p:sp>
      <p:sp>
        <p:nvSpPr>
          <p:cNvPr id="30" name="Text 23"/>
          <p:cNvSpPr/>
          <p:nvPr/>
        </p:nvSpPr>
        <p:spPr>
          <a:xfrm>
            <a:off x="896112" y="5120640"/>
            <a:ext cx="4700016" cy="457200"/>
          </a:xfrm>
          <a:prstGeom prst="rect">
            <a:avLst/>
          </a:prstGeom>
          <a:noFill/>
          <a:ln/>
        </p:spPr>
        <p:txBody>
          <a:bodyPr wrap="square" lIns="0" tIns="0" rIns="0" bIns="0" rtlCol="0" anchor="t"/>
          <a:lstStyle/>
          <a:p>
            <a:pPr algn="l" indent="0" marL="0">
              <a:lnSpc>
                <a:spcPts val="1600"/>
              </a:lnSpc>
              <a:buNone/>
            </a:pPr>
            <a:r>
              <a:rPr lang="en-US" sz="1200" dirty="0">
                <a:solidFill>
                  <a:srgbClr val="5A6069"/>
                </a:solidFill>
                <a:latin typeface="Calibri" pitchFamily="34" charset="0"/>
                <a:ea typeface="Calibri" pitchFamily="34" charset="-122"/>
                <a:cs typeface="Calibri" pitchFamily="34" charset="-120"/>
              </a:rPr>
              <a:t>Clickable, and today it proudly does nothing. We wire it up in the JavaScript module.</a:t>
            </a:r>
            <a:endParaRPr lang="en-US" sz="1200" dirty="0"/>
          </a:p>
        </p:txBody>
      </p:sp>
      <p:sp>
        <p:nvSpPr>
          <p:cNvPr id="31" name="Shape 24"/>
          <p:cNvSpPr/>
          <p:nvPr/>
        </p:nvSpPr>
        <p:spPr>
          <a:xfrm>
            <a:off x="6336792" y="4315968"/>
            <a:ext cx="5212080" cy="1371600"/>
          </a:xfrm>
          <a:prstGeom prst="roundRect">
            <a:avLst>
              <a:gd name="adj" fmla="val 666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2" name="Shape 25"/>
          <p:cNvSpPr/>
          <p:nvPr/>
        </p:nvSpPr>
        <p:spPr>
          <a:xfrm>
            <a:off x="6592824" y="4517136"/>
            <a:ext cx="475488" cy="475488"/>
          </a:xfrm>
          <a:prstGeom prst="roundRect">
            <a:avLst>
              <a:gd name="adj" fmla="val 19231"/>
            </a:avLst>
          </a:prstGeom>
          <a:solidFill>
            <a:srgbClr val="FBE9E2"/>
          </a:solidFill>
          <a:ln w="12700">
            <a:solidFill>
              <a:srgbClr val="F0B9A6"/>
            </a:solidFill>
            <a:prstDash val="solid"/>
          </a:ln>
        </p:spPr>
      </p:sp>
      <p:pic>
        <p:nvPicPr>
          <p:cNvPr id="33" name="Image 4" descr="preencoded.png">    </p:cNvPr>
          <p:cNvPicPr>
            <a:picLocks noChangeAspect="1"/>
          </p:cNvPicPr>
          <p:nvPr/>
        </p:nvPicPr>
        <p:blipFill>
          <a:blip r:embed="rId5"/>
          <a:stretch>
            <a:fillRect/>
          </a:stretch>
        </p:blipFill>
        <p:spPr>
          <a:xfrm>
            <a:off x="6716451" y="4640763"/>
            <a:ext cx="228234" cy="228234"/>
          </a:xfrm>
          <a:prstGeom prst="rect">
            <a:avLst/>
          </a:prstGeom>
        </p:spPr>
      </p:pic>
      <p:sp>
        <p:nvSpPr>
          <p:cNvPr id="34" name="Text 26"/>
          <p:cNvSpPr/>
          <p:nvPr/>
        </p:nvSpPr>
        <p:spPr>
          <a:xfrm>
            <a:off x="7178040" y="4517136"/>
            <a:ext cx="1645920" cy="475488"/>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Comments</a:t>
            </a:r>
            <a:endParaRPr lang="en-US" sz="1600" dirty="0"/>
          </a:p>
        </p:txBody>
      </p:sp>
      <p:sp>
        <p:nvSpPr>
          <p:cNvPr id="35" name="Shape 27"/>
          <p:cNvSpPr/>
          <p:nvPr/>
        </p:nvSpPr>
        <p:spPr>
          <a:xfrm>
            <a:off x="8805672" y="4480560"/>
            <a:ext cx="2487168" cy="548640"/>
          </a:xfrm>
          <a:prstGeom prst="roundRect">
            <a:avLst>
              <a:gd name="adj" fmla="val 16667"/>
            </a:avLst>
          </a:prstGeom>
          <a:solidFill>
            <a:srgbClr val="15181D"/>
          </a:solidFill>
          <a:ln w="12700">
            <a:solidFill>
              <a:srgbClr val="2A2F37"/>
            </a:solidFill>
            <a:prstDash val="solid"/>
          </a:ln>
        </p:spPr>
      </p:sp>
      <p:sp>
        <p:nvSpPr>
          <p:cNvPr id="36" name="Text 28"/>
          <p:cNvSpPr/>
          <p:nvPr/>
        </p:nvSpPr>
        <p:spPr>
          <a:xfrm>
            <a:off x="9079992" y="4736592"/>
            <a:ext cx="1938528" cy="36576"/>
          </a:xfrm>
          <a:prstGeom prst="rect">
            <a:avLst/>
          </a:prstGeom>
          <a:noFill/>
          <a:ln/>
        </p:spPr>
        <p:txBody>
          <a:bodyPr wrap="square" lIns="0" tIns="0" rIns="0" bIns="0" rtlCol="0" anchor="t"/>
          <a:lstStyle/>
          <a:p>
            <a:pPr indent="0" marL="0">
              <a:lnSpc>
                <a:spcPts val="1500"/>
              </a:lnSpc>
              <a:buNone/>
            </a:pPr>
            <a:r>
              <a:rPr lang="en-US" sz="950" dirty="0">
                <a:solidFill>
                  <a:srgbClr val="7E9C74"/>
                </a:solidFill>
                <a:latin typeface="Courier New" pitchFamily="34" charset="0"/>
                <a:ea typeface="Courier New" pitchFamily="34" charset="-122"/>
                <a:cs typeface="Courier New" pitchFamily="34" charset="-120"/>
              </a:rPr>
              <a:t>&lt;!-- notes for humans --&gt;</a:t>
            </a:r>
            <a:endParaRPr lang="en-US" sz="950" dirty="0"/>
          </a:p>
        </p:txBody>
      </p:sp>
      <p:sp>
        <p:nvSpPr>
          <p:cNvPr id="37" name="Text 29"/>
          <p:cNvSpPr/>
          <p:nvPr/>
        </p:nvSpPr>
        <p:spPr>
          <a:xfrm>
            <a:off x="6592824" y="5120640"/>
            <a:ext cx="4700016" cy="457200"/>
          </a:xfrm>
          <a:prstGeom prst="rect">
            <a:avLst/>
          </a:prstGeom>
          <a:noFill/>
          <a:ln/>
        </p:spPr>
        <p:txBody>
          <a:bodyPr wrap="square" lIns="0" tIns="0" rIns="0" bIns="0" rtlCol="0" anchor="t"/>
          <a:lstStyle/>
          <a:p>
            <a:pPr algn="l" indent="0" marL="0">
              <a:lnSpc>
                <a:spcPts val="1600"/>
              </a:lnSpc>
              <a:buNone/>
            </a:pPr>
            <a:r>
              <a:rPr lang="en-US" sz="1200" dirty="0">
                <a:solidFill>
                  <a:srgbClr val="5A6069"/>
                </a:solidFill>
                <a:latin typeface="Calibri" pitchFamily="34" charset="0"/>
                <a:ea typeface="Calibri" pitchFamily="34" charset="-122"/>
                <a:cs typeface="Calibri" pitchFamily="34" charset="-120"/>
              </a:rPr>
              <a:t>Invisible on the page, useful for whoever reads the code next. Usually you, in three weeks.</a:t>
            </a:r>
            <a:endParaRPr lang="en-US" sz="1200" dirty="0"/>
          </a:p>
        </p:txBody>
      </p:sp>
      <p:sp>
        <p:nvSpPr>
          <p:cNvPr id="38" name="Shape 30"/>
          <p:cNvSpPr/>
          <p:nvPr/>
        </p:nvSpPr>
        <p:spPr>
          <a:xfrm>
            <a:off x="640080" y="5852160"/>
            <a:ext cx="10908792" cy="457200"/>
          </a:xfrm>
          <a:prstGeom prst="roundRect">
            <a:avLst>
              <a:gd name="adj" fmla="val 16000"/>
            </a:avLst>
          </a:prstGeom>
          <a:solidFill>
            <a:srgbClr val="EFEEE9"/>
          </a:solidFill>
          <a:ln w="12700">
            <a:solidFill>
              <a:srgbClr val="D5D1C8"/>
            </a:solidFill>
            <a:prstDash val="solid"/>
          </a:ln>
        </p:spPr>
      </p:sp>
      <p:sp>
        <p:nvSpPr>
          <p:cNvPr id="39" name="Text 31"/>
          <p:cNvSpPr/>
          <p:nvPr/>
        </p:nvSpPr>
        <p:spPr>
          <a:xfrm>
            <a:off x="841248" y="5852160"/>
            <a:ext cx="10506456" cy="457200"/>
          </a:xfrm>
          <a:prstGeom prst="rect">
            <a:avLst/>
          </a:prstGeom>
          <a:noFill/>
          <a:ln/>
        </p:spPr>
        <p:txBody>
          <a:bodyPr wrap="square" lIns="0" tIns="0" rIns="0" bIns="0" rtlCol="0" anchor="ctr"/>
          <a:lstStyle/>
          <a:p>
            <a:pPr indent="0" marL="0">
              <a:lnSpc>
                <a:spcPts val="1470"/>
              </a:lnSpc>
              <a:buNone/>
            </a:pPr>
            <a:r>
              <a:rPr lang="en-US" sz="1050" dirty="0">
                <a:solidFill>
                  <a:srgbClr val="6E8A64"/>
                </a:solidFill>
                <a:latin typeface="Courier New" pitchFamily="34" charset="0"/>
                <a:ea typeface="Courier New" pitchFamily="34" charset="-122"/>
                <a:cs typeface="Courier New" pitchFamily="34" charset="-120"/>
              </a:rPr>
              <a:t>&lt;!-- target="_blank" is how a person ends up with 47 open tabs and a laptop that sounds like a hairdryer --&gt;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181D"/>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4A5058"/>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4A5058"/>
                </a:solidFill>
                <a:latin typeface="Courier New" pitchFamily="34" charset="0"/>
                <a:ea typeface="Courier New" pitchFamily="34" charset="-122"/>
                <a:cs typeface="Courier New" pitchFamily="34" charset="-120"/>
              </a:rPr>
              <a:t>16</a:t>
            </a:r>
            <a:endParaRPr lang="en-US" sz="900" dirty="0"/>
          </a:p>
        </p:txBody>
      </p:sp>
      <p:sp>
        <p:nvSpPr>
          <p:cNvPr id="5" name="Shape 2"/>
          <p:cNvSpPr/>
          <p:nvPr/>
        </p:nvSpPr>
        <p:spPr>
          <a:xfrm>
            <a:off x="640080" y="384048"/>
            <a:ext cx="1508760" cy="329184"/>
          </a:xfrm>
          <a:prstGeom prst="roundRect">
            <a:avLst>
              <a:gd name="adj" fmla="val 22222"/>
            </a:avLst>
          </a:prstGeom>
          <a:solidFill>
            <a:srgbClr val="E34F26"/>
          </a:solidFill>
          <a:ln w="12700">
            <a:solidFill>
              <a:srgbClr val="E34F26"/>
            </a:solidFill>
            <a:prstDash val="solid"/>
          </a:ln>
        </p:spPr>
      </p:sp>
      <p:sp>
        <p:nvSpPr>
          <p:cNvPr id="6" name="Text 3"/>
          <p:cNvSpPr/>
          <p:nvPr/>
        </p:nvSpPr>
        <p:spPr>
          <a:xfrm>
            <a:off x="640080" y="384048"/>
            <a:ext cx="1508760" cy="32918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LIVE CODE</a:t>
            </a:r>
            <a:endParaRPr lang="en-US" sz="1050" dirty="0"/>
          </a:p>
        </p:txBody>
      </p:sp>
      <p:sp>
        <p:nvSpPr>
          <p:cNvPr id="7" name="Text 4"/>
          <p:cNvSpPr/>
          <p:nvPr/>
        </p:nvSpPr>
        <p:spPr>
          <a:xfrm>
            <a:off x="2331720" y="384048"/>
            <a:ext cx="5486400" cy="329184"/>
          </a:xfrm>
          <a:prstGeom prst="rect">
            <a:avLst/>
          </a:prstGeom>
          <a:noFill/>
          <a:ln/>
        </p:spPr>
        <p:txBody>
          <a:bodyPr wrap="square" lIns="0" tIns="0" rIns="0" bIns="0" rtlCol="0" anchor="ctr"/>
          <a:lstStyle/>
          <a:p>
            <a:pPr indent="0" marL="0">
              <a:buNone/>
            </a:pPr>
            <a:r>
              <a:rPr lang="en-US" sz="1200" dirty="0">
                <a:solidFill>
                  <a:srgbClr val="E3C07B"/>
                </a:solidFill>
                <a:latin typeface="Courier New" pitchFamily="34" charset="0"/>
                <a:ea typeface="Courier New" pitchFamily="34" charset="-122"/>
                <a:cs typeface="Courier New" pitchFamily="34" charset="-120"/>
              </a:rPr>
              <a:t>index.html</a:t>
            </a:r>
            <a:endParaRPr lang="en-US" sz="1200" dirty="0"/>
          </a:p>
        </p:txBody>
      </p:sp>
      <p:sp>
        <p:nvSpPr>
          <p:cNvPr id="8" name="Text 5"/>
          <p:cNvSpPr/>
          <p:nvPr/>
        </p:nvSpPr>
        <p:spPr>
          <a:xfrm>
            <a:off x="640080" y="822960"/>
            <a:ext cx="1088136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Everything we just met, in one file</a:t>
            </a:r>
            <a:endParaRPr lang="en-US" sz="3000" dirty="0"/>
          </a:p>
        </p:txBody>
      </p:sp>
      <p:sp>
        <p:nvSpPr>
          <p:cNvPr id="9" name="Shape 6"/>
          <p:cNvSpPr/>
          <p:nvPr/>
        </p:nvSpPr>
        <p:spPr>
          <a:xfrm>
            <a:off x="640080" y="1536192"/>
            <a:ext cx="6858000" cy="4023360"/>
          </a:xfrm>
          <a:prstGeom prst="roundRect">
            <a:avLst>
              <a:gd name="adj" fmla="val 2273"/>
            </a:avLst>
          </a:prstGeom>
          <a:solidFill>
            <a:srgbClr val="0B0E12"/>
          </a:solidFill>
          <a:ln w="12700">
            <a:solidFill>
              <a:srgbClr val="2A2F37"/>
            </a:solidFill>
            <a:prstDash val="solid"/>
          </a:ln>
        </p:spPr>
      </p:sp>
      <p:sp>
        <p:nvSpPr>
          <p:cNvPr id="10" name="Text 7"/>
          <p:cNvSpPr/>
          <p:nvPr/>
        </p:nvSpPr>
        <p:spPr>
          <a:xfrm>
            <a:off x="914400" y="1792224"/>
            <a:ext cx="6309360" cy="3511296"/>
          </a:xfrm>
          <a:prstGeom prst="rect">
            <a:avLst/>
          </a:prstGeom>
          <a:noFill/>
          <a:ln/>
        </p:spPr>
        <p:txBody>
          <a:bodyPr wrap="square" lIns="0" tIns="0" rIns="0" bIns="0" rtlCol="0" anchor="t"/>
          <a:lstStyle/>
          <a:p>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h1</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50"/>
              </a:lnSpc>
              <a:buNone/>
            </a:pPr>
            <a:r>
              <a:rPr lang="en-US" sz="1150" dirty="0">
                <a:solidFill>
                  <a:srgbClr val="E8E6E1"/>
                </a:solidFill>
                <a:latin typeface="Courier New" pitchFamily="34" charset="0"/>
                <a:ea typeface="Courier New" pitchFamily="34" charset="-122"/>
                <a:cs typeface="Courier New" pitchFamily="34" charset="-120"/>
              </a:rPr>
              <a:t>My first page</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h1</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50"/>
              </a:lnSpc>
              <a:buNone/>
            </a:pPr>
            <a:endParaRPr lang="en-US" sz="1150" dirty="0"/>
          </a:p>
          <a:p>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h2</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50"/>
              </a:lnSpc>
              <a:buNone/>
            </a:pPr>
            <a:r>
              <a:rPr lang="en-US" sz="1150" dirty="0">
                <a:solidFill>
                  <a:srgbClr val="E8E6E1"/>
                </a:solidFill>
                <a:latin typeface="Courier New" pitchFamily="34" charset="0"/>
                <a:ea typeface="Courier New" pitchFamily="34" charset="-122"/>
                <a:cs typeface="Courier New" pitchFamily="34" charset="-120"/>
              </a:rPr>
              <a:t>About me</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h2</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50"/>
              </a:lnSpc>
              <a:buNone/>
            </a:pPr>
            <a:endParaRPr lang="en-US" sz="1150" dirty="0"/>
          </a:p>
          <a:p>
            <a:pPr indent="0" marL="0">
              <a:lnSpc>
                <a:spcPts val="1950"/>
              </a:lnSpc>
              <a:buNone/>
            </a:pPr>
            <a:endParaRPr lang="en-US" sz="1150" dirty="0"/>
          </a:p>
          <a:p>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p</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50"/>
              </a:lnSpc>
              <a:buNone/>
            </a:pPr>
            <a:r>
              <a:rPr lang="en-US" sz="1150" dirty="0">
                <a:solidFill>
                  <a:srgbClr val="E8E6E1"/>
                </a:solidFill>
                <a:latin typeface="Courier New" pitchFamily="34" charset="0"/>
                <a:ea typeface="Courier New" pitchFamily="34" charset="-122"/>
                <a:cs typeface="Courier New" pitchFamily="34" charset="-120"/>
              </a:rPr>
              <a:t>Lorem ipsum dolor sit amet</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p</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50"/>
              </a:lnSpc>
              <a:buNone/>
            </a:pPr>
            <a:endParaRPr lang="en-US" sz="1150" dirty="0"/>
          </a:p>
          <a:p>
            <a:pPr indent="0" marL="0">
              <a:lnSpc>
                <a:spcPts val="1950"/>
              </a:lnSpc>
              <a:buNone/>
            </a:pPr>
            <a:endParaRPr lang="en-US" sz="1150" dirty="0"/>
          </a:p>
          <a:p>
            <a:pPr indent="0" marL="0">
              <a:lnSpc>
                <a:spcPts val="1950"/>
              </a:lnSpc>
              <a:buNone/>
            </a:pPr>
            <a:r>
              <a:rPr lang="en-US" sz="1150" dirty="0">
                <a:solidFill>
                  <a:srgbClr val="7E9C74"/>
                </a:solidFill>
                <a:latin typeface="Courier New" pitchFamily="34" charset="0"/>
                <a:ea typeface="Courier New" pitchFamily="34" charset="-122"/>
                <a:cs typeface="Courier New" pitchFamily="34" charset="-120"/>
              </a:rPr>
              <a:t>&lt;!-- images are self closing --&gt;</a:t>
            </a:r>
            <a:pPr indent="0" marL="0">
              <a:lnSpc>
                <a:spcPts val="1950"/>
              </a:lnSpc>
              <a:buNone/>
            </a:pPr>
            <a:endParaRPr lang="en-US" sz="1150" dirty="0"/>
          </a:p>
          <a:p>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img</a:t>
            </a:r>
            <a:pPr indent="0" marL="0">
              <a:lnSpc>
                <a:spcPts val="1950"/>
              </a:lnSpc>
              <a:buNone/>
            </a:pPr>
            <a:r>
              <a:rPr lang="en-US" sz="1150" dirty="0">
                <a:solidFill>
                  <a:srgbClr val="E8E6E1"/>
                </a:solidFill>
                <a:latin typeface="Courier New" pitchFamily="34" charset="0"/>
                <a:ea typeface="Courier New" pitchFamily="34" charset="-122"/>
                <a:cs typeface="Courier New" pitchFamily="34" charset="-120"/>
              </a:rPr>
              <a:t> </a:t>
            </a:r>
            <a:pPr indent="0" marL="0">
              <a:lnSpc>
                <a:spcPts val="1950"/>
              </a:lnSpc>
              <a:buNone/>
            </a:pPr>
            <a:r>
              <a:rPr lang="en-US" sz="1150" dirty="0">
                <a:solidFill>
                  <a:srgbClr val="E3C07B"/>
                </a:solidFill>
                <a:latin typeface="Courier New" pitchFamily="34" charset="0"/>
                <a:ea typeface="Courier New" pitchFamily="34" charset="-122"/>
                <a:cs typeface="Courier New" pitchFamily="34" charset="-120"/>
              </a:rPr>
              <a:t>src</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a:t>
            </a:r>
            <a:pPr indent="0" marL="0">
              <a:lnSpc>
                <a:spcPts val="1950"/>
              </a:lnSpc>
              <a:buNone/>
            </a:pPr>
            <a:r>
              <a:rPr lang="en-US" sz="1150" dirty="0">
                <a:solidFill>
                  <a:srgbClr val="92C5F7"/>
                </a:solidFill>
                <a:latin typeface="Courier New" pitchFamily="34" charset="0"/>
                <a:ea typeface="Courier New" pitchFamily="34" charset="-122"/>
                <a:cs typeface="Courier New" pitchFamily="34" charset="-120"/>
              </a:rPr>
              <a:t>"puppy.jpg"</a:t>
            </a:r>
            <a:pPr indent="0" marL="0">
              <a:lnSpc>
                <a:spcPts val="1950"/>
              </a:lnSpc>
              <a:buNone/>
            </a:pPr>
            <a:endParaRPr lang="en-US" sz="1150" dirty="0"/>
          </a:p>
          <a:p>
            <a:pPr indent="0" marL="0">
              <a:lnSpc>
                <a:spcPts val="1950"/>
              </a:lnSpc>
              <a:buNone/>
            </a:pPr>
            <a:r>
              <a:rPr lang="en-US" sz="1150" dirty="0">
                <a:solidFill>
                  <a:srgbClr val="E8E6E1"/>
                </a:solidFill>
                <a:latin typeface="Courier New" pitchFamily="34" charset="0"/>
                <a:ea typeface="Courier New" pitchFamily="34" charset="-122"/>
                <a:cs typeface="Courier New" pitchFamily="34" charset="-120"/>
              </a:rPr>
              <a:t>     </a:t>
            </a:r>
            <a:pPr indent="0" marL="0">
              <a:lnSpc>
                <a:spcPts val="1950"/>
              </a:lnSpc>
              <a:buNone/>
            </a:pPr>
            <a:r>
              <a:rPr lang="en-US" sz="1150" dirty="0">
                <a:solidFill>
                  <a:srgbClr val="E3C07B"/>
                </a:solidFill>
                <a:latin typeface="Courier New" pitchFamily="34" charset="0"/>
                <a:ea typeface="Courier New" pitchFamily="34" charset="-122"/>
                <a:cs typeface="Courier New" pitchFamily="34" charset="-120"/>
              </a:rPr>
              <a:t>alt</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a:t>
            </a:r>
            <a:pPr indent="0" marL="0">
              <a:lnSpc>
                <a:spcPts val="1950"/>
              </a:lnSpc>
              <a:buNone/>
            </a:pPr>
            <a:r>
              <a:rPr lang="en-US" sz="1150" dirty="0">
                <a:solidFill>
                  <a:srgbClr val="92C5F7"/>
                </a:solidFill>
                <a:latin typeface="Courier New" pitchFamily="34" charset="0"/>
                <a:ea typeface="Courier New" pitchFamily="34" charset="-122"/>
                <a:cs typeface="Courier New" pitchFamily="34" charset="-120"/>
              </a:rPr>
              <a:t>"cute dog image"</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 /&gt;</a:t>
            </a:r>
            <a:pPr indent="0" marL="0">
              <a:lnSpc>
                <a:spcPts val="1950"/>
              </a:lnSpc>
              <a:buNone/>
            </a:pPr>
            <a:endParaRPr lang="en-US" sz="1150" dirty="0"/>
          </a:p>
          <a:p>
            <a:pPr indent="0" marL="0">
              <a:lnSpc>
                <a:spcPts val="1950"/>
              </a:lnSpc>
              <a:buNone/>
            </a:pPr>
            <a:endParaRPr lang="en-US" sz="1150" dirty="0"/>
          </a:p>
          <a:p>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a</a:t>
            </a:r>
            <a:pPr indent="0" marL="0">
              <a:lnSpc>
                <a:spcPts val="1950"/>
              </a:lnSpc>
              <a:buNone/>
            </a:pPr>
            <a:r>
              <a:rPr lang="en-US" sz="1150" dirty="0">
                <a:solidFill>
                  <a:srgbClr val="E8E6E1"/>
                </a:solidFill>
                <a:latin typeface="Courier New" pitchFamily="34" charset="0"/>
                <a:ea typeface="Courier New" pitchFamily="34" charset="-122"/>
                <a:cs typeface="Courier New" pitchFamily="34" charset="-120"/>
              </a:rPr>
              <a:t> </a:t>
            </a:r>
            <a:pPr indent="0" marL="0">
              <a:lnSpc>
                <a:spcPts val="1950"/>
              </a:lnSpc>
              <a:buNone/>
            </a:pPr>
            <a:r>
              <a:rPr lang="en-US" sz="1150" dirty="0">
                <a:solidFill>
                  <a:srgbClr val="E3C07B"/>
                </a:solidFill>
                <a:latin typeface="Courier New" pitchFamily="34" charset="0"/>
                <a:ea typeface="Courier New" pitchFamily="34" charset="-122"/>
                <a:cs typeface="Courier New" pitchFamily="34" charset="-120"/>
              </a:rPr>
              <a:t>href</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a:t>
            </a:r>
            <a:pPr indent="0" marL="0">
              <a:lnSpc>
                <a:spcPts val="1950"/>
              </a:lnSpc>
              <a:buNone/>
            </a:pPr>
            <a:r>
              <a:rPr lang="en-US" sz="1150" dirty="0">
                <a:solidFill>
                  <a:srgbClr val="92C5F7"/>
                </a:solidFill>
                <a:latin typeface="Courier New" pitchFamily="34" charset="0"/>
                <a:ea typeface="Courier New" pitchFamily="34" charset="-122"/>
                <a:cs typeface="Courier New" pitchFamily="34" charset="-120"/>
              </a:rPr>
              <a:t>"http://www.google.com"</a:t>
            </a:r>
            <a:pPr indent="0" marL="0">
              <a:lnSpc>
                <a:spcPts val="1950"/>
              </a:lnSpc>
              <a:buNone/>
            </a:pPr>
            <a:endParaRPr lang="en-US" sz="1150" dirty="0"/>
          </a:p>
          <a:p>
            <a:pPr indent="0" marL="0">
              <a:lnSpc>
                <a:spcPts val="1950"/>
              </a:lnSpc>
              <a:buNone/>
            </a:pPr>
            <a:r>
              <a:rPr lang="en-US" sz="1150" dirty="0">
                <a:solidFill>
                  <a:srgbClr val="E8E6E1"/>
                </a:solidFill>
                <a:latin typeface="Courier New" pitchFamily="34" charset="0"/>
                <a:ea typeface="Courier New" pitchFamily="34" charset="-122"/>
                <a:cs typeface="Courier New" pitchFamily="34" charset="-120"/>
              </a:rPr>
              <a:t>   </a:t>
            </a:r>
            <a:pPr indent="0" marL="0">
              <a:lnSpc>
                <a:spcPts val="1950"/>
              </a:lnSpc>
              <a:buNone/>
            </a:pPr>
            <a:r>
              <a:rPr lang="en-US" sz="1150" dirty="0">
                <a:solidFill>
                  <a:srgbClr val="E3C07B"/>
                </a:solidFill>
                <a:latin typeface="Courier New" pitchFamily="34" charset="0"/>
                <a:ea typeface="Courier New" pitchFamily="34" charset="-122"/>
                <a:cs typeface="Courier New" pitchFamily="34" charset="-120"/>
              </a:rPr>
              <a:t>target</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a:t>
            </a:r>
            <a:pPr indent="0" marL="0">
              <a:lnSpc>
                <a:spcPts val="1950"/>
              </a:lnSpc>
              <a:buNone/>
            </a:pPr>
            <a:r>
              <a:rPr lang="en-US" sz="1150" dirty="0">
                <a:solidFill>
                  <a:srgbClr val="92C5F7"/>
                </a:solidFill>
                <a:latin typeface="Courier New" pitchFamily="34" charset="0"/>
                <a:ea typeface="Courier New" pitchFamily="34" charset="-122"/>
                <a:cs typeface="Courier New" pitchFamily="34" charset="-120"/>
              </a:rPr>
              <a:t>"_blank"</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50"/>
              </a:lnSpc>
              <a:buNone/>
            </a:pPr>
            <a:r>
              <a:rPr lang="en-US" sz="1150" dirty="0">
                <a:solidFill>
                  <a:srgbClr val="E8E6E1"/>
                </a:solidFill>
                <a:latin typeface="Courier New" pitchFamily="34" charset="0"/>
                <a:ea typeface="Courier New" pitchFamily="34" charset="-122"/>
                <a:cs typeface="Courier New" pitchFamily="34" charset="-120"/>
              </a:rPr>
              <a:t>google</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a</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50"/>
              </a:lnSpc>
              <a:buNone/>
            </a:pPr>
            <a:endParaRPr lang="en-US" sz="1150" dirty="0"/>
          </a:p>
          <a:p>
            <a:pPr indent="0" marL="0">
              <a:lnSpc>
                <a:spcPts val="1950"/>
              </a:lnSpc>
              <a:buNone/>
            </a:pPr>
            <a:endParaRPr lang="en-US" sz="1150" dirty="0"/>
          </a:p>
          <a:p>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button</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1950"/>
              </a:lnSpc>
              <a:buNone/>
            </a:pPr>
            <a:r>
              <a:rPr lang="en-US" sz="1150" dirty="0">
                <a:solidFill>
                  <a:srgbClr val="E8E6E1"/>
                </a:solidFill>
                <a:latin typeface="Courier New" pitchFamily="34" charset="0"/>
                <a:ea typeface="Courier New" pitchFamily="34" charset="-122"/>
                <a:cs typeface="Courier New" pitchFamily="34" charset="-120"/>
              </a:rPr>
              <a:t>BUTTON</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1950"/>
              </a:lnSpc>
              <a:buNone/>
            </a:pPr>
            <a:r>
              <a:rPr lang="en-US" sz="1150" dirty="0">
                <a:solidFill>
                  <a:srgbClr val="F79A80"/>
                </a:solidFill>
                <a:latin typeface="Courier New" pitchFamily="34" charset="0"/>
                <a:ea typeface="Courier New" pitchFamily="34" charset="-122"/>
                <a:cs typeface="Courier New" pitchFamily="34" charset="-120"/>
              </a:rPr>
              <a:t>button</a:t>
            </a:r>
            <a:pPr indent="0" marL="0">
              <a:lnSpc>
                <a:spcPts val="1950"/>
              </a:lnSpc>
              <a:buNone/>
            </a:pPr>
            <a:r>
              <a:rPr lang="en-US" sz="1150" dirty="0">
                <a:solidFill>
                  <a:srgbClr val="9BA1A9"/>
                </a:solidFill>
                <a:latin typeface="Courier New" pitchFamily="34" charset="0"/>
                <a:ea typeface="Courier New" pitchFamily="34" charset="-122"/>
                <a:cs typeface="Courier New" pitchFamily="34" charset="-120"/>
              </a:rPr>
              <a:t>&gt;</a:t>
            </a:r>
            <a:endParaRPr lang="en-US" sz="1150" dirty="0"/>
          </a:p>
        </p:txBody>
      </p:sp>
      <p:sp>
        <p:nvSpPr>
          <p:cNvPr id="11" name="Text 8"/>
          <p:cNvSpPr/>
          <p:nvPr/>
        </p:nvSpPr>
        <p:spPr>
          <a:xfrm>
            <a:off x="7863840" y="1536192"/>
            <a:ext cx="3685032" cy="292608"/>
          </a:xfrm>
          <a:prstGeom prst="rect">
            <a:avLst/>
          </a:prstGeom>
          <a:noFill/>
          <a:ln/>
        </p:spPr>
        <p:txBody>
          <a:bodyPr wrap="square" lIns="0" tIns="0" rIns="0" bIns="0" rtlCol="0" anchor="ctr"/>
          <a:lstStyle/>
          <a:p>
            <a:pPr indent="0" marL="0">
              <a:buNone/>
            </a:pPr>
            <a:r>
              <a:rPr lang="en-US" sz="1050" b="1" spc="200" kern="0" dirty="0">
                <a:solidFill>
                  <a:srgbClr val="F79A80"/>
                </a:solidFill>
                <a:latin typeface="Calibri" pitchFamily="34" charset="0"/>
                <a:ea typeface="Calibri" pitchFamily="34" charset="-122"/>
                <a:cs typeface="Calibri" pitchFamily="34" charset="-120"/>
              </a:rPr>
              <a:t>SAY THIS WHILE YOU TYPE</a:t>
            </a:r>
            <a:endParaRPr lang="en-US" sz="1050" dirty="0"/>
          </a:p>
        </p:txBody>
      </p:sp>
      <p:sp>
        <p:nvSpPr>
          <p:cNvPr id="12" name="Shape 9"/>
          <p:cNvSpPr/>
          <p:nvPr/>
        </p:nvSpPr>
        <p:spPr>
          <a:xfrm>
            <a:off x="7863840" y="1920240"/>
            <a:ext cx="3685032" cy="658368"/>
          </a:xfrm>
          <a:prstGeom prst="roundRect">
            <a:avLst>
              <a:gd name="adj" fmla="val 11111"/>
            </a:avLst>
          </a:prstGeom>
          <a:solidFill>
            <a:srgbClr val="20242B"/>
          </a:solidFill>
          <a:ln w="12700">
            <a:solidFill>
              <a:srgbClr val="2E343D"/>
            </a:solidFill>
            <a:prstDash val="solid"/>
          </a:ln>
        </p:spPr>
      </p:sp>
      <p:sp>
        <p:nvSpPr>
          <p:cNvPr id="13" name="Text 10"/>
          <p:cNvSpPr/>
          <p:nvPr/>
        </p:nvSpPr>
        <p:spPr>
          <a:xfrm>
            <a:off x="8065008" y="1920240"/>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Headings first. Type h1 and press Enter, Emmet writes both tags. Ask which one should be the page title.</a:t>
            </a:r>
            <a:endParaRPr lang="en-US" sz="1200" dirty="0"/>
          </a:p>
        </p:txBody>
      </p:sp>
      <p:sp>
        <p:nvSpPr>
          <p:cNvPr id="14" name="Shape 11"/>
          <p:cNvSpPr/>
          <p:nvPr/>
        </p:nvSpPr>
        <p:spPr>
          <a:xfrm>
            <a:off x="7863840" y="2670048"/>
            <a:ext cx="3685032" cy="658368"/>
          </a:xfrm>
          <a:prstGeom prst="roundRect">
            <a:avLst>
              <a:gd name="adj" fmla="val 11111"/>
            </a:avLst>
          </a:prstGeom>
          <a:solidFill>
            <a:srgbClr val="20242B"/>
          </a:solidFill>
          <a:ln w="12700">
            <a:solidFill>
              <a:srgbClr val="2E343D"/>
            </a:solidFill>
            <a:prstDash val="solid"/>
          </a:ln>
        </p:spPr>
      </p:sp>
      <p:sp>
        <p:nvSpPr>
          <p:cNvPr id="15" name="Text 12"/>
          <p:cNvSpPr/>
          <p:nvPr/>
        </p:nvSpPr>
        <p:spPr>
          <a:xfrm>
            <a:off x="8065008" y="2670048"/>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For the paragraph type lorem and hit Enter. Filler text, no typing.</a:t>
            </a:r>
            <a:endParaRPr lang="en-US" sz="1200" dirty="0"/>
          </a:p>
        </p:txBody>
      </p:sp>
      <p:sp>
        <p:nvSpPr>
          <p:cNvPr id="16" name="Shape 13"/>
          <p:cNvSpPr/>
          <p:nvPr/>
        </p:nvSpPr>
        <p:spPr>
          <a:xfrm>
            <a:off x="7863840" y="3419856"/>
            <a:ext cx="3685032" cy="658368"/>
          </a:xfrm>
          <a:prstGeom prst="roundRect">
            <a:avLst>
              <a:gd name="adj" fmla="val 11111"/>
            </a:avLst>
          </a:prstGeom>
          <a:solidFill>
            <a:srgbClr val="20242B"/>
          </a:solidFill>
          <a:ln w="12700">
            <a:solidFill>
              <a:srgbClr val="2E343D"/>
            </a:solidFill>
            <a:prstDash val="solid"/>
          </a:ln>
        </p:spPr>
      </p:sp>
      <p:sp>
        <p:nvSpPr>
          <p:cNvPr id="17" name="Text 14"/>
          <p:cNvSpPr/>
          <p:nvPr/>
        </p:nvSpPr>
        <p:spPr>
          <a:xfrm>
            <a:off x="8065008" y="3419856"/>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Add the image, then break the URL on purpose. The alt text appears and everyone understands what alt is for.</a:t>
            </a:r>
            <a:endParaRPr lang="en-US" sz="1200" dirty="0"/>
          </a:p>
        </p:txBody>
      </p:sp>
      <p:sp>
        <p:nvSpPr>
          <p:cNvPr id="18" name="Shape 15"/>
          <p:cNvSpPr/>
          <p:nvPr/>
        </p:nvSpPr>
        <p:spPr>
          <a:xfrm>
            <a:off x="7863840" y="4169664"/>
            <a:ext cx="3685032" cy="658368"/>
          </a:xfrm>
          <a:prstGeom prst="roundRect">
            <a:avLst>
              <a:gd name="adj" fmla="val 11111"/>
            </a:avLst>
          </a:prstGeom>
          <a:solidFill>
            <a:srgbClr val="20242B"/>
          </a:solidFill>
          <a:ln w="12700">
            <a:solidFill>
              <a:srgbClr val="2E343D"/>
            </a:solidFill>
            <a:prstDash val="solid"/>
          </a:ln>
        </p:spPr>
      </p:sp>
      <p:sp>
        <p:nvSpPr>
          <p:cNvPr id="19" name="Text 16"/>
          <p:cNvSpPr/>
          <p:nvPr/>
        </p:nvSpPr>
        <p:spPr>
          <a:xfrm>
            <a:off x="8065008" y="4169664"/>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Finish with the link and the button. Click the button. Nothing happens. That is the JavaScript module in one moment.</a:t>
            </a:r>
            <a:endParaRPr lang="en-US" sz="1200" dirty="0"/>
          </a:p>
        </p:txBody>
      </p:sp>
      <p:sp>
        <p:nvSpPr>
          <p:cNvPr id="20" name="Shape 17"/>
          <p:cNvSpPr/>
          <p:nvPr/>
        </p:nvSpPr>
        <p:spPr>
          <a:xfrm>
            <a:off x="7863840" y="5541264"/>
            <a:ext cx="3685032" cy="658368"/>
          </a:xfrm>
          <a:prstGeom prst="roundRect">
            <a:avLst>
              <a:gd name="adj" fmla="val 11111"/>
            </a:avLst>
          </a:prstGeom>
          <a:solidFill>
            <a:srgbClr val="20242B"/>
          </a:solidFill>
          <a:ln w="12700">
            <a:solidFill>
              <a:srgbClr val="2E343D"/>
            </a:solidFill>
            <a:prstDash val="solid"/>
          </a:ln>
        </p:spPr>
      </p:sp>
      <p:sp>
        <p:nvSpPr>
          <p:cNvPr id="21" name="Text 18"/>
          <p:cNvSpPr/>
          <p:nvPr/>
        </p:nvSpPr>
        <p:spPr>
          <a:xfrm>
            <a:off x="8065008" y="5541264"/>
            <a:ext cx="3282696" cy="658368"/>
          </a:xfrm>
          <a:prstGeom prst="rect">
            <a:avLst/>
          </a:prstGeom>
          <a:noFill/>
          <a:ln/>
        </p:spPr>
        <p:txBody>
          <a:bodyPr wrap="square" lIns="0" tIns="0" rIns="0" bIns="0" rtlCol="0" anchor="ctr"/>
          <a:lstStyle/>
          <a:p>
            <a:pPr indent="0" marL="0">
              <a:lnSpc>
                <a:spcPts val="1470"/>
              </a:lnSpc>
              <a:buNone/>
            </a:pPr>
            <a:r>
              <a:rPr lang="en-US" sz="1050" dirty="0">
                <a:solidFill>
                  <a:srgbClr val="7E9C74"/>
                </a:solidFill>
                <a:latin typeface="Courier New" pitchFamily="34" charset="0"/>
                <a:ea typeface="Courier New" pitchFamily="34" charset="-122"/>
                <a:cs typeface="Courier New" pitchFamily="34" charset="-120"/>
              </a:rPr>
              <a:t>&lt;!-- breaking things on purpose is a legitimate teaching technique and also very fun --&gt;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17</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&lt;structure&gt;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The div: an invisible box</a:t>
            </a:r>
            <a:endParaRPr lang="en-US" sz="3400" dirty="0"/>
          </a:p>
        </p:txBody>
      </p:sp>
      <p:sp>
        <p:nvSpPr>
          <p:cNvPr id="7" name="Text 4"/>
          <p:cNvSpPr/>
          <p:nvPr/>
        </p:nvSpPr>
        <p:spPr>
          <a:xfrm>
            <a:off x="640080" y="1517904"/>
            <a:ext cx="10881360" cy="384048"/>
          </a:xfrm>
          <a:prstGeom prst="rect">
            <a:avLst/>
          </a:prstGeom>
          <a:noFill/>
          <a:ln/>
        </p:spPr>
        <p:txBody>
          <a:bodyPr wrap="square" lIns="0" tIns="0" rIns="0" bIns="0" rtlCol="0" anchor="t"/>
          <a:lstStyle/>
          <a:p>
            <a:pPr algn="l" indent="0" marL="0">
              <a:lnSpc>
                <a:spcPts val="2001"/>
              </a:lnSpc>
              <a:buNone/>
            </a:pPr>
            <a:r>
              <a:rPr lang="en-US" sz="1450" dirty="0">
                <a:solidFill>
                  <a:srgbClr val="5A6069"/>
                </a:solidFill>
                <a:latin typeface="Calibri" pitchFamily="34" charset="0"/>
                <a:ea typeface="Calibri" pitchFamily="34" charset="-122"/>
                <a:cs typeface="Calibri" pitchFamily="34" charset="-120"/>
              </a:rPr>
              <a:t>A div groups content so you can move and style it as one block. Think of rooms in a house: a room changes nothing about the furniture, it just decides what belongs together.</a:t>
            </a:r>
            <a:endParaRPr lang="en-US" sz="1450" dirty="0"/>
          </a:p>
        </p:txBody>
      </p:sp>
      <p:sp>
        <p:nvSpPr>
          <p:cNvPr id="8" name="Shape 5"/>
          <p:cNvSpPr/>
          <p:nvPr/>
        </p:nvSpPr>
        <p:spPr>
          <a:xfrm>
            <a:off x="640080" y="2011680"/>
            <a:ext cx="5760720" cy="3200400"/>
          </a:xfrm>
          <a:prstGeom prst="roundRect">
            <a:avLst>
              <a:gd name="adj" fmla="val 2857"/>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9" name="Shape 6"/>
          <p:cNvSpPr/>
          <p:nvPr/>
        </p:nvSpPr>
        <p:spPr>
          <a:xfrm>
            <a:off x="960120" y="2286000"/>
            <a:ext cx="5120640" cy="548640"/>
          </a:xfrm>
          <a:prstGeom prst="roundRect">
            <a:avLst>
              <a:gd name="adj" fmla="val 10000"/>
            </a:avLst>
          </a:prstGeom>
          <a:solidFill>
            <a:srgbClr val="F7F6F3"/>
          </a:solidFill>
          <a:ln w="12700">
            <a:solidFill>
              <a:srgbClr val="F0B9A6"/>
            </a:solidFill>
            <a:prstDash val="solid"/>
          </a:ln>
        </p:spPr>
      </p:sp>
      <p:sp>
        <p:nvSpPr>
          <p:cNvPr id="10" name="Text 7"/>
          <p:cNvSpPr/>
          <p:nvPr/>
        </p:nvSpPr>
        <p:spPr>
          <a:xfrm>
            <a:off x="960120" y="2286000"/>
            <a:ext cx="5120640" cy="548640"/>
          </a:xfrm>
          <a:prstGeom prst="rect">
            <a:avLst/>
          </a:prstGeom>
          <a:noFill/>
          <a:ln/>
        </p:spPr>
        <p:txBody>
          <a:bodyPr wrap="square" lIns="0" tIns="0" rIns="0" bIns="0" rtlCol="0" anchor="ctr"/>
          <a:lstStyle/>
          <a:p>
            <a:pPr algn="ctr" indent="0" marL="0">
              <a:buNone/>
            </a:pPr>
            <a:r>
              <a:rPr lang="en-US" sz="1050" dirty="0">
                <a:solidFill>
                  <a:srgbClr val="E34F26"/>
                </a:solidFill>
                <a:latin typeface="Courier New" pitchFamily="34" charset="0"/>
                <a:ea typeface="Courier New" pitchFamily="34" charset="-122"/>
                <a:cs typeface="Courier New" pitchFamily="34" charset="-120"/>
              </a:rPr>
              <a:t>div: header</a:t>
            </a:r>
            <a:endParaRPr lang="en-US" sz="1050" dirty="0"/>
          </a:p>
        </p:txBody>
      </p:sp>
      <p:sp>
        <p:nvSpPr>
          <p:cNvPr id="11" name="Shape 8"/>
          <p:cNvSpPr/>
          <p:nvPr/>
        </p:nvSpPr>
        <p:spPr>
          <a:xfrm>
            <a:off x="960120" y="2944368"/>
            <a:ext cx="2377440" cy="1371600"/>
          </a:xfrm>
          <a:prstGeom prst="roundRect">
            <a:avLst>
              <a:gd name="adj" fmla="val 4000"/>
            </a:avLst>
          </a:prstGeom>
          <a:solidFill>
            <a:srgbClr val="F7F6F3"/>
          </a:solidFill>
          <a:ln w="12700">
            <a:solidFill>
              <a:srgbClr val="F0B9A6"/>
            </a:solidFill>
            <a:prstDash val="solid"/>
          </a:ln>
        </p:spPr>
      </p:sp>
      <p:sp>
        <p:nvSpPr>
          <p:cNvPr id="12" name="Text 9"/>
          <p:cNvSpPr/>
          <p:nvPr/>
        </p:nvSpPr>
        <p:spPr>
          <a:xfrm>
            <a:off x="960120" y="2944368"/>
            <a:ext cx="2377440" cy="1371600"/>
          </a:xfrm>
          <a:prstGeom prst="rect">
            <a:avLst/>
          </a:prstGeom>
          <a:noFill/>
          <a:ln/>
        </p:spPr>
        <p:txBody>
          <a:bodyPr wrap="square" lIns="0" tIns="0" rIns="0" bIns="0" rtlCol="0" anchor="ctr"/>
          <a:lstStyle/>
          <a:p>
            <a:pPr algn="ctr" indent="0" marL="0">
              <a:buNone/>
            </a:pPr>
            <a:r>
              <a:rPr lang="en-US" sz="1050" dirty="0">
                <a:solidFill>
                  <a:srgbClr val="E34F26"/>
                </a:solidFill>
                <a:latin typeface="Courier New" pitchFamily="34" charset="0"/>
                <a:ea typeface="Courier New" pitchFamily="34" charset="-122"/>
                <a:cs typeface="Courier New" pitchFamily="34" charset="-120"/>
              </a:rPr>
              <a:t>div: text</a:t>
            </a:r>
            <a:endParaRPr lang="en-US" sz="1050" dirty="0"/>
          </a:p>
        </p:txBody>
      </p:sp>
      <p:sp>
        <p:nvSpPr>
          <p:cNvPr id="13" name="Shape 10"/>
          <p:cNvSpPr/>
          <p:nvPr/>
        </p:nvSpPr>
        <p:spPr>
          <a:xfrm>
            <a:off x="3703320" y="2944368"/>
            <a:ext cx="2377440" cy="1371600"/>
          </a:xfrm>
          <a:prstGeom prst="roundRect">
            <a:avLst>
              <a:gd name="adj" fmla="val 4000"/>
            </a:avLst>
          </a:prstGeom>
          <a:solidFill>
            <a:srgbClr val="F7F6F3"/>
          </a:solidFill>
          <a:ln w="12700">
            <a:solidFill>
              <a:srgbClr val="F0B9A6"/>
            </a:solidFill>
            <a:prstDash val="solid"/>
          </a:ln>
        </p:spPr>
      </p:sp>
      <p:sp>
        <p:nvSpPr>
          <p:cNvPr id="14" name="Text 11"/>
          <p:cNvSpPr/>
          <p:nvPr/>
        </p:nvSpPr>
        <p:spPr>
          <a:xfrm>
            <a:off x="3703320" y="2944368"/>
            <a:ext cx="2377440" cy="1371600"/>
          </a:xfrm>
          <a:prstGeom prst="rect">
            <a:avLst/>
          </a:prstGeom>
          <a:noFill/>
          <a:ln/>
        </p:spPr>
        <p:txBody>
          <a:bodyPr wrap="square" lIns="0" tIns="0" rIns="0" bIns="0" rtlCol="0" anchor="ctr"/>
          <a:lstStyle/>
          <a:p>
            <a:pPr algn="ctr" indent="0" marL="0">
              <a:buNone/>
            </a:pPr>
            <a:r>
              <a:rPr lang="en-US" sz="1050" dirty="0">
                <a:solidFill>
                  <a:srgbClr val="E34F26"/>
                </a:solidFill>
                <a:latin typeface="Courier New" pitchFamily="34" charset="0"/>
                <a:ea typeface="Courier New" pitchFamily="34" charset="-122"/>
                <a:cs typeface="Courier New" pitchFamily="34" charset="-120"/>
              </a:rPr>
              <a:t>div: image and links</a:t>
            </a:r>
            <a:endParaRPr lang="en-US" sz="1050" dirty="0"/>
          </a:p>
        </p:txBody>
      </p:sp>
      <p:sp>
        <p:nvSpPr>
          <p:cNvPr id="15" name="Shape 12"/>
          <p:cNvSpPr/>
          <p:nvPr/>
        </p:nvSpPr>
        <p:spPr>
          <a:xfrm>
            <a:off x="960120" y="4425696"/>
            <a:ext cx="5120640" cy="566928"/>
          </a:xfrm>
          <a:prstGeom prst="roundRect">
            <a:avLst>
              <a:gd name="adj" fmla="val 9677"/>
            </a:avLst>
          </a:prstGeom>
          <a:solidFill>
            <a:srgbClr val="F7F6F3"/>
          </a:solidFill>
          <a:ln w="12700">
            <a:solidFill>
              <a:srgbClr val="F0B9A6"/>
            </a:solidFill>
            <a:prstDash val="solid"/>
          </a:ln>
        </p:spPr>
      </p:sp>
      <p:sp>
        <p:nvSpPr>
          <p:cNvPr id="16" name="Text 13"/>
          <p:cNvSpPr/>
          <p:nvPr/>
        </p:nvSpPr>
        <p:spPr>
          <a:xfrm>
            <a:off x="960120" y="4425696"/>
            <a:ext cx="5120640" cy="566928"/>
          </a:xfrm>
          <a:prstGeom prst="rect">
            <a:avLst/>
          </a:prstGeom>
          <a:noFill/>
          <a:ln/>
        </p:spPr>
        <p:txBody>
          <a:bodyPr wrap="square" lIns="0" tIns="0" rIns="0" bIns="0" rtlCol="0" anchor="ctr"/>
          <a:lstStyle/>
          <a:p>
            <a:pPr algn="ctr" indent="0" marL="0">
              <a:buNone/>
            </a:pPr>
            <a:r>
              <a:rPr lang="en-US" sz="1050" dirty="0">
                <a:solidFill>
                  <a:srgbClr val="E34F26"/>
                </a:solidFill>
                <a:latin typeface="Courier New" pitchFamily="34" charset="0"/>
                <a:ea typeface="Courier New" pitchFamily="34" charset="-122"/>
                <a:cs typeface="Courier New" pitchFamily="34" charset="-120"/>
              </a:rPr>
              <a:t>div: footer</a:t>
            </a:r>
            <a:endParaRPr lang="en-US" sz="1050" dirty="0"/>
          </a:p>
        </p:txBody>
      </p:sp>
      <p:sp>
        <p:nvSpPr>
          <p:cNvPr id="17" name="Shape 14"/>
          <p:cNvSpPr/>
          <p:nvPr/>
        </p:nvSpPr>
        <p:spPr>
          <a:xfrm>
            <a:off x="6858000" y="2011680"/>
            <a:ext cx="4690872" cy="960120"/>
          </a:xfrm>
          <a:prstGeom prst="roundRect">
            <a:avLst>
              <a:gd name="adj" fmla="val 9524"/>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8" name="Text 15"/>
          <p:cNvSpPr/>
          <p:nvPr/>
        </p:nvSpPr>
        <p:spPr>
          <a:xfrm>
            <a:off x="7132320" y="2139696"/>
            <a:ext cx="4206240" cy="310896"/>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Group things that belong together</a:t>
            </a:r>
            <a:endParaRPr lang="en-US" sz="1450" dirty="0"/>
          </a:p>
        </p:txBody>
      </p:sp>
      <p:sp>
        <p:nvSpPr>
          <p:cNvPr id="19" name="Text 16"/>
          <p:cNvSpPr/>
          <p:nvPr/>
        </p:nvSpPr>
        <p:spPr>
          <a:xfrm>
            <a:off x="7132320" y="2468880"/>
            <a:ext cx="4206240" cy="411480"/>
          </a:xfrm>
          <a:prstGeom prst="rect">
            <a:avLst/>
          </a:prstGeom>
          <a:noFill/>
          <a:ln/>
        </p:spPr>
        <p:txBody>
          <a:bodyPr wrap="square" lIns="0" tIns="0" rIns="0" bIns="0" rtlCol="0" anchor="t"/>
          <a:lstStyle/>
          <a:p>
            <a:pPr algn="l" indent="0" marL="0">
              <a:lnSpc>
                <a:spcPts val="1600"/>
              </a:lnSpc>
              <a:buNone/>
            </a:pPr>
            <a:r>
              <a:rPr lang="en-US" sz="1250" dirty="0">
                <a:solidFill>
                  <a:srgbClr val="5A6069"/>
                </a:solidFill>
                <a:latin typeface="Calibri" pitchFamily="34" charset="0"/>
                <a:ea typeface="Calibri" pitchFamily="34" charset="-122"/>
                <a:cs typeface="Calibri" pitchFamily="34" charset="-120"/>
              </a:rPr>
              <a:t>A header, a footer, a content area, a row of buttons.</a:t>
            </a:r>
            <a:endParaRPr lang="en-US" sz="1250" dirty="0"/>
          </a:p>
        </p:txBody>
      </p:sp>
      <p:sp>
        <p:nvSpPr>
          <p:cNvPr id="20" name="Shape 17"/>
          <p:cNvSpPr/>
          <p:nvPr/>
        </p:nvSpPr>
        <p:spPr>
          <a:xfrm>
            <a:off x="6858000" y="3108960"/>
            <a:ext cx="4690872" cy="960120"/>
          </a:xfrm>
          <a:prstGeom prst="roundRect">
            <a:avLst>
              <a:gd name="adj" fmla="val 9524"/>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1" name="Text 18"/>
          <p:cNvSpPr/>
          <p:nvPr/>
        </p:nvSpPr>
        <p:spPr>
          <a:xfrm>
            <a:off x="7132320" y="3236976"/>
            <a:ext cx="4206240" cy="310896"/>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Style them as one</a:t>
            </a:r>
            <a:endParaRPr lang="en-US" sz="1450" dirty="0"/>
          </a:p>
        </p:txBody>
      </p:sp>
      <p:sp>
        <p:nvSpPr>
          <p:cNvPr id="22" name="Text 19"/>
          <p:cNvSpPr/>
          <p:nvPr/>
        </p:nvSpPr>
        <p:spPr>
          <a:xfrm>
            <a:off x="7132320" y="3566160"/>
            <a:ext cx="4206240" cy="411480"/>
          </a:xfrm>
          <a:prstGeom prst="rect">
            <a:avLst/>
          </a:prstGeom>
          <a:noFill/>
          <a:ln/>
        </p:spPr>
        <p:txBody>
          <a:bodyPr wrap="square" lIns="0" tIns="0" rIns="0" bIns="0" rtlCol="0" anchor="t"/>
          <a:lstStyle/>
          <a:p>
            <a:pPr algn="l" indent="0" marL="0">
              <a:lnSpc>
                <a:spcPts val="1600"/>
              </a:lnSpc>
              <a:buNone/>
            </a:pPr>
            <a:r>
              <a:rPr lang="en-US" sz="1250" dirty="0">
                <a:solidFill>
                  <a:srgbClr val="5A6069"/>
                </a:solidFill>
                <a:latin typeface="Calibri" pitchFamily="34" charset="0"/>
                <a:ea typeface="Calibri" pitchFamily="34" charset="-122"/>
                <a:cs typeface="Calibri" pitchFamily="34" charset="-120"/>
              </a:rPr>
              <a:t>Give the whole box a background, spacing or a border in the CSS class.</a:t>
            </a:r>
            <a:endParaRPr lang="en-US" sz="1250" dirty="0"/>
          </a:p>
        </p:txBody>
      </p:sp>
      <p:sp>
        <p:nvSpPr>
          <p:cNvPr id="23" name="Shape 20"/>
          <p:cNvSpPr/>
          <p:nvPr/>
        </p:nvSpPr>
        <p:spPr>
          <a:xfrm>
            <a:off x="6858000" y="4206240"/>
            <a:ext cx="4690872" cy="960120"/>
          </a:xfrm>
          <a:prstGeom prst="roundRect">
            <a:avLst>
              <a:gd name="adj" fmla="val 9524"/>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4" name="Text 21"/>
          <p:cNvSpPr/>
          <p:nvPr/>
        </p:nvSpPr>
        <p:spPr>
          <a:xfrm>
            <a:off x="7132320" y="4334256"/>
            <a:ext cx="4206240" cy="310896"/>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Target them later</a:t>
            </a:r>
            <a:endParaRPr lang="en-US" sz="1450" dirty="0"/>
          </a:p>
        </p:txBody>
      </p:sp>
      <p:sp>
        <p:nvSpPr>
          <p:cNvPr id="25" name="Text 22"/>
          <p:cNvSpPr/>
          <p:nvPr/>
        </p:nvSpPr>
        <p:spPr>
          <a:xfrm>
            <a:off x="7132320" y="4663440"/>
            <a:ext cx="4206240" cy="411480"/>
          </a:xfrm>
          <a:prstGeom prst="rect">
            <a:avLst/>
          </a:prstGeom>
          <a:noFill/>
          <a:ln/>
        </p:spPr>
        <p:txBody>
          <a:bodyPr wrap="square" lIns="0" tIns="0" rIns="0" bIns="0" rtlCol="0" anchor="t"/>
          <a:lstStyle/>
          <a:p>
            <a:pPr algn="l" indent="0" marL="0">
              <a:lnSpc>
                <a:spcPts val="1600"/>
              </a:lnSpc>
              <a:buNone/>
            </a:pPr>
            <a:r>
              <a:rPr lang="en-US" sz="1250" dirty="0">
                <a:solidFill>
                  <a:srgbClr val="5A6069"/>
                </a:solidFill>
                <a:latin typeface="Calibri" pitchFamily="34" charset="0"/>
                <a:ea typeface="Calibri" pitchFamily="34" charset="-122"/>
                <a:cs typeface="Calibri" pitchFamily="34" charset="-120"/>
              </a:rPr>
              <a:t>Your JavaScript can grab one box and change everything inside it.</a:t>
            </a:r>
            <a:endParaRPr lang="en-US" sz="1250" dirty="0"/>
          </a:p>
        </p:txBody>
      </p:sp>
      <p:sp>
        <p:nvSpPr>
          <p:cNvPr id="26" name="Shape 23"/>
          <p:cNvSpPr/>
          <p:nvPr/>
        </p:nvSpPr>
        <p:spPr>
          <a:xfrm>
            <a:off x="640080" y="5431536"/>
            <a:ext cx="10881360" cy="548640"/>
          </a:xfrm>
          <a:prstGeom prst="roundRect">
            <a:avLst>
              <a:gd name="adj" fmla="val 13333"/>
            </a:avLst>
          </a:prstGeom>
          <a:solidFill>
            <a:srgbClr val="EFEEE9"/>
          </a:solidFill>
          <a:ln w="12700">
            <a:solidFill>
              <a:srgbClr val="D5D1C8"/>
            </a:solidFill>
            <a:prstDash val="solid"/>
          </a:ln>
        </p:spPr>
      </p:sp>
      <p:sp>
        <p:nvSpPr>
          <p:cNvPr id="27" name="Text 24"/>
          <p:cNvSpPr/>
          <p:nvPr/>
        </p:nvSpPr>
        <p:spPr>
          <a:xfrm>
            <a:off x="841248" y="5431536"/>
            <a:ext cx="10479024" cy="548640"/>
          </a:xfrm>
          <a:prstGeom prst="rect">
            <a:avLst/>
          </a:prstGeom>
          <a:noFill/>
          <a:ln/>
        </p:spPr>
        <p:txBody>
          <a:bodyPr wrap="square" lIns="0" tIns="0" rIns="0" bIns="0" rtlCol="0" anchor="ctr"/>
          <a:lstStyle/>
          <a:p>
            <a:pPr indent="0" marL="0">
              <a:lnSpc>
                <a:spcPts val="1600"/>
              </a:lnSpc>
              <a:buNone/>
            </a:pPr>
            <a:r>
              <a:rPr lang="en-US" sz="1150" dirty="0">
                <a:solidFill>
                  <a:srgbClr val="6E8A64"/>
                </a:solidFill>
                <a:latin typeface="Courier New" pitchFamily="34" charset="0"/>
                <a:ea typeface="Courier New" pitchFamily="34" charset="-122"/>
                <a:cs typeface="Courier New" pitchFamily="34" charset="-120"/>
              </a:rPr>
              <a:t>&lt;!-- div soup is a real dish. it is made of forty nested divs and nobody in the kitchen knows what happened --&gt;</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5181D"/>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4A5058"/>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4A5058"/>
                </a:solidFill>
                <a:latin typeface="Courier New" pitchFamily="34" charset="0"/>
                <a:ea typeface="Courier New" pitchFamily="34" charset="-122"/>
                <a:cs typeface="Courier New" pitchFamily="34" charset="-120"/>
              </a:rPr>
              <a:t>18</a:t>
            </a:r>
            <a:endParaRPr lang="en-US" sz="900" dirty="0"/>
          </a:p>
        </p:txBody>
      </p:sp>
      <p:sp>
        <p:nvSpPr>
          <p:cNvPr id="5" name="Shape 2"/>
          <p:cNvSpPr/>
          <p:nvPr/>
        </p:nvSpPr>
        <p:spPr>
          <a:xfrm>
            <a:off x="640080" y="384048"/>
            <a:ext cx="1508760" cy="329184"/>
          </a:xfrm>
          <a:prstGeom prst="roundRect">
            <a:avLst>
              <a:gd name="adj" fmla="val 22222"/>
            </a:avLst>
          </a:prstGeom>
          <a:solidFill>
            <a:srgbClr val="E34F26"/>
          </a:solidFill>
          <a:ln w="12700">
            <a:solidFill>
              <a:srgbClr val="E34F26"/>
            </a:solidFill>
            <a:prstDash val="solid"/>
          </a:ln>
        </p:spPr>
      </p:sp>
      <p:sp>
        <p:nvSpPr>
          <p:cNvPr id="6" name="Text 3"/>
          <p:cNvSpPr/>
          <p:nvPr/>
        </p:nvSpPr>
        <p:spPr>
          <a:xfrm>
            <a:off x="640080" y="384048"/>
            <a:ext cx="1508760" cy="32918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LIVE CODE</a:t>
            </a:r>
            <a:endParaRPr lang="en-US" sz="1050" dirty="0"/>
          </a:p>
        </p:txBody>
      </p:sp>
      <p:sp>
        <p:nvSpPr>
          <p:cNvPr id="7" name="Text 4"/>
          <p:cNvSpPr/>
          <p:nvPr/>
        </p:nvSpPr>
        <p:spPr>
          <a:xfrm>
            <a:off x="2331720" y="384048"/>
            <a:ext cx="5486400" cy="329184"/>
          </a:xfrm>
          <a:prstGeom prst="rect">
            <a:avLst/>
          </a:prstGeom>
          <a:noFill/>
          <a:ln/>
        </p:spPr>
        <p:txBody>
          <a:bodyPr wrap="square" lIns="0" tIns="0" rIns="0" bIns="0" rtlCol="0" anchor="ctr"/>
          <a:lstStyle/>
          <a:p>
            <a:pPr indent="0" marL="0">
              <a:buNone/>
            </a:pPr>
            <a:r>
              <a:rPr lang="en-US" sz="1200" dirty="0">
                <a:solidFill>
                  <a:srgbClr val="E3C07B"/>
                </a:solidFill>
                <a:latin typeface="Courier New" pitchFamily="34" charset="0"/>
                <a:ea typeface="Courier New" pitchFamily="34" charset="-122"/>
                <a:cs typeface="Courier New" pitchFamily="34" charset="-120"/>
              </a:rPr>
              <a:t>div.html, then back to index.html</a:t>
            </a:r>
            <a:endParaRPr lang="en-US" sz="1200" dirty="0"/>
          </a:p>
        </p:txBody>
      </p:sp>
      <p:sp>
        <p:nvSpPr>
          <p:cNvPr id="8" name="Text 5"/>
          <p:cNvSpPr/>
          <p:nvPr/>
        </p:nvSpPr>
        <p:spPr>
          <a:xfrm>
            <a:off x="640080" y="822960"/>
            <a:ext cx="1088136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Wrapping your page into sections</a:t>
            </a:r>
            <a:endParaRPr lang="en-US" sz="3000" dirty="0"/>
          </a:p>
        </p:txBody>
      </p:sp>
      <p:sp>
        <p:nvSpPr>
          <p:cNvPr id="9" name="Shape 6"/>
          <p:cNvSpPr/>
          <p:nvPr/>
        </p:nvSpPr>
        <p:spPr>
          <a:xfrm>
            <a:off x="640080" y="1536192"/>
            <a:ext cx="6858000" cy="4023360"/>
          </a:xfrm>
          <a:prstGeom prst="roundRect">
            <a:avLst>
              <a:gd name="adj" fmla="val 2273"/>
            </a:avLst>
          </a:prstGeom>
          <a:solidFill>
            <a:srgbClr val="0B0E12"/>
          </a:solidFill>
          <a:ln w="12700">
            <a:solidFill>
              <a:srgbClr val="2A2F37"/>
            </a:solidFill>
            <a:prstDash val="solid"/>
          </a:ln>
        </p:spPr>
      </p:sp>
      <p:sp>
        <p:nvSpPr>
          <p:cNvPr id="10" name="Text 7"/>
          <p:cNvSpPr/>
          <p:nvPr/>
        </p:nvSpPr>
        <p:spPr>
          <a:xfrm>
            <a:off x="914400" y="1792224"/>
            <a:ext cx="6309360" cy="3511296"/>
          </a:xfrm>
          <a:prstGeom prst="rect">
            <a:avLst/>
          </a:prstGeom>
          <a:noFill/>
          <a:ln/>
        </p:spPr>
        <p:txBody>
          <a:bodyPr wrap="square" lIns="0" tIns="0" rIns="0" bIns="0" rtlCol="0" anchor="t"/>
          <a:lstStyle/>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body</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  &lt;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div</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    &lt;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h1</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r>
              <a:rPr lang="en-US" sz="1150" dirty="0">
                <a:solidFill>
                  <a:srgbClr val="E8E6E1"/>
                </a:solidFill>
                <a:latin typeface="Courier New" pitchFamily="34" charset="0"/>
                <a:ea typeface="Courier New" pitchFamily="34" charset="-122"/>
                <a:cs typeface="Courier New" pitchFamily="34" charset="-120"/>
              </a:rPr>
              <a:t>heading 1</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h1</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    &lt;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h2</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r>
              <a:rPr lang="en-US" sz="1150" dirty="0">
                <a:solidFill>
                  <a:srgbClr val="E8E6E1"/>
                </a:solidFill>
                <a:latin typeface="Courier New" pitchFamily="34" charset="0"/>
                <a:ea typeface="Courier New" pitchFamily="34" charset="-122"/>
                <a:cs typeface="Courier New" pitchFamily="34" charset="-120"/>
              </a:rPr>
              <a:t>heading 2</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h2</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  &lt;/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div</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  &lt;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div</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    &lt;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p</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r>
              <a:rPr lang="en-US" sz="1150" dirty="0">
                <a:solidFill>
                  <a:srgbClr val="E8E6E1"/>
                </a:solidFill>
                <a:latin typeface="Courier New" pitchFamily="34" charset="0"/>
                <a:ea typeface="Courier New" pitchFamily="34" charset="-122"/>
                <a:cs typeface="Courier New" pitchFamily="34" charset="-120"/>
              </a:rPr>
              <a:t>some detail</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p</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    &lt;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div</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      &lt;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p</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r>
              <a:rPr lang="en-US" sz="1150" dirty="0">
                <a:solidFill>
                  <a:srgbClr val="E8E6E1"/>
                </a:solidFill>
                <a:latin typeface="Courier New" pitchFamily="34" charset="0"/>
                <a:ea typeface="Courier New" pitchFamily="34" charset="-122"/>
                <a:cs typeface="Courier New" pitchFamily="34" charset="-120"/>
              </a:rPr>
              <a:t>some more detail</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p</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    &lt;/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div</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  &lt;/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div</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pPr indent="0" marL="0">
              <a:lnSpc>
                <a:spcPts val="2000"/>
              </a:lnSpc>
              <a:buNone/>
            </a:pPr>
            <a:endParaRPr lang="en-US" sz="1150" dirty="0"/>
          </a:p>
          <a:p>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&lt;/</a:t>
            </a:r>
            <a:pPr indent="0" marL="0">
              <a:lnSpc>
                <a:spcPts val="2000"/>
              </a:lnSpc>
              <a:buNone/>
            </a:pPr>
            <a:r>
              <a:rPr lang="en-US" sz="1150" dirty="0">
                <a:solidFill>
                  <a:srgbClr val="F79A80"/>
                </a:solidFill>
                <a:latin typeface="Courier New" pitchFamily="34" charset="0"/>
                <a:ea typeface="Courier New" pitchFamily="34" charset="-122"/>
                <a:cs typeface="Courier New" pitchFamily="34" charset="-120"/>
              </a:rPr>
              <a:t>body</a:t>
            </a:r>
            <a:pPr indent="0" marL="0">
              <a:lnSpc>
                <a:spcPts val="2000"/>
              </a:lnSpc>
              <a:buNone/>
            </a:pPr>
            <a:r>
              <a:rPr lang="en-US" sz="1150" dirty="0">
                <a:solidFill>
                  <a:srgbClr val="9BA1A9"/>
                </a:solidFill>
                <a:latin typeface="Courier New" pitchFamily="34" charset="0"/>
                <a:ea typeface="Courier New" pitchFamily="34" charset="-122"/>
                <a:cs typeface="Courier New" pitchFamily="34" charset="-120"/>
              </a:rPr>
              <a:t>&gt;</a:t>
            </a:r>
            <a:endParaRPr lang="en-US" sz="1150" dirty="0"/>
          </a:p>
        </p:txBody>
      </p:sp>
      <p:sp>
        <p:nvSpPr>
          <p:cNvPr id="11" name="Text 8"/>
          <p:cNvSpPr/>
          <p:nvPr/>
        </p:nvSpPr>
        <p:spPr>
          <a:xfrm>
            <a:off x="7863840" y="1536192"/>
            <a:ext cx="3685032" cy="292608"/>
          </a:xfrm>
          <a:prstGeom prst="rect">
            <a:avLst/>
          </a:prstGeom>
          <a:noFill/>
          <a:ln/>
        </p:spPr>
        <p:txBody>
          <a:bodyPr wrap="square" lIns="0" tIns="0" rIns="0" bIns="0" rtlCol="0" anchor="ctr"/>
          <a:lstStyle/>
          <a:p>
            <a:pPr indent="0" marL="0">
              <a:buNone/>
            </a:pPr>
            <a:r>
              <a:rPr lang="en-US" sz="1050" b="1" spc="200" kern="0" dirty="0">
                <a:solidFill>
                  <a:srgbClr val="F79A80"/>
                </a:solidFill>
                <a:latin typeface="Calibri" pitchFamily="34" charset="0"/>
                <a:ea typeface="Calibri" pitchFamily="34" charset="-122"/>
                <a:cs typeface="Calibri" pitchFamily="34" charset="-120"/>
              </a:rPr>
              <a:t>SAY THIS WHILE YOU TYPE</a:t>
            </a:r>
            <a:endParaRPr lang="en-US" sz="1050" dirty="0"/>
          </a:p>
        </p:txBody>
      </p:sp>
      <p:sp>
        <p:nvSpPr>
          <p:cNvPr id="12" name="Shape 9"/>
          <p:cNvSpPr/>
          <p:nvPr/>
        </p:nvSpPr>
        <p:spPr>
          <a:xfrm>
            <a:off x="7863840" y="1920240"/>
            <a:ext cx="3685032" cy="658368"/>
          </a:xfrm>
          <a:prstGeom prst="roundRect">
            <a:avLst>
              <a:gd name="adj" fmla="val 11111"/>
            </a:avLst>
          </a:prstGeom>
          <a:solidFill>
            <a:srgbClr val="20242B"/>
          </a:solidFill>
          <a:ln w="12700">
            <a:solidFill>
              <a:srgbClr val="2E343D"/>
            </a:solidFill>
            <a:prstDash val="solid"/>
          </a:ln>
        </p:spPr>
      </p:sp>
      <p:sp>
        <p:nvSpPr>
          <p:cNvPr id="13" name="Text 10"/>
          <p:cNvSpPr/>
          <p:nvPr/>
        </p:nvSpPr>
        <p:spPr>
          <a:xfrm>
            <a:off x="8065008" y="1920240"/>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Make a new file called div.html so index.html stays intact while you experiment.</a:t>
            </a:r>
            <a:endParaRPr lang="en-US" sz="1200" dirty="0"/>
          </a:p>
        </p:txBody>
      </p:sp>
      <p:sp>
        <p:nvSpPr>
          <p:cNvPr id="14" name="Shape 11"/>
          <p:cNvSpPr/>
          <p:nvPr/>
        </p:nvSpPr>
        <p:spPr>
          <a:xfrm>
            <a:off x="7863840" y="2670048"/>
            <a:ext cx="3685032" cy="658368"/>
          </a:xfrm>
          <a:prstGeom prst="roundRect">
            <a:avLst>
              <a:gd name="adj" fmla="val 11111"/>
            </a:avLst>
          </a:prstGeom>
          <a:solidFill>
            <a:srgbClr val="20242B"/>
          </a:solidFill>
          <a:ln w="12700">
            <a:solidFill>
              <a:srgbClr val="2E343D"/>
            </a:solidFill>
            <a:prstDash val="solid"/>
          </a:ln>
        </p:spPr>
      </p:sp>
      <p:sp>
        <p:nvSpPr>
          <p:cNvPr id="15" name="Text 12"/>
          <p:cNvSpPr/>
          <p:nvPr/>
        </p:nvSpPr>
        <p:spPr>
          <a:xfrm>
            <a:off x="8065008" y="2670048"/>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Show that divs can sit inside other divs. Nesting is normal, and indentation is how you stay sane.</a:t>
            </a:r>
            <a:endParaRPr lang="en-US" sz="1200" dirty="0"/>
          </a:p>
        </p:txBody>
      </p:sp>
      <p:sp>
        <p:nvSpPr>
          <p:cNvPr id="16" name="Shape 13"/>
          <p:cNvSpPr/>
          <p:nvPr/>
        </p:nvSpPr>
        <p:spPr>
          <a:xfrm>
            <a:off x="7863840" y="3419856"/>
            <a:ext cx="3685032" cy="658368"/>
          </a:xfrm>
          <a:prstGeom prst="roundRect">
            <a:avLst>
              <a:gd name="adj" fmla="val 11111"/>
            </a:avLst>
          </a:prstGeom>
          <a:solidFill>
            <a:srgbClr val="20242B"/>
          </a:solidFill>
          <a:ln w="12700">
            <a:solidFill>
              <a:srgbClr val="2E343D"/>
            </a:solidFill>
            <a:prstDash val="solid"/>
          </a:ln>
        </p:spPr>
      </p:sp>
      <p:sp>
        <p:nvSpPr>
          <p:cNvPr id="17" name="Text 14"/>
          <p:cNvSpPr/>
          <p:nvPr/>
        </p:nvSpPr>
        <p:spPr>
          <a:xfrm>
            <a:off x="8065008" y="3419856"/>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Now go back to index.html and wrap what you already wrote: headings in one div, paragraph in another, image and link in a third.</a:t>
            </a:r>
            <a:endParaRPr lang="en-US" sz="1200" dirty="0"/>
          </a:p>
        </p:txBody>
      </p:sp>
      <p:sp>
        <p:nvSpPr>
          <p:cNvPr id="18" name="Shape 15"/>
          <p:cNvSpPr/>
          <p:nvPr/>
        </p:nvSpPr>
        <p:spPr>
          <a:xfrm>
            <a:off x="7863840" y="4169664"/>
            <a:ext cx="3685032" cy="658368"/>
          </a:xfrm>
          <a:prstGeom prst="roundRect">
            <a:avLst>
              <a:gd name="adj" fmla="val 11111"/>
            </a:avLst>
          </a:prstGeom>
          <a:solidFill>
            <a:srgbClr val="20242B"/>
          </a:solidFill>
          <a:ln w="12700">
            <a:solidFill>
              <a:srgbClr val="2E343D"/>
            </a:solidFill>
            <a:prstDash val="solid"/>
          </a:ln>
        </p:spPr>
      </p:sp>
      <p:sp>
        <p:nvSpPr>
          <p:cNvPr id="19" name="Text 16"/>
          <p:cNvSpPr/>
          <p:nvPr/>
        </p:nvSpPr>
        <p:spPr>
          <a:xfrm>
            <a:off x="8065008" y="4169664"/>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Nothing changes on screen. Say that out loud: structure is invisible until CSS arrives next class.</a:t>
            </a:r>
            <a:endParaRPr lang="en-US" sz="1200" dirty="0"/>
          </a:p>
        </p:txBody>
      </p:sp>
      <p:sp>
        <p:nvSpPr>
          <p:cNvPr id="20" name="Shape 17"/>
          <p:cNvSpPr/>
          <p:nvPr/>
        </p:nvSpPr>
        <p:spPr>
          <a:xfrm>
            <a:off x="7863840" y="5541264"/>
            <a:ext cx="3685032" cy="658368"/>
          </a:xfrm>
          <a:prstGeom prst="roundRect">
            <a:avLst>
              <a:gd name="adj" fmla="val 11111"/>
            </a:avLst>
          </a:prstGeom>
          <a:solidFill>
            <a:srgbClr val="20242B"/>
          </a:solidFill>
          <a:ln w="12700">
            <a:solidFill>
              <a:srgbClr val="2E343D"/>
            </a:solidFill>
            <a:prstDash val="solid"/>
          </a:ln>
        </p:spPr>
      </p:sp>
      <p:sp>
        <p:nvSpPr>
          <p:cNvPr id="21" name="Text 18"/>
          <p:cNvSpPr/>
          <p:nvPr/>
        </p:nvSpPr>
        <p:spPr>
          <a:xfrm>
            <a:off x="8065008" y="5541264"/>
            <a:ext cx="3282696" cy="658368"/>
          </a:xfrm>
          <a:prstGeom prst="rect">
            <a:avLst/>
          </a:prstGeom>
          <a:noFill/>
          <a:ln/>
        </p:spPr>
        <p:txBody>
          <a:bodyPr wrap="square" lIns="0" tIns="0" rIns="0" bIns="0" rtlCol="0" anchor="ctr"/>
          <a:lstStyle/>
          <a:p>
            <a:pPr indent="0" marL="0">
              <a:lnSpc>
                <a:spcPts val="1470"/>
              </a:lnSpc>
              <a:buNone/>
            </a:pPr>
            <a:r>
              <a:rPr lang="en-US" sz="1050" dirty="0">
                <a:solidFill>
                  <a:srgbClr val="7E9C74"/>
                </a:solidFill>
                <a:latin typeface="Courier New" pitchFamily="34" charset="0"/>
                <a:ea typeface="Courier New" pitchFamily="34" charset="-122"/>
                <a:cs typeface="Courier New" pitchFamily="34" charset="-120"/>
              </a:rPr>
              <a:t>&lt;!-- indentation is not decoration. it is the difference between reading code and excavating it --&gt;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181D"/>
        </a:solidFill>
      </p:bgPr>
    </p:bg>
    <p:spTree>
      <p:nvGrpSpPr>
        <p:cNvPr id="1" name=""/>
        <p:cNvGrpSpPr/>
        <p:nvPr/>
      </p:nvGrpSpPr>
      <p:grpSpPr>
        <a:xfrm>
          <a:off x="0" y="0"/>
          <a:ext cx="0" cy="0"/>
          <a:chOff x="0" y="0"/>
          <a:chExt cx="0" cy="0"/>
        </a:xfrm>
      </p:grpSpPr>
      <p:sp>
        <p:nvSpPr>
          <p:cNvPr id="3" name="Text 0"/>
          <p:cNvSpPr/>
          <p:nvPr/>
        </p:nvSpPr>
        <p:spPr>
          <a:xfrm>
            <a:off x="0" y="2377440"/>
            <a:ext cx="12188952" cy="329184"/>
          </a:xfrm>
          <a:prstGeom prst="rect">
            <a:avLst/>
          </a:prstGeom>
          <a:noFill/>
          <a:ln/>
        </p:spPr>
        <p:txBody>
          <a:bodyPr wrap="square" lIns="0" tIns="0" rIns="0" bIns="0" rtlCol="0" anchor="ctr"/>
          <a:lstStyle/>
          <a:p>
            <a:pPr algn="ctr" indent="0" marL="0">
              <a:buNone/>
            </a:pPr>
            <a:r>
              <a:rPr lang="en-US" sz="1500" dirty="0">
                <a:solidFill>
                  <a:srgbClr val="7E9C74"/>
                </a:solidFill>
                <a:latin typeface="Courier New" pitchFamily="34" charset="0"/>
                <a:ea typeface="Courier New" pitchFamily="34" charset="-122"/>
                <a:cs typeface="Courier New" pitchFamily="34" charset="-120"/>
              </a:rPr>
              <a:t>&lt;!-- section 03 --&gt;</a:t>
            </a:r>
            <a:endParaRPr lang="en-US" sz="1500" dirty="0"/>
          </a:p>
        </p:txBody>
      </p:sp>
      <p:sp>
        <p:nvSpPr>
          <p:cNvPr id="4" name="Text 1"/>
          <p:cNvSpPr/>
          <p:nvPr/>
        </p:nvSpPr>
        <p:spPr>
          <a:xfrm>
            <a:off x="1097280" y="2798064"/>
            <a:ext cx="9994392"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Semantic HTML</a:t>
            </a:r>
            <a:endParaRPr lang="en-US" sz="4200" dirty="0"/>
          </a:p>
        </p:txBody>
      </p:sp>
      <p:sp>
        <p:nvSpPr>
          <p:cNvPr id="5" name="Shape 2"/>
          <p:cNvSpPr/>
          <p:nvPr/>
        </p:nvSpPr>
        <p:spPr>
          <a:xfrm>
            <a:off x="5545836" y="3803904"/>
            <a:ext cx="1097280" cy="41148"/>
          </a:xfrm>
          <a:prstGeom prst="rect">
            <a:avLst/>
          </a:prstGeom>
          <a:solidFill>
            <a:srgbClr val="E34F26"/>
          </a:solidFill>
          <a:ln w="12700">
            <a:solidFill>
              <a:srgbClr val="E34F26"/>
            </a:solidFill>
            <a:prstDash val="solid"/>
          </a:ln>
        </p:spPr>
      </p:sp>
      <p:sp>
        <p:nvSpPr>
          <p:cNvPr id="6" name="Text 3"/>
          <p:cNvSpPr/>
          <p:nvPr/>
        </p:nvSpPr>
        <p:spPr>
          <a:xfrm>
            <a:off x="1828800" y="4041648"/>
            <a:ext cx="8531352" cy="457200"/>
          </a:xfrm>
          <a:prstGeom prst="rect">
            <a:avLst/>
          </a:prstGeom>
          <a:noFill/>
          <a:ln/>
        </p:spPr>
        <p:txBody>
          <a:bodyPr wrap="square" lIns="0" tIns="0" rIns="0" bIns="0" rtlCol="0" anchor="ctr"/>
          <a:lstStyle/>
          <a:p>
            <a:pPr algn="ctr" indent="0" marL="0">
              <a:buNone/>
            </a:pPr>
            <a:r>
              <a:rPr lang="en-US" sz="1600" dirty="0">
                <a:solidFill>
                  <a:srgbClr val="B9BFC7"/>
                </a:solidFill>
                <a:latin typeface="Calibri" pitchFamily="34" charset="0"/>
                <a:ea typeface="Calibri" pitchFamily="34" charset="-122"/>
                <a:cs typeface="Calibri" pitchFamily="34" charset="-120"/>
              </a:rPr>
              <a:t>Writing tags that actually say what they mean.</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19</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&lt;semantic-html&gt;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Divs work. They just do not say anything.</a:t>
            </a:r>
            <a:endParaRPr lang="en-US" sz="3400" dirty="0"/>
          </a:p>
        </p:txBody>
      </p:sp>
      <p:sp>
        <p:nvSpPr>
          <p:cNvPr id="7" name="Text 4"/>
          <p:cNvSpPr/>
          <p:nvPr/>
        </p:nvSpPr>
        <p:spPr>
          <a:xfrm>
            <a:off x="640080" y="1517904"/>
            <a:ext cx="10881360" cy="384048"/>
          </a:xfrm>
          <a:prstGeom prst="rect">
            <a:avLst/>
          </a:prstGeom>
          <a:noFill/>
          <a:ln/>
        </p:spPr>
        <p:txBody>
          <a:bodyPr wrap="square" lIns="0" tIns="0" rIns="0" bIns="0" rtlCol="0" anchor="t"/>
          <a:lstStyle/>
          <a:p>
            <a:pPr algn="l" indent="0" marL="0">
              <a:lnSpc>
                <a:spcPts val="2001"/>
              </a:lnSpc>
              <a:buNone/>
            </a:pPr>
            <a:r>
              <a:rPr lang="en-US" sz="1450" dirty="0">
                <a:solidFill>
                  <a:srgbClr val="5A6069"/>
                </a:solidFill>
                <a:latin typeface="Calibri" pitchFamily="34" charset="0"/>
                <a:ea typeface="Calibri" pitchFamily="34" charset="-122"/>
                <a:cs typeface="Calibri" pitchFamily="34" charset="-120"/>
              </a:rPr>
              <a:t>A book with no chapters, no index and no headings is readable, technically. Useful? Not at all. That is a page built entirely out of divs.</a:t>
            </a:r>
            <a:endParaRPr lang="en-US" sz="1450" dirty="0"/>
          </a:p>
        </p:txBody>
      </p:sp>
      <p:sp>
        <p:nvSpPr>
          <p:cNvPr id="8" name="Shape 5"/>
          <p:cNvSpPr/>
          <p:nvPr/>
        </p:nvSpPr>
        <p:spPr>
          <a:xfrm>
            <a:off x="640080" y="2011680"/>
            <a:ext cx="5212080" cy="3017520"/>
          </a:xfrm>
          <a:prstGeom prst="roundRect">
            <a:avLst>
              <a:gd name="adj" fmla="val 3030"/>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9" name="Text 6"/>
          <p:cNvSpPr/>
          <p:nvPr/>
        </p:nvSpPr>
        <p:spPr>
          <a:xfrm>
            <a:off x="914400" y="2139696"/>
            <a:ext cx="4663440" cy="274320"/>
          </a:xfrm>
          <a:prstGeom prst="rect">
            <a:avLst/>
          </a:prstGeom>
          <a:noFill/>
          <a:ln/>
        </p:spPr>
        <p:txBody>
          <a:bodyPr wrap="square" lIns="0" tIns="0" rIns="0" bIns="0" rtlCol="0" anchor="ctr"/>
          <a:lstStyle/>
          <a:p>
            <a:pPr indent="0" marL="0">
              <a:buNone/>
            </a:pPr>
            <a:r>
              <a:rPr lang="en-US" sz="1000" b="1" spc="150" kern="0" dirty="0">
                <a:solidFill>
                  <a:srgbClr val="8A9099"/>
                </a:solidFill>
                <a:latin typeface="Calibri" pitchFamily="34" charset="0"/>
                <a:ea typeface="Calibri" pitchFamily="34" charset="-122"/>
                <a:cs typeface="Calibri" pitchFamily="34" charset="-120"/>
              </a:rPr>
              <a:t>NON SEMANTIC: every box is just a div</a:t>
            </a:r>
            <a:endParaRPr lang="en-US" sz="1000" dirty="0"/>
          </a:p>
        </p:txBody>
      </p:sp>
      <p:sp>
        <p:nvSpPr>
          <p:cNvPr id="10" name="Shape 7"/>
          <p:cNvSpPr/>
          <p:nvPr/>
        </p:nvSpPr>
        <p:spPr>
          <a:xfrm>
            <a:off x="914400" y="2487168"/>
            <a:ext cx="4663440" cy="457200"/>
          </a:xfrm>
          <a:prstGeom prst="roundRect">
            <a:avLst>
              <a:gd name="adj" fmla="val 12000"/>
            </a:avLst>
          </a:prstGeom>
          <a:solidFill>
            <a:srgbClr val="F2F1ED"/>
          </a:solidFill>
          <a:ln w="12700">
            <a:solidFill>
              <a:srgbClr val="D5D1C8"/>
            </a:solidFill>
            <a:prstDash val="solid"/>
          </a:ln>
        </p:spPr>
      </p:sp>
      <p:sp>
        <p:nvSpPr>
          <p:cNvPr id="11" name="Text 8"/>
          <p:cNvSpPr/>
          <p:nvPr/>
        </p:nvSpPr>
        <p:spPr>
          <a:xfrm>
            <a:off x="914400" y="2487168"/>
            <a:ext cx="4663440" cy="457200"/>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&lt;div&gt;</a:t>
            </a:r>
            <a:endParaRPr lang="en-US" sz="1000" dirty="0"/>
          </a:p>
        </p:txBody>
      </p:sp>
      <p:sp>
        <p:nvSpPr>
          <p:cNvPr id="12" name="Shape 9"/>
          <p:cNvSpPr/>
          <p:nvPr/>
        </p:nvSpPr>
        <p:spPr>
          <a:xfrm>
            <a:off x="914400" y="3017520"/>
            <a:ext cx="4663440" cy="384048"/>
          </a:xfrm>
          <a:prstGeom prst="roundRect">
            <a:avLst>
              <a:gd name="adj" fmla="val 14286"/>
            </a:avLst>
          </a:prstGeom>
          <a:solidFill>
            <a:srgbClr val="F2F1ED"/>
          </a:solidFill>
          <a:ln w="12700">
            <a:solidFill>
              <a:srgbClr val="D5D1C8"/>
            </a:solidFill>
            <a:prstDash val="solid"/>
          </a:ln>
        </p:spPr>
      </p:sp>
      <p:sp>
        <p:nvSpPr>
          <p:cNvPr id="13" name="Text 10"/>
          <p:cNvSpPr/>
          <p:nvPr/>
        </p:nvSpPr>
        <p:spPr>
          <a:xfrm>
            <a:off x="914400" y="3017520"/>
            <a:ext cx="4663440" cy="384048"/>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&lt;div&gt;</a:t>
            </a:r>
            <a:endParaRPr lang="en-US" sz="1000" dirty="0"/>
          </a:p>
        </p:txBody>
      </p:sp>
      <p:sp>
        <p:nvSpPr>
          <p:cNvPr id="14" name="Shape 11"/>
          <p:cNvSpPr/>
          <p:nvPr/>
        </p:nvSpPr>
        <p:spPr>
          <a:xfrm>
            <a:off x="914400" y="3474720"/>
            <a:ext cx="3200400" cy="1097280"/>
          </a:xfrm>
          <a:prstGeom prst="roundRect">
            <a:avLst>
              <a:gd name="adj" fmla="val 5000"/>
            </a:avLst>
          </a:prstGeom>
          <a:solidFill>
            <a:srgbClr val="F2F1ED"/>
          </a:solidFill>
          <a:ln w="12700">
            <a:solidFill>
              <a:srgbClr val="D5D1C8"/>
            </a:solidFill>
            <a:prstDash val="solid"/>
          </a:ln>
        </p:spPr>
      </p:sp>
      <p:sp>
        <p:nvSpPr>
          <p:cNvPr id="15" name="Text 12"/>
          <p:cNvSpPr/>
          <p:nvPr/>
        </p:nvSpPr>
        <p:spPr>
          <a:xfrm>
            <a:off x="914400" y="3474720"/>
            <a:ext cx="3200400" cy="1097280"/>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&lt;div&gt;</a:t>
            </a:r>
            <a:endParaRPr lang="en-US" sz="1000" dirty="0"/>
          </a:p>
        </p:txBody>
      </p:sp>
      <p:sp>
        <p:nvSpPr>
          <p:cNvPr id="16" name="Shape 13"/>
          <p:cNvSpPr/>
          <p:nvPr/>
        </p:nvSpPr>
        <p:spPr>
          <a:xfrm>
            <a:off x="4206240" y="3474720"/>
            <a:ext cx="1371600" cy="1097280"/>
          </a:xfrm>
          <a:prstGeom prst="roundRect">
            <a:avLst>
              <a:gd name="adj" fmla="val 5000"/>
            </a:avLst>
          </a:prstGeom>
          <a:solidFill>
            <a:srgbClr val="F2F1ED"/>
          </a:solidFill>
          <a:ln w="12700">
            <a:solidFill>
              <a:srgbClr val="D5D1C8"/>
            </a:solidFill>
            <a:prstDash val="solid"/>
          </a:ln>
        </p:spPr>
      </p:sp>
      <p:sp>
        <p:nvSpPr>
          <p:cNvPr id="17" name="Text 14"/>
          <p:cNvSpPr/>
          <p:nvPr/>
        </p:nvSpPr>
        <p:spPr>
          <a:xfrm>
            <a:off x="4206240" y="3474720"/>
            <a:ext cx="1371600" cy="1097280"/>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&lt;div&gt;</a:t>
            </a:r>
            <a:endParaRPr lang="en-US" sz="1000" dirty="0"/>
          </a:p>
        </p:txBody>
      </p:sp>
      <p:sp>
        <p:nvSpPr>
          <p:cNvPr id="18" name="Shape 15"/>
          <p:cNvSpPr/>
          <p:nvPr/>
        </p:nvSpPr>
        <p:spPr>
          <a:xfrm>
            <a:off x="914400" y="4645152"/>
            <a:ext cx="4663440" cy="292608"/>
          </a:xfrm>
          <a:prstGeom prst="roundRect">
            <a:avLst>
              <a:gd name="adj" fmla="val 18750"/>
            </a:avLst>
          </a:prstGeom>
          <a:solidFill>
            <a:srgbClr val="F2F1ED"/>
          </a:solidFill>
          <a:ln w="12700">
            <a:solidFill>
              <a:srgbClr val="D5D1C8"/>
            </a:solidFill>
            <a:prstDash val="solid"/>
          </a:ln>
        </p:spPr>
      </p:sp>
      <p:sp>
        <p:nvSpPr>
          <p:cNvPr id="19" name="Text 16"/>
          <p:cNvSpPr/>
          <p:nvPr/>
        </p:nvSpPr>
        <p:spPr>
          <a:xfrm>
            <a:off x="914400" y="4645152"/>
            <a:ext cx="4663440" cy="292608"/>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&lt;div&gt;</a:t>
            </a:r>
            <a:endParaRPr lang="en-US" sz="1000" dirty="0"/>
          </a:p>
        </p:txBody>
      </p:sp>
      <p:sp>
        <p:nvSpPr>
          <p:cNvPr id="20" name="Shape 17"/>
          <p:cNvSpPr/>
          <p:nvPr/>
        </p:nvSpPr>
        <p:spPr>
          <a:xfrm>
            <a:off x="6336792" y="2011680"/>
            <a:ext cx="5212080" cy="3017520"/>
          </a:xfrm>
          <a:prstGeom prst="roundRect">
            <a:avLst>
              <a:gd name="adj" fmla="val 3030"/>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1" name="Text 18"/>
          <p:cNvSpPr/>
          <p:nvPr/>
        </p:nvSpPr>
        <p:spPr>
          <a:xfrm>
            <a:off x="6611112" y="2139696"/>
            <a:ext cx="4663440" cy="274320"/>
          </a:xfrm>
          <a:prstGeom prst="rect">
            <a:avLst/>
          </a:prstGeom>
          <a:noFill/>
          <a:ln/>
        </p:spPr>
        <p:txBody>
          <a:bodyPr wrap="square" lIns="0" tIns="0" rIns="0" bIns="0" rtlCol="0" anchor="ctr"/>
          <a:lstStyle/>
          <a:p>
            <a:pPr indent="0" marL="0">
              <a:buNone/>
            </a:pPr>
            <a:r>
              <a:rPr lang="en-US" sz="1000" b="1" spc="150" kern="0" dirty="0">
                <a:solidFill>
                  <a:srgbClr val="E34F26"/>
                </a:solidFill>
                <a:latin typeface="Calibri" pitchFamily="34" charset="0"/>
                <a:ea typeface="Calibri" pitchFamily="34" charset="-122"/>
                <a:cs typeface="Calibri" pitchFamily="34" charset="-120"/>
              </a:rPr>
              <a:t>SEMANTIC: every box says what it is</a:t>
            </a:r>
            <a:endParaRPr lang="en-US" sz="1000" dirty="0"/>
          </a:p>
        </p:txBody>
      </p:sp>
      <p:sp>
        <p:nvSpPr>
          <p:cNvPr id="22" name="Shape 19"/>
          <p:cNvSpPr/>
          <p:nvPr/>
        </p:nvSpPr>
        <p:spPr>
          <a:xfrm>
            <a:off x="6611112" y="2487168"/>
            <a:ext cx="4663440" cy="457200"/>
          </a:xfrm>
          <a:prstGeom prst="roundRect">
            <a:avLst>
              <a:gd name="adj" fmla="val 12000"/>
            </a:avLst>
          </a:prstGeom>
          <a:solidFill>
            <a:srgbClr val="FBE9E2"/>
          </a:solidFill>
          <a:ln w="12700">
            <a:solidFill>
              <a:srgbClr val="F0B9A6"/>
            </a:solidFill>
            <a:prstDash val="solid"/>
          </a:ln>
        </p:spPr>
      </p:sp>
      <p:sp>
        <p:nvSpPr>
          <p:cNvPr id="23" name="Text 20"/>
          <p:cNvSpPr/>
          <p:nvPr/>
        </p:nvSpPr>
        <p:spPr>
          <a:xfrm>
            <a:off x="6611112" y="2487168"/>
            <a:ext cx="4663440" cy="457200"/>
          </a:xfrm>
          <a:prstGeom prst="rect">
            <a:avLst/>
          </a:prstGeom>
          <a:noFill/>
          <a:ln/>
        </p:spPr>
        <p:txBody>
          <a:bodyPr wrap="square" lIns="0" tIns="0" rIns="0" bIns="0" rtlCol="0" anchor="ctr"/>
          <a:lstStyle/>
          <a:p>
            <a:pPr algn="ctr" indent="0" marL="0">
              <a:buNone/>
            </a:pPr>
            <a:r>
              <a:rPr lang="en-US" sz="1000" dirty="0">
                <a:solidFill>
                  <a:srgbClr val="E34F26"/>
                </a:solidFill>
                <a:latin typeface="Courier New" pitchFamily="34" charset="0"/>
                <a:ea typeface="Courier New" pitchFamily="34" charset="-122"/>
                <a:cs typeface="Courier New" pitchFamily="34" charset="-120"/>
              </a:rPr>
              <a:t>&lt;header&gt;</a:t>
            </a:r>
            <a:endParaRPr lang="en-US" sz="1000" dirty="0"/>
          </a:p>
        </p:txBody>
      </p:sp>
      <p:sp>
        <p:nvSpPr>
          <p:cNvPr id="24" name="Shape 21"/>
          <p:cNvSpPr/>
          <p:nvPr/>
        </p:nvSpPr>
        <p:spPr>
          <a:xfrm>
            <a:off x="6611112" y="3017520"/>
            <a:ext cx="4663440" cy="384048"/>
          </a:xfrm>
          <a:prstGeom prst="roundRect">
            <a:avLst>
              <a:gd name="adj" fmla="val 14286"/>
            </a:avLst>
          </a:prstGeom>
          <a:solidFill>
            <a:srgbClr val="FBE9E2"/>
          </a:solidFill>
          <a:ln w="12700">
            <a:solidFill>
              <a:srgbClr val="F0B9A6"/>
            </a:solidFill>
            <a:prstDash val="solid"/>
          </a:ln>
        </p:spPr>
      </p:sp>
      <p:sp>
        <p:nvSpPr>
          <p:cNvPr id="25" name="Text 22"/>
          <p:cNvSpPr/>
          <p:nvPr/>
        </p:nvSpPr>
        <p:spPr>
          <a:xfrm>
            <a:off x="6611112" y="3017520"/>
            <a:ext cx="4663440" cy="384048"/>
          </a:xfrm>
          <a:prstGeom prst="rect">
            <a:avLst/>
          </a:prstGeom>
          <a:noFill/>
          <a:ln/>
        </p:spPr>
        <p:txBody>
          <a:bodyPr wrap="square" lIns="0" tIns="0" rIns="0" bIns="0" rtlCol="0" anchor="ctr"/>
          <a:lstStyle/>
          <a:p>
            <a:pPr algn="ctr" indent="0" marL="0">
              <a:buNone/>
            </a:pPr>
            <a:r>
              <a:rPr lang="en-US" sz="1000" dirty="0">
                <a:solidFill>
                  <a:srgbClr val="E34F26"/>
                </a:solidFill>
                <a:latin typeface="Courier New" pitchFamily="34" charset="0"/>
                <a:ea typeface="Courier New" pitchFamily="34" charset="-122"/>
                <a:cs typeface="Courier New" pitchFamily="34" charset="-120"/>
              </a:rPr>
              <a:t>&lt;nav&gt;</a:t>
            </a:r>
            <a:endParaRPr lang="en-US" sz="1000" dirty="0"/>
          </a:p>
        </p:txBody>
      </p:sp>
      <p:sp>
        <p:nvSpPr>
          <p:cNvPr id="26" name="Shape 23"/>
          <p:cNvSpPr/>
          <p:nvPr/>
        </p:nvSpPr>
        <p:spPr>
          <a:xfrm>
            <a:off x="6611112" y="3474720"/>
            <a:ext cx="3200400" cy="1097280"/>
          </a:xfrm>
          <a:prstGeom prst="roundRect">
            <a:avLst>
              <a:gd name="adj" fmla="val 5000"/>
            </a:avLst>
          </a:prstGeom>
          <a:solidFill>
            <a:srgbClr val="FBE9E2"/>
          </a:solidFill>
          <a:ln w="12700">
            <a:solidFill>
              <a:srgbClr val="F0B9A6"/>
            </a:solidFill>
            <a:prstDash val="solid"/>
          </a:ln>
        </p:spPr>
      </p:sp>
      <p:sp>
        <p:nvSpPr>
          <p:cNvPr id="27" name="Text 24"/>
          <p:cNvSpPr/>
          <p:nvPr/>
        </p:nvSpPr>
        <p:spPr>
          <a:xfrm>
            <a:off x="6611112" y="3474720"/>
            <a:ext cx="3200400" cy="1097280"/>
          </a:xfrm>
          <a:prstGeom prst="rect">
            <a:avLst/>
          </a:prstGeom>
          <a:noFill/>
          <a:ln/>
        </p:spPr>
        <p:txBody>
          <a:bodyPr wrap="square" lIns="0" tIns="0" rIns="0" bIns="0" rtlCol="0" anchor="ctr"/>
          <a:lstStyle/>
          <a:p>
            <a:pPr algn="ctr" indent="0" marL="0">
              <a:buNone/>
            </a:pPr>
            <a:r>
              <a:rPr lang="en-US" sz="1000" dirty="0">
                <a:solidFill>
                  <a:srgbClr val="E34F26"/>
                </a:solidFill>
                <a:latin typeface="Courier New" pitchFamily="34" charset="0"/>
                <a:ea typeface="Courier New" pitchFamily="34" charset="-122"/>
                <a:cs typeface="Courier New" pitchFamily="34" charset="-120"/>
              </a:rPr>
              <a:t>&lt;main&gt;</a:t>
            </a:r>
            <a:endParaRPr lang="en-US" sz="1000" dirty="0"/>
          </a:p>
        </p:txBody>
      </p:sp>
      <p:sp>
        <p:nvSpPr>
          <p:cNvPr id="28" name="Shape 25"/>
          <p:cNvSpPr/>
          <p:nvPr/>
        </p:nvSpPr>
        <p:spPr>
          <a:xfrm>
            <a:off x="9902952" y="3474720"/>
            <a:ext cx="1371600" cy="1097280"/>
          </a:xfrm>
          <a:prstGeom prst="roundRect">
            <a:avLst>
              <a:gd name="adj" fmla="val 5000"/>
            </a:avLst>
          </a:prstGeom>
          <a:solidFill>
            <a:srgbClr val="FBE9E2"/>
          </a:solidFill>
          <a:ln w="12700">
            <a:solidFill>
              <a:srgbClr val="F0B9A6"/>
            </a:solidFill>
            <a:prstDash val="solid"/>
          </a:ln>
        </p:spPr>
      </p:sp>
      <p:sp>
        <p:nvSpPr>
          <p:cNvPr id="29" name="Text 26"/>
          <p:cNvSpPr/>
          <p:nvPr/>
        </p:nvSpPr>
        <p:spPr>
          <a:xfrm>
            <a:off x="9902952" y="3474720"/>
            <a:ext cx="1371600" cy="1097280"/>
          </a:xfrm>
          <a:prstGeom prst="rect">
            <a:avLst/>
          </a:prstGeom>
          <a:noFill/>
          <a:ln/>
        </p:spPr>
        <p:txBody>
          <a:bodyPr wrap="square" lIns="0" tIns="0" rIns="0" bIns="0" rtlCol="0" anchor="ctr"/>
          <a:lstStyle/>
          <a:p>
            <a:pPr algn="ctr" indent="0" marL="0">
              <a:buNone/>
            </a:pPr>
            <a:r>
              <a:rPr lang="en-US" sz="1000" dirty="0">
                <a:solidFill>
                  <a:srgbClr val="E34F26"/>
                </a:solidFill>
                <a:latin typeface="Courier New" pitchFamily="34" charset="0"/>
                <a:ea typeface="Courier New" pitchFamily="34" charset="-122"/>
                <a:cs typeface="Courier New" pitchFamily="34" charset="-120"/>
              </a:rPr>
              <a:t>&lt;aside&gt;</a:t>
            </a:r>
            <a:endParaRPr lang="en-US" sz="1000" dirty="0"/>
          </a:p>
        </p:txBody>
      </p:sp>
      <p:sp>
        <p:nvSpPr>
          <p:cNvPr id="30" name="Shape 27"/>
          <p:cNvSpPr/>
          <p:nvPr/>
        </p:nvSpPr>
        <p:spPr>
          <a:xfrm>
            <a:off x="6611112" y="4645152"/>
            <a:ext cx="4663440" cy="292608"/>
          </a:xfrm>
          <a:prstGeom prst="roundRect">
            <a:avLst>
              <a:gd name="adj" fmla="val 18750"/>
            </a:avLst>
          </a:prstGeom>
          <a:solidFill>
            <a:srgbClr val="FBE9E2"/>
          </a:solidFill>
          <a:ln w="12700">
            <a:solidFill>
              <a:srgbClr val="F0B9A6"/>
            </a:solidFill>
            <a:prstDash val="solid"/>
          </a:ln>
        </p:spPr>
      </p:sp>
      <p:sp>
        <p:nvSpPr>
          <p:cNvPr id="31" name="Text 28"/>
          <p:cNvSpPr/>
          <p:nvPr/>
        </p:nvSpPr>
        <p:spPr>
          <a:xfrm>
            <a:off x="6611112" y="4645152"/>
            <a:ext cx="4663440" cy="292608"/>
          </a:xfrm>
          <a:prstGeom prst="rect">
            <a:avLst/>
          </a:prstGeom>
          <a:noFill/>
          <a:ln/>
        </p:spPr>
        <p:txBody>
          <a:bodyPr wrap="square" lIns="0" tIns="0" rIns="0" bIns="0" rtlCol="0" anchor="ctr"/>
          <a:lstStyle/>
          <a:p>
            <a:pPr algn="ctr" indent="0" marL="0">
              <a:buNone/>
            </a:pPr>
            <a:r>
              <a:rPr lang="en-US" sz="1000" dirty="0">
                <a:solidFill>
                  <a:srgbClr val="E34F26"/>
                </a:solidFill>
                <a:latin typeface="Courier New" pitchFamily="34" charset="0"/>
                <a:ea typeface="Courier New" pitchFamily="34" charset="-122"/>
                <a:cs typeface="Courier New" pitchFamily="34" charset="-120"/>
              </a:rPr>
              <a:t>&lt;footer&gt;</a:t>
            </a:r>
            <a:endParaRPr lang="en-US" sz="1000" dirty="0"/>
          </a:p>
        </p:txBody>
      </p:sp>
      <p:sp>
        <p:nvSpPr>
          <p:cNvPr id="32" name="Shape 29"/>
          <p:cNvSpPr/>
          <p:nvPr/>
        </p:nvSpPr>
        <p:spPr>
          <a:xfrm>
            <a:off x="640080" y="5175504"/>
            <a:ext cx="3419856" cy="868680"/>
          </a:xfrm>
          <a:prstGeom prst="roundRect">
            <a:avLst>
              <a:gd name="adj" fmla="val 10526"/>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pic>
        <p:nvPicPr>
          <p:cNvPr id="33" name="Image 0" descr="preencoded.png">    </p:cNvPr>
          <p:cNvPicPr>
            <a:picLocks noChangeAspect="1"/>
          </p:cNvPicPr>
          <p:nvPr/>
        </p:nvPicPr>
        <p:blipFill>
          <a:blip r:embed="rId1"/>
          <a:stretch>
            <a:fillRect/>
          </a:stretch>
        </p:blipFill>
        <p:spPr>
          <a:xfrm>
            <a:off x="896112" y="5340096"/>
            <a:ext cx="201168" cy="201168"/>
          </a:xfrm>
          <a:prstGeom prst="rect">
            <a:avLst/>
          </a:prstGeom>
        </p:spPr>
      </p:pic>
      <p:sp>
        <p:nvSpPr>
          <p:cNvPr id="34" name="Text 30"/>
          <p:cNvSpPr/>
          <p:nvPr/>
        </p:nvSpPr>
        <p:spPr>
          <a:xfrm>
            <a:off x="1207008" y="5266944"/>
            <a:ext cx="2596896" cy="310896"/>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You can read your own code</a:t>
            </a:r>
            <a:endParaRPr lang="en-US" sz="1350" dirty="0"/>
          </a:p>
        </p:txBody>
      </p:sp>
      <p:sp>
        <p:nvSpPr>
          <p:cNvPr id="35" name="Text 31"/>
          <p:cNvSpPr/>
          <p:nvPr/>
        </p:nvSpPr>
        <p:spPr>
          <a:xfrm>
            <a:off x="896112" y="5632704"/>
            <a:ext cx="2907792" cy="329184"/>
          </a:xfrm>
          <a:prstGeom prst="rect">
            <a:avLst/>
          </a:prstGeom>
          <a:noFill/>
          <a:ln/>
        </p:spPr>
        <p:txBody>
          <a:bodyPr wrap="square" lIns="0" tIns="0" rIns="0" bIns="0" rtlCol="0" anchor="t"/>
          <a:lstStyle/>
          <a:p>
            <a:pPr algn="l" indent="0" marL="0">
              <a:lnSpc>
                <a:spcPts val="1587"/>
              </a:lnSpc>
              <a:buNone/>
            </a:pPr>
            <a:r>
              <a:rPr lang="en-US" sz="1150" dirty="0">
                <a:solidFill>
                  <a:srgbClr val="5A6069"/>
                </a:solidFill>
                <a:latin typeface="Calibri" pitchFamily="34" charset="0"/>
                <a:ea typeface="Calibri" pitchFamily="34" charset="-122"/>
                <a:cs typeface="Calibri" pitchFamily="34" charset="-120"/>
              </a:rPr>
              <a:t>Six months later, header beats div number four.</a:t>
            </a:r>
            <a:endParaRPr lang="en-US" sz="1150" dirty="0"/>
          </a:p>
        </p:txBody>
      </p:sp>
      <p:sp>
        <p:nvSpPr>
          <p:cNvPr id="36" name="Shape 32"/>
          <p:cNvSpPr/>
          <p:nvPr/>
        </p:nvSpPr>
        <p:spPr>
          <a:xfrm>
            <a:off x="4379976" y="5175504"/>
            <a:ext cx="3419856" cy="868680"/>
          </a:xfrm>
          <a:prstGeom prst="roundRect">
            <a:avLst>
              <a:gd name="adj" fmla="val 10526"/>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pic>
        <p:nvPicPr>
          <p:cNvPr id="37" name="Image 1" descr="preencoded.png">    </p:cNvPr>
          <p:cNvPicPr>
            <a:picLocks noChangeAspect="1"/>
          </p:cNvPicPr>
          <p:nvPr/>
        </p:nvPicPr>
        <p:blipFill>
          <a:blip r:embed="rId2"/>
          <a:stretch>
            <a:fillRect/>
          </a:stretch>
        </p:blipFill>
        <p:spPr>
          <a:xfrm>
            <a:off x="4636008" y="5340096"/>
            <a:ext cx="201168" cy="201168"/>
          </a:xfrm>
          <a:prstGeom prst="rect">
            <a:avLst/>
          </a:prstGeom>
        </p:spPr>
      </p:pic>
      <p:sp>
        <p:nvSpPr>
          <p:cNvPr id="38" name="Text 33"/>
          <p:cNvSpPr/>
          <p:nvPr/>
        </p:nvSpPr>
        <p:spPr>
          <a:xfrm>
            <a:off x="4946904" y="5266944"/>
            <a:ext cx="2596896" cy="310896"/>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Screen readers can navigate it</a:t>
            </a:r>
            <a:endParaRPr lang="en-US" sz="1350" dirty="0"/>
          </a:p>
        </p:txBody>
      </p:sp>
      <p:sp>
        <p:nvSpPr>
          <p:cNvPr id="39" name="Text 34"/>
          <p:cNvSpPr/>
          <p:nvPr/>
        </p:nvSpPr>
        <p:spPr>
          <a:xfrm>
            <a:off x="4636008" y="5632704"/>
            <a:ext cx="2907792" cy="329184"/>
          </a:xfrm>
          <a:prstGeom prst="rect">
            <a:avLst/>
          </a:prstGeom>
          <a:noFill/>
          <a:ln/>
        </p:spPr>
        <p:txBody>
          <a:bodyPr wrap="square" lIns="0" tIns="0" rIns="0" bIns="0" rtlCol="0" anchor="t"/>
          <a:lstStyle/>
          <a:p>
            <a:pPr algn="l" indent="0" marL="0">
              <a:lnSpc>
                <a:spcPts val="1587"/>
              </a:lnSpc>
              <a:buNone/>
            </a:pPr>
            <a:r>
              <a:rPr lang="en-US" sz="1150" dirty="0">
                <a:solidFill>
                  <a:srgbClr val="5A6069"/>
                </a:solidFill>
                <a:latin typeface="Calibri" pitchFamily="34" charset="0"/>
                <a:ea typeface="Calibri" pitchFamily="34" charset="-122"/>
                <a:cs typeface="Calibri" pitchFamily="34" charset="-120"/>
              </a:rPr>
              <a:t>Real people use them. Semantic tags are what let them jump around.</a:t>
            </a:r>
            <a:endParaRPr lang="en-US" sz="1150" dirty="0"/>
          </a:p>
        </p:txBody>
      </p:sp>
      <p:sp>
        <p:nvSpPr>
          <p:cNvPr id="40" name="Shape 35"/>
          <p:cNvSpPr/>
          <p:nvPr/>
        </p:nvSpPr>
        <p:spPr>
          <a:xfrm>
            <a:off x="8119872" y="5175504"/>
            <a:ext cx="3419856" cy="868680"/>
          </a:xfrm>
          <a:prstGeom prst="roundRect">
            <a:avLst>
              <a:gd name="adj" fmla="val 10526"/>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pic>
        <p:nvPicPr>
          <p:cNvPr id="41" name="Image 2" descr="preencoded.png">    </p:cNvPr>
          <p:cNvPicPr>
            <a:picLocks noChangeAspect="1"/>
          </p:cNvPicPr>
          <p:nvPr/>
        </p:nvPicPr>
        <p:blipFill>
          <a:blip r:embed="rId3"/>
          <a:stretch>
            <a:fillRect/>
          </a:stretch>
        </p:blipFill>
        <p:spPr>
          <a:xfrm>
            <a:off x="8375904" y="5340096"/>
            <a:ext cx="201168" cy="201168"/>
          </a:xfrm>
          <a:prstGeom prst="rect">
            <a:avLst/>
          </a:prstGeom>
        </p:spPr>
      </p:pic>
      <p:sp>
        <p:nvSpPr>
          <p:cNvPr id="42" name="Text 36"/>
          <p:cNvSpPr/>
          <p:nvPr/>
        </p:nvSpPr>
        <p:spPr>
          <a:xfrm>
            <a:off x="8686800" y="5266944"/>
            <a:ext cx="2596896" cy="310896"/>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Search engines understand it</a:t>
            </a:r>
            <a:endParaRPr lang="en-US" sz="1350" dirty="0"/>
          </a:p>
        </p:txBody>
      </p:sp>
      <p:sp>
        <p:nvSpPr>
          <p:cNvPr id="43" name="Text 37"/>
          <p:cNvSpPr/>
          <p:nvPr/>
        </p:nvSpPr>
        <p:spPr>
          <a:xfrm>
            <a:off x="8375904" y="5632704"/>
            <a:ext cx="2907792" cy="329184"/>
          </a:xfrm>
          <a:prstGeom prst="rect">
            <a:avLst/>
          </a:prstGeom>
          <a:noFill/>
          <a:ln/>
        </p:spPr>
        <p:txBody>
          <a:bodyPr wrap="square" lIns="0" tIns="0" rIns="0" bIns="0" rtlCol="0" anchor="t"/>
          <a:lstStyle/>
          <a:p>
            <a:pPr algn="l" indent="0" marL="0">
              <a:lnSpc>
                <a:spcPts val="1587"/>
              </a:lnSpc>
              <a:buNone/>
            </a:pPr>
            <a:r>
              <a:rPr lang="en-US" sz="1150" dirty="0">
                <a:solidFill>
                  <a:srgbClr val="5A6069"/>
                </a:solidFill>
                <a:latin typeface="Calibri" pitchFamily="34" charset="0"/>
                <a:ea typeface="Calibri" pitchFamily="34" charset="-122"/>
                <a:cs typeface="Calibri" pitchFamily="34" charset="-120"/>
              </a:rPr>
              <a:t>Structure is a signal. Google reads your tags too.</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20</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&lt;semantic-html&gt;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The tags worth knowing today</a:t>
            </a:r>
            <a:endParaRPr lang="en-US" sz="3400" dirty="0"/>
          </a:p>
        </p:txBody>
      </p:sp>
      <p:sp>
        <p:nvSpPr>
          <p:cNvPr id="7" name="Shape 4"/>
          <p:cNvSpPr/>
          <p:nvPr/>
        </p:nvSpPr>
        <p:spPr>
          <a:xfrm>
            <a:off x="640080" y="1600200"/>
            <a:ext cx="5212080" cy="749808"/>
          </a:xfrm>
          <a:prstGeom prst="roundRect">
            <a:avLst>
              <a:gd name="adj" fmla="val 12195"/>
            </a:avLst>
          </a:prstGeom>
          <a:solidFill>
            <a:srgbClr val="FFFFFF"/>
          </a:solidFill>
          <a:ln w="12700">
            <a:solidFill>
              <a:srgbClr val="E2DFD8"/>
            </a:solidFill>
            <a:prstDash val="solid"/>
          </a:ln>
        </p:spPr>
      </p:sp>
      <p:sp>
        <p:nvSpPr>
          <p:cNvPr id="8" name="Shape 5"/>
          <p:cNvSpPr/>
          <p:nvPr/>
        </p:nvSpPr>
        <p:spPr>
          <a:xfrm>
            <a:off x="859536" y="1783080"/>
            <a:ext cx="1371600" cy="384048"/>
          </a:xfrm>
          <a:prstGeom prst="roundRect">
            <a:avLst>
              <a:gd name="adj" fmla="val 19048"/>
            </a:avLst>
          </a:prstGeom>
          <a:solidFill>
            <a:srgbClr val="15181D"/>
          </a:solidFill>
          <a:ln w="12700">
            <a:solidFill>
              <a:srgbClr val="15181D"/>
            </a:solidFill>
            <a:prstDash val="solid"/>
          </a:ln>
        </p:spPr>
      </p:sp>
      <p:sp>
        <p:nvSpPr>
          <p:cNvPr id="9" name="Text 6"/>
          <p:cNvSpPr/>
          <p:nvPr/>
        </p:nvSpPr>
        <p:spPr>
          <a:xfrm>
            <a:off x="859536" y="1783080"/>
            <a:ext cx="1371600" cy="384048"/>
          </a:xfrm>
          <a:prstGeom prst="rect">
            <a:avLst/>
          </a:prstGeom>
          <a:noFill/>
          <a:ln/>
        </p:spPr>
        <p:txBody>
          <a:bodyPr wrap="square" lIns="0" tIns="0" rIns="0" bIns="0" rtlCol="0" anchor="ctr"/>
          <a:lstStyle/>
          <a:p>
            <a:pPr algn="ctr" indent="0" marL="0">
              <a:buNone/>
            </a:pPr>
            <a:r>
              <a:rPr lang="en-US" sz="1150" dirty="0">
                <a:solidFill>
                  <a:srgbClr val="F79A80"/>
                </a:solidFill>
                <a:latin typeface="Courier New" pitchFamily="34" charset="0"/>
                <a:ea typeface="Courier New" pitchFamily="34" charset="-122"/>
                <a:cs typeface="Courier New" pitchFamily="34" charset="-120"/>
              </a:rPr>
              <a:t>header</a:t>
            </a:r>
            <a:endParaRPr lang="en-US" sz="1150" dirty="0"/>
          </a:p>
        </p:txBody>
      </p:sp>
      <p:sp>
        <p:nvSpPr>
          <p:cNvPr id="10" name="Text 7"/>
          <p:cNvSpPr/>
          <p:nvPr/>
        </p:nvSpPr>
        <p:spPr>
          <a:xfrm>
            <a:off x="2377440" y="1600200"/>
            <a:ext cx="3200400" cy="749808"/>
          </a:xfrm>
          <a:prstGeom prst="rect">
            <a:avLst/>
          </a:prstGeom>
          <a:noFill/>
          <a:ln/>
        </p:spPr>
        <p:txBody>
          <a:bodyPr wrap="square" lIns="0" tIns="0" rIns="0" bIns="0" rtlCol="0" anchor="ctr"/>
          <a:lstStyle/>
          <a:p>
            <a:pPr algn="l" indent="0" marL="0">
              <a:lnSpc>
                <a:spcPts val="1600"/>
              </a:lnSpc>
              <a:buNone/>
            </a:pPr>
            <a:r>
              <a:rPr lang="en-US" sz="1250" dirty="0">
                <a:solidFill>
                  <a:srgbClr val="1B1F24"/>
                </a:solidFill>
                <a:latin typeface="Calibri" pitchFamily="34" charset="0"/>
                <a:ea typeface="Calibri" pitchFamily="34" charset="-122"/>
                <a:cs typeface="Calibri" pitchFamily="34" charset="-120"/>
              </a:rPr>
              <a:t>The top of the page or of a section: logo, title, navigation.</a:t>
            </a:r>
            <a:endParaRPr lang="en-US" sz="1250" dirty="0"/>
          </a:p>
        </p:txBody>
      </p:sp>
      <p:sp>
        <p:nvSpPr>
          <p:cNvPr id="11" name="Shape 8"/>
          <p:cNvSpPr/>
          <p:nvPr/>
        </p:nvSpPr>
        <p:spPr>
          <a:xfrm>
            <a:off x="6336792" y="1600200"/>
            <a:ext cx="5212080" cy="749808"/>
          </a:xfrm>
          <a:prstGeom prst="roundRect">
            <a:avLst>
              <a:gd name="adj" fmla="val 12195"/>
            </a:avLst>
          </a:prstGeom>
          <a:solidFill>
            <a:srgbClr val="FFFFFF"/>
          </a:solidFill>
          <a:ln w="12700">
            <a:solidFill>
              <a:srgbClr val="E2DFD8"/>
            </a:solidFill>
            <a:prstDash val="solid"/>
          </a:ln>
        </p:spPr>
      </p:sp>
      <p:sp>
        <p:nvSpPr>
          <p:cNvPr id="12" name="Shape 9"/>
          <p:cNvSpPr/>
          <p:nvPr/>
        </p:nvSpPr>
        <p:spPr>
          <a:xfrm>
            <a:off x="6556248" y="1783080"/>
            <a:ext cx="1371600" cy="384048"/>
          </a:xfrm>
          <a:prstGeom prst="roundRect">
            <a:avLst>
              <a:gd name="adj" fmla="val 19048"/>
            </a:avLst>
          </a:prstGeom>
          <a:solidFill>
            <a:srgbClr val="15181D"/>
          </a:solidFill>
          <a:ln w="12700">
            <a:solidFill>
              <a:srgbClr val="15181D"/>
            </a:solidFill>
            <a:prstDash val="solid"/>
          </a:ln>
        </p:spPr>
      </p:sp>
      <p:sp>
        <p:nvSpPr>
          <p:cNvPr id="13" name="Text 10"/>
          <p:cNvSpPr/>
          <p:nvPr/>
        </p:nvSpPr>
        <p:spPr>
          <a:xfrm>
            <a:off x="6556248" y="1783080"/>
            <a:ext cx="1371600" cy="384048"/>
          </a:xfrm>
          <a:prstGeom prst="rect">
            <a:avLst/>
          </a:prstGeom>
          <a:noFill/>
          <a:ln/>
        </p:spPr>
        <p:txBody>
          <a:bodyPr wrap="square" lIns="0" tIns="0" rIns="0" bIns="0" rtlCol="0" anchor="ctr"/>
          <a:lstStyle/>
          <a:p>
            <a:pPr algn="ctr" indent="0" marL="0">
              <a:buNone/>
            </a:pPr>
            <a:r>
              <a:rPr lang="en-US" sz="1150" dirty="0">
                <a:solidFill>
                  <a:srgbClr val="F79A80"/>
                </a:solidFill>
                <a:latin typeface="Courier New" pitchFamily="34" charset="0"/>
                <a:ea typeface="Courier New" pitchFamily="34" charset="-122"/>
                <a:cs typeface="Courier New" pitchFamily="34" charset="-120"/>
              </a:rPr>
              <a:t>nav</a:t>
            </a:r>
            <a:endParaRPr lang="en-US" sz="1150" dirty="0"/>
          </a:p>
        </p:txBody>
      </p:sp>
      <p:sp>
        <p:nvSpPr>
          <p:cNvPr id="14" name="Text 11"/>
          <p:cNvSpPr/>
          <p:nvPr/>
        </p:nvSpPr>
        <p:spPr>
          <a:xfrm>
            <a:off x="8074152" y="1600200"/>
            <a:ext cx="3200400" cy="749808"/>
          </a:xfrm>
          <a:prstGeom prst="rect">
            <a:avLst/>
          </a:prstGeom>
          <a:noFill/>
          <a:ln/>
        </p:spPr>
        <p:txBody>
          <a:bodyPr wrap="square" lIns="0" tIns="0" rIns="0" bIns="0" rtlCol="0" anchor="ctr"/>
          <a:lstStyle/>
          <a:p>
            <a:pPr algn="l" indent="0" marL="0">
              <a:lnSpc>
                <a:spcPts val="1600"/>
              </a:lnSpc>
              <a:buNone/>
            </a:pPr>
            <a:r>
              <a:rPr lang="en-US" sz="1250" dirty="0">
                <a:solidFill>
                  <a:srgbClr val="1B1F24"/>
                </a:solidFill>
                <a:latin typeface="Calibri" pitchFamily="34" charset="0"/>
                <a:ea typeface="Calibri" pitchFamily="34" charset="-122"/>
                <a:cs typeface="Calibri" pitchFamily="34" charset="-120"/>
              </a:rPr>
              <a:t>A block of navigation links. The menu.</a:t>
            </a:r>
            <a:endParaRPr lang="en-US" sz="1250" dirty="0"/>
          </a:p>
        </p:txBody>
      </p:sp>
      <p:sp>
        <p:nvSpPr>
          <p:cNvPr id="15" name="Shape 12"/>
          <p:cNvSpPr/>
          <p:nvPr/>
        </p:nvSpPr>
        <p:spPr>
          <a:xfrm>
            <a:off x="640080" y="2441448"/>
            <a:ext cx="5212080" cy="749808"/>
          </a:xfrm>
          <a:prstGeom prst="roundRect">
            <a:avLst>
              <a:gd name="adj" fmla="val 12195"/>
            </a:avLst>
          </a:prstGeom>
          <a:solidFill>
            <a:srgbClr val="FFFFFF"/>
          </a:solidFill>
          <a:ln w="12700">
            <a:solidFill>
              <a:srgbClr val="E2DFD8"/>
            </a:solidFill>
            <a:prstDash val="solid"/>
          </a:ln>
        </p:spPr>
      </p:sp>
      <p:sp>
        <p:nvSpPr>
          <p:cNvPr id="16" name="Shape 13"/>
          <p:cNvSpPr/>
          <p:nvPr/>
        </p:nvSpPr>
        <p:spPr>
          <a:xfrm>
            <a:off x="859536" y="2624328"/>
            <a:ext cx="1371600" cy="384048"/>
          </a:xfrm>
          <a:prstGeom prst="roundRect">
            <a:avLst>
              <a:gd name="adj" fmla="val 19048"/>
            </a:avLst>
          </a:prstGeom>
          <a:solidFill>
            <a:srgbClr val="15181D"/>
          </a:solidFill>
          <a:ln w="12700">
            <a:solidFill>
              <a:srgbClr val="15181D"/>
            </a:solidFill>
            <a:prstDash val="solid"/>
          </a:ln>
        </p:spPr>
      </p:sp>
      <p:sp>
        <p:nvSpPr>
          <p:cNvPr id="17" name="Text 14"/>
          <p:cNvSpPr/>
          <p:nvPr/>
        </p:nvSpPr>
        <p:spPr>
          <a:xfrm>
            <a:off x="859536" y="2624328"/>
            <a:ext cx="1371600" cy="384048"/>
          </a:xfrm>
          <a:prstGeom prst="rect">
            <a:avLst/>
          </a:prstGeom>
          <a:noFill/>
          <a:ln/>
        </p:spPr>
        <p:txBody>
          <a:bodyPr wrap="square" lIns="0" tIns="0" rIns="0" bIns="0" rtlCol="0" anchor="ctr"/>
          <a:lstStyle/>
          <a:p>
            <a:pPr algn="ctr" indent="0" marL="0">
              <a:buNone/>
            </a:pPr>
            <a:r>
              <a:rPr lang="en-US" sz="1150" dirty="0">
                <a:solidFill>
                  <a:srgbClr val="F79A80"/>
                </a:solidFill>
                <a:latin typeface="Courier New" pitchFamily="34" charset="0"/>
                <a:ea typeface="Courier New" pitchFamily="34" charset="-122"/>
                <a:cs typeface="Courier New" pitchFamily="34" charset="-120"/>
              </a:rPr>
              <a:t>main</a:t>
            </a:r>
            <a:endParaRPr lang="en-US" sz="1150" dirty="0"/>
          </a:p>
        </p:txBody>
      </p:sp>
      <p:sp>
        <p:nvSpPr>
          <p:cNvPr id="18" name="Text 15"/>
          <p:cNvSpPr/>
          <p:nvPr/>
        </p:nvSpPr>
        <p:spPr>
          <a:xfrm>
            <a:off x="2377440" y="2441448"/>
            <a:ext cx="3200400" cy="749808"/>
          </a:xfrm>
          <a:prstGeom prst="rect">
            <a:avLst/>
          </a:prstGeom>
          <a:noFill/>
          <a:ln/>
        </p:spPr>
        <p:txBody>
          <a:bodyPr wrap="square" lIns="0" tIns="0" rIns="0" bIns="0" rtlCol="0" anchor="ctr"/>
          <a:lstStyle/>
          <a:p>
            <a:pPr algn="l" indent="0" marL="0">
              <a:lnSpc>
                <a:spcPts val="1600"/>
              </a:lnSpc>
              <a:buNone/>
            </a:pPr>
            <a:r>
              <a:rPr lang="en-US" sz="1250" dirty="0">
                <a:solidFill>
                  <a:srgbClr val="1B1F24"/>
                </a:solidFill>
                <a:latin typeface="Calibri" pitchFamily="34" charset="0"/>
                <a:ea typeface="Calibri" pitchFamily="34" charset="-122"/>
                <a:cs typeface="Calibri" pitchFamily="34" charset="-120"/>
              </a:rPr>
              <a:t>The main content. One per page.</a:t>
            </a:r>
            <a:endParaRPr lang="en-US" sz="1250" dirty="0"/>
          </a:p>
        </p:txBody>
      </p:sp>
      <p:sp>
        <p:nvSpPr>
          <p:cNvPr id="19" name="Shape 16"/>
          <p:cNvSpPr/>
          <p:nvPr/>
        </p:nvSpPr>
        <p:spPr>
          <a:xfrm>
            <a:off x="6336792" y="2441448"/>
            <a:ext cx="5212080" cy="749808"/>
          </a:xfrm>
          <a:prstGeom prst="roundRect">
            <a:avLst>
              <a:gd name="adj" fmla="val 12195"/>
            </a:avLst>
          </a:prstGeom>
          <a:solidFill>
            <a:srgbClr val="FFFFFF"/>
          </a:solidFill>
          <a:ln w="12700">
            <a:solidFill>
              <a:srgbClr val="E2DFD8"/>
            </a:solidFill>
            <a:prstDash val="solid"/>
          </a:ln>
        </p:spPr>
      </p:sp>
      <p:sp>
        <p:nvSpPr>
          <p:cNvPr id="20" name="Shape 17"/>
          <p:cNvSpPr/>
          <p:nvPr/>
        </p:nvSpPr>
        <p:spPr>
          <a:xfrm>
            <a:off x="6556248" y="2624328"/>
            <a:ext cx="1371600" cy="384048"/>
          </a:xfrm>
          <a:prstGeom prst="roundRect">
            <a:avLst>
              <a:gd name="adj" fmla="val 19048"/>
            </a:avLst>
          </a:prstGeom>
          <a:solidFill>
            <a:srgbClr val="15181D"/>
          </a:solidFill>
          <a:ln w="12700">
            <a:solidFill>
              <a:srgbClr val="15181D"/>
            </a:solidFill>
            <a:prstDash val="solid"/>
          </a:ln>
        </p:spPr>
      </p:sp>
      <p:sp>
        <p:nvSpPr>
          <p:cNvPr id="21" name="Text 18"/>
          <p:cNvSpPr/>
          <p:nvPr/>
        </p:nvSpPr>
        <p:spPr>
          <a:xfrm>
            <a:off x="6556248" y="2624328"/>
            <a:ext cx="1371600" cy="384048"/>
          </a:xfrm>
          <a:prstGeom prst="rect">
            <a:avLst/>
          </a:prstGeom>
          <a:noFill/>
          <a:ln/>
        </p:spPr>
        <p:txBody>
          <a:bodyPr wrap="square" lIns="0" tIns="0" rIns="0" bIns="0" rtlCol="0" anchor="ctr"/>
          <a:lstStyle/>
          <a:p>
            <a:pPr algn="ctr" indent="0" marL="0">
              <a:buNone/>
            </a:pPr>
            <a:r>
              <a:rPr lang="en-US" sz="1150" dirty="0">
                <a:solidFill>
                  <a:srgbClr val="F79A80"/>
                </a:solidFill>
                <a:latin typeface="Courier New" pitchFamily="34" charset="0"/>
                <a:ea typeface="Courier New" pitchFamily="34" charset="-122"/>
                <a:cs typeface="Courier New" pitchFamily="34" charset="-120"/>
              </a:rPr>
              <a:t>section</a:t>
            </a:r>
            <a:endParaRPr lang="en-US" sz="1150" dirty="0"/>
          </a:p>
        </p:txBody>
      </p:sp>
      <p:sp>
        <p:nvSpPr>
          <p:cNvPr id="22" name="Text 19"/>
          <p:cNvSpPr/>
          <p:nvPr/>
        </p:nvSpPr>
        <p:spPr>
          <a:xfrm>
            <a:off x="8074152" y="2441448"/>
            <a:ext cx="3200400" cy="749808"/>
          </a:xfrm>
          <a:prstGeom prst="rect">
            <a:avLst/>
          </a:prstGeom>
          <a:noFill/>
          <a:ln/>
        </p:spPr>
        <p:txBody>
          <a:bodyPr wrap="square" lIns="0" tIns="0" rIns="0" bIns="0" rtlCol="0" anchor="ctr"/>
          <a:lstStyle/>
          <a:p>
            <a:pPr algn="l" indent="0" marL="0">
              <a:lnSpc>
                <a:spcPts val="1600"/>
              </a:lnSpc>
              <a:buNone/>
            </a:pPr>
            <a:r>
              <a:rPr lang="en-US" sz="1250" dirty="0">
                <a:solidFill>
                  <a:srgbClr val="1B1F24"/>
                </a:solidFill>
                <a:latin typeface="Calibri" pitchFamily="34" charset="0"/>
                <a:ea typeface="Calibri" pitchFamily="34" charset="-122"/>
                <a:cs typeface="Calibri" pitchFamily="34" charset="-120"/>
              </a:rPr>
              <a:t>A logical part of the page: a chapter, an article, a block that belongs together.</a:t>
            </a:r>
            <a:endParaRPr lang="en-US" sz="1250" dirty="0"/>
          </a:p>
        </p:txBody>
      </p:sp>
      <p:sp>
        <p:nvSpPr>
          <p:cNvPr id="23" name="Shape 20"/>
          <p:cNvSpPr/>
          <p:nvPr/>
        </p:nvSpPr>
        <p:spPr>
          <a:xfrm>
            <a:off x="640080" y="3282696"/>
            <a:ext cx="5212080" cy="749808"/>
          </a:xfrm>
          <a:prstGeom prst="roundRect">
            <a:avLst>
              <a:gd name="adj" fmla="val 12195"/>
            </a:avLst>
          </a:prstGeom>
          <a:solidFill>
            <a:srgbClr val="FFFFFF"/>
          </a:solidFill>
          <a:ln w="12700">
            <a:solidFill>
              <a:srgbClr val="E2DFD8"/>
            </a:solidFill>
            <a:prstDash val="solid"/>
          </a:ln>
        </p:spPr>
      </p:sp>
      <p:sp>
        <p:nvSpPr>
          <p:cNvPr id="24" name="Shape 21"/>
          <p:cNvSpPr/>
          <p:nvPr/>
        </p:nvSpPr>
        <p:spPr>
          <a:xfrm>
            <a:off x="859536" y="3465576"/>
            <a:ext cx="1371600" cy="384048"/>
          </a:xfrm>
          <a:prstGeom prst="roundRect">
            <a:avLst>
              <a:gd name="adj" fmla="val 19048"/>
            </a:avLst>
          </a:prstGeom>
          <a:solidFill>
            <a:srgbClr val="15181D"/>
          </a:solidFill>
          <a:ln w="12700">
            <a:solidFill>
              <a:srgbClr val="15181D"/>
            </a:solidFill>
            <a:prstDash val="solid"/>
          </a:ln>
        </p:spPr>
      </p:sp>
      <p:sp>
        <p:nvSpPr>
          <p:cNvPr id="25" name="Text 22"/>
          <p:cNvSpPr/>
          <p:nvPr/>
        </p:nvSpPr>
        <p:spPr>
          <a:xfrm>
            <a:off x="859536" y="3465576"/>
            <a:ext cx="1371600" cy="384048"/>
          </a:xfrm>
          <a:prstGeom prst="rect">
            <a:avLst/>
          </a:prstGeom>
          <a:noFill/>
          <a:ln/>
        </p:spPr>
        <p:txBody>
          <a:bodyPr wrap="square" lIns="0" tIns="0" rIns="0" bIns="0" rtlCol="0" anchor="ctr"/>
          <a:lstStyle/>
          <a:p>
            <a:pPr algn="ctr" indent="0" marL="0">
              <a:buNone/>
            </a:pPr>
            <a:r>
              <a:rPr lang="en-US" sz="1150" dirty="0">
                <a:solidFill>
                  <a:srgbClr val="F79A80"/>
                </a:solidFill>
                <a:latin typeface="Courier New" pitchFamily="34" charset="0"/>
                <a:ea typeface="Courier New" pitchFamily="34" charset="-122"/>
                <a:cs typeface="Courier New" pitchFamily="34" charset="-120"/>
              </a:rPr>
              <a:t>article</a:t>
            </a:r>
            <a:endParaRPr lang="en-US" sz="1150" dirty="0"/>
          </a:p>
        </p:txBody>
      </p:sp>
      <p:sp>
        <p:nvSpPr>
          <p:cNvPr id="26" name="Text 23"/>
          <p:cNvSpPr/>
          <p:nvPr/>
        </p:nvSpPr>
        <p:spPr>
          <a:xfrm>
            <a:off x="2377440" y="3282696"/>
            <a:ext cx="3200400" cy="749808"/>
          </a:xfrm>
          <a:prstGeom prst="rect">
            <a:avLst/>
          </a:prstGeom>
          <a:noFill/>
          <a:ln/>
        </p:spPr>
        <p:txBody>
          <a:bodyPr wrap="square" lIns="0" tIns="0" rIns="0" bIns="0" rtlCol="0" anchor="ctr"/>
          <a:lstStyle/>
          <a:p>
            <a:pPr algn="l" indent="0" marL="0">
              <a:lnSpc>
                <a:spcPts val="1600"/>
              </a:lnSpc>
              <a:buNone/>
            </a:pPr>
            <a:r>
              <a:rPr lang="en-US" sz="1250" dirty="0">
                <a:solidFill>
                  <a:srgbClr val="1B1F24"/>
                </a:solidFill>
                <a:latin typeface="Calibri" pitchFamily="34" charset="0"/>
                <a:ea typeface="Calibri" pitchFamily="34" charset="-122"/>
                <a:cs typeface="Calibri" pitchFamily="34" charset="-120"/>
              </a:rPr>
              <a:t>Content that would still make sense on its own, like a blog post.</a:t>
            </a:r>
            <a:endParaRPr lang="en-US" sz="1250" dirty="0"/>
          </a:p>
        </p:txBody>
      </p:sp>
      <p:sp>
        <p:nvSpPr>
          <p:cNvPr id="27" name="Shape 24"/>
          <p:cNvSpPr/>
          <p:nvPr/>
        </p:nvSpPr>
        <p:spPr>
          <a:xfrm>
            <a:off x="6336792" y="3282696"/>
            <a:ext cx="5212080" cy="749808"/>
          </a:xfrm>
          <a:prstGeom prst="roundRect">
            <a:avLst>
              <a:gd name="adj" fmla="val 12195"/>
            </a:avLst>
          </a:prstGeom>
          <a:solidFill>
            <a:srgbClr val="FFFFFF"/>
          </a:solidFill>
          <a:ln w="12700">
            <a:solidFill>
              <a:srgbClr val="E2DFD8"/>
            </a:solidFill>
            <a:prstDash val="solid"/>
          </a:ln>
        </p:spPr>
      </p:sp>
      <p:sp>
        <p:nvSpPr>
          <p:cNvPr id="28" name="Shape 25"/>
          <p:cNvSpPr/>
          <p:nvPr/>
        </p:nvSpPr>
        <p:spPr>
          <a:xfrm>
            <a:off x="6556248" y="3465576"/>
            <a:ext cx="1371600" cy="384048"/>
          </a:xfrm>
          <a:prstGeom prst="roundRect">
            <a:avLst>
              <a:gd name="adj" fmla="val 19048"/>
            </a:avLst>
          </a:prstGeom>
          <a:solidFill>
            <a:srgbClr val="15181D"/>
          </a:solidFill>
          <a:ln w="12700">
            <a:solidFill>
              <a:srgbClr val="15181D"/>
            </a:solidFill>
            <a:prstDash val="solid"/>
          </a:ln>
        </p:spPr>
      </p:sp>
      <p:sp>
        <p:nvSpPr>
          <p:cNvPr id="29" name="Text 26"/>
          <p:cNvSpPr/>
          <p:nvPr/>
        </p:nvSpPr>
        <p:spPr>
          <a:xfrm>
            <a:off x="6556248" y="3465576"/>
            <a:ext cx="1371600" cy="384048"/>
          </a:xfrm>
          <a:prstGeom prst="rect">
            <a:avLst/>
          </a:prstGeom>
          <a:noFill/>
          <a:ln/>
        </p:spPr>
        <p:txBody>
          <a:bodyPr wrap="square" lIns="0" tIns="0" rIns="0" bIns="0" rtlCol="0" anchor="ctr"/>
          <a:lstStyle/>
          <a:p>
            <a:pPr algn="ctr" indent="0" marL="0">
              <a:buNone/>
            </a:pPr>
            <a:r>
              <a:rPr lang="en-US" sz="1150" dirty="0">
                <a:solidFill>
                  <a:srgbClr val="F79A80"/>
                </a:solidFill>
                <a:latin typeface="Courier New" pitchFamily="34" charset="0"/>
                <a:ea typeface="Courier New" pitchFamily="34" charset="-122"/>
                <a:cs typeface="Courier New" pitchFamily="34" charset="-120"/>
              </a:rPr>
              <a:t>aside</a:t>
            </a:r>
            <a:endParaRPr lang="en-US" sz="1150" dirty="0"/>
          </a:p>
        </p:txBody>
      </p:sp>
      <p:sp>
        <p:nvSpPr>
          <p:cNvPr id="30" name="Text 27"/>
          <p:cNvSpPr/>
          <p:nvPr/>
        </p:nvSpPr>
        <p:spPr>
          <a:xfrm>
            <a:off x="8074152" y="3282696"/>
            <a:ext cx="3200400" cy="749808"/>
          </a:xfrm>
          <a:prstGeom prst="rect">
            <a:avLst/>
          </a:prstGeom>
          <a:noFill/>
          <a:ln/>
        </p:spPr>
        <p:txBody>
          <a:bodyPr wrap="square" lIns="0" tIns="0" rIns="0" bIns="0" rtlCol="0" anchor="ctr"/>
          <a:lstStyle/>
          <a:p>
            <a:pPr algn="l" indent="0" marL="0">
              <a:lnSpc>
                <a:spcPts val="1600"/>
              </a:lnSpc>
              <a:buNone/>
            </a:pPr>
            <a:r>
              <a:rPr lang="en-US" sz="1250" dirty="0">
                <a:solidFill>
                  <a:srgbClr val="1B1F24"/>
                </a:solidFill>
                <a:latin typeface="Calibri" pitchFamily="34" charset="0"/>
                <a:ea typeface="Calibri" pitchFamily="34" charset="-122"/>
                <a:cs typeface="Calibri" pitchFamily="34" charset="-120"/>
              </a:rPr>
              <a:t>Side content: related links, a sidebar, an ad.</a:t>
            </a:r>
            <a:endParaRPr lang="en-US" sz="1250" dirty="0"/>
          </a:p>
        </p:txBody>
      </p:sp>
      <p:sp>
        <p:nvSpPr>
          <p:cNvPr id="31" name="Shape 28"/>
          <p:cNvSpPr/>
          <p:nvPr/>
        </p:nvSpPr>
        <p:spPr>
          <a:xfrm>
            <a:off x="640080" y="4123944"/>
            <a:ext cx="5212080" cy="749808"/>
          </a:xfrm>
          <a:prstGeom prst="roundRect">
            <a:avLst>
              <a:gd name="adj" fmla="val 12195"/>
            </a:avLst>
          </a:prstGeom>
          <a:solidFill>
            <a:srgbClr val="FFFFFF"/>
          </a:solidFill>
          <a:ln w="12700">
            <a:solidFill>
              <a:srgbClr val="E2DFD8"/>
            </a:solidFill>
            <a:prstDash val="solid"/>
          </a:ln>
        </p:spPr>
      </p:sp>
      <p:sp>
        <p:nvSpPr>
          <p:cNvPr id="32" name="Shape 29"/>
          <p:cNvSpPr/>
          <p:nvPr/>
        </p:nvSpPr>
        <p:spPr>
          <a:xfrm>
            <a:off x="859536" y="4306824"/>
            <a:ext cx="1371600" cy="384048"/>
          </a:xfrm>
          <a:prstGeom prst="roundRect">
            <a:avLst>
              <a:gd name="adj" fmla="val 19048"/>
            </a:avLst>
          </a:prstGeom>
          <a:solidFill>
            <a:srgbClr val="15181D"/>
          </a:solidFill>
          <a:ln w="12700">
            <a:solidFill>
              <a:srgbClr val="15181D"/>
            </a:solidFill>
            <a:prstDash val="solid"/>
          </a:ln>
        </p:spPr>
      </p:sp>
      <p:sp>
        <p:nvSpPr>
          <p:cNvPr id="33" name="Text 30"/>
          <p:cNvSpPr/>
          <p:nvPr/>
        </p:nvSpPr>
        <p:spPr>
          <a:xfrm>
            <a:off x="859536" y="4306824"/>
            <a:ext cx="1371600" cy="384048"/>
          </a:xfrm>
          <a:prstGeom prst="rect">
            <a:avLst/>
          </a:prstGeom>
          <a:noFill/>
          <a:ln/>
        </p:spPr>
        <p:txBody>
          <a:bodyPr wrap="square" lIns="0" tIns="0" rIns="0" bIns="0" rtlCol="0" anchor="ctr"/>
          <a:lstStyle/>
          <a:p>
            <a:pPr algn="ctr" indent="0" marL="0">
              <a:buNone/>
            </a:pPr>
            <a:r>
              <a:rPr lang="en-US" sz="1150" dirty="0">
                <a:solidFill>
                  <a:srgbClr val="F79A80"/>
                </a:solidFill>
                <a:latin typeface="Courier New" pitchFamily="34" charset="0"/>
                <a:ea typeface="Courier New" pitchFamily="34" charset="-122"/>
                <a:cs typeface="Courier New" pitchFamily="34" charset="-120"/>
              </a:rPr>
              <a:t>footer</a:t>
            </a:r>
            <a:endParaRPr lang="en-US" sz="1150" dirty="0"/>
          </a:p>
        </p:txBody>
      </p:sp>
      <p:sp>
        <p:nvSpPr>
          <p:cNvPr id="34" name="Text 31"/>
          <p:cNvSpPr/>
          <p:nvPr/>
        </p:nvSpPr>
        <p:spPr>
          <a:xfrm>
            <a:off x="2377440" y="4123944"/>
            <a:ext cx="3200400" cy="749808"/>
          </a:xfrm>
          <a:prstGeom prst="rect">
            <a:avLst/>
          </a:prstGeom>
          <a:noFill/>
          <a:ln/>
        </p:spPr>
        <p:txBody>
          <a:bodyPr wrap="square" lIns="0" tIns="0" rIns="0" bIns="0" rtlCol="0" anchor="ctr"/>
          <a:lstStyle/>
          <a:p>
            <a:pPr algn="l" indent="0" marL="0">
              <a:lnSpc>
                <a:spcPts val="1600"/>
              </a:lnSpc>
              <a:buNone/>
            </a:pPr>
            <a:r>
              <a:rPr lang="en-US" sz="1250" dirty="0">
                <a:solidFill>
                  <a:srgbClr val="1B1F24"/>
                </a:solidFill>
                <a:latin typeface="Calibri" pitchFamily="34" charset="0"/>
                <a:ea typeface="Calibri" pitchFamily="34" charset="-122"/>
                <a:cs typeface="Calibri" pitchFamily="34" charset="-120"/>
              </a:rPr>
              <a:t>The bottom: contact, copyright, small print.</a:t>
            </a:r>
            <a:endParaRPr lang="en-US" sz="1250" dirty="0"/>
          </a:p>
        </p:txBody>
      </p:sp>
      <p:sp>
        <p:nvSpPr>
          <p:cNvPr id="35" name="Shape 32"/>
          <p:cNvSpPr/>
          <p:nvPr/>
        </p:nvSpPr>
        <p:spPr>
          <a:xfrm>
            <a:off x="6336792" y="4123944"/>
            <a:ext cx="5212080" cy="749808"/>
          </a:xfrm>
          <a:prstGeom prst="roundRect">
            <a:avLst>
              <a:gd name="adj" fmla="val 12195"/>
            </a:avLst>
          </a:prstGeom>
          <a:solidFill>
            <a:srgbClr val="FFFFFF"/>
          </a:solidFill>
          <a:ln w="12700">
            <a:solidFill>
              <a:srgbClr val="E2DFD8"/>
            </a:solidFill>
            <a:prstDash val="solid"/>
          </a:ln>
        </p:spPr>
      </p:sp>
      <p:sp>
        <p:nvSpPr>
          <p:cNvPr id="36" name="Shape 33"/>
          <p:cNvSpPr/>
          <p:nvPr/>
        </p:nvSpPr>
        <p:spPr>
          <a:xfrm>
            <a:off x="6556248" y="4306824"/>
            <a:ext cx="1371600" cy="384048"/>
          </a:xfrm>
          <a:prstGeom prst="roundRect">
            <a:avLst>
              <a:gd name="adj" fmla="val 19048"/>
            </a:avLst>
          </a:prstGeom>
          <a:solidFill>
            <a:srgbClr val="15181D"/>
          </a:solidFill>
          <a:ln w="12700">
            <a:solidFill>
              <a:srgbClr val="15181D"/>
            </a:solidFill>
            <a:prstDash val="solid"/>
          </a:ln>
        </p:spPr>
      </p:sp>
      <p:sp>
        <p:nvSpPr>
          <p:cNvPr id="37" name="Text 34"/>
          <p:cNvSpPr/>
          <p:nvPr/>
        </p:nvSpPr>
        <p:spPr>
          <a:xfrm>
            <a:off x="6556248" y="4306824"/>
            <a:ext cx="1371600" cy="384048"/>
          </a:xfrm>
          <a:prstGeom prst="rect">
            <a:avLst/>
          </a:prstGeom>
          <a:noFill/>
          <a:ln/>
        </p:spPr>
        <p:txBody>
          <a:bodyPr wrap="square" lIns="0" tIns="0" rIns="0" bIns="0" rtlCol="0" anchor="ctr"/>
          <a:lstStyle/>
          <a:p>
            <a:pPr algn="ctr" indent="0" marL="0">
              <a:buNone/>
            </a:pPr>
            <a:r>
              <a:rPr lang="en-US" sz="1150" dirty="0">
                <a:solidFill>
                  <a:srgbClr val="F79A80"/>
                </a:solidFill>
                <a:latin typeface="Courier New" pitchFamily="34" charset="0"/>
                <a:ea typeface="Courier New" pitchFamily="34" charset="-122"/>
                <a:cs typeface="Courier New" pitchFamily="34" charset="-120"/>
              </a:rPr>
              <a:t>h1 to h6</a:t>
            </a:r>
            <a:endParaRPr lang="en-US" sz="1150" dirty="0"/>
          </a:p>
        </p:txBody>
      </p:sp>
      <p:sp>
        <p:nvSpPr>
          <p:cNvPr id="38" name="Text 35"/>
          <p:cNvSpPr/>
          <p:nvPr/>
        </p:nvSpPr>
        <p:spPr>
          <a:xfrm>
            <a:off x="8074152" y="4123944"/>
            <a:ext cx="3200400" cy="749808"/>
          </a:xfrm>
          <a:prstGeom prst="rect">
            <a:avLst/>
          </a:prstGeom>
          <a:noFill/>
          <a:ln/>
        </p:spPr>
        <p:txBody>
          <a:bodyPr wrap="square" lIns="0" tIns="0" rIns="0" bIns="0" rtlCol="0" anchor="ctr"/>
          <a:lstStyle/>
          <a:p>
            <a:pPr algn="l" indent="0" marL="0">
              <a:lnSpc>
                <a:spcPts val="1600"/>
              </a:lnSpc>
              <a:buNone/>
            </a:pPr>
            <a:r>
              <a:rPr lang="en-US" sz="1250" dirty="0">
                <a:solidFill>
                  <a:srgbClr val="1B1F24"/>
                </a:solidFill>
                <a:latin typeface="Calibri" pitchFamily="34" charset="0"/>
                <a:ea typeface="Calibri" pitchFamily="34" charset="-122"/>
                <a:cs typeface="Calibri" pitchFamily="34" charset="-120"/>
              </a:rPr>
              <a:t>Still the hierarchy inside all of the above. h1 is the main title.</a:t>
            </a:r>
            <a:endParaRPr lang="en-US" sz="1250" dirty="0"/>
          </a:p>
        </p:txBody>
      </p:sp>
      <p:sp>
        <p:nvSpPr>
          <p:cNvPr id="39" name="Shape 36"/>
          <p:cNvSpPr/>
          <p:nvPr/>
        </p:nvSpPr>
        <p:spPr>
          <a:xfrm>
            <a:off x="640080" y="5074920"/>
            <a:ext cx="10881360" cy="749808"/>
          </a:xfrm>
          <a:prstGeom prst="roundRect">
            <a:avLst>
              <a:gd name="adj" fmla="val 12195"/>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40" name="Text 37"/>
          <p:cNvSpPr/>
          <p:nvPr/>
        </p:nvSpPr>
        <p:spPr>
          <a:xfrm>
            <a:off x="640080" y="5074920"/>
            <a:ext cx="10881360" cy="749808"/>
          </a:xfrm>
          <a:prstGeom prst="rect">
            <a:avLst/>
          </a:prstGeom>
          <a:noFill/>
          <a:ln/>
        </p:spPr>
        <p:txBody>
          <a:bodyPr wrap="square" lIns="0" tIns="0" rIns="0" bIns="0" rtlCol="0" anchor="ctr"/>
          <a:lstStyle/>
          <a:p>
            <a:pPr algn="ctr" indent="0" marL="0">
              <a:buNone/>
            </a:pPr>
            <a:r>
              <a:rPr lang="en-US" sz="1550" b="1" dirty="0">
                <a:solidFill>
                  <a:srgbClr val="1B1F24"/>
                </a:solidFill>
                <a:latin typeface="Calibri" pitchFamily="34" charset="0"/>
                <a:ea typeface="Calibri" pitchFamily="34" charset="-122"/>
                <a:cs typeface="Calibri" pitchFamily="34" charset="-120"/>
              </a:rPr>
              <a:t>Semantic tags came with HTML5. Use section instead of div whenever the block actually means something.</a:t>
            </a:r>
            <a:endParaRPr lang="en-US" sz="1550" dirty="0"/>
          </a:p>
        </p:txBody>
      </p:sp>
      <p:sp>
        <p:nvSpPr>
          <p:cNvPr id="41" name="Shape 38"/>
          <p:cNvSpPr/>
          <p:nvPr/>
        </p:nvSpPr>
        <p:spPr>
          <a:xfrm>
            <a:off x="640080" y="5852160"/>
            <a:ext cx="10881360" cy="457200"/>
          </a:xfrm>
          <a:prstGeom prst="roundRect">
            <a:avLst>
              <a:gd name="adj" fmla="val 16000"/>
            </a:avLst>
          </a:prstGeom>
          <a:solidFill>
            <a:srgbClr val="EFEEE9"/>
          </a:solidFill>
          <a:ln w="12700">
            <a:solidFill>
              <a:srgbClr val="D5D1C8"/>
            </a:solidFill>
            <a:prstDash val="solid"/>
          </a:ln>
        </p:spPr>
      </p:sp>
      <p:sp>
        <p:nvSpPr>
          <p:cNvPr id="42" name="Text 39"/>
          <p:cNvSpPr/>
          <p:nvPr/>
        </p:nvSpPr>
        <p:spPr>
          <a:xfrm>
            <a:off x="841248" y="5852160"/>
            <a:ext cx="10479024" cy="457200"/>
          </a:xfrm>
          <a:prstGeom prst="rect">
            <a:avLst/>
          </a:prstGeom>
          <a:noFill/>
          <a:ln/>
        </p:spPr>
        <p:txBody>
          <a:bodyPr wrap="square" lIns="0" tIns="0" rIns="0" bIns="0" rtlCol="0" anchor="ctr"/>
          <a:lstStyle/>
          <a:p>
            <a:pPr indent="0" marL="0">
              <a:lnSpc>
                <a:spcPts val="1470"/>
              </a:lnSpc>
              <a:buNone/>
            </a:pPr>
            <a:r>
              <a:rPr lang="en-US" sz="1050" dirty="0">
                <a:solidFill>
                  <a:srgbClr val="6E8A64"/>
                </a:solidFill>
                <a:latin typeface="Courier New" pitchFamily="34" charset="0"/>
                <a:ea typeface="Courier New" pitchFamily="34" charset="-122"/>
                <a:cs typeface="Courier New" pitchFamily="34" charset="-120"/>
              </a:rPr>
              <a:t>&lt;!-- a div with id="header" is just a header wearing a fake moustache. everyone can tell --&gt;</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5181D"/>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4A5058"/>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4A5058"/>
                </a:solidFill>
                <a:latin typeface="Courier New" pitchFamily="34" charset="0"/>
                <a:ea typeface="Courier New" pitchFamily="34" charset="-122"/>
                <a:cs typeface="Courier New" pitchFamily="34" charset="-120"/>
              </a:rPr>
              <a:t>21</a:t>
            </a:r>
            <a:endParaRPr lang="en-US" sz="900" dirty="0"/>
          </a:p>
        </p:txBody>
      </p:sp>
      <p:sp>
        <p:nvSpPr>
          <p:cNvPr id="5" name="Shape 2"/>
          <p:cNvSpPr/>
          <p:nvPr/>
        </p:nvSpPr>
        <p:spPr>
          <a:xfrm>
            <a:off x="640080" y="384048"/>
            <a:ext cx="1508760" cy="329184"/>
          </a:xfrm>
          <a:prstGeom prst="roundRect">
            <a:avLst>
              <a:gd name="adj" fmla="val 22222"/>
            </a:avLst>
          </a:prstGeom>
          <a:solidFill>
            <a:srgbClr val="E34F26"/>
          </a:solidFill>
          <a:ln w="12700">
            <a:solidFill>
              <a:srgbClr val="E34F26"/>
            </a:solidFill>
            <a:prstDash val="solid"/>
          </a:ln>
        </p:spPr>
      </p:sp>
      <p:sp>
        <p:nvSpPr>
          <p:cNvPr id="6" name="Text 3"/>
          <p:cNvSpPr/>
          <p:nvPr/>
        </p:nvSpPr>
        <p:spPr>
          <a:xfrm>
            <a:off x="640080" y="384048"/>
            <a:ext cx="1508760" cy="32918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LIVE CODE</a:t>
            </a:r>
            <a:endParaRPr lang="en-US" sz="1050" dirty="0"/>
          </a:p>
        </p:txBody>
      </p:sp>
      <p:sp>
        <p:nvSpPr>
          <p:cNvPr id="7" name="Text 4"/>
          <p:cNvSpPr/>
          <p:nvPr/>
        </p:nvSpPr>
        <p:spPr>
          <a:xfrm>
            <a:off x="2331720" y="384048"/>
            <a:ext cx="5486400" cy="329184"/>
          </a:xfrm>
          <a:prstGeom prst="rect">
            <a:avLst/>
          </a:prstGeom>
          <a:noFill/>
          <a:ln/>
        </p:spPr>
        <p:txBody>
          <a:bodyPr wrap="square" lIns="0" tIns="0" rIns="0" bIns="0" rtlCol="0" anchor="ctr"/>
          <a:lstStyle/>
          <a:p>
            <a:pPr indent="0" marL="0">
              <a:buNone/>
            </a:pPr>
            <a:r>
              <a:rPr lang="en-US" sz="1200" dirty="0">
                <a:solidFill>
                  <a:srgbClr val="E3C07B"/>
                </a:solidFill>
                <a:latin typeface="Courier New" pitchFamily="34" charset="0"/>
                <a:ea typeface="Courier New" pitchFamily="34" charset="-122"/>
                <a:cs typeface="Courier New" pitchFamily="34" charset="-120"/>
              </a:rPr>
              <a:t>semantic.html</a:t>
            </a:r>
            <a:endParaRPr lang="en-US" sz="1200" dirty="0"/>
          </a:p>
        </p:txBody>
      </p:sp>
      <p:sp>
        <p:nvSpPr>
          <p:cNvPr id="8" name="Text 5"/>
          <p:cNvSpPr/>
          <p:nvPr/>
        </p:nvSpPr>
        <p:spPr>
          <a:xfrm>
            <a:off x="640080" y="822960"/>
            <a:ext cx="1088136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skeleton of your portfolio</a:t>
            </a:r>
            <a:endParaRPr lang="en-US" sz="3000" dirty="0"/>
          </a:p>
        </p:txBody>
      </p:sp>
      <p:sp>
        <p:nvSpPr>
          <p:cNvPr id="9" name="Shape 6"/>
          <p:cNvSpPr/>
          <p:nvPr/>
        </p:nvSpPr>
        <p:spPr>
          <a:xfrm>
            <a:off x="640080" y="1536192"/>
            <a:ext cx="6858000" cy="4023360"/>
          </a:xfrm>
          <a:prstGeom prst="roundRect">
            <a:avLst>
              <a:gd name="adj" fmla="val 2273"/>
            </a:avLst>
          </a:prstGeom>
          <a:solidFill>
            <a:srgbClr val="0B0E12"/>
          </a:solidFill>
          <a:ln w="12700">
            <a:solidFill>
              <a:srgbClr val="2A2F37"/>
            </a:solidFill>
            <a:prstDash val="solid"/>
          </a:ln>
        </p:spPr>
      </p:sp>
      <p:sp>
        <p:nvSpPr>
          <p:cNvPr id="10" name="Text 7"/>
          <p:cNvSpPr/>
          <p:nvPr/>
        </p:nvSpPr>
        <p:spPr>
          <a:xfrm>
            <a:off x="914400" y="1792224"/>
            <a:ext cx="6309360" cy="3511296"/>
          </a:xfrm>
          <a:prstGeom prst="rect">
            <a:avLst/>
          </a:prstGeom>
          <a:noFill/>
          <a:ln/>
        </p:spPr>
        <p:txBody>
          <a:bodyPr wrap="square" lIns="0" tIns="0" rIns="0" bIns="0" rtlCol="0" anchor="t"/>
          <a:lstStyle/>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header</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nav</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img</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 </a:t>
            </a:r>
            <a:pPr indent="0" marL="0">
              <a:lnSpc>
                <a:spcPts val="1850"/>
              </a:lnSpc>
              <a:buNone/>
            </a:pPr>
            <a:r>
              <a:rPr lang="en-US" sz="1050" dirty="0">
                <a:solidFill>
                  <a:srgbClr val="E3C07B"/>
                </a:solidFill>
                <a:latin typeface="Courier New" pitchFamily="34" charset="0"/>
                <a:ea typeface="Courier New" pitchFamily="34" charset="-122"/>
                <a:cs typeface="Courier New" pitchFamily="34" charset="-120"/>
              </a:rPr>
              <a:t>src</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a:t>
            </a:r>
            <a:pPr indent="0" marL="0">
              <a:lnSpc>
                <a:spcPts val="1850"/>
              </a:lnSpc>
              <a:buNone/>
            </a:pPr>
            <a:r>
              <a:rPr lang="en-US" sz="1050" dirty="0">
                <a:solidFill>
                  <a:srgbClr val="92C5F7"/>
                </a:solidFill>
                <a:latin typeface="Courier New" pitchFamily="34" charset="0"/>
                <a:ea typeface="Courier New" pitchFamily="34" charset="-122"/>
                <a:cs typeface="Courier New" pitchFamily="34" charset="-120"/>
              </a:rPr>
              <a:t>"./assets/logo.png"</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a</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 </a:t>
            </a:r>
            <a:pPr indent="0" marL="0">
              <a:lnSpc>
                <a:spcPts val="1850"/>
              </a:lnSpc>
              <a:buNone/>
            </a:pPr>
            <a:r>
              <a:rPr lang="en-US" sz="1050" dirty="0">
                <a:solidFill>
                  <a:srgbClr val="E3C07B"/>
                </a:solidFill>
                <a:latin typeface="Courier New" pitchFamily="34" charset="0"/>
                <a:ea typeface="Courier New" pitchFamily="34" charset="-122"/>
                <a:cs typeface="Courier New" pitchFamily="34" charset="-120"/>
              </a:rPr>
              <a:t>href</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a:t>
            </a:r>
            <a:pPr indent="0" marL="0">
              <a:lnSpc>
                <a:spcPts val="1850"/>
              </a:lnSpc>
              <a:buNone/>
            </a:pPr>
            <a:r>
              <a:rPr lang="en-US" sz="1050" dirty="0">
                <a:solidFill>
                  <a:srgbClr val="92C5F7"/>
                </a:solidFill>
                <a:latin typeface="Courier New" pitchFamily="34" charset="0"/>
                <a:ea typeface="Courier New" pitchFamily="34" charset="-122"/>
                <a:cs typeface="Courier New" pitchFamily="34" charset="-120"/>
              </a:rPr>
              <a:t>"#"</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Home</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a</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a</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 </a:t>
            </a:r>
            <a:pPr indent="0" marL="0">
              <a:lnSpc>
                <a:spcPts val="1850"/>
              </a:lnSpc>
              <a:buNone/>
            </a:pPr>
            <a:r>
              <a:rPr lang="en-US" sz="1050" dirty="0">
                <a:solidFill>
                  <a:srgbClr val="E3C07B"/>
                </a:solidFill>
                <a:latin typeface="Courier New" pitchFamily="34" charset="0"/>
                <a:ea typeface="Courier New" pitchFamily="34" charset="-122"/>
                <a:cs typeface="Courier New" pitchFamily="34" charset="-120"/>
              </a:rPr>
              <a:t>href</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a:t>
            </a:r>
            <a:pPr indent="0" marL="0">
              <a:lnSpc>
                <a:spcPts val="1850"/>
              </a:lnSpc>
              <a:buNone/>
            </a:pPr>
            <a:r>
              <a:rPr lang="en-US" sz="1050" dirty="0">
                <a:solidFill>
                  <a:srgbClr val="92C5F7"/>
                </a:solidFill>
                <a:latin typeface="Courier New" pitchFamily="34" charset="0"/>
                <a:ea typeface="Courier New" pitchFamily="34" charset="-122"/>
                <a:cs typeface="Courier New" pitchFamily="34" charset="-120"/>
              </a:rPr>
              <a:t>"#"</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About</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a</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a</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 </a:t>
            </a:r>
            <a:pPr indent="0" marL="0">
              <a:lnSpc>
                <a:spcPts val="1850"/>
              </a:lnSpc>
              <a:buNone/>
            </a:pPr>
            <a:r>
              <a:rPr lang="en-US" sz="1050" dirty="0">
                <a:solidFill>
                  <a:srgbClr val="E3C07B"/>
                </a:solidFill>
                <a:latin typeface="Courier New" pitchFamily="34" charset="0"/>
                <a:ea typeface="Courier New" pitchFamily="34" charset="-122"/>
                <a:cs typeface="Courier New" pitchFamily="34" charset="-120"/>
              </a:rPr>
              <a:t>href</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a:t>
            </a:r>
            <a:pPr indent="0" marL="0">
              <a:lnSpc>
                <a:spcPts val="1850"/>
              </a:lnSpc>
              <a:buNone/>
            </a:pPr>
            <a:r>
              <a:rPr lang="en-US" sz="1050" dirty="0">
                <a:solidFill>
                  <a:srgbClr val="92C5F7"/>
                </a:solidFill>
                <a:latin typeface="Courier New" pitchFamily="34" charset="0"/>
                <a:ea typeface="Courier New" pitchFamily="34" charset="-122"/>
                <a:cs typeface="Courier New" pitchFamily="34" charset="-120"/>
              </a:rPr>
              <a:t>"#"</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Projects</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a</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nav</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h1</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I'm a Frontend Developer</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h1</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button</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DOWNLOAD RESUME</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button</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header</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section</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h1</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About Me</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h1</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  &lt;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p</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r>
              <a:rPr lang="en-US" sz="1050" dirty="0">
                <a:solidFill>
                  <a:srgbClr val="E8E6E1"/>
                </a:solidFill>
                <a:latin typeface="Courier New" pitchFamily="34" charset="0"/>
                <a:ea typeface="Courier New" pitchFamily="34" charset="-122"/>
                <a:cs typeface="Courier New" pitchFamily="34" charset="-120"/>
              </a:rPr>
              <a:t>Hello! I am ...</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p</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pPr indent="0" marL="0">
              <a:lnSpc>
                <a:spcPts val="1850"/>
              </a:lnSpc>
              <a:buNone/>
            </a:pPr>
            <a:endParaRPr lang="en-US" sz="1050" dirty="0"/>
          </a:p>
          <a:p>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&lt;/</a:t>
            </a:r>
            <a:pPr indent="0" marL="0">
              <a:lnSpc>
                <a:spcPts val="1850"/>
              </a:lnSpc>
              <a:buNone/>
            </a:pPr>
            <a:r>
              <a:rPr lang="en-US" sz="1050" dirty="0">
                <a:solidFill>
                  <a:srgbClr val="F79A80"/>
                </a:solidFill>
                <a:latin typeface="Courier New" pitchFamily="34" charset="0"/>
                <a:ea typeface="Courier New" pitchFamily="34" charset="-122"/>
                <a:cs typeface="Courier New" pitchFamily="34" charset="-120"/>
              </a:rPr>
              <a:t>section</a:t>
            </a:r>
            <a:pPr indent="0" marL="0">
              <a:lnSpc>
                <a:spcPts val="1850"/>
              </a:lnSpc>
              <a:buNone/>
            </a:pPr>
            <a:r>
              <a:rPr lang="en-US" sz="1050" dirty="0">
                <a:solidFill>
                  <a:srgbClr val="9BA1A9"/>
                </a:solidFill>
                <a:latin typeface="Courier New" pitchFamily="34" charset="0"/>
                <a:ea typeface="Courier New" pitchFamily="34" charset="-122"/>
                <a:cs typeface="Courier New" pitchFamily="34" charset="-120"/>
              </a:rPr>
              <a:t>&gt;</a:t>
            </a:r>
            <a:endParaRPr lang="en-US" sz="1050" dirty="0"/>
          </a:p>
        </p:txBody>
      </p:sp>
      <p:sp>
        <p:nvSpPr>
          <p:cNvPr id="11" name="Text 8"/>
          <p:cNvSpPr/>
          <p:nvPr/>
        </p:nvSpPr>
        <p:spPr>
          <a:xfrm>
            <a:off x="7863840" y="1536192"/>
            <a:ext cx="3685032" cy="292608"/>
          </a:xfrm>
          <a:prstGeom prst="rect">
            <a:avLst/>
          </a:prstGeom>
          <a:noFill/>
          <a:ln/>
        </p:spPr>
        <p:txBody>
          <a:bodyPr wrap="square" lIns="0" tIns="0" rIns="0" bIns="0" rtlCol="0" anchor="ctr"/>
          <a:lstStyle/>
          <a:p>
            <a:pPr indent="0" marL="0">
              <a:buNone/>
            </a:pPr>
            <a:r>
              <a:rPr lang="en-US" sz="1050" b="1" spc="200" kern="0" dirty="0">
                <a:solidFill>
                  <a:srgbClr val="F79A80"/>
                </a:solidFill>
                <a:latin typeface="Calibri" pitchFamily="34" charset="0"/>
                <a:ea typeface="Calibri" pitchFamily="34" charset="-122"/>
                <a:cs typeface="Calibri" pitchFamily="34" charset="-120"/>
              </a:rPr>
              <a:t>SAY THIS WHILE YOU TYPE</a:t>
            </a:r>
            <a:endParaRPr lang="en-US" sz="1050" dirty="0"/>
          </a:p>
        </p:txBody>
      </p:sp>
      <p:sp>
        <p:nvSpPr>
          <p:cNvPr id="12" name="Shape 9"/>
          <p:cNvSpPr/>
          <p:nvPr/>
        </p:nvSpPr>
        <p:spPr>
          <a:xfrm>
            <a:off x="7863840" y="1920240"/>
            <a:ext cx="3685032" cy="658368"/>
          </a:xfrm>
          <a:prstGeom prst="roundRect">
            <a:avLst>
              <a:gd name="adj" fmla="val 11111"/>
            </a:avLst>
          </a:prstGeom>
          <a:solidFill>
            <a:srgbClr val="20242B"/>
          </a:solidFill>
          <a:ln w="12700">
            <a:solidFill>
              <a:srgbClr val="2E343D"/>
            </a:solidFill>
            <a:prstDash val="solid"/>
          </a:ln>
        </p:spPr>
      </p:sp>
      <p:sp>
        <p:nvSpPr>
          <p:cNvPr id="13" name="Text 10"/>
          <p:cNvSpPr/>
          <p:nvPr/>
        </p:nvSpPr>
        <p:spPr>
          <a:xfrm>
            <a:off x="8065008" y="1920240"/>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New file, semantic.html, and copy the assets folder in first so the images resolve.</a:t>
            </a:r>
            <a:endParaRPr lang="en-US" sz="1200" dirty="0"/>
          </a:p>
        </p:txBody>
      </p:sp>
      <p:sp>
        <p:nvSpPr>
          <p:cNvPr id="14" name="Shape 11"/>
          <p:cNvSpPr/>
          <p:nvPr/>
        </p:nvSpPr>
        <p:spPr>
          <a:xfrm>
            <a:off x="7863840" y="2670048"/>
            <a:ext cx="3685032" cy="658368"/>
          </a:xfrm>
          <a:prstGeom prst="roundRect">
            <a:avLst>
              <a:gd name="adj" fmla="val 11111"/>
            </a:avLst>
          </a:prstGeom>
          <a:solidFill>
            <a:srgbClr val="20242B"/>
          </a:solidFill>
          <a:ln w="12700">
            <a:solidFill>
              <a:srgbClr val="2E343D"/>
            </a:solidFill>
            <a:prstDash val="solid"/>
          </a:ln>
        </p:spPr>
      </p:sp>
      <p:sp>
        <p:nvSpPr>
          <p:cNvPr id="15" name="Text 12"/>
          <p:cNvSpPr/>
          <p:nvPr/>
        </p:nvSpPr>
        <p:spPr>
          <a:xfrm>
            <a:off x="8065008" y="2670048"/>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Build the header: nav with the logo and four links, then the hero heading and the resume button.</a:t>
            </a:r>
            <a:endParaRPr lang="en-US" sz="1200" dirty="0"/>
          </a:p>
        </p:txBody>
      </p:sp>
      <p:sp>
        <p:nvSpPr>
          <p:cNvPr id="16" name="Shape 13"/>
          <p:cNvSpPr/>
          <p:nvPr/>
        </p:nvSpPr>
        <p:spPr>
          <a:xfrm>
            <a:off x="7863840" y="3419856"/>
            <a:ext cx="3685032" cy="658368"/>
          </a:xfrm>
          <a:prstGeom prst="roundRect">
            <a:avLst>
              <a:gd name="adj" fmla="val 11111"/>
            </a:avLst>
          </a:prstGeom>
          <a:solidFill>
            <a:srgbClr val="20242B"/>
          </a:solidFill>
          <a:ln w="12700">
            <a:solidFill>
              <a:srgbClr val="2E343D"/>
            </a:solidFill>
            <a:prstDash val="solid"/>
          </a:ln>
        </p:spPr>
      </p:sp>
      <p:sp>
        <p:nvSpPr>
          <p:cNvPr id="17" name="Text 14"/>
          <p:cNvSpPr/>
          <p:nvPr/>
        </p:nvSpPr>
        <p:spPr>
          <a:xfrm>
            <a:off x="8065008" y="3419856"/>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Then one section for About, one for Projects. Notice we are using section, not div, because these blocks mean something.</a:t>
            </a:r>
            <a:endParaRPr lang="en-US" sz="1200" dirty="0"/>
          </a:p>
        </p:txBody>
      </p:sp>
      <p:sp>
        <p:nvSpPr>
          <p:cNvPr id="18" name="Shape 15"/>
          <p:cNvSpPr/>
          <p:nvPr/>
        </p:nvSpPr>
        <p:spPr>
          <a:xfrm>
            <a:off x="7863840" y="4169664"/>
            <a:ext cx="3685032" cy="658368"/>
          </a:xfrm>
          <a:prstGeom prst="roundRect">
            <a:avLst>
              <a:gd name="adj" fmla="val 11111"/>
            </a:avLst>
          </a:prstGeom>
          <a:solidFill>
            <a:srgbClr val="20242B"/>
          </a:solidFill>
          <a:ln w="12700">
            <a:solidFill>
              <a:srgbClr val="2E343D"/>
            </a:solidFill>
            <a:prstDash val="solid"/>
          </a:ln>
        </p:spPr>
      </p:sp>
      <p:sp>
        <p:nvSpPr>
          <p:cNvPr id="19" name="Text 16"/>
          <p:cNvSpPr/>
          <p:nvPr/>
        </p:nvSpPr>
        <p:spPr>
          <a:xfrm>
            <a:off x="8065008" y="4169664"/>
            <a:ext cx="3282696" cy="658368"/>
          </a:xfrm>
          <a:prstGeom prst="rect">
            <a:avLst/>
          </a:prstGeom>
          <a:noFill/>
          <a:ln/>
        </p:spPr>
        <p:txBody>
          <a:bodyPr wrap="square" lIns="0" tIns="0" rIns="0" bIns="0" rtlCol="0" anchor="ctr"/>
          <a:lstStyle/>
          <a:p>
            <a:pPr algn="l" indent="0" marL="0">
              <a:lnSpc>
                <a:spcPts val="1600"/>
              </a:lnSpc>
              <a:buNone/>
            </a:pPr>
            <a:r>
              <a:rPr lang="en-US" sz="1200" dirty="0">
                <a:solidFill>
                  <a:srgbClr val="C9CFD6"/>
                </a:solidFill>
                <a:latin typeface="Calibri" pitchFamily="34" charset="0"/>
                <a:ea typeface="Calibri" pitchFamily="34" charset="-122"/>
                <a:cs typeface="Calibri" pitchFamily="34" charset="-120"/>
              </a:rPr>
              <a:t>It looks plain and that is expected. Next class the CSS lands and this becomes the portfolio you show people.</a:t>
            </a:r>
            <a:endParaRPr lang="en-US" sz="1200" dirty="0"/>
          </a:p>
        </p:txBody>
      </p:sp>
      <p:sp>
        <p:nvSpPr>
          <p:cNvPr id="20" name="Shape 17"/>
          <p:cNvSpPr/>
          <p:nvPr/>
        </p:nvSpPr>
        <p:spPr>
          <a:xfrm>
            <a:off x="7863840" y="5541264"/>
            <a:ext cx="3685032" cy="658368"/>
          </a:xfrm>
          <a:prstGeom prst="roundRect">
            <a:avLst>
              <a:gd name="adj" fmla="val 11111"/>
            </a:avLst>
          </a:prstGeom>
          <a:solidFill>
            <a:srgbClr val="20242B"/>
          </a:solidFill>
          <a:ln w="12700">
            <a:solidFill>
              <a:srgbClr val="2E343D"/>
            </a:solidFill>
            <a:prstDash val="solid"/>
          </a:ln>
        </p:spPr>
      </p:sp>
      <p:sp>
        <p:nvSpPr>
          <p:cNvPr id="21" name="Text 18"/>
          <p:cNvSpPr/>
          <p:nvPr/>
        </p:nvSpPr>
        <p:spPr>
          <a:xfrm>
            <a:off x="8065008" y="5541264"/>
            <a:ext cx="3282696" cy="658368"/>
          </a:xfrm>
          <a:prstGeom prst="rect">
            <a:avLst/>
          </a:prstGeom>
          <a:noFill/>
          <a:ln/>
        </p:spPr>
        <p:txBody>
          <a:bodyPr wrap="square" lIns="0" tIns="0" rIns="0" bIns="0" rtlCol="0" anchor="ctr"/>
          <a:lstStyle/>
          <a:p>
            <a:pPr indent="0" marL="0">
              <a:lnSpc>
                <a:spcPts val="1470"/>
              </a:lnSpc>
              <a:buNone/>
            </a:pPr>
            <a:r>
              <a:rPr lang="en-US" sz="1050" dirty="0">
                <a:solidFill>
                  <a:srgbClr val="7E9C74"/>
                </a:solidFill>
                <a:latin typeface="Courier New" pitchFamily="34" charset="0"/>
                <a:ea typeface="Courier New" pitchFamily="34" charset="-122"/>
                <a:cs typeface="Courier New" pitchFamily="34" charset="-120"/>
              </a:rPr>
              <a:t>&lt;!-- yes, it looks like a 1998 government website right now. give it one class --&gt;</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22</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&lt;your-turn&gt;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Where this is going, and what you do next</a:t>
            </a:r>
            <a:endParaRPr lang="en-US" sz="3400" dirty="0"/>
          </a:p>
        </p:txBody>
      </p:sp>
      <p:sp>
        <p:nvSpPr>
          <p:cNvPr id="7" name="Shape 4"/>
          <p:cNvSpPr/>
          <p:nvPr/>
        </p:nvSpPr>
        <p:spPr>
          <a:xfrm>
            <a:off x="640080" y="1700784"/>
            <a:ext cx="6766560" cy="3657600"/>
          </a:xfrm>
          <a:prstGeom prst="roundRect">
            <a:avLst>
              <a:gd name="adj" fmla="val 2500"/>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8" name="Text 5"/>
          <p:cNvSpPr/>
          <p:nvPr/>
        </p:nvSpPr>
        <p:spPr>
          <a:xfrm>
            <a:off x="960120" y="1828800"/>
            <a:ext cx="6126480" cy="274320"/>
          </a:xfrm>
          <a:prstGeom prst="rect">
            <a:avLst/>
          </a:prstGeom>
          <a:noFill/>
          <a:ln/>
        </p:spPr>
        <p:txBody>
          <a:bodyPr wrap="square" lIns="0" tIns="0" rIns="0" bIns="0" rtlCol="0" anchor="ctr"/>
          <a:lstStyle/>
          <a:p>
            <a:pPr indent="0" marL="0">
              <a:buNone/>
            </a:pPr>
            <a:r>
              <a:rPr lang="en-US" sz="950" b="1" spc="150" kern="0" dirty="0">
                <a:solidFill>
                  <a:srgbClr val="8A9099"/>
                </a:solidFill>
                <a:latin typeface="Calibri" pitchFamily="34" charset="0"/>
                <a:ea typeface="Calibri" pitchFamily="34" charset="-122"/>
                <a:cs typeface="Calibri" pitchFamily="34" charset="-120"/>
              </a:rPr>
              <a:t>THE MODULE PROJECT: YOUR PORTFOLIO</a:t>
            </a:r>
            <a:endParaRPr lang="en-US" sz="950" dirty="0"/>
          </a:p>
        </p:txBody>
      </p:sp>
      <p:sp>
        <p:nvSpPr>
          <p:cNvPr id="9" name="Shape 6"/>
          <p:cNvSpPr/>
          <p:nvPr/>
        </p:nvSpPr>
        <p:spPr>
          <a:xfrm>
            <a:off x="960120" y="2157984"/>
            <a:ext cx="6126480" cy="402336"/>
          </a:xfrm>
          <a:prstGeom prst="roundRect">
            <a:avLst>
              <a:gd name="adj" fmla="val 13636"/>
            </a:avLst>
          </a:prstGeom>
          <a:solidFill>
            <a:srgbClr val="FBE9E2"/>
          </a:solidFill>
          <a:ln w="12700">
            <a:solidFill>
              <a:srgbClr val="F0B9A6"/>
            </a:solidFill>
            <a:prstDash val="solid"/>
          </a:ln>
        </p:spPr>
      </p:sp>
      <p:sp>
        <p:nvSpPr>
          <p:cNvPr id="10" name="Text 7"/>
          <p:cNvSpPr/>
          <p:nvPr/>
        </p:nvSpPr>
        <p:spPr>
          <a:xfrm>
            <a:off x="960120" y="2157984"/>
            <a:ext cx="6126480" cy="402336"/>
          </a:xfrm>
          <a:prstGeom prst="rect">
            <a:avLst/>
          </a:prstGeom>
          <a:noFill/>
          <a:ln/>
        </p:spPr>
        <p:txBody>
          <a:bodyPr wrap="square" lIns="0" tIns="0" rIns="0" bIns="0" rtlCol="0" anchor="ctr"/>
          <a:lstStyle/>
          <a:p>
            <a:pPr algn="ctr" indent="0" marL="0">
              <a:buNone/>
            </a:pPr>
            <a:r>
              <a:rPr lang="en-US" sz="1000" dirty="0">
                <a:solidFill>
                  <a:srgbClr val="E34F26"/>
                </a:solidFill>
                <a:latin typeface="Courier New" pitchFamily="34" charset="0"/>
                <a:ea typeface="Courier New" pitchFamily="34" charset="-122"/>
                <a:cs typeface="Courier New" pitchFamily="34" charset="-120"/>
              </a:rPr>
              <a:t>header + nav  (this is your assignment)</a:t>
            </a:r>
            <a:endParaRPr lang="en-US" sz="1000" dirty="0"/>
          </a:p>
        </p:txBody>
      </p:sp>
      <p:sp>
        <p:nvSpPr>
          <p:cNvPr id="11" name="Shape 8"/>
          <p:cNvSpPr/>
          <p:nvPr/>
        </p:nvSpPr>
        <p:spPr>
          <a:xfrm>
            <a:off x="960120" y="2651760"/>
            <a:ext cx="2286000" cy="1280160"/>
          </a:xfrm>
          <a:prstGeom prst="roundRect">
            <a:avLst>
              <a:gd name="adj" fmla="val 4286"/>
            </a:avLst>
          </a:prstGeom>
          <a:solidFill>
            <a:srgbClr val="F2F1ED"/>
          </a:solidFill>
          <a:ln w="12700">
            <a:solidFill>
              <a:srgbClr val="E2DFD8"/>
            </a:solidFill>
            <a:prstDash val="solid"/>
          </a:ln>
        </p:spPr>
      </p:sp>
      <p:sp>
        <p:nvSpPr>
          <p:cNvPr id="12" name="Text 9"/>
          <p:cNvSpPr/>
          <p:nvPr/>
        </p:nvSpPr>
        <p:spPr>
          <a:xfrm>
            <a:off x="960120" y="2651760"/>
            <a:ext cx="2286000" cy="1280160"/>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photo</a:t>
            </a:r>
            <a:endParaRPr lang="en-US" sz="1000" dirty="0"/>
          </a:p>
        </p:txBody>
      </p:sp>
      <p:sp>
        <p:nvSpPr>
          <p:cNvPr id="13" name="Shape 10"/>
          <p:cNvSpPr/>
          <p:nvPr/>
        </p:nvSpPr>
        <p:spPr>
          <a:xfrm>
            <a:off x="3429000" y="2651760"/>
            <a:ext cx="3657600" cy="292608"/>
          </a:xfrm>
          <a:prstGeom prst="roundRect">
            <a:avLst>
              <a:gd name="adj" fmla="val 18750"/>
            </a:avLst>
          </a:prstGeom>
          <a:solidFill>
            <a:srgbClr val="EDEBE6"/>
          </a:solidFill>
          <a:ln w="12700">
            <a:solidFill>
              <a:srgbClr val="E2DFD8"/>
            </a:solidFill>
            <a:prstDash val="solid"/>
          </a:ln>
        </p:spPr>
      </p:sp>
      <p:sp>
        <p:nvSpPr>
          <p:cNvPr id="14" name="Text 11"/>
          <p:cNvSpPr/>
          <p:nvPr/>
        </p:nvSpPr>
        <p:spPr>
          <a:xfrm>
            <a:off x="3429000" y="2651760"/>
            <a:ext cx="3657600" cy="292608"/>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name</a:t>
            </a:r>
            <a:endParaRPr lang="en-US" sz="1000" dirty="0"/>
          </a:p>
        </p:txBody>
      </p:sp>
      <p:sp>
        <p:nvSpPr>
          <p:cNvPr id="15" name="Shape 12"/>
          <p:cNvSpPr/>
          <p:nvPr/>
        </p:nvSpPr>
        <p:spPr>
          <a:xfrm>
            <a:off x="3429000" y="3017520"/>
            <a:ext cx="3657600" cy="420624"/>
          </a:xfrm>
          <a:prstGeom prst="roundRect">
            <a:avLst>
              <a:gd name="adj" fmla="val 13043"/>
            </a:avLst>
          </a:prstGeom>
          <a:solidFill>
            <a:srgbClr val="E9E7E1"/>
          </a:solidFill>
          <a:ln w="12700">
            <a:solidFill>
              <a:srgbClr val="E2DFD8"/>
            </a:solidFill>
            <a:prstDash val="solid"/>
          </a:ln>
        </p:spPr>
      </p:sp>
      <p:sp>
        <p:nvSpPr>
          <p:cNvPr id="16" name="Text 13"/>
          <p:cNvSpPr/>
          <p:nvPr/>
        </p:nvSpPr>
        <p:spPr>
          <a:xfrm>
            <a:off x="3429000" y="3017520"/>
            <a:ext cx="3657600" cy="420624"/>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I am a Frontend Developer</a:t>
            </a:r>
            <a:endParaRPr lang="en-US" sz="1000" dirty="0"/>
          </a:p>
        </p:txBody>
      </p:sp>
      <p:sp>
        <p:nvSpPr>
          <p:cNvPr id="17" name="Shape 14"/>
          <p:cNvSpPr/>
          <p:nvPr/>
        </p:nvSpPr>
        <p:spPr>
          <a:xfrm>
            <a:off x="3429000" y="3529584"/>
            <a:ext cx="1554480" cy="402336"/>
          </a:xfrm>
          <a:prstGeom prst="roundRect">
            <a:avLst>
              <a:gd name="adj" fmla="val 13636"/>
            </a:avLst>
          </a:prstGeom>
          <a:solidFill>
            <a:srgbClr val="E34F26"/>
          </a:solidFill>
          <a:ln w="12700">
            <a:solidFill>
              <a:srgbClr val="E34F26"/>
            </a:solidFill>
            <a:prstDash val="solid"/>
          </a:ln>
        </p:spPr>
      </p:sp>
      <p:sp>
        <p:nvSpPr>
          <p:cNvPr id="18" name="Text 15"/>
          <p:cNvSpPr/>
          <p:nvPr/>
        </p:nvSpPr>
        <p:spPr>
          <a:xfrm>
            <a:off x="3429000" y="3529584"/>
            <a:ext cx="1554480" cy="402336"/>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RESUME</a:t>
            </a:r>
            <a:endParaRPr lang="en-US" sz="1000" dirty="0"/>
          </a:p>
        </p:txBody>
      </p:sp>
      <p:sp>
        <p:nvSpPr>
          <p:cNvPr id="19" name="Shape 16"/>
          <p:cNvSpPr/>
          <p:nvPr/>
        </p:nvSpPr>
        <p:spPr>
          <a:xfrm>
            <a:off x="960120" y="4041648"/>
            <a:ext cx="6126480" cy="384048"/>
          </a:xfrm>
          <a:prstGeom prst="roundRect">
            <a:avLst>
              <a:gd name="adj" fmla="val 14286"/>
            </a:avLst>
          </a:prstGeom>
          <a:solidFill>
            <a:srgbClr val="F2F1ED"/>
          </a:solidFill>
          <a:ln w="12700">
            <a:solidFill>
              <a:srgbClr val="E2DFD8"/>
            </a:solidFill>
            <a:prstDash val="solid"/>
          </a:ln>
        </p:spPr>
      </p:sp>
      <p:sp>
        <p:nvSpPr>
          <p:cNvPr id="20" name="Text 17"/>
          <p:cNvSpPr/>
          <p:nvPr/>
        </p:nvSpPr>
        <p:spPr>
          <a:xfrm>
            <a:off x="960120" y="4041648"/>
            <a:ext cx="6126480" cy="384048"/>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section: about me</a:t>
            </a:r>
            <a:endParaRPr lang="en-US" sz="1000" dirty="0"/>
          </a:p>
        </p:txBody>
      </p:sp>
      <p:sp>
        <p:nvSpPr>
          <p:cNvPr id="21" name="Shape 18"/>
          <p:cNvSpPr/>
          <p:nvPr/>
        </p:nvSpPr>
        <p:spPr>
          <a:xfrm>
            <a:off x="960120" y="4535424"/>
            <a:ext cx="1920240" cy="658368"/>
          </a:xfrm>
          <a:prstGeom prst="roundRect">
            <a:avLst>
              <a:gd name="adj" fmla="val 8333"/>
            </a:avLst>
          </a:prstGeom>
          <a:solidFill>
            <a:srgbClr val="F2F1ED"/>
          </a:solidFill>
          <a:ln w="12700">
            <a:solidFill>
              <a:srgbClr val="E2DFD8"/>
            </a:solidFill>
            <a:prstDash val="solid"/>
          </a:ln>
        </p:spPr>
      </p:sp>
      <p:sp>
        <p:nvSpPr>
          <p:cNvPr id="22" name="Text 19"/>
          <p:cNvSpPr/>
          <p:nvPr/>
        </p:nvSpPr>
        <p:spPr>
          <a:xfrm>
            <a:off x="960120" y="4535424"/>
            <a:ext cx="1920240" cy="658368"/>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calculator</a:t>
            </a:r>
            <a:endParaRPr lang="en-US" sz="1000" dirty="0"/>
          </a:p>
        </p:txBody>
      </p:sp>
      <p:sp>
        <p:nvSpPr>
          <p:cNvPr id="23" name="Shape 20"/>
          <p:cNvSpPr/>
          <p:nvPr/>
        </p:nvSpPr>
        <p:spPr>
          <a:xfrm>
            <a:off x="3044952" y="4535424"/>
            <a:ext cx="1920240" cy="658368"/>
          </a:xfrm>
          <a:prstGeom prst="roundRect">
            <a:avLst>
              <a:gd name="adj" fmla="val 8333"/>
            </a:avLst>
          </a:prstGeom>
          <a:solidFill>
            <a:srgbClr val="F2F1ED"/>
          </a:solidFill>
          <a:ln w="12700">
            <a:solidFill>
              <a:srgbClr val="E2DFD8"/>
            </a:solidFill>
            <a:prstDash val="solid"/>
          </a:ln>
        </p:spPr>
      </p:sp>
      <p:sp>
        <p:nvSpPr>
          <p:cNvPr id="24" name="Text 21"/>
          <p:cNvSpPr/>
          <p:nvPr/>
        </p:nvSpPr>
        <p:spPr>
          <a:xfrm>
            <a:off x="3044952" y="4535424"/>
            <a:ext cx="1920240" cy="658368"/>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shopping cart</a:t>
            </a:r>
            <a:endParaRPr lang="en-US" sz="1000" dirty="0"/>
          </a:p>
        </p:txBody>
      </p:sp>
      <p:sp>
        <p:nvSpPr>
          <p:cNvPr id="25" name="Shape 22"/>
          <p:cNvSpPr/>
          <p:nvPr/>
        </p:nvSpPr>
        <p:spPr>
          <a:xfrm>
            <a:off x="5129784" y="4535424"/>
            <a:ext cx="1920240" cy="658368"/>
          </a:xfrm>
          <a:prstGeom prst="roundRect">
            <a:avLst>
              <a:gd name="adj" fmla="val 8333"/>
            </a:avLst>
          </a:prstGeom>
          <a:solidFill>
            <a:srgbClr val="F2F1ED"/>
          </a:solidFill>
          <a:ln w="12700">
            <a:solidFill>
              <a:srgbClr val="E2DFD8"/>
            </a:solidFill>
            <a:prstDash val="solid"/>
          </a:ln>
        </p:spPr>
      </p:sp>
      <p:sp>
        <p:nvSpPr>
          <p:cNvPr id="26" name="Text 23"/>
          <p:cNvSpPr/>
          <p:nvPr/>
        </p:nvSpPr>
        <p:spPr>
          <a:xfrm>
            <a:off x="5129784" y="4535424"/>
            <a:ext cx="1920240" cy="658368"/>
          </a:xfrm>
          <a:prstGeom prst="rect">
            <a:avLst/>
          </a:prstGeom>
          <a:noFill/>
          <a:ln/>
        </p:spPr>
        <p:txBody>
          <a:bodyPr wrap="square" lIns="0" tIns="0" rIns="0" bIns="0" rtlCol="0" anchor="ctr"/>
          <a:lstStyle/>
          <a:p>
            <a:pPr algn="ctr" indent="0" marL="0">
              <a:buNone/>
            </a:pPr>
            <a:r>
              <a:rPr lang="en-US" sz="1000" dirty="0">
                <a:solidFill>
                  <a:srgbClr val="8A9099"/>
                </a:solidFill>
                <a:latin typeface="Courier New" pitchFamily="34" charset="0"/>
                <a:ea typeface="Courier New" pitchFamily="34" charset="-122"/>
                <a:cs typeface="Courier New" pitchFamily="34" charset="-120"/>
              </a:rPr>
              <a:t>to do list</a:t>
            </a:r>
            <a:endParaRPr lang="en-US" sz="1000" dirty="0"/>
          </a:p>
        </p:txBody>
      </p:sp>
      <p:sp>
        <p:nvSpPr>
          <p:cNvPr id="27" name="Shape 24"/>
          <p:cNvSpPr/>
          <p:nvPr/>
        </p:nvSpPr>
        <p:spPr>
          <a:xfrm>
            <a:off x="7772400" y="1700784"/>
            <a:ext cx="3776472" cy="1051560"/>
          </a:xfrm>
          <a:prstGeom prst="roundRect">
            <a:avLst>
              <a:gd name="adj" fmla="val 8696"/>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28" name="Shape 25"/>
          <p:cNvSpPr/>
          <p:nvPr/>
        </p:nvSpPr>
        <p:spPr>
          <a:xfrm>
            <a:off x="8028432" y="1865376"/>
            <a:ext cx="1645920" cy="384048"/>
          </a:xfrm>
          <a:prstGeom prst="roundRect">
            <a:avLst>
              <a:gd name="adj" fmla="val 19048"/>
            </a:avLst>
          </a:prstGeom>
          <a:solidFill>
            <a:srgbClr val="15181D"/>
          </a:solidFill>
          <a:ln w="12700">
            <a:solidFill>
              <a:srgbClr val="15181D"/>
            </a:solidFill>
            <a:prstDash val="solid"/>
          </a:ln>
        </p:spPr>
      </p:sp>
      <p:sp>
        <p:nvSpPr>
          <p:cNvPr id="29" name="Text 26"/>
          <p:cNvSpPr/>
          <p:nvPr/>
        </p:nvSpPr>
        <p:spPr>
          <a:xfrm>
            <a:off x="8028432" y="1865376"/>
            <a:ext cx="1645920" cy="384048"/>
          </a:xfrm>
          <a:prstGeom prst="rect">
            <a:avLst/>
          </a:prstGeom>
          <a:noFill/>
          <a:ln/>
        </p:spPr>
        <p:txBody>
          <a:bodyPr wrap="square" lIns="0" tIns="0" rIns="0" bIns="0" rtlCol="0" anchor="ctr"/>
          <a:lstStyle/>
          <a:p>
            <a:pPr algn="ctr" indent="0" marL="0">
              <a:buNone/>
            </a:pPr>
            <a:r>
              <a:rPr lang="en-US" sz="1100" dirty="0">
                <a:solidFill>
                  <a:srgbClr val="F79A80"/>
                </a:solidFill>
                <a:latin typeface="Courier New" pitchFamily="34" charset="0"/>
                <a:ea typeface="Courier New" pitchFamily="34" charset="-122"/>
                <a:cs typeface="Courier New" pitchFamily="34" charset="-120"/>
              </a:rPr>
              <a:t>Class-1: A1</a:t>
            </a:r>
            <a:endParaRPr lang="en-US" sz="1100" dirty="0"/>
          </a:p>
        </p:txBody>
      </p:sp>
      <p:sp>
        <p:nvSpPr>
          <p:cNvPr id="30" name="Text 27"/>
          <p:cNvSpPr/>
          <p:nvPr/>
        </p:nvSpPr>
        <p:spPr>
          <a:xfrm>
            <a:off x="8028432" y="2286000"/>
            <a:ext cx="3264408" cy="329184"/>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Creating header section</a:t>
            </a:r>
            <a:endParaRPr lang="en-US" sz="1600" dirty="0"/>
          </a:p>
        </p:txBody>
      </p:sp>
      <p:sp>
        <p:nvSpPr>
          <p:cNvPr id="31" name="Shape 28"/>
          <p:cNvSpPr/>
          <p:nvPr/>
        </p:nvSpPr>
        <p:spPr>
          <a:xfrm>
            <a:off x="7772400" y="2926080"/>
            <a:ext cx="3776472" cy="713232"/>
          </a:xfrm>
          <a:prstGeom prst="roundRect">
            <a:avLst>
              <a:gd name="adj" fmla="val 12821"/>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2" name="Shape 29"/>
          <p:cNvSpPr/>
          <p:nvPr/>
        </p:nvSpPr>
        <p:spPr>
          <a:xfrm>
            <a:off x="7991856" y="3063240"/>
            <a:ext cx="438912" cy="438912"/>
          </a:xfrm>
          <a:prstGeom prst="ellipse">
            <a:avLst/>
          </a:prstGeom>
          <a:solidFill>
            <a:srgbClr val="FBE9E2"/>
          </a:solidFill>
          <a:ln w="12700">
            <a:solidFill>
              <a:srgbClr val="F0B9A6"/>
            </a:solidFill>
            <a:prstDash val="solid"/>
          </a:ln>
        </p:spPr>
      </p:sp>
      <p:sp>
        <p:nvSpPr>
          <p:cNvPr id="33" name="Text 30"/>
          <p:cNvSpPr/>
          <p:nvPr/>
        </p:nvSpPr>
        <p:spPr>
          <a:xfrm>
            <a:off x="7991856" y="3063240"/>
            <a:ext cx="438912" cy="438912"/>
          </a:xfrm>
          <a:prstGeom prst="rect">
            <a:avLst/>
          </a:prstGeom>
          <a:noFill/>
          <a:ln/>
        </p:spPr>
        <p:txBody>
          <a:bodyPr wrap="square" lIns="0" tIns="0" rIns="0" bIns="0" rtlCol="0" anchor="ctr"/>
          <a:lstStyle/>
          <a:p>
            <a:pPr algn="ctr" indent="0" marL="0">
              <a:buNone/>
            </a:pPr>
            <a:r>
              <a:rPr lang="en-US" sz="1300" b="1" dirty="0">
                <a:solidFill>
                  <a:srgbClr val="E34F26"/>
                </a:solidFill>
                <a:latin typeface="Calibri" pitchFamily="34" charset="0"/>
                <a:ea typeface="Calibri" pitchFamily="34" charset="-122"/>
                <a:cs typeface="Calibri" pitchFamily="34" charset="-120"/>
              </a:rPr>
              <a:t>1</a:t>
            </a:r>
            <a:endParaRPr lang="en-US" sz="1300" dirty="0"/>
          </a:p>
        </p:txBody>
      </p:sp>
      <p:sp>
        <p:nvSpPr>
          <p:cNvPr id="34" name="Text 31"/>
          <p:cNvSpPr/>
          <p:nvPr/>
        </p:nvSpPr>
        <p:spPr>
          <a:xfrm>
            <a:off x="8558784" y="2999232"/>
            <a:ext cx="2770632" cy="27432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I unlock it</a:t>
            </a:r>
            <a:endParaRPr lang="en-US" sz="1350" dirty="0"/>
          </a:p>
        </p:txBody>
      </p:sp>
      <p:sp>
        <p:nvSpPr>
          <p:cNvPr id="35" name="Text 32"/>
          <p:cNvSpPr/>
          <p:nvPr/>
        </p:nvSpPr>
        <p:spPr>
          <a:xfrm>
            <a:off x="8558784" y="3273552"/>
            <a:ext cx="2770632" cy="274320"/>
          </a:xfrm>
          <a:prstGeom prst="rect">
            <a:avLst/>
          </a:prstGeom>
          <a:noFill/>
          <a:ln/>
        </p:spPr>
        <p:txBody>
          <a:bodyPr wrap="square" lIns="0" tIns="0" rIns="0" bIns="0" rtlCol="0" anchor="t"/>
          <a:lstStyle/>
          <a:p>
            <a:pPr algn="l" indent="0" marL="0">
              <a:lnSpc>
                <a:spcPts val="1518"/>
              </a:lnSpc>
              <a:buNone/>
            </a:pPr>
            <a:r>
              <a:rPr lang="en-US" sz="1100" dirty="0">
                <a:solidFill>
                  <a:srgbClr val="5A6069"/>
                </a:solidFill>
                <a:latin typeface="Calibri" pitchFamily="34" charset="0"/>
                <a:ea typeface="Calibri" pitchFamily="34" charset="-122"/>
                <a:cs typeface="Calibri" pitchFamily="34" charset="-120"/>
              </a:rPr>
              <a:t>The question mark button on the top bar.</a:t>
            </a:r>
            <a:endParaRPr lang="en-US" sz="1100" dirty="0"/>
          </a:p>
        </p:txBody>
      </p:sp>
      <p:sp>
        <p:nvSpPr>
          <p:cNvPr id="36" name="Shape 33"/>
          <p:cNvSpPr/>
          <p:nvPr/>
        </p:nvSpPr>
        <p:spPr>
          <a:xfrm>
            <a:off x="7772400" y="3749040"/>
            <a:ext cx="3776472" cy="713232"/>
          </a:xfrm>
          <a:prstGeom prst="roundRect">
            <a:avLst>
              <a:gd name="adj" fmla="val 12821"/>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37" name="Shape 34"/>
          <p:cNvSpPr/>
          <p:nvPr/>
        </p:nvSpPr>
        <p:spPr>
          <a:xfrm>
            <a:off x="7991856" y="3886200"/>
            <a:ext cx="438912" cy="438912"/>
          </a:xfrm>
          <a:prstGeom prst="ellipse">
            <a:avLst/>
          </a:prstGeom>
          <a:solidFill>
            <a:srgbClr val="FBE9E2"/>
          </a:solidFill>
          <a:ln w="12700">
            <a:solidFill>
              <a:srgbClr val="F0B9A6"/>
            </a:solidFill>
            <a:prstDash val="solid"/>
          </a:ln>
        </p:spPr>
      </p:sp>
      <p:sp>
        <p:nvSpPr>
          <p:cNvPr id="38" name="Text 35"/>
          <p:cNvSpPr/>
          <p:nvPr/>
        </p:nvSpPr>
        <p:spPr>
          <a:xfrm>
            <a:off x="7991856" y="3886200"/>
            <a:ext cx="438912" cy="438912"/>
          </a:xfrm>
          <a:prstGeom prst="rect">
            <a:avLst/>
          </a:prstGeom>
          <a:noFill/>
          <a:ln/>
        </p:spPr>
        <p:txBody>
          <a:bodyPr wrap="square" lIns="0" tIns="0" rIns="0" bIns="0" rtlCol="0" anchor="ctr"/>
          <a:lstStyle/>
          <a:p>
            <a:pPr algn="ctr" indent="0" marL="0">
              <a:buNone/>
            </a:pPr>
            <a:r>
              <a:rPr lang="en-US" sz="1300" b="1" dirty="0">
                <a:solidFill>
                  <a:srgbClr val="E34F26"/>
                </a:solidFill>
                <a:latin typeface="Calibri" pitchFamily="34" charset="0"/>
                <a:ea typeface="Calibri" pitchFamily="34" charset="-122"/>
                <a:cs typeface="Calibri" pitchFamily="34" charset="-120"/>
              </a:rPr>
              <a:t>2</a:t>
            </a:r>
            <a:endParaRPr lang="en-US" sz="1300" dirty="0"/>
          </a:p>
        </p:txBody>
      </p:sp>
      <p:sp>
        <p:nvSpPr>
          <p:cNvPr id="39" name="Text 36"/>
          <p:cNvSpPr/>
          <p:nvPr/>
        </p:nvSpPr>
        <p:spPr>
          <a:xfrm>
            <a:off x="8558784" y="3822192"/>
            <a:ext cx="2770632" cy="27432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You get 7 minutes</a:t>
            </a:r>
            <a:endParaRPr lang="en-US" sz="1350" dirty="0"/>
          </a:p>
        </p:txBody>
      </p:sp>
      <p:sp>
        <p:nvSpPr>
          <p:cNvPr id="40" name="Text 37"/>
          <p:cNvSpPr/>
          <p:nvPr/>
        </p:nvSpPr>
        <p:spPr>
          <a:xfrm>
            <a:off x="8558784" y="4096512"/>
            <a:ext cx="2770632" cy="274320"/>
          </a:xfrm>
          <a:prstGeom prst="rect">
            <a:avLst/>
          </a:prstGeom>
          <a:noFill/>
          <a:ln/>
        </p:spPr>
        <p:txBody>
          <a:bodyPr wrap="square" lIns="0" tIns="0" rIns="0" bIns="0" rtlCol="0" anchor="t"/>
          <a:lstStyle/>
          <a:p>
            <a:pPr algn="l" indent="0" marL="0">
              <a:lnSpc>
                <a:spcPts val="1518"/>
              </a:lnSpc>
              <a:buNone/>
            </a:pPr>
            <a:r>
              <a:rPr lang="en-US" sz="1100" dirty="0">
                <a:solidFill>
                  <a:srgbClr val="5A6069"/>
                </a:solidFill>
                <a:latin typeface="Calibri" pitchFamily="34" charset="0"/>
                <a:ea typeface="Calibri" pitchFamily="34" charset="-122"/>
                <a:cs typeface="Calibri" pitchFamily="34" charset="-120"/>
              </a:rPr>
              <a:t>Read it, start it, ask me things.</a:t>
            </a:r>
            <a:endParaRPr lang="en-US" sz="1100" dirty="0"/>
          </a:p>
        </p:txBody>
      </p:sp>
      <p:sp>
        <p:nvSpPr>
          <p:cNvPr id="41" name="Shape 38"/>
          <p:cNvSpPr/>
          <p:nvPr/>
        </p:nvSpPr>
        <p:spPr>
          <a:xfrm>
            <a:off x="7772400" y="4572000"/>
            <a:ext cx="3776472" cy="713232"/>
          </a:xfrm>
          <a:prstGeom prst="roundRect">
            <a:avLst>
              <a:gd name="adj" fmla="val 12821"/>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42" name="Shape 39"/>
          <p:cNvSpPr/>
          <p:nvPr/>
        </p:nvSpPr>
        <p:spPr>
          <a:xfrm>
            <a:off x="7991856" y="4709160"/>
            <a:ext cx="438912" cy="438912"/>
          </a:xfrm>
          <a:prstGeom prst="ellipse">
            <a:avLst/>
          </a:prstGeom>
          <a:solidFill>
            <a:srgbClr val="FBE9E2"/>
          </a:solidFill>
          <a:ln w="12700">
            <a:solidFill>
              <a:srgbClr val="F0B9A6"/>
            </a:solidFill>
            <a:prstDash val="solid"/>
          </a:ln>
        </p:spPr>
      </p:sp>
      <p:sp>
        <p:nvSpPr>
          <p:cNvPr id="43" name="Text 40"/>
          <p:cNvSpPr/>
          <p:nvPr/>
        </p:nvSpPr>
        <p:spPr>
          <a:xfrm>
            <a:off x="7991856" y="4709160"/>
            <a:ext cx="438912" cy="438912"/>
          </a:xfrm>
          <a:prstGeom prst="rect">
            <a:avLst/>
          </a:prstGeom>
          <a:noFill/>
          <a:ln/>
        </p:spPr>
        <p:txBody>
          <a:bodyPr wrap="square" lIns="0" tIns="0" rIns="0" bIns="0" rtlCol="0" anchor="ctr"/>
          <a:lstStyle/>
          <a:p>
            <a:pPr algn="ctr" indent="0" marL="0">
              <a:buNone/>
            </a:pPr>
            <a:r>
              <a:rPr lang="en-US" sz="1300" b="1" dirty="0">
                <a:solidFill>
                  <a:srgbClr val="E34F26"/>
                </a:solidFill>
                <a:latin typeface="Calibri" pitchFamily="34" charset="0"/>
                <a:ea typeface="Calibri" pitchFamily="34" charset="-122"/>
                <a:cs typeface="Calibri" pitchFamily="34" charset="-120"/>
              </a:rPr>
              <a:t>3</a:t>
            </a:r>
            <a:endParaRPr lang="en-US" sz="1300" dirty="0"/>
          </a:p>
        </p:txBody>
      </p:sp>
      <p:sp>
        <p:nvSpPr>
          <p:cNvPr id="44" name="Text 41"/>
          <p:cNvSpPr/>
          <p:nvPr/>
        </p:nvSpPr>
        <p:spPr>
          <a:xfrm>
            <a:off x="8558784" y="4645152"/>
            <a:ext cx="2770632" cy="27432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We solve it together</a:t>
            </a:r>
            <a:endParaRPr lang="en-US" sz="1350" dirty="0"/>
          </a:p>
        </p:txBody>
      </p:sp>
      <p:sp>
        <p:nvSpPr>
          <p:cNvPr id="45" name="Text 42"/>
          <p:cNvSpPr/>
          <p:nvPr/>
        </p:nvSpPr>
        <p:spPr>
          <a:xfrm>
            <a:off x="8558784" y="4919472"/>
            <a:ext cx="2770632" cy="274320"/>
          </a:xfrm>
          <a:prstGeom prst="rect">
            <a:avLst/>
          </a:prstGeom>
          <a:noFill/>
          <a:ln/>
        </p:spPr>
        <p:txBody>
          <a:bodyPr wrap="square" lIns="0" tIns="0" rIns="0" bIns="0" rtlCol="0" anchor="t"/>
          <a:lstStyle/>
          <a:p>
            <a:pPr algn="l" indent="0" marL="0">
              <a:lnSpc>
                <a:spcPts val="1518"/>
              </a:lnSpc>
              <a:buNone/>
            </a:pPr>
            <a:r>
              <a:rPr lang="en-US" sz="1100" dirty="0">
                <a:solidFill>
                  <a:srgbClr val="5A6069"/>
                </a:solidFill>
                <a:latin typeface="Calibri" pitchFamily="34" charset="0"/>
                <a:ea typeface="Calibri" pitchFamily="34" charset="-122"/>
                <a:cs typeface="Calibri" pitchFamily="34" charset="-120"/>
              </a:rPr>
              <a:t>Then we build the header as a room.</a:t>
            </a:r>
            <a:endParaRPr lang="en-US" sz="1100" dirty="0"/>
          </a:p>
        </p:txBody>
      </p:sp>
      <p:sp>
        <p:nvSpPr>
          <p:cNvPr id="46" name="Shape 43"/>
          <p:cNvSpPr/>
          <p:nvPr/>
        </p:nvSpPr>
        <p:spPr>
          <a:xfrm>
            <a:off x="640080" y="5541264"/>
            <a:ext cx="10908792" cy="457200"/>
          </a:xfrm>
          <a:prstGeom prst="roundRect">
            <a:avLst>
              <a:gd name="adj" fmla="val 16000"/>
            </a:avLst>
          </a:prstGeom>
          <a:solidFill>
            <a:srgbClr val="EFEEE9"/>
          </a:solidFill>
          <a:ln w="12700">
            <a:solidFill>
              <a:srgbClr val="D5D1C8"/>
            </a:solidFill>
            <a:prstDash val="solid"/>
          </a:ln>
        </p:spPr>
      </p:sp>
      <p:sp>
        <p:nvSpPr>
          <p:cNvPr id="47" name="Text 44"/>
          <p:cNvSpPr/>
          <p:nvPr/>
        </p:nvSpPr>
        <p:spPr>
          <a:xfrm>
            <a:off x="841248" y="5541264"/>
            <a:ext cx="10506456" cy="457200"/>
          </a:xfrm>
          <a:prstGeom prst="rect">
            <a:avLst/>
          </a:prstGeom>
          <a:noFill/>
          <a:ln/>
        </p:spPr>
        <p:txBody>
          <a:bodyPr wrap="square" lIns="0" tIns="0" rIns="0" bIns="0" rtlCol="0" anchor="ctr"/>
          <a:lstStyle/>
          <a:p>
            <a:pPr indent="0" marL="0">
              <a:lnSpc>
                <a:spcPts val="1470"/>
              </a:lnSpc>
              <a:buNone/>
            </a:pPr>
            <a:r>
              <a:rPr lang="en-US" sz="1050" dirty="0">
                <a:solidFill>
                  <a:srgbClr val="6E8A64"/>
                </a:solidFill>
                <a:latin typeface="Courier New" pitchFamily="34" charset="0"/>
                <a:ea typeface="Courier New" pitchFamily="34" charset="-122"/>
                <a:cs typeface="Courier New" pitchFamily="34" charset="-120"/>
              </a:rPr>
              <a:t>&lt;!-- seven minutes of struggling beats seven minutes of watching me type --&gt;</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3"/>
        </a:solidFill>
      </p:bgPr>
    </p:bg>
    <p:spTree>
      <p:nvGrpSpPr>
        <p:cNvPr id="1" name=""/>
        <p:cNvGrpSpPr/>
        <p:nvPr/>
      </p:nvGrpSpPr>
      <p:grpSpPr>
        <a:xfrm>
          <a:off x="0" y="0"/>
          <a:ext cx="0" cy="0"/>
          <a:chOff x="0" y="0"/>
          <a:chExt cx="0" cy="0"/>
        </a:xfrm>
      </p:grpSpPr>
      <p:sp>
        <p:nvSpPr>
          <p:cNvPr id="3" name="Text 0"/>
          <p:cNvSpPr/>
          <p:nvPr/>
        </p:nvSpPr>
        <p:spPr>
          <a:xfrm>
            <a:off x="640080" y="6364224"/>
            <a:ext cx="2743200" cy="256032"/>
          </a:xfrm>
          <a:prstGeom prst="rect">
            <a:avLst/>
          </a:prstGeom>
          <a:noFill/>
          <a:ln/>
        </p:spPr>
        <p:txBody>
          <a:bodyPr wrap="square" lIns="0" tIns="0" rIns="0" bIns="0" rtlCol="0" anchor="ctr"/>
          <a:lstStyle/>
          <a:p>
            <a:pPr indent="0" marL="0">
              <a:buNone/>
            </a:pPr>
            <a:r>
              <a:rPr lang="en-US" sz="900" dirty="0">
                <a:solidFill>
                  <a:srgbClr val="8A9099"/>
                </a:solidFill>
                <a:latin typeface="Courier New" pitchFamily="34" charset="0"/>
                <a:ea typeface="Courier New" pitchFamily="34" charset="-122"/>
                <a:cs typeface="Courier New" pitchFamily="34" charset="-120"/>
              </a:rPr>
              <a:t>class-01.html</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8A9099"/>
                </a:solidFill>
                <a:latin typeface="Courier New" pitchFamily="34" charset="0"/>
                <a:ea typeface="Courier New" pitchFamily="34" charset="-122"/>
                <a:cs typeface="Courier New" pitchFamily="34" charset="-120"/>
              </a:rPr>
              <a:t>23</a:t>
            </a:r>
            <a:endParaRPr lang="en-US" sz="900" dirty="0"/>
          </a:p>
        </p:txBody>
      </p:sp>
      <p:sp>
        <p:nvSpPr>
          <p:cNvPr id="5" name="Text 2"/>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dirty="0">
                <a:solidFill>
                  <a:srgbClr val="E34F26"/>
                </a:solidFill>
                <a:latin typeface="Courier New" pitchFamily="34" charset="0"/>
                <a:ea typeface="Courier New" pitchFamily="34" charset="-122"/>
                <a:cs typeface="Courier New" pitchFamily="34" charset="-120"/>
              </a:rPr>
              <a:t>&lt;wrap-up&gt;</a:t>
            </a:r>
            <a:endParaRPr lang="en-US" sz="1200" dirty="0"/>
          </a:p>
        </p:txBody>
      </p:sp>
      <p:sp>
        <p:nvSpPr>
          <p:cNvPr id="6" name="Text 3"/>
          <p:cNvSpPr/>
          <p:nvPr/>
        </p:nvSpPr>
        <p:spPr>
          <a:xfrm>
            <a:off x="640080" y="694944"/>
            <a:ext cx="10881360" cy="658368"/>
          </a:xfrm>
          <a:prstGeom prst="rect">
            <a:avLst/>
          </a:prstGeom>
          <a:noFill/>
          <a:ln/>
        </p:spPr>
        <p:txBody>
          <a:bodyPr wrap="square" lIns="0" tIns="0" rIns="0" bIns="0" rtlCol="0" anchor="ctr"/>
          <a:lstStyle/>
          <a:p>
            <a:pPr indent="0" marL="0">
              <a:buNone/>
            </a:pPr>
            <a:r>
              <a:rPr lang="en-US" sz="3400" b="1" dirty="0">
                <a:solidFill>
                  <a:srgbClr val="1B1F24"/>
                </a:solidFill>
                <a:latin typeface="Calibri" pitchFamily="34" charset="0"/>
                <a:ea typeface="Calibri" pitchFamily="34" charset="-122"/>
                <a:cs typeface="Calibri" pitchFamily="34" charset="-120"/>
              </a:rPr>
              <a:t>What you can do now that you could not this morning</a:t>
            </a:r>
            <a:endParaRPr lang="en-US" sz="3400" dirty="0"/>
          </a:p>
        </p:txBody>
      </p:sp>
      <p:sp>
        <p:nvSpPr>
          <p:cNvPr id="7" name="Shape 4"/>
          <p:cNvSpPr/>
          <p:nvPr/>
        </p:nvSpPr>
        <p:spPr>
          <a:xfrm>
            <a:off x="640080" y="1627632"/>
            <a:ext cx="5212080" cy="1060704"/>
          </a:xfrm>
          <a:prstGeom prst="roundRect">
            <a:avLst>
              <a:gd name="adj" fmla="val 8621"/>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8" name="Shape 5"/>
          <p:cNvSpPr/>
          <p:nvPr/>
        </p:nvSpPr>
        <p:spPr>
          <a:xfrm>
            <a:off x="896112" y="1938528"/>
            <a:ext cx="438912" cy="438912"/>
          </a:xfrm>
          <a:prstGeom prst="roundRect">
            <a:avLst>
              <a:gd name="adj" fmla="val 20833"/>
            </a:avLst>
          </a:prstGeom>
          <a:solidFill>
            <a:srgbClr val="FBE9E2"/>
          </a:solidFill>
          <a:ln w="12700">
            <a:solidFill>
              <a:srgbClr val="F0B9A6"/>
            </a:solidFill>
            <a:prstDash val="solid"/>
          </a:ln>
        </p:spPr>
      </p:sp>
      <p:pic>
        <p:nvPicPr>
          <p:cNvPr id="9" name="Image 0" descr="preencoded.png">    </p:cNvPr>
          <p:cNvPicPr>
            <a:picLocks noChangeAspect="1"/>
          </p:cNvPicPr>
          <p:nvPr/>
        </p:nvPicPr>
        <p:blipFill>
          <a:blip r:embed="rId1"/>
          <a:stretch>
            <a:fillRect/>
          </a:stretch>
        </p:blipFill>
        <p:spPr>
          <a:xfrm>
            <a:off x="1005840" y="2048256"/>
            <a:ext cx="219456" cy="219456"/>
          </a:xfrm>
          <a:prstGeom prst="rect">
            <a:avLst/>
          </a:prstGeom>
        </p:spPr>
      </p:pic>
      <p:sp>
        <p:nvSpPr>
          <p:cNvPr id="10" name="Text 6"/>
          <p:cNvSpPr/>
          <p:nvPr/>
        </p:nvSpPr>
        <p:spPr>
          <a:xfrm>
            <a:off x="1517904" y="1627632"/>
            <a:ext cx="4078224" cy="1060704"/>
          </a:xfrm>
          <a:prstGeom prst="rect">
            <a:avLst/>
          </a:prstGeom>
          <a:noFill/>
          <a:ln/>
        </p:spPr>
        <p:txBody>
          <a:bodyPr wrap="square" lIns="0" tIns="0" rIns="0" bIns="0" rtlCol="0" anchor="ctr"/>
          <a:lstStyle/>
          <a:p>
            <a:pPr algn="l" indent="0" marL="0">
              <a:lnSpc>
                <a:spcPts val="1700"/>
              </a:lnSpc>
              <a:buNone/>
            </a:pPr>
            <a:r>
              <a:rPr lang="en-US" sz="1300" dirty="0">
                <a:solidFill>
                  <a:srgbClr val="1B1F24"/>
                </a:solidFill>
                <a:latin typeface="Calibri" pitchFamily="34" charset="0"/>
                <a:ea typeface="Calibri" pitchFamily="34" charset="-122"/>
                <a:cs typeface="Calibri" pitchFamily="34" charset="-120"/>
              </a:rPr>
              <a:t>Explain what happens between typing a URL and seeing a page: client, DNS, server, database.</a:t>
            </a:r>
            <a:endParaRPr lang="en-US" sz="1300" dirty="0"/>
          </a:p>
        </p:txBody>
      </p:sp>
      <p:sp>
        <p:nvSpPr>
          <p:cNvPr id="11" name="Shape 7"/>
          <p:cNvSpPr/>
          <p:nvPr/>
        </p:nvSpPr>
        <p:spPr>
          <a:xfrm>
            <a:off x="6336792" y="1627632"/>
            <a:ext cx="5212080" cy="1060704"/>
          </a:xfrm>
          <a:prstGeom prst="roundRect">
            <a:avLst>
              <a:gd name="adj" fmla="val 8621"/>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2" name="Shape 8"/>
          <p:cNvSpPr/>
          <p:nvPr/>
        </p:nvSpPr>
        <p:spPr>
          <a:xfrm>
            <a:off x="6592824" y="1938528"/>
            <a:ext cx="438912" cy="438912"/>
          </a:xfrm>
          <a:prstGeom prst="roundRect">
            <a:avLst>
              <a:gd name="adj" fmla="val 20833"/>
            </a:avLst>
          </a:prstGeom>
          <a:solidFill>
            <a:srgbClr val="FBE9E2"/>
          </a:solidFill>
          <a:ln w="12700">
            <a:solidFill>
              <a:srgbClr val="F0B9A6"/>
            </a:solidFill>
            <a:prstDash val="solid"/>
          </a:ln>
        </p:spPr>
      </p:sp>
      <p:pic>
        <p:nvPicPr>
          <p:cNvPr id="13" name="Image 1" descr="preencoded.png">    </p:cNvPr>
          <p:cNvPicPr>
            <a:picLocks noChangeAspect="1"/>
          </p:cNvPicPr>
          <p:nvPr/>
        </p:nvPicPr>
        <p:blipFill>
          <a:blip r:embed="rId2"/>
          <a:stretch>
            <a:fillRect/>
          </a:stretch>
        </p:blipFill>
        <p:spPr>
          <a:xfrm>
            <a:off x="6702552" y="2048256"/>
            <a:ext cx="219456" cy="219456"/>
          </a:xfrm>
          <a:prstGeom prst="rect">
            <a:avLst/>
          </a:prstGeom>
        </p:spPr>
      </p:pic>
      <p:sp>
        <p:nvSpPr>
          <p:cNvPr id="14" name="Text 9"/>
          <p:cNvSpPr/>
          <p:nvPr/>
        </p:nvSpPr>
        <p:spPr>
          <a:xfrm>
            <a:off x="7214616" y="1627632"/>
            <a:ext cx="4078224" cy="1060704"/>
          </a:xfrm>
          <a:prstGeom prst="rect">
            <a:avLst/>
          </a:prstGeom>
          <a:noFill/>
          <a:ln/>
        </p:spPr>
        <p:txBody>
          <a:bodyPr wrap="square" lIns="0" tIns="0" rIns="0" bIns="0" rtlCol="0" anchor="ctr"/>
          <a:lstStyle/>
          <a:p>
            <a:pPr algn="l" indent="0" marL="0">
              <a:lnSpc>
                <a:spcPts val="1700"/>
              </a:lnSpc>
              <a:buNone/>
            </a:pPr>
            <a:r>
              <a:rPr lang="en-US" sz="1300" dirty="0">
                <a:solidFill>
                  <a:srgbClr val="1B1F24"/>
                </a:solidFill>
                <a:latin typeface="Calibri" pitchFamily="34" charset="0"/>
                <a:ea typeface="Calibri" pitchFamily="34" charset="-122"/>
                <a:cs typeface="Calibri" pitchFamily="34" charset="-120"/>
              </a:rPr>
              <a:t>Say the difference between a server and a database without hesitating.</a:t>
            </a:r>
            <a:endParaRPr lang="en-US" sz="1300" dirty="0"/>
          </a:p>
        </p:txBody>
      </p:sp>
      <p:sp>
        <p:nvSpPr>
          <p:cNvPr id="15" name="Shape 10"/>
          <p:cNvSpPr/>
          <p:nvPr/>
        </p:nvSpPr>
        <p:spPr>
          <a:xfrm>
            <a:off x="640080" y="2816352"/>
            <a:ext cx="5212080" cy="1060704"/>
          </a:xfrm>
          <a:prstGeom prst="roundRect">
            <a:avLst>
              <a:gd name="adj" fmla="val 8621"/>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16" name="Shape 11"/>
          <p:cNvSpPr/>
          <p:nvPr/>
        </p:nvSpPr>
        <p:spPr>
          <a:xfrm>
            <a:off x="896112" y="3127248"/>
            <a:ext cx="438912" cy="438912"/>
          </a:xfrm>
          <a:prstGeom prst="roundRect">
            <a:avLst>
              <a:gd name="adj" fmla="val 20833"/>
            </a:avLst>
          </a:prstGeom>
          <a:solidFill>
            <a:srgbClr val="FBE9E2"/>
          </a:solidFill>
          <a:ln w="12700">
            <a:solidFill>
              <a:srgbClr val="F0B9A6"/>
            </a:solidFill>
            <a:prstDash val="solid"/>
          </a:ln>
        </p:spPr>
      </p:sp>
      <p:pic>
        <p:nvPicPr>
          <p:cNvPr id="17" name="Image 2" descr="preencoded.png">    </p:cNvPr>
          <p:cNvPicPr>
            <a:picLocks noChangeAspect="1"/>
          </p:cNvPicPr>
          <p:nvPr/>
        </p:nvPicPr>
        <p:blipFill>
          <a:blip r:embed="rId3"/>
          <a:stretch>
            <a:fillRect/>
          </a:stretch>
        </p:blipFill>
        <p:spPr>
          <a:xfrm>
            <a:off x="1005840" y="3236976"/>
            <a:ext cx="219456" cy="219456"/>
          </a:xfrm>
          <a:prstGeom prst="rect">
            <a:avLst/>
          </a:prstGeom>
        </p:spPr>
      </p:pic>
      <p:sp>
        <p:nvSpPr>
          <p:cNvPr id="18" name="Text 12"/>
          <p:cNvSpPr/>
          <p:nvPr/>
        </p:nvSpPr>
        <p:spPr>
          <a:xfrm>
            <a:off x="1517904" y="2816352"/>
            <a:ext cx="4078224" cy="1060704"/>
          </a:xfrm>
          <a:prstGeom prst="rect">
            <a:avLst/>
          </a:prstGeom>
          <a:noFill/>
          <a:ln/>
        </p:spPr>
        <p:txBody>
          <a:bodyPr wrap="square" lIns="0" tIns="0" rIns="0" bIns="0" rtlCol="0" anchor="ctr"/>
          <a:lstStyle/>
          <a:p>
            <a:pPr algn="l" indent="0" marL="0">
              <a:lnSpc>
                <a:spcPts val="1700"/>
              </a:lnSpc>
              <a:buNone/>
            </a:pPr>
            <a:r>
              <a:rPr lang="en-US" sz="1300" dirty="0">
                <a:solidFill>
                  <a:srgbClr val="1B1F24"/>
                </a:solidFill>
                <a:latin typeface="Calibri" pitchFamily="34" charset="0"/>
                <a:ea typeface="Calibri" pitchFamily="34" charset="-122"/>
                <a:cs typeface="Calibri" pitchFamily="34" charset="-120"/>
              </a:rPr>
              <a:t>Set up VS Code, create a project folder, and open a file with Live Server.</a:t>
            </a:r>
            <a:endParaRPr lang="en-US" sz="1300" dirty="0"/>
          </a:p>
        </p:txBody>
      </p:sp>
      <p:sp>
        <p:nvSpPr>
          <p:cNvPr id="19" name="Shape 13"/>
          <p:cNvSpPr/>
          <p:nvPr/>
        </p:nvSpPr>
        <p:spPr>
          <a:xfrm>
            <a:off x="6336792" y="2816352"/>
            <a:ext cx="5212080" cy="1060704"/>
          </a:xfrm>
          <a:prstGeom prst="roundRect">
            <a:avLst>
              <a:gd name="adj" fmla="val 8621"/>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0" name="Shape 14"/>
          <p:cNvSpPr/>
          <p:nvPr/>
        </p:nvSpPr>
        <p:spPr>
          <a:xfrm>
            <a:off x="6592824" y="3127248"/>
            <a:ext cx="438912" cy="438912"/>
          </a:xfrm>
          <a:prstGeom prst="roundRect">
            <a:avLst>
              <a:gd name="adj" fmla="val 20833"/>
            </a:avLst>
          </a:prstGeom>
          <a:solidFill>
            <a:srgbClr val="FBE9E2"/>
          </a:solidFill>
          <a:ln w="12700">
            <a:solidFill>
              <a:srgbClr val="F0B9A6"/>
            </a:solidFill>
            <a:prstDash val="solid"/>
          </a:ln>
        </p:spPr>
      </p:sp>
      <p:pic>
        <p:nvPicPr>
          <p:cNvPr id="21" name="Image 3" descr="preencoded.png">    </p:cNvPr>
          <p:cNvPicPr>
            <a:picLocks noChangeAspect="1"/>
          </p:cNvPicPr>
          <p:nvPr/>
        </p:nvPicPr>
        <p:blipFill>
          <a:blip r:embed="rId4"/>
          <a:stretch>
            <a:fillRect/>
          </a:stretch>
        </p:blipFill>
        <p:spPr>
          <a:xfrm>
            <a:off x="6702552" y="3236976"/>
            <a:ext cx="219456" cy="219456"/>
          </a:xfrm>
          <a:prstGeom prst="rect">
            <a:avLst/>
          </a:prstGeom>
        </p:spPr>
      </p:pic>
      <p:sp>
        <p:nvSpPr>
          <p:cNvPr id="22" name="Text 15"/>
          <p:cNvSpPr/>
          <p:nvPr/>
        </p:nvSpPr>
        <p:spPr>
          <a:xfrm>
            <a:off x="7214616" y="2816352"/>
            <a:ext cx="4078224" cy="1060704"/>
          </a:xfrm>
          <a:prstGeom prst="rect">
            <a:avLst/>
          </a:prstGeom>
          <a:noFill/>
          <a:ln/>
        </p:spPr>
        <p:txBody>
          <a:bodyPr wrap="square" lIns="0" tIns="0" rIns="0" bIns="0" rtlCol="0" anchor="ctr"/>
          <a:lstStyle/>
          <a:p>
            <a:pPr algn="l" indent="0" marL="0">
              <a:lnSpc>
                <a:spcPts val="1700"/>
              </a:lnSpc>
              <a:buNone/>
            </a:pPr>
            <a:r>
              <a:rPr lang="en-US" sz="1300" dirty="0">
                <a:solidFill>
                  <a:srgbClr val="1B1F24"/>
                </a:solidFill>
                <a:latin typeface="Calibri" pitchFamily="34" charset="0"/>
                <a:ea typeface="Calibri" pitchFamily="34" charset="-122"/>
                <a:cs typeface="Calibri" pitchFamily="34" charset="-120"/>
              </a:rPr>
              <a:t>Write a full HTML document from scratch, and explain every line of the boilerplate.</a:t>
            </a:r>
            <a:endParaRPr lang="en-US" sz="1300" dirty="0"/>
          </a:p>
        </p:txBody>
      </p:sp>
      <p:sp>
        <p:nvSpPr>
          <p:cNvPr id="23" name="Shape 16"/>
          <p:cNvSpPr/>
          <p:nvPr/>
        </p:nvSpPr>
        <p:spPr>
          <a:xfrm>
            <a:off x="640080" y="4005072"/>
            <a:ext cx="5212080" cy="1060704"/>
          </a:xfrm>
          <a:prstGeom prst="roundRect">
            <a:avLst>
              <a:gd name="adj" fmla="val 8621"/>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4" name="Shape 17"/>
          <p:cNvSpPr/>
          <p:nvPr/>
        </p:nvSpPr>
        <p:spPr>
          <a:xfrm>
            <a:off x="896112" y="4315968"/>
            <a:ext cx="438912" cy="438912"/>
          </a:xfrm>
          <a:prstGeom prst="roundRect">
            <a:avLst>
              <a:gd name="adj" fmla="val 20833"/>
            </a:avLst>
          </a:prstGeom>
          <a:solidFill>
            <a:srgbClr val="FBE9E2"/>
          </a:solidFill>
          <a:ln w="12700">
            <a:solidFill>
              <a:srgbClr val="F0B9A6"/>
            </a:solidFill>
            <a:prstDash val="solid"/>
          </a:ln>
        </p:spPr>
      </p:sp>
      <p:pic>
        <p:nvPicPr>
          <p:cNvPr id="25" name="Image 4" descr="preencoded.png">    </p:cNvPr>
          <p:cNvPicPr>
            <a:picLocks noChangeAspect="1"/>
          </p:cNvPicPr>
          <p:nvPr/>
        </p:nvPicPr>
        <p:blipFill>
          <a:blip r:embed="rId5"/>
          <a:stretch>
            <a:fillRect/>
          </a:stretch>
        </p:blipFill>
        <p:spPr>
          <a:xfrm>
            <a:off x="1005840" y="4425696"/>
            <a:ext cx="219456" cy="219456"/>
          </a:xfrm>
          <a:prstGeom prst="rect">
            <a:avLst/>
          </a:prstGeom>
        </p:spPr>
      </p:pic>
      <p:sp>
        <p:nvSpPr>
          <p:cNvPr id="26" name="Text 18"/>
          <p:cNvSpPr/>
          <p:nvPr/>
        </p:nvSpPr>
        <p:spPr>
          <a:xfrm>
            <a:off x="1517904" y="4005072"/>
            <a:ext cx="4078224" cy="1060704"/>
          </a:xfrm>
          <a:prstGeom prst="rect">
            <a:avLst/>
          </a:prstGeom>
          <a:noFill/>
          <a:ln/>
        </p:spPr>
        <p:txBody>
          <a:bodyPr wrap="square" lIns="0" tIns="0" rIns="0" bIns="0" rtlCol="0" anchor="ctr"/>
          <a:lstStyle/>
          <a:p>
            <a:pPr algn="l" indent="0" marL="0">
              <a:lnSpc>
                <a:spcPts val="1700"/>
              </a:lnSpc>
              <a:buNone/>
            </a:pPr>
            <a:r>
              <a:rPr lang="en-US" sz="1300" dirty="0">
                <a:solidFill>
                  <a:srgbClr val="1B1F24"/>
                </a:solidFill>
                <a:latin typeface="Calibri" pitchFamily="34" charset="0"/>
                <a:ea typeface="Calibri" pitchFamily="34" charset="-122"/>
                <a:cs typeface="Calibri" pitchFamily="34" charset="-120"/>
              </a:rPr>
              <a:t>Use headings, paragraphs, images, links and buttons, with the right attributes.</a:t>
            </a:r>
            <a:endParaRPr lang="en-US" sz="1300" dirty="0"/>
          </a:p>
        </p:txBody>
      </p:sp>
      <p:sp>
        <p:nvSpPr>
          <p:cNvPr id="27" name="Shape 19"/>
          <p:cNvSpPr/>
          <p:nvPr/>
        </p:nvSpPr>
        <p:spPr>
          <a:xfrm>
            <a:off x="6336792" y="4005072"/>
            <a:ext cx="5212080" cy="1060704"/>
          </a:xfrm>
          <a:prstGeom prst="roundRect">
            <a:avLst>
              <a:gd name="adj" fmla="val 8621"/>
            </a:avLst>
          </a:prstGeom>
          <a:solidFill>
            <a:srgbClr val="FFFFFF"/>
          </a:solidFill>
          <a:ln w="12700">
            <a:solidFill>
              <a:srgbClr val="E2DFD8"/>
            </a:solidFill>
            <a:prstDash val="solid"/>
          </a:ln>
          <a:effectLst>
            <a:outerShdw sx="100000" sy="100000" kx="0" ky="0" algn="bl" rotWithShape="0" blurRad="127000" dist="25400" dir="5400000">
              <a:srgbClr val="9A958C">
                <a:alpha val="22000"/>
              </a:srgbClr>
            </a:outerShdw>
          </a:effectLst>
        </p:spPr>
      </p:sp>
      <p:sp>
        <p:nvSpPr>
          <p:cNvPr id="28" name="Shape 20"/>
          <p:cNvSpPr/>
          <p:nvPr/>
        </p:nvSpPr>
        <p:spPr>
          <a:xfrm>
            <a:off x="6592824" y="4315968"/>
            <a:ext cx="438912" cy="438912"/>
          </a:xfrm>
          <a:prstGeom prst="roundRect">
            <a:avLst>
              <a:gd name="adj" fmla="val 20833"/>
            </a:avLst>
          </a:prstGeom>
          <a:solidFill>
            <a:srgbClr val="FBE9E2"/>
          </a:solidFill>
          <a:ln w="12700">
            <a:solidFill>
              <a:srgbClr val="F0B9A6"/>
            </a:solidFill>
            <a:prstDash val="solid"/>
          </a:ln>
        </p:spPr>
      </p:sp>
      <p:pic>
        <p:nvPicPr>
          <p:cNvPr id="29" name="Image 5" descr="preencoded.png">    </p:cNvPr>
          <p:cNvPicPr>
            <a:picLocks noChangeAspect="1"/>
          </p:cNvPicPr>
          <p:nvPr/>
        </p:nvPicPr>
        <p:blipFill>
          <a:blip r:embed="rId6"/>
          <a:stretch>
            <a:fillRect/>
          </a:stretch>
        </p:blipFill>
        <p:spPr>
          <a:xfrm>
            <a:off x="6702552" y="4425696"/>
            <a:ext cx="219456" cy="219456"/>
          </a:xfrm>
          <a:prstGeom prst="rect">
            <a:avLst/>
          </a:prstGeom>
        </p:spPr>
      </p:pic>
      <p:sp>
        <p:nvSpPr>
          <p:cNvPr id="30" name="Text 21"/>
          <p:cNvSpPr/>
          <p:nvPr/>
        </p:nvSpPr>
        <p:spPr>
          <a:xfrm>
            <a:off x="7214616" y="4005072"/>
            <a:ext cx="4078224" cy="1060704"/>
          </a:xfrm>
          <a:prstGeom prst="rect">
            <a:avLst/>
          </a:prstGeom>
          <a:noFill/>
          <a:ln/>
        </p:spPr>
        <p:txBody>
          <a:bodyPr wrap="square" lIns="0" tIns="0" rIns="0" bIns="0" rtlCol="0" anchor="ctr"/>
          <a:lstStyle/>
          <a:p>
            <a:pPr algn="l" indent="0" marL="0">
              <a:lnSpc>
                <a:spcPts val="1700"/>
              </a:lnSpc>
              <a:buNone/>
            </a:pPr>
            <a:r>
              <a:rPr lang="en-US" sz="1300" dirty="0">
                <a:solidFill>
                  <a:srgbClr val="1B1F24"/>
                </a:solidFill>
                <a:latin typeface="Calibri" pitchFamily="34" charset="0"/>
                <a:ea typeface="Calibri" pitchFamily="34" charset="-122"/>
                <a:cs typeface="Calibri" pitchFamily="34" charset="-120"/>
              </a:rPr>
              <a:t>Group content with divs, and use semantic tags when the block actually means something.</a:t>
            </a:r>
            <a:endParaRPr lang="en-US" sz="1300" dirty="0"/>
          </a:p>
        </p:txBody>
      </p:sp>
      <p:sp>
        <p:nvSpPr>
          <p:cNvPr id="31" name="Shape 22"/>
          <p:cNvSpPr/>
          <p:nvPr/>
        </p:nvSpPr>
        <p:spPr>
          <a:xfrm>
            <a:off x="640080" y="5193792"/>
            <a:ext cx="5212080" cy="1051560"/>
          </a:xfrm>
          <a:prstGeom prst="roundRect">
            <a:avLst>
              <a:gd name="adj" fmla="val 8696"/>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32" name="Shape 23"/>
          <p:cNvSpPr/>
          <p:nvPr/>
        </p:nvSpPr>
        <p:spPr>
          <a:xfrm>
            <a:off x="914400" y="5468112"/>
            <a:ext cx="493776" cy="493776"/>
          </a:xfrm>
          <a:prstGeom prst="roundRect">
            <a:avLst>
              <a:gd name="adj" fmla="val 18519"/>
            </a:avLst>
          </a:prstGeom>
          <a:solidFill>
            <a:srgbClr val="FFFFFF"/>
          </a:solidFill>
          <a:ln w="12700">
            <a:solidFill>
              <a:srgbClr val="F0B9A6"/>
            </a:solidFill>
            <a:prstDash val="solid"/>
          </a:ln>
        </p:spPr>
      </p:sp>
      <p:pic>
        <p:nvPicPr>
          <p:cNvPr id="33" name="Image 6" descr="preencoded.png">    </p:cNvPr>
          <p:cNvPicPr>
            <a:picLocks noChangeAspect="1"/>
          </p:cNvPicPr>
          <p:nvPr/>
        </p:nvPicPr>
        <p:blipFill>
          <a:blip r:embed="rId7"/>
          <a:stretch>
            <a:fillRect/>
          </a:stretch>
        </p:blipFill>
        <p:spPr>
          <a:xfrm>
            <a:off x="1042782" y="5596494"/>
            <a:ext cx="237012" cy="237012"/>
          </a:xfrm>
          <a:prstGeom prst="rect">
            <a:avLst/>
          </a:prstGeom>
        </p:spPr>
      </p:pic>
      <p:sp>
        <p:nvSpPr>
          <p:cNvPr id="34" name="Text 24"/>
          <p:cNvSpPr/>
          <p:nvPr/>
        </p:nvSpPr>
        <p:spPr>
          <a:xfrm>
            <a:off x="1536192" y="5376672"/>
            <a:ext cx="4114800" cy="310896"/>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Finish assignment A1</a:t>
            </a:r>
            <a:endParaRPr lang="en-US" sz="1500" dirty="0"/>
          </a:p>
        </p:txBody>
      </p:sp>
      <p:sp>
        <p:nvSpPr>
          <p:cNvPr id="35" name="Text 25"/>
          <p:cNvSpPr/>
          <p:nvPr/>
        </p:nvSpPr>
        <p:spPr>
          <a:xfrm>
            <a:off x="1536192" y="5705856"/>
            <a:ext cx="4114800" cy="411480"/>
          </a:xfrm>
          <a:prstGeom prst="rect">
            <a:avLst/>
          </a:prstGeom>
          <a:noFill/>
          <a:ln/>
        </p:spPr>
        <p:txBody>
          <a:bodyPr wrap="square" lIns="0" tIns="0" rIns="0" bIns="0" rtlCol="0" anchor="t"/>
          <a:lstStyle/>
          <a:p>
            <a:pPr algn="l" indent="0" marL="0">
              <a:lnSpc>
                <a:spcPts val="1550"/>
              </a:lnSpc>
              <a:buNone/>
            </a:pPr>
            <a:r>
              <a:rPr lang="en-US" sz="1200" dirty="0">
                <a:solidFill>
                  <a:srgbClr val="1B1F24"/>
                </a:solidFill>
                <a:latin typeface="Calibri" pitchFamily="34" charset="0"/>
                <a:ea typeface="Calibri" pitchFamily="34" charset="-122"/>
                <a:cs typeface="Calibri" pitchFamily="34" charset="-120"/>
              </a:rPr>
              <a:t>The header section. It is the first brick of your portfolio.</a:t>
            </a:r>
            <a:endParaRPr lang="en-US" sz="1200" dirty="0"/>
          </a:p>
        </p:txBody>
      </p:sp>
      <p:sp>
        <p:nvSpPr>
          <p:cNvPr id="36" name="Shape 26"/>
          <p:cNvSpPr/>
          <p:nvPr/>
        </p:nvSpPr>
        <p:spPr>
          <a:xfrm>
            <a:off x="6336792" y="5193792"/>
            <a:ext cx="5212080" cy="1051560"/>
          </a:xfrm>
          <a:prstGeom prst="roundRect">
            <a:avLst>
              <a:gd name="adj" fmla="val 8696"/>
            </a:avLst>
          </a:prstGeom>
          <a:solidFill>
            <a:srgbClr val="FBE9E2"/>
          </a:solidFill>
          <a:ln w="12700">
            <a:solidFill>
              <a:srgbClr val="F0B9A6"/>
            </a:solidFill>
            <a:prstDash val="solid"/>
          </a:ln>
          <a:effectLst>
            <a:outerShdw sx="100000" sy="100000" kx="0" ky="0" algn="bl" rotWithShape="0" blurRad="127000" dist="25400" dir="5400000">
              <a:srgbClr val="9A958C">
                <a:alpha val="22000"/>
              </a:srgbClr>
            </a:outerShdw>
          </a:effectLst>
        </p:spPr>
      </p:sp>
      <p:sp>
        <p:nvSpPr>
          <p:cNvPr id="37" name="Shape 27"/>
          <p:cNvSpPr/>
          <p:nvPr/>
        </p:nvSpPr>
        <p:spPr>
          <a:xfrm>
            <a:off x="6611112" y="5468112"/>
            <a:ext cx="493776" cy="493776"/>
          </a:xfrm>
          <a:prstGeom prst="roundRect">
            <a:avLst>
              <a:gd name="adj" fmla="val 18519"/>
            </a:avLst>
          </a:prstGeom>
          <a:solidFill>
            <a:srgbClr val="FFFFFF"/>
          </a:solidFill>
          <a:ln w="12700">
            <a:solidFill>
              <a:srgbClr val="F0B9A6"/>
            </a:solidFill>
            <a:prstDash val="solid"/>
          </a:ln>
        </p:spPr>
      </p:sp>
      <p:pic>
        <p:nvPicPr>
          <p:cNvPr id="38" name="Image 7" descr="preencoded.png">    </p:cNvPr>
          <p:cNvPicPr>
            <a:picLocks noChangeAspect="1"/>
          </p:cNvPicPr>
          <p:nvPr/>
        </p:nvPicPr>
        <p:blipFill>
          <a:blip r:embed="rId8"/>
          <a:stretch>
            <a:fillRect/>
          </a:stretch>
        </p:blipFill>
        <p:spPr>
          <a:xfrm>
            <a:off x="6739494" y="5596494"/>
            <a:ext cx="237012" cy="237012"/>
          </a:xfrm>
          <a:prstGeom prst="rect">
            <a:avLst/>
          </a:prstGeom>
        </p:spPr>
      </p:pic>
      <p:sp>
        <p:nvSpPr>
          <p:cNvPr id="39" name="Text 28"/>
          <p:cNvSpPr/>
          <p:nvPr/>
        </p:nvSpPr>
        <p:spPr>
          <a:xfrm>
            <a:off x="7232904" y="5376672"/>
            <a:ext cx="4114800" cy="310896"/>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Create a GitHub account</a:t>
            </a:r>
            <a:endParaRPr lang="en-US" sz="1500" dirty="0"/>
          </a:p>
        </p:txBody>
      </p:sp>
      <p:sp>
        <p:nvSpPr>
          <p:cNvPr id="40" name="Text 29"/>
          <p:cNvSpPr/>
          <p:nvPr/>
        </p:nvSpPr>
        <p:spPr>
          <a:xfrm>
            <a:off x="7232904" y="5705856"/>
            <a:ext cx="4114800" cy="411480"/>
          </a:xfrm>
          <a:prstGeom prst="rect">
            <a:avLst/>
          </a:prstGeom>
          <a:noFill/>
          <a:ln/>
        </p:spPr>
        <p:txBody>
          <a:bodyPr wrap="square" lIns="0" tIns="0" rIns="0" bIns="0" rtlCol="0" anchor="t"/>
          <a:lstStyle/>
          <a:p>
            <a:pPr algn="l" indent="0" marL="0">
              <a:lnSpc>
                <a:spcPts val="1550"/>
              </a:lnSpc>
              <a:buNone/>
            </a:pPr>
            <a:r>
              <a:rPr lang="en-US" sz="1200" dirty="0">
                <a:solidFill>
                  <a:srgbClr val="1B1F24"/>
                </a:solidFill>
                <a:latin typeface="Calibri" pitchFamily="34" charset="0"/>
                <a:ea typeface="Calibri" pitchFamily="34" charset="-122"/>
                <a:cs typeface="Calibri" pitchFamily="34" charset="-120"/>
              </a:rPr>
              <a:t>I will share the batch repository link. Everything I write in class lives there.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3"/>
        </a:solidFill>
      </p:bgPr>
    </p:bg>
    <p:spTree>
      <p:nvGrpSpPr>
        <p:cNvPr id="1" name=""/>
        <p:cNvGrpSpPr/>
        <p:nvPr/>
      </p:nvGrpSpPr>
      <p:grpSpPr>
        <a:xfrm>
          <a:off x="0" y="0"/>
          <a:ext cx="0" cy="0"/>
          <a:chOff x="0" y="0"/>
          <a:chExt cx="0" cy="0"/>
        </a:xfrm>
      </p:grpSpPr>
      <p:sp>
        <p:nvSpPr>
          <p:cNvPr id="3" name="Shape 0"/>
          <p:cNvSpPr/>
          <p:nvPr/>
        </p:nvSpPr>
        <p:spPr>
          <a:xfrm>
            <a:off x="0" y="0"/>
            <a:ext cx="12188952" cy="6858000"/>
          </a:xfrm>
          <a:prstGeom prst="rect">
            <a:avLst/>
          </a:prstGeom>
          <a:solidFill>
            <a:srgbClr val="15181D"/>
          </a:solidFill>
          <a:ln w="12700">
            <a:solidFill>
              <a:srgbClr val="15181D"/>
            </a:solidFill>
            <a:prstDash val="solid"/>
          </a:ln>
        </p:spPr>
      </p:sp>
      <p:sp>
        <p:nvSpPr>
          <p:cNvPr id="4" name="Text 1"/>
          <p:cNvSpPr/>
          <p:nvPr/>
        </p:nvSpPr>
        <p:spPr>
          <a:xfrm>
            <a:off x="0" y="2103120"/>
            <a:ext cx="12188952" cy="329184"/>
          </a:xfrm>
          <a:prstGeom prst="rect">
            <a:avLst/>
          </a:prstGeom>
          <a:noFill/>
          <a:ln/>
        </p:spPr>
        <p:txBody>
          <a:bodyPr wrap="square" lIns="0" tIns="0" rIns="0" bIns="0" rtlCol="0" anchor="ctr"/>
          <a:lstStyle/>
          <a:p>
            <a:pPr algn="ctr" indent="0" marL="0">
              <a:buNone/>
            </a:pPr>
            <a:r>
              <a:rPr lang="en-US" sz="1500" dirty="0">
                <a:solidFill>
                  <a:srgbClr val="7E9C74"/>
                </a:solidFill>
                <a:latin typeface="Courier New" pitchFamily="34" charset="0"/>
                <a:ea typeface="Courier New" pitchFamily="34" charset="-122"/>
                <a:cs typeface="Courier New" pitchFamily="34" charset="-120"/>
              </a:rPr>
              <a:t>&lt;!-- your turn --&gt;</a:t>
            </a:r>
            <a:endParaRPr lang="en-US" sz="1500" dirty="0"/>
          </a:p>
        </p:txBody>
      </p:sp>
      <p:sp>
        <p:nvSpPr>
          <p:cNvPr id="5" name="Text 2"/>
          <p:cNvSpPr/>
          <p:nvPr/>
        </p:nvSpPr>
        <p:spPr>
          <a:xfrm>
            <a:off x="0" y="2523744"/>
            <a:ext cx="12188952"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Doubt session</a:t>
            </a:r>
            <a:endParaRPr lang="en-US" sz="4600" dirty="0"/>
          </a:p>
        </p:txBody>
      </p:sp>
      <p:sp>
        <p:nvSpPr>
          <p:cNvPr id="6" name="Shape 3"/>
          <p:cNvSpPr/>
          <p:nvPr/>
        </p:nvSpPr>
        <p:spPr>
          <a:xfrm>
            <a:off x="5545836" y="3584448"/>
            <a:ext cx="1097280" cy="41148"/>
          </a:xfrm>
          <a:prstGeom prst="rect">
            <a:avLst/>
          </a:prstGeom>
          <a:solidFill>
            <a:srgbClr val="E34F26"/>
          </a:solidFill>
          <a:ln w="12700">
            <a:solidFill>
              <a:srgbClr val="E34F26"/>
            </a:solidFill>
            <a:prstDash val="solid"/>
          </a:ln>
        </p:spPr>
      </p:sp>
      <p:sp>
        <p:nvSpPr>
          <p:cNvPr id="7" name="Text 4"/>
          <p:cNvSpPr/>
          <p:nvPr/>
        </p:nvSpPr>
        <p:spPr>
          <a:xfrm>
            <a:off x="1828800" y="3822192"/>
            <a:ext cx="8531352" cy="457200"/>
          </a:xfrm>
          <a:prstGeom prst="rect">
            <a:avLst/>
          </a:prstGeom>
          <a:noFill/>
          <a:ln/>
        </p:spPr>
        <p:txBody>
          <a:bodyPr wrap="square" lIns="0" tIns="0" rIns="0" bIns="0" rtlCol="0" anchor="ctr"/>
          <a:lstStyle/>
          <a:p>
            <a:pPr algn="ctr" indent="0" marL="0">
              <a:buNone/>
            </a:pPr>
            <a:r>
              <a:rPr lang="en-US" sz="1600" dirty="0">
                <a:solidFill>
                  <a:srgbClr val="B9BFC7"/>
                </a:solidFill>
                <a:latin typeface="Calibri" pitchFamily="34" charset="0"/>
                <a:ea typeface="Calibri" pitchFamily="34" charset="-122"/>
                <a:cs typeface="Calibri" pitchFamily="34" charset="-120"/>
              </a:rPr>
              <a:t>Anything at all. The basic questions are the ones half the room is also thinking.</a:t>
            </a:r>
            <a:endParaRPr lang="en-US" sz="1600" dirty="0"/>
          </a:p>
        </p:txBody>
      </p:sp>
      <p:sp>
        <p:nvSpPr>
          <p:cNvPr id="8" name="Shape 5"/>
          <p:cNvSpPr/>
          <p:nvPr/>
        </p:nvSpPr>
        <p:spPr>
          <a:xfrm>
            <a:off x="3931920" y="4572000"/>
            <a:ext cx="4325112" cy="868680"/>
          </a:xfrm>
          <a:prstGeom prst="roundRect">
            <a:avLst>
              <a:gd name="adj" fmla="val 10526"/>
            </a:avLst>
          </a:prstGeom>
          <a:solidFill>
            <a:srgbClr val="20242B"/>
          </a:solidFill>
          <a:ln w="12700">
            <a:solidFill>
              <a:srgbClr val="2E343D"/>
            </a:solidFill>
            <a:prstDash val="solid"/>
          </a:ln>
        </p:spPr>
      </p:sp>
      <p:pic>
        <p:nvPicPr>
          <p:cNvPr id="9" name="Image 0" descr="preencoded.png">    </p:cNvPr>
          <p:cNvPicPr>
            <a:picLocks noChangeAspect="1"/>
          </p:cNvPicPr>
          <p:nvPr/>
        </p:nvPicPr>
        <p:blipFill>
          <a:blip r:embed="rId1"/>
          <a:stretch>
            <a:fillRect/>
          </a:stretch>
        </p:blipFill>
        <p:spPr>
          <a:xfrm>
            <a:off x="4261104" y="4828032"/>
            <a:ext cx="310896" cy="310896"/>
          </a:xfrm>
          <a:prstGeom prst="rect">
            <a:avLst/>
          </a:prstGeom>
        </p:spPr>
      </p:pic>
      <p:sp>
        <p:nvSpPr>
          <p:cNvPr id="10" name="Text 6"/>
          <p:cNvSpPr/>
          <p:nvPr/>
        </p:nvSpPr>
        <p:spPr>
          <a:xfrm>
            <a:off x="4754880" y="4572000"/>
            <a:ext cx="329184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Next class: we add the CSS.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Fundamentals and Intro to HTML</dc:title>
  <dc:subject>PptxGenJS Presentation</dc:subject>
  <dc:creator>Class 01</dc:creator>
  <cp:lastModifiedBy>Class 01</cp:lastModifiedBy>
  <cp:revision>1</cp:revision>
  <dcterms:created xsi:type="dcterms:W3CDTF">2026-08-11T08:55:58Z</dcterms:created>
  <dcterms:modified xsi:type="dcterms:W3CDTF">2026-08-11T08:55:58Z</dcterms:modified>
</cp:coreProperties>
</file>