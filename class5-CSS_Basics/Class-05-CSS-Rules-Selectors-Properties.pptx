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3, CSS. This deck is almost entirely pictures, so talk over them rather than reading them. Every styling idea is shown as a real render, not described. Two breaks built in, at roughly 25 and 52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budget. Eighty minutes, seventy of teaching, two five minute breaks. The selectors block is the one that overruns, so watch the clock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seconds, then the specimen.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annotated specimen. Read the rule out loud in English first: select every h1, and for those, set colour to red and font size to 5em. Then point at each named part. Selector, braces, declaration, property, value. They will use these five words all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Around six minutes. The missing semicolon demo is worth engineering deliberately, because it is the error they will hit tonight and it looks like the wrong line is broken.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section, mostly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first: before you write any CSS, why does a button already look like a button? Take guesses. The answer is the user agent stylesheet, a default set of styles every browser ships. Nothing on a page is truly unstyled.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files, one result. Point at each and name the trade-off: external is reusable across pages, internal is one page, inline is one element. Say plainly that external is what real projects use and inline is what you reach for when debugging.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layer stack. Same element, three conflicting rules, and inline wins. Walk up the stack from the bottom. Then say the tie-break rule: same level of precedence means the later one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return time as a clock time. Stay in the room, the shy questions arrive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Longest section. Keep the pace on the puzzles.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ways to point at something. Use the analogies: element selector is "all students", class is a badge many students wear, id is a library book number that belongs to exactly one book. Draw the badges on screen and it lands without you defining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D. If hands go up for A, that is the useful mistake: the hash is for a unique id, the dot is for a shared class. Say the difference out loud, it is the single most confused pair in CSS.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containment tree. Draw the nesting literally: boxes inside boxes. A descendant is anything inside, at any depth. A direct child is only one level down. The space versus the greater than sign is the whole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puzzles, four answers. Run each as a ten second challenge before you reveal the selector. The dot with no space is the one they always get wrong: .m1.m2 means one element wearing both badges, .m1 .m2 means one inside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and after, driven by the mouse. A pseudo class styles an element in a particular state rather than a particular place. Hover is the one they will use tonight. Point out the colon is what makes it a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longest block, about ten minutes. The discipline that matters: one rule, save, look. If you paste five rules at once the causal link is lost and this becomes a lecture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break, on the section boundary. Tell them the final block is the visual payoff, so it is worth coming back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Energy up. This section is all rendered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clearest before and after in the whole class. Same two words, two different properties, two completely different results. Say it once: color paints the letters, background-color paints the space behind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tiling behaviour surprises everyone the first time. Show the default repeat, then no-repeat, then a sized one. Draw the tiles as literal repeated squares so the repetition is visible rather than described.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rendered gallery. Every sample here is actually set in the thing it names, so nobody has to imagine it. Explain the fallback stack by reading it as a sentence: try this, and if you cannot, try that, and finally use any serif you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done live if the wifi allows. The one that trips people: the link goes in the head, and the font-family name has to match exactly what Google gives you, quotes and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Font is how the letters look, text is how they sit. Use the measured diagram: nobody can see word-spacing or line-height until you draw the gap with an arrow. Point at the arrows, not at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aisles. The two errors you will see: a stylesheet linked with the wrong path, and an id reused on several elements. Both are fast to spot from over a shoulder.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 recap against the four sections. Ask each row for one selector before you open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If it goes quiet, put a broken selector on screen and ask what is wrong with it, that always restarts a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7FA"/>
        </a:solidFill>
      </p:bgPr>
    </p:bg>
    <p:spTree>
      <p:nvGrpSpPr>
        <p:cNvPr id="1" name=""/>
        <p:cNvGrpSpPr/>
        <p:nvPr/>
      </p:nvGrpSpPr>
      <p:grpSpPr>
        <a:xfrm>
          <a:off x="0" y="0"/>
          <a:ext cx="0" cy="0"/>
          <a:chOff x="0" y="0"/>
          <a:chExt cx="0" cy="0"/>
        </a:xfrm>
      </p:grpSpPr>
      <p:sp>
        <p:nvSpPr>
          <p:cNvPr id="3" name="Shape 0"/>
          <p:cNvSpPr/>
          <p:nvPr/>
        </p:nvSpPr>
        <p:spPr>
          <a:xfrm>
            <a:off x="914400" y="1051560"/>
            <a:ext cx="2432304" cy="1371600"/>
          </a:xfrm>
          <a:prstGeom prst="roundRect">
            <a:avLst>
              <a:gd name="adj" fmla="val 6667"/>
            </a:avLst>
          </a:prstGeom>
          <a:solidFill>
            <a:srgbClr val="FFFFFF"/>
          </a:solidFill>
          <a:ln w="15875">
            <a:solidFill>
              <a:srgbClr val="D9DEE7"/>
            </a:solidFill>
            <a:prstDash val="solid"/>
          </a:ln>
        </p:spPr>
      </p:sp>
      <p:sp>
        <p:nvSpPr>
          <p:cNvPr id="4" name="Text 1"/>
          <p:cNvSpPr/>
          <p:nvPr/>
        </p:nvSpPr>
        <p:spPr>
          <a:xfrm>
            <a:off x="1060704" y="1051560"/>
            <a:ext cx="2139696" cy="1371600"/>
          </a:xfrm>
          <a:prstGeom prst="rect">
            <a:avLst/>
          </a:prstGeom>
          <a:noFill/>
          <a:ln/>
        </p:spPr>
        <p:txBody>
          <a:bodyPr wrap="square" lIns="0" tIns="0" rIns="0" bIns="0" rtlCol="0" anchor="ctr"/>
          <a:lstStyle/>
          <a:p>
            <a:pPr algn="ctr" indent="0" marL="0">
              <a:buNone/>
            </a:pPr>
            <a:r>
              <a:rPr lang="en-US" sz="2000" dirty="0">
                <a:solidFill>
                  <a:srgbClr val="15202B"/>
                </a:solidFill>
                <a:latin typeface="Calibri" pitchFamily="34" charset="0"/>
                <a:ea typeface="Calibri" pitchFamily="34" charset="-122"/>
                <a:cs typeface="Calibri" pitchFamily="34" charset="-120"/>
              </a:rPr>
              <a:t>Welcome to Scaler</a:t>
            </a:r>
            <a:endParaRPr lang="en-US" sz="2000" dirty="0"/>
          </a:p>
        </p:txBody>
      </p:sp>
      <p:sp>
        <p:nvSpPr>
          <p:cNvPr id="5" name="Text 2"/>
          <p:cNvSpPr/>
          <p:nvPr/>
        </p:nvSpPr>
        <p:spPr>
          <a:xfrm>
            <a:off x="914400" y="2478024"/>
            <a:ext cx="2432304" cy="237744"/>
          </a:xfrm>
          <a:prstGeom prst="rect">
            <a:avLst/>
          </a:prstGeom>
          <a:noFill/>
          <a:ln/>
        </p:spPr>
        <p:txBody>
          <a:bodyPr wrap="square" lIns="0" tIns="0" rIns="0" bIns="0" rtlCol="0" anchor="ctr"/>
          <a:lstStyle/>
          <a:p>
            <a:pPr algn="ctr" indent="0" marL="0">
              <a:buNone/>
            </a:pPr>
            <a:r>
              <a:rPr lang="en-US" sz="950" dirty="0">
                <a:solidFill>
                  <a:srgbClr val="939DAB"/>
                </a:solidFill>
                <a:latin typeface="Courier New" pitchFamily="34" charset="0"/>
                <a:ea typeface="Courier New" pitchFamily="34" charset="-122"/>
                <a:cs typeface="Courier New" pitchFamily="34" charset="-120"/>
              </a:rPr>
              <a:t>no CSS</a:t>
            </a:r>
            <a:endParaRPr lang="en-US" sz="950" dirty="0"/>
          </a:p>
        </p:txBody>
      </p:sp>
      <p:sp>
        <p:nvSpPr>
          <p:cNvPr id="6" name="Shape 3"/>
          <p:cNvSpPr/>
          <p:nvPr/>
        </p:nvSpPr>
        <p:spPr>
          <a:xfrm>
            <a:off x="3566160" y="1051560"/>
            <a:ext cx="2432304" cy="1371600"/>
          </a:xfrm>
          <a:prstGeom prst="roundRect">
            <a:avLst>
              <a:gd name="adj" fmla="val 6667"/>
            </a:avLst>
          </a:prstGeom>
          <a:solidFill>
            <a:srgbClr val="FFFFFF"/>
          </a:solidFill>
          <a:ln w="15875">
            <a:solidFill>
              <a:srgbClr val="D9DEE7"/>
            </a:solidFill>
            <a:prstDash val="solid"/>
          </a:ln>
        </p:spPr>
      </p:sp>
      <p:sp>
        <p:nvSpPr>
          <p:cNvPr id="7" name="Text 4"/>
          <p:cNvSpPr/>
          <p:nvPr/>
        </p:nvSpPr>
        <p:spPr>
          <a:xfrm>
            <a:off x="3712464" y="1051560"/>
            <a:ext cx="2139696" cy="1371600"/>
          </a:xfrm>
          <a:prstGeom prst="rect">
            <a:avLst/>
          </a:prstGeom>
          <a:noFill/>
          <a:ln/>
        </p:spPr>
        <p:txBody>
          <a:bodyPr wrap="square" lIns="0" tIns="0" rIns="0" bIns="0" rtlCol="0" anchor="ctr"/>
          <a:lstStyle/>
          <a:p>
            <a:pPr algn="ctr" indent="0" marL="0">
              <a:buNone/>
            </a:pPr>
            <a:r>
              <a:rPr lang="en-US" sz="2600" dirty="0">
                <a:solidFill>
                  <a:srgbClr val="D6336C"/>
                </a:solidFill>
                <a:latin typeface="Calibri" pitchFamily="34" charset="0"/>
                <a:ea typeface="Calibri" pitchFamily="34" charset="-122"/>
                <a:cs typeface="Calibri" pitchFamily="34" charset="-120"/>
              </a:rPr>
              <a:t>Welcome to Scaler</a:t>
            </a:r>
            <a:endParaRPr lang="en-US" sz="2600" dirty="0"/>
          </a:p>
        </p:txBody>
      </p:sp>
      <p:sp>
        <p:nvSpPr>
          <p:cNvPr id="8" name="Text 5"/>
          <p:cNvSpPr/>
          <p:nvPr/>
        </p:nvSpPr>
        <p:spPr>
          <a:xfrm>
            <a:off x="3566160" y="2478024"/>
            <a:ext cx="2432304" cy="237744"/>
          </a:xfrm>
          <a:prstGeom prst="rect">
            <a:avLst/>
          </a:prstGeom>
          <a:noFill/>
          <a:ln/>
        </p:spPr>
        <p:txBody>
          <a:bodyPr wrap="square" lIns="0" tIns="0" rIns="0" bIns="0" rtlCol="0" anchor="ctr"/>
          <a:lstStyle/>
          <a:p>
            <a:pPr algn="ctr" indent="0" marL="0">
              <a:buNone/>
            </a:pPr>
            <a:r>
              <a:rPr lang="en-US" sz="950" dirty="0">
                <a:solidFill>
                  <a:srgbClr val="939DAB"/>
                </a:solidFill>
                <a:latin typeface="Courier New" pitchFamily="34" charset="0"/>
                <a:ea typeface="Courier New" pitchFamily="34" charset="-122"/>
                <a:cs typeface="Courier New" pitchFamily="34" charset="-120"/>
              </a:rPr>
              <a:t>color</a:t>
            </a:r>
            <a:endParaRPr lang="en-US" sz="950" dirty="0"/>
          </a:p>
        </p:txBody>
      </p:sp>
      <p:sp>
        <p:nvSpPr>
          <p:cNvPr id="9" name="Shape 6"/>
          <p:cNvSpPr/>
          <p:nvPr/>
        </p:nvSpPr>
        <p:spPr>
          <a:xfrm>
            <a:off x="6217920" y="1051560"/>
            <a:ext cx="2432304" cy="1371600"/>
          </a:xfrm>
          <a:prstGeom prst="roundRect">
            <a:avLst>
              <a:gd name="adj" fmla="val 6667"/>
            </a:avLst>
          </a:prstGeom>
          <a:solidFill>
            <a:srgbClr val="FFFFFF"/>
          </a:solidFill>
          <a:ln w="15875">
            <a:solidFill>
              <a:srgbClr val="D9DEE7"/>
            </a:solidFill>
            <a:prstDash val="solid"/>
          </a:ln>
        </p:spPr>
      </p:sp>
      <p:sp>
        <p:nvSpPr>
          <p:cNvPr id="10" name="Text 7"/>
          <p:cNvSpPr/>
          <p:nvPr/>
        </p:nvSpPr>
        <p:spPr>
          <a:xfrm>
            <a:off x="6364224" y="1051560"/>
            <a:ext cx="2139696" cy="1371600"/>
          </a:xfrm>
          <a:prstGeom prst="rect">
            <a:avLst/>
          </a:prstGeom>
          <a:noFill/>
          <a:ln/>
        </p:spPr>
        <p:txBody>
          <a:bodyPr wrap="square" lIns="0" tIns="0" rIns="0" bIns="0" rtlCol="0" anchor="ctr"/>
          <a:lstStyle/>
          <a:p>
            <a:pPr algn="ctr" indent="0" marL="0">
              <a:buNone/>
            </a:pPr>
            <a:r>
              <a:rPr lang="en-US" sz="2600" b="1" dirty="0">
                <a:solidFill>
                  <a:srgbClr val="2C6BED"/>
                </a:solidFill>
                <a:latin typeface="Calibri" pitchFamily="34" charset="0"/>
                <a:ea typeface="Calibri" pitchFamily="34" charset="-122"/>
                <a:cs typeface="Calibri" pitchFamily="34" charset="-120"/>
              </a:rPr>
              <a:t>Welcome to Scaler</a:t>
            </a:r>
            <a:endParaRPr lang="en-US" sz="2600" dirty="0"/>
          </a:p>
        </p:txBody>
      </p:sp>
      <p:sp>
        <p:nvSpPr>
          <p:cNvPr id="11" name="Text 8"/>
          <p:cNvSpPr/>
          <p:nvPr/>
        </p:nvSpPr>
        <p:spPr>
          <a:xfrm>
            <a:off x="6217920" y="2478024"/>
            <a:ext cx="2432304" cy="237744"/>
          </a:xfrm>
          <a:prstGeom prst="rect">
            <a:avLst/>
          </a:prstGeom>
          <a:noFill/>
          <a:ln/>
        </p:spPr>
        <p:txBody>
          <a:bodyPr wrap="square" lIns="0" tIns="0" rIns="0" bIns="0" rtlCol="0" anchor="ctr"/>
          <a:lstStyle/>
          <a:p>
            <a:pPr algn="ctr" indent="0" marL="0">
              <a:buNone/>
            </a:pPr>
            <a:r>
              <a:rPr lang="en-US" sz="950" dirty="0">
                <a:solidFill>
                  <a:srgbClr val="939DAB"/>
                </a:solidFill>
                <a:latin typeface="Courier New" pitchFamily="34" charset="0"/>
                <a:ea typeface="Courier New" pitchFamily="34" charset="-122"/>
                <a:cs typeface="Courier New" pitchFamily="34" charset="-120"/>
              </a:rPr>
              <a:t>font-weight</a:t>
            </a:r>
            <a:endParaRPr lang="en-US" sz="950" dirty="0"/>
          </a:p>
        </p:txBody>
      </p:sp>
      <p:sp>
        <p:nvSpPr>
          <p:cNvPr id="12" name="Shape 9"/>
          <p:cNvSpPr/>
          <p:nvPr/>
        </p:nvSpPr>
        <p:spPr>
          <a:xfrm>
            <a:off x="8869680" y="1051560"/>
            <a:ext cx="2432304" cy="1371600"/>
          </a:xfrm>
          <a:prstGeom prst="roundRect">
            <a:avLst>
              <a:gd name="adj" fmla="val 6667"/>
            </a:avLst>
          </a:prstGeom>
          <a:solidFill>
            <a:srgbClr val="FFFFFF"/>
          </a:solidFill>
          <a:ln w="15875">
            <a:solidFill>
              <a:srgbClr val="D9DEE7"/>
            </a:solidFill>
            <a:prstDash val="solid"/>
          </a:ln>
        </p:spPr>
      </p:sp>
      <p:sp>
        <p:nvSpPr>
          <p:cNvPr id="13" name="Text 10"/>
          <p:cNvSpPr/>
          <p:nvPr/>
        </p:nvSpPr>
        <p:spPr>
          <a:xfrm>
            <a:off x="9015984" y="1051560"/>
            <a:ext cx="2139696" cy="1371600"/>
          </a:xfrm>
          <a:prstGeom prst="rect">
            <a:avLst/>
          </a:prstGeom>
          <a:noFill/>
          <a:ln/>
        </p:spPr>
        <p:txBody>
          <a:bodyPr wrap="square" lIns="0" tIns="0" rIns="0" bIns="0" rtlCol="0" anchor="ctr"/>
          <a:lstStyle/>
          <a:p>
            <a:pPr algn="ctr" indent="0" marL="0">
              <a:buNone/>
            </a:pPr>
            <a:r>
              <a:rPr lang="en-US" sz="2600" b="1" u="sng" dirty="0">
                <a:solidFill>
                  <a:srgbClr val="1F8A54"/>
                </a:solidFill>
                <a:latin typeface="Calibri" pitchFamily="34" charset="0"/>
                <a:ea typeface="Calibri" pitchFamily="34" charset="-122"/>
                <a:cs typeface="Calibri" pitchFamily="34" charset="-120"/>
              </a:rPr>
              <a:t>Welcome to Scaler</a:t>
            </a:r>
            <a:endParaRPr lang="en-US" sz="2600" dirty="0"/>
          </a:p>
        </p:txBody>
      </p:sp>
      <p:sp>
        <p:nvSpPr>
          <p:cNvPr id="14" name="Text 11"/>
          <p:cNvSpPr/>
          <p:nvPr/>
        </p:nvSpPr>
        <p:spPr>
          <a:xfrm>
            <a:off x="8869680" y="2478024"/>
            <a:ext cx="2432304" cy="237744"/>
          </a:xfrm>
          <a:prstGeom prst="rect">
            <a:avLst/>
          </a:prstGeom>
          <a:noFill/>
          <a:ln/>
        </p:spPr>
        <p:txBody>
          <a:bodyPr wrap="square" lIns="0" tIns="0" rIns="0" bIns="0" rtlCol="0" anchor="ctr"/>
          <a:lstStyle/>
          <a:p>
            <a:pPr algn="ctr" indent="0" marL="0">
              <a:buNone/>
            </a:pPr>
            <a:r>
              <a:rPr lang="en-US" sz="950" dirty="0">
                <a:solidFill>
                  <a:srgbClr val="939DAB"/>
                </a:solidFill>
                <a:latin typeface="Courier New" pitchFamily="34" charset="0"/>
                <a:ea typeface="Courier New" pitchFamily="34" charset="-122"/>
                <a:cs typeface="Courier New" pitchFamily="34" charset="-120"/>
              </a:rPr>
              <a:t>text-decoration</a:t>
            </a:r>
            <a:endParaRPr lang="en-US" sz="950" dirty="0"/>
          </a:p>
        </p:txBody>
      </p:sp>
      <p:sp>
        <p:nvSpPr>
          <p:cNvPr id="15" name="Shape 12"/>
          <p:cNvSpPr/>
          <p:nvPr/>
        </p:nvSpPr>
        <p:spPr>
          <a:xfrm>
            <a:off x="4722876" y="3017520"/>
            <a:ext cx="2743200" cy="402336"/>
          </a:xfrm>
          <a:prstGeom prst="roundRect">
            <a:avLst>
              <a:gd name="adj" fmla="val 20455"/>
            </a:avLst>
          </a:prstGeom>
          <a:solidFill>
            <a:srgbClr val="2C6BED"/>
          </a:solidFill>
          <a:ln w="12700">
            <a:solidFill>
              <a:srgbClr val="2C6BED"/>
            </a:solidFill>
            <a:prstDash val="solid"/>
          </a:ln>
        </p:spPr>
      </p:sp>
      <p:sp>
        <p:nvSpPr>
          <p:cNvPr id="16" name="Text 13"/>
          <p:cNvSpPr/>
          <p:nvPr/>
        </p:nvSpPr>
        <p:spPr>
          <a:xfrm>
            <a:off x="4722876" y="3017520"/>
            <a:ext cx="2743200" cy="402336"/>
          </a:xfrm>
          <a:prstGeom prst="rect">
            <a:avLst/>
          </a:prstGeom>
          <a:noFill/>
          <a:ln/>
        </p:spPr>
        <p:txBody>
          <a:bodyPr wrap="square" lIns="0" tIns="0" rIns="0" bIns="0" rtlCol="0" anchor="ctr"/>
          <a:lstStyle/>
          <a:p>
            <a:pPr algn="ctr" indent="0" marL="0">
              <a:buNone/>
            </a:pPr>
            <a:r>
              <a:rPr lang="en-US" sz="1200" b="1" spc="80" kern="0" dirty="0">
                <a:solidFill>
                  <a:srgbClr val="FFFFFF"/>
                </a:solidFill>
                <a:latin typeface="Calibri" pitchFamily="34" charset="0"/>
                <a:ea typeface="Calibri" pitchFamily="34" charset="-122"/>
                <a:cs typeface="Calibri" pitchFamily="34" charset="-120"/>
              </a:rPr>
              <a:t>CLASS 03  ·  CSS</a:t>
            </a:r>
            <a:endParaRPr lang="en-US" sz="1200" dirty="0"/>
          </a:p>
        </p:txBody>
      </p:sp>
      <p:sp>
        <p:nvSpPr>
          <p:cNvPr id="17" name="Text 14"/>
          <p:cNvSpPr/>
          <p:nvPr/>
        </p:nvSpPr>
        <p:spPr>
          <a:xfrm>
            <a:off x="1463040" y="3611880"/>
            <a:ext cx="9262872" cy="1371600"/>
          </a:xfrm>
          <a:prstGeom prst="rect">
            <a:avLst/>
          </a:prstGeom>
          <a:noFill/>
          <a:ln/>
        </p:spPr>
        <p:txBody>
          <a:bodyPr wrap="square" lIns="0" tIns="0" rIns="0" bIns="0" rtlCol="0" anchor="ctr"/>
          <a:lstStyle/>
          <a:p>
            <a:pPr algn="ctr" indent="0" marL="0">
              <a:lnSpc>
                <a:spcPts val="4200"/>
              </a:lnSpc>
              <a:buNone/>
            </a:pPr>
            <a:r>
              <a:rPr lang="en-US" sz="3400" b="1" dirty="0">
                <a:solidFill>
                  <a:srgbClr val="15202B"/>
                </a:solidFill>
                <a:latin typeface="Calibri" pitchFamily="34" charset="0"/>
                <a:ea typeface="Calibri" pitchFamily="34" charset="-122"/>
                <a:cs typeface="Calibri" pitchFamily="34" charset="-120"/>
              </a:rPr>
              <a:t>One heading. Four rules.</a:t>
            </a:r>
            <a:endParaRPr lang="en-US" sz="3400" dirty="0"/>
          </a:p>
          <a:p>
            <a:pPr algn="ctr" indent="0" marL="0">
              <a:lnSpc>
                <a:spcPts val="4200"/>
              </a:lnSpc>
              <a:buNone/>
            </a:pPr>
            <a:r>
              <a:rPr lang="en-US" sz="3400" b="1" dirty="0">
                <a:solidFill>
                  <a:srgbClr val="15202B"/>
                </a:solidFill>
                <a:latin typeface="Calibri" pitchFamily="34" charset="0"/>
                <a:ea typeface="Calibri" pitchFamily="34" charset="-122"/>
                <a:cs typeface="Calibri" pitchFamily="34" charset="-120"/>
              </a:rPr>
              <a:t>Everything you see today is one of these.</a:t>
            </a:r>
            <a:endParaRPr lang="en-US" sz="3400" dirty="0"/>
          </a:p>
        </p:txBody>
      </p:sp>
      <p:sp>
        <p:nvSpPr>
          <p:cNvPr id="18" name="Shape 15"/>
          <p:cNvSpPr/>
          <p:nvPr/>
        </p:nvSpPr>
        <p:spPr>
          <a:xfrm>
            <a:off x="5545836" y="5029200"/>
            <a:ext cx="1097280" cy="41148"/>
          </a:xfrm>
          <a:prstGeom prst="rect">
            <a:avLst/>
          </a:prstGeom>
          <a:solidFill>
            <a:srgbClr val="2C6BED"/>
          </a:solidFill>
          <a:ln w="12700">
            <a:solidFill>
              <a:srgbClr val="2C6BED"/>
            </a:solidFill>
            <a:prstDash val="solid"/>
          </a:ln>
        </p:spPr>
      </p:sp>
      <p:sp>
        <p:nvSpPr>
          <p:cNvPr id="19" name="Shape 16"/>
          <p:cNvSpPr/>
          <p:nvPr/>
        </p:nvSpPr>
        <p:spPr>
          <a:xfrm>
            <a:off x="1010412" y="5349240"/>
            <a:ext cx="2377440" cy="457200"/>
          </a:xfrm>
          <a:prstGeom prst="roundRect">
            <a:avLst>
              <a:gd name="adj" fmla="val 18000"/>
            </a:avLst>
          </a:prstGeom>
          <a:solidFill>
            <a:srgbClr val="FFFFFF"/>
          </a:solidFill>
          <a:ln w="12700">
            <a:solidFill>
              <a:srgbClr val="D9DEE7"/>
            </a:solidFill>
            <a:prstDash val="solid"/>
          </a:ln>
        </p:spPr>
      </p:sp>
      <p:sp>
        <p:nvSpPr>
          <p:cNvPr id="20" name="Text 17"/>
          <p:cNvSpPr/>
          <p:nvPr/>
        </p:nvSpPr>
        <p:spPr>
          <a:xfrm>
            <a:off x="1010412" y="5349240"/>
            <a:ext cx="2377440" cy="457200"/>
          </a:xfrm>
          <a:prstGeom prst="rect">
            <a:avLst/>
          </a:prstGeom>
          <a:noFill/>
          <a:ln/>
        </p:spPr>
        <p:txBody>
          <a:bodyPr wrap="square" lIns="0" tIns="0" rIns="0" bIns="0" rtlCol="0" anchor="ctr"/>
          <a:lstStyle/>
          <a:p>
            <a:pPr algn="ctr" indent="0" marL="0">
              <a:buNone/>
            </a:pPr>
            <a:r>
              <a:rPr lang="en-US" sz="1150" b="1" spc="80" kern="0" dirty="0">
                <a:solidFill>
                  <a:srgbClr val="55616F"/>
                </a:solidFill>
                <a:latin typeface="Calibri" pitchFamily="34" charset="0"/>
                <a:ea typeface="Calibri" pitchFamily="34" charset="-122"/>
                <a:cs typeface="Calibri" pitchFamily="34" charset="-120"/>
              </a:rPr>
              <a:t>Rules</a:t>
            </a:r>
            <a:endParaRPr lang="en-US" sz="1150" dirty="0"/>
          </a:p>
        </p:txBody>
      </p:sp>
      <p:sp>
        <p:nvSpPr>
          <p:cNvPr id="21" name="Shape 18"/>
          <p:cNvSpPr/>
          <p:nvPr/>
        </p:nvSpPr>
        <p:spPr>
          <a:xfrm>
            <a:off x="3607308" y="5349240"/>
            <a:ext cx="2377440" cy="457200"/>
          </a:xfrm>
          <a:prstGeom prst="roundRect">
            <a:avLst>
              <a:gd name="adj" fmla="val 18000"/>
            </a:avLst>
          </a:prstGeom>
          <a:solidFill>
            <a:srgbClr val="FFFFFF"/>
          </a:solidFill>
          <a:ln w="12700">
            <a:solidFill>
              <a:srgbClr val="D9DEE7"/>
            </a:solidFill>
            <a:prstDash val="solid"/>
          </a:ln>
        </p:spPr>
      </p:sp>
      <p:sp>
        <p:nvSpPr>
          <p:cNvPr id="22" name="Text 19"/>
          <p:cNvSpPr/>
          <p:nvPr/>
        </p:nvSpPr>
        <p:spPr>
          <a:xfrm>
            <a:off x="3607308" y="5349240"/>
            <a:ext cx="2377440" cy="457200"/>
          </a:xfrm>
          <a:prstGeom prst="rect">
            <a:avLst/>
          </a:prstGeom>
          <a:noFill/>
          <a:ln/>
        </p:spPr>
        <p:txBody>
          <a:bodyPr wrap="square" lIns="0" tIns="0" rIns="0" bIns="0" rtlCol="0" anchor="ctr"/>
          <a:lstStyle/>
          <a:p>
            <a:pPr algn="ctr" indent="0" marL="0">
              <a:buNone/>
            </a:pPr>
            <a:r>
              <a:rPr lang="en-US" sz="1150" b="1" spc="80" kern="0" dirty="0">
                <a:solidFill>
                  <a:srgbClr val="55616F"/>
                </a:solidFill>
                <a:latin typeface="Calibri" pitchFamily="34" charset="0"/>
                <a:ea typeface="Calibri" pitchFamily="34" charset="-122"/>
                <a:cs typeface="Calibri" pitchFamily="34" charset="-120"/>
              </a:rPr>
              <a:t>Three ways to add it</a:t>
            </a:r>
            <a:endParaRPr lang="en-US" sz="1150" dirty="0"/>
          </a:p>
        </p:txBody>
      </p:sp>
      <p:sp>
        <p:nvSpPr>
          <p:cNvPr id="23" name="Shape 20"/>
          <p:cNvSpPr/>
          <p:nvPr/>
        </p:nvSpPr>
        <p:spPr>
          <a:xfrm>
            <a:off x="6204204" y="5349240"/>
            <a:ext cx="2377440" cy="457200"/>
          </a:xfrm>
          <a:prstGeom prst="roundRect">
            <a:avLst>
              <a:gd name="adj" fmla="val 18000"/>
            </a:avLst>
          </a:prstGeom>
          <a:solidFill>
            <a:srgbClr val="FFFFFF"/>
          </a:solidFill>
          <a:ln w="12700">
            <a:solidFill>
              <a:srgbClr val="D9DEE7"/>
            </a:solidFill>
            <a:prstDash val="solid"/>
          </a:ln>
        </p:spPr>
      </p:sp>
      <p:sp>
        <p:nvSpPr>
          <p:cNvPr id="24" name="Text 21"/>
          <p:cNvSpPr/>
          <p:nvPr/>
        </p:nvSpPr>
        <p:spPr>
          <a:xfrm>
            <a:off x="6204204" y="5349240"/>
            <a:ext cx="2377440" cy="457200"/>
          </a:xfrm>
          <a:prstGeom prst="rect">
            <a:avLst/>
          </a:prstGeom>
          <a:noFill/>
          <a:ln/>
        </p:spPr>
        <p:txBody>
          <a:bodyPr wrap="square" lIns="0" tIns="0" rIns="0" bIns="0" rtlCol="0" anchor="ctr"/>
          <a:lstStyle/>
          <a:p>
            <a:pPr algn="ctr" indent="0" marL="0">
              <a:buNone/>
            </a:pPr>
            <a:r>
              <a:rPr lang="en-US" sz="1150" b="1" spc="80" kern="0" dirty="0">
                <a:solidFill>
                  <a:srgbClr val="55616F"/>
                </a:solidFill>
                <a:latin typeface="Calibri" pitchFamily="34" charset="0"/>
                <a:ea typeface="Calibri" pitchFamily="34" charset="-122"/>
                <a:cs typeface="Calibri" pitchFamily="34" charset="-120"/>
              </a:rPr>
              <a:t>Selectors</a:t>
            </a:r>
            <a:endParaRPr lang="en-US" sz="1150" dirty="0"/>
          </a:p>
        </p:txBody>
      </p:sp>
      <p:sp>
        <p:nvSpPr>
          <p:cNvPr id="25" name="Shape 22"/>
          <p:cNvSpPr/>
          <p:nvPr/>
        </p:nvSpPr>
        <p:spPr>
          <a:xfrm>
            <a:off x="8801100" y="5349240"/>
            <a:ext cx="2377440" cy="457200"/>
          </a:xfrm>
          <a:prstGeom prst="roundRect">
            <a:avLst>
              <a:gd name="adj" fmla="val 18000"/>
            </a:avLst>
          </a:prstGeom>
          <a:solidFill>
            <a:srgbClr val="FFFFFF"/>
          </a:solidFill>
          <a:ln w="12700">
            <a:solidFill>
              <a:srgbClr val="D9DEE7"/>
            </a:solidFill>
            <a:prstDash val="solid"/>
          </a:ln>
        </p:spPr>
      </p:sp>
      <p:sp>
        <p:nvSpPr>
          <p:cNvPr id="26" name="Text 23"/>
          <p:cNvSpPr/>
          <p:nvPr/>
        </p:nvSpPr>
        <p:spPr>
          <a:xfrm>
            <a:off x="8801100" y="5349240"/>
            <a:ext cx="2377440" cy="457200"/>
          </a:xfrm>
          <a:prstGeom prst="rect">
            <a:avLst/>
          </a:prstGeom>
          <a:noFill/>
          <a:ln/>
        </p:spPr>
        <p:txBody>
          <a:bodyPr wrap="square" lIns="0" tIns="0" rIns="0" bIns="0" rtlCol="0" anchor="ctr"/>
          <a:lstStyle/>
          <a:p>
            <a:pPr algn="ctr" indent="0" marL="0">
              <a:buNone/>
            </a:pPr>
            <a:r>
              <a:rPr lang="en-US" sz="1150" b="1" spc="80" kern="0" dirty="0">
                <a:solidFill>
                  <a:srgbClr val="55616F"/>
                </a:solidFill>
                <a:latin typeface="Calibri" pitchFamily="34" charset="0"/>
                <a:ea typeface="Calibri" pitchFamily="34" charset="-122"/>
                <a:cs typeface="Calibri" pitchFamily="34" charset="-120"/>
              </a:rPr>
              <a:t>Colour, fonts, text</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3" name="Text 0"/>
          <p:cNvSpPr/>
          <p:nvPr/>
        </p:nvSpPr>
        <p:spPr>
          <a:xfrm>
            <a:off x="640080" y="6364224"/>
            <a:ext cx="3657600" cy="256032"/>
          </a:xfrm>
          <a:prstGeom prst="rect">
            <a:avLst/>
          </a:prstGeom>
          <a:noFill/>
          <a:ln/>
        </p:spPr>
        <p:txBody>
          <a:bodyPr wrap="square" lIns="0" tIns="0" rIns="0" bIns="0" rtlCol="0" anchor="ctr"/>
          <a:lstStyle/>
          <a:p>
            <a:pPr indent="0" marL="0">
              <a:buNone/>
            </a:pPr>
            <a:r>
              <a:rPr lang="en-US" sz="900" dirty="0">
                <a:solidFill>
                  <a:srgbClr val="939DAB"/>
                </a:solidFill>
                <a:latin typeface="Courier New" pitchFamily="34" charset="0"/>
                <a:ea typeface="Courier New" pitchFamily="34" charset="-122"/>
                <a:cs typeface="Courier New" pitchFamily="34" charset="-120"/>
              </a:rPr>
              <a:t>CLASS 03  ·  CSS</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939DAB"/>
                </a:solidFill>
                <a:latin typeface="Courier New" pitchFamily="34" charset="0"/>
                <a:ea typeface="Courier New" pitchFamily="34" charset="-122"/>
                <a:cs typeface="Courier New" pitchFamily="34" charset="-120"/>
              </a:rPr>
              <a:t>01</a:t>
            </a:r>
            <a:endParaRPr lang="en-US" sz="900" dirty="0"/>
          </a:p>
        </p:txBody>
      </p:sp>
      <p:sp>
        <p:nvSpPr>
          <p:cNvPr id="5" name="Shape 2"/>
          <p:cNvSpPr/>
          <p:nvPr/>
        </p:nvSpPr>
        <p:spPr>
          <a:xfrm>
            <a:off x="640080" y="365760"/>
            <a:ext cx="1773936" cy="347472"/>
          </a:xfrm>
          <a:prstGeom prst="roundRect">
            <a:avLst>
              <a:gd name="adj" fmla="val 21053"/>
            </a:avLst>
          </a:prstGeom>
          <a:solidFill>
            <a:srgbClr val="2C6BED"/>
          </a:solidFill>
          <a:ln w="15875">
            <a:solidFill>
              <a:srgbClr val="15202B"/>
            </a:solidFill>
            <a:prstDash val="solid"/>
          </a:ln>
        </p:spPr>
      </p:sp>
      <p:sp>
        <p:nvSpPr>
          <p:cNvPr id="6" name="Text 3"/>
          <p:cNvSpPr/>
          <p:nvPr/>
        </p:nvSpPr>
        <p:spPr>
          <a:xfrm>
            <a:off x="640080" y="365760"/>
            <a:ext cx="1773936" cy="347472"/>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RUN SHEET</a:t>
            </a:r>
            <a:endParaRPr lang="en-US" sz="1050" dirty="0"/>
          </a:p>
        </p:txBody>
      </p:sp>
      <p:sp>
        <p:nvSpPr>
          <p:cNvPr id="7" name="Text 4"/>
          <p:cNvSpPr/>
          <p:nvPr/>
        </p:nvSpPr>
        <p:spPr>
          <a:xfrm>
            <a:off x="640080" y="786384"/>
            <a:ext cx="10881360" cy="603504"/>
          </a:xfrm>
          <a:prstGeom prst="rect">
            <a:avLst/>
          </a:prstGeom>
          <a:noFill/>
          <a:ln/>
        </p:spPr>
        <p:txBody>
          <a:bodyPr wrap="square" lIns="0" tIns="0" rIns="0" bIns="0" rtlCol="0" anchor="ctr"/>
          <a:lstStyle/>
          <a:p>
            <a:pPr indent="0" marL="0">
              <a:buNone/>
            </a:pPr>
            <a:r>
              <a:rPr lang="en-US" sz="3200" b="1" dirty="0">
                <a:solidFill>
                  <a:srgbClr val="15202B"/>
                </a:solidFill>
                <a:latin typeface="Calibri" pitchFamily="34" charset="0"/>
                <a:ea typeface="Calibri" pitchFamily="34" charset="-122"/>
                <a:cs typeface="Calibri" pitchFamily="34" charset="-120"/>
              </a:rPr>
              <a:t>Eighty minutes</a:t>
            </a:r>
            <a:endParaRPr lang="en-US" sz="3200" dirty="0"/>
          </a:p>
        </p:txBody>
      </p:sp>
      <p:sp>
        <p:nvSpPr>
          <p:cNvPr id="8" name="Shape 5"/>
          <p:cNvSpPr/>
          <p:nvPr/>
        </p:nvSpPr>
        <p:spPr>
          <a:xfrm>
            <a:off x="640080" y="1627632"/>
            <a:ext cx="10881360" cy="475488"/>
          </a:xfrm>
          <a:prstGeom prst="roundRect">
            <a:avLst>
              <a:gd name="adj" fmla="val 15385"/>
            </a:avLst>
          </a:prstGeom>
          <a:solidFill>
            <a:srgbClr val="FFFFFF"/>
          </a:solidFill>
          <a:ln w="12700">
            <a:solidFill>
              <a:srgbClr val="D9DEE7"/>
            </a:solidFill>
            <a:prstDash val="solid"/>
          </a:ln>
          <a:effectLst>
            <a:outerShdw sx="100000" sy="100000" kx="0" ky="0" algn="bl" rotWithShape="0" blurRad="177800" dist="38100" dir="5400000">
              <a:srgbClr val="000000">
                <a:alpha val="35000"/>
              </a:srgbClr>
            </a:outerShdw>
          </a:effectLst>
        </p:spPr>
      </p:sp>
      <p:sp>
        <p:nvSpPr>
          <p:cNvPr id="9" name="Text 6"/>
          <p:cNvSpPr/>
          <p:nvPr/>
        </p:nvSpPr>
        <p:spPr>
          <a:xfrm>
            <a:off x="877824" y="1627632"/>
            <a:ext cx="1005840" cy="475488"/>
          </a:xfrm>
          <a:prstGeom prst="rect">
            <a:avLst/>
          </a:prstGeom>
          <a:noFill/>
          <a:ln/>
        </p:spPr>
        <p:txBody>
          <a:bodyPr wrap="square" lIns="0" tIns="0" rIns="0" bIns="0" rtlCol="0" anchor="ctr"/>
          <a:lstStyle/>
          <a:p>
            <a:pPr indent="0" marL="0">
              <a:buNone/>
            </a:pPr>
            <a:r>
              <a:rPr lang="en-US" sz="1100" b="1" dirty="0">
                <a:solidFill>
                  <a:srgbClr val="939DAB"/>
                </a:solidFill>
                <a:latin typeface="Courier New" pitchFamily="34" charset="0"/>
                <a:ea typeface="Courier New" pitchFamily="34" charset="-122"/>
                <a:cs typeface="Courier New" pitchFamily="34" charset="-120"/>
              </a:rPr>
              <a:t>03 min</a:t>
            </a:r>
            <a:endParaRPr lang="en-US" sz="1100" dirty="0"/>
          </a:p>
        </p:txBody>
      </p:sp>
      <p:sp>
        <p:nvSpPr>
          <p:cNvPr id="10" name="Text 7"/>
          <p:cNvSpPr/>
          <p:nvPr/>
        </p:nvSpPr>
        <p:spPr>
          <a:xfrm>
            <a:off x="2011680" y="1627632"/>
            <a:ext cx="4023360" cy="475488"/>
          </a:xfrm>
          <a:prstGeom prst="rect">
            <a:avLst/>
          </a:prstGeom>
          <a:noFill/>
          <a:ln/>
        </p:spPr>
        <p:txBody>
          <a:bodyPr wrap="square" lIns="0" tIns="0" rIns="0" bIns="0" rtlCol="0" anchor="ctr"/>
          <a:lstStyle/>
          <a:p>
            <a:pPr indent="0" marL="0">
              <a:buNone/>
            </a:pPr>
            <a:r>
              <a:rPr lang="en-US" sz="1300" b="1" dirty="0">
                <a:solidFill>
                  <a:srgbClr val="15202B"/>
                </a:solidFill>
                <a:latin typeface="Calibri" pitchFamily="34" charset="0"/>
                <a:ea typeface="Calibri" pitchFamily="34" charset="-122"/>
                <a:cs typeface="Calibri" pitchFamily="34" charset="-120"/>
              </a:rPr>
              <a:t>The plan</a:t>
            </a:r>
            <a:endParaRPr lang="en-US" sz="1300" dirty="0"/>
          </a:p>
        </p:txBody>
      </p:sp>
      <p:sp>
        <p:nvSpPr>
          <p:cNvPr id="11" name="Shape 8"/>
          <p:cNvSpPr/>
          <p:nvPr/>
        </p:nvSpPr>
        <p:spPr>
          <a:xfrm>
            <a:off x="6126480" y="1746504"/>
            <a:ext cx="673331" cy="237744"/>
          </a:xfrm>
          <a:prstGeom prst="roundRect">
            <a:avLst>
              <a:gd name="adj" fmla="val 19231"/>
            </a:avLst>
          </a:prstGeom>
          <a:solidFill>
            <a:srgbClr val="939DAB"/>
          </a:solidFill>
          <a:ln w="12700">
            <a:solidFill>
              <a:srgbClr val="939DAB"/>
            </a:solidFill>
            <a:prstDash val="solid"/>
          </a:ln>
        </p:spPr>
      </p:sp>
      <p:sp>
        <p:nvSpPr>
          <p:cNvPr id="12" name="Shape 9"/>
          <p:cNvSpPr/>
          <p:nvPr/>
        </p:nvSpPr>
        <p:spPr>
          <a:xfrm>
            <a:off x="640080" y="2176272"/>
            <a:ext cx="10881360" cy="475488"/>
          </a:xfrm>
          <a:prstGeom prst="roundRect">
            <a:avLst>
              <a:gd name="adj" fmla="val 15385"/>
            </a:avLst>
          </a:prstGeom>
          <a:solidFill>
            <a:srgbClr val="FFFFFF"/>
          </a:solidFill>
          <a:ln w="12700">
            <a:solidFill>
              <a:srgbClr val="D9DEE7"/>
            </a:solidFill>
            <a:prstDash val="solid"/>
          </a:ln>
          <a:effectLst>
            <a:outerShdw sx="100000" sy="100000" kx="0" ky="0" algn="bl" rotWithShape="0" blurRad="177800" dist="38100" dir="5400000">
              <a:srgbClr val="000000">
                <a:alpha val="35000"/>
              </a:srgbClr>
            </a:outerShdw>
          </a:effectLst>
        </p:spPr>
      </p:sp>
      <p:sp>
        <p:nvSpPr>
          <p:cNvPr id="13" name="Text 10"/>
          <p:cNvSpPr/>
          <p:nvPr/>
        </p:nvSpPr>
        <p:spPr>
          <a:xfrm>
            <a:off x="877824" y="2176272"/>
            <a:ext cx="1005840" cy="475488"/>
          </a:xfrm>
          <a:prstGeom prst="rect">
            <a:avLst/>
          </a:prstGeom>
          <a:noFill/>
          <a:ln/>
        </p:spPr>
        <p:txBody>
          <a:bodyPr wrap="square" lIns="0" tIns="0" rIns="0" bIns="0" rtlCol="0" anchor="ctr"/>
          <a:lstStyle/>
          <a:p>
            <a:pPr indent="0" marL="0">
              <a:buNone/>
            </a:pPr>
            <a:r>
              <a:rPr lang="en-US" sz="1100" b="1" dirty="0">
                <a:solidFill>
                  <a:srgbClr val="2C6BED"/>
                </a:solidFill>
                <a:latin typeface="Courier New" pitchFamily="34" charset="0"/>
                <a:ea typeface="Courier New" pitchFamily="34" charset="-122"/>
                <a:cs typeface="Courier New" pitchFamily="34" charset="-120"/>
              </a:rPr>
              <a:t>12 min</a:t>
            </a:r>
            <a:endParaRPr lang="en-US" sz="1100" dirty="0"/>
          </a:p>
        </p:txBody>
      </p:sp>
      <p:sp>
        <p:nvSpPr>
          <p:cNvPr id="14" name="Text 11"/>
          <p:cNvSpPr/>
          <p:nvPr/>
        </p:nvSpPr>
        <p:spPr>
          <a:xfrm>
            <a:off x="2011680" y="2176272"/>
            <a:ext cx="4023360" cy="475488"/>
          </a:xfrm>
          <a:prstGeom prst="rect">
            <a:avLst/>
          </a:prstGeom>
          <a:noFill/>
          <a:ln/>
        </p:spPr>
        <p:txBody>
          <a:bodyPr wrap="square" lIns="0" tIns="0" rIns="0" bIns="0" rtlCol="0" anchor="ctr"/>
          <a:lstStyle/>
          <a:p>
            <a:pPr indent="0" marL="0">
              <a:buNone/>
            </a:pPr>
            <a:r>
              <a:rPr lang="en-US" sz="1300" b="1" dirty="0">
                <a:solidFill>
                  <a:srgbClr val="15202B"/>
                </a:solidFill>
                <a:latin typeface="Calibri" pitchFamily="34" charset="0"/>
                <a:ea typeface="Calibri" pitchFamily="34" charset="-122"/>
                <a:cs typeface="Calibri" pitchFamily="34" charset="-120"/>
              </a:rPr>
              <a:t>What a CSS rule is</a:t>
            </a:r>
            <a:endParaRPr lang="en-US" sz="1300" dirty="0"/>
          </a:p>
        </p:txBody>
      </p:sp>
      <p:sp>
        <p:nvSpPr>
          <p:cNvPr id="15" name="Shape 12"/>
          <p:cNvSpPr/>
          <p:nvPr/>
        </p:nvSpPr>
        <p:spPr>
          <a:xfrm>
            <a:off x="6126480" y="2295144"/>
            <a:ext cx="2693324" cy="237744"/>
          </a:xfrm>
          <a:prstGeom prst="roundRect">
            <a:avLst>
              <a:gd name="adj" fmla="val 19231"/>
            </a:avLst>
          </a:prstGeom>
          <a:solidFill>
            <a:srgbClr val="2C6BED"/>
          </a:solidFill>
          <a:ln w="12700">
            <a:solidFill>
              <a:srgbClr val="2C6BED"/>
            </a:solidFill>
            <a:prstDash val="solid"/>
          </a:ln>
        </p:spPr>
      </p:sp>
      <p:sp>
        <p:nvSpPr>
          <p:cNvPr id="16" name="Shape 13"/>
          <p:cNvSpPr/>
          <p:nvPr/>
        </p:nvSpPr>
        <p:spPr>
          <a:xfrm>
            <a:off x="640080" y="2724912"/>
            <a:ext cx="10881360" cy="475488"/>
          </a:xfrm>
          <a:prstGeom prst="roundRect">
            <a:avLst>
              <a:gd name="adj" fmla="val 15385"/>
            </a:avLst>
          </a:prstGeom>
          <a:solidFill>
            <a:srgbClr val="FFFFFF"/>
          </a:solidFill>
          <a:ln w="12700">
            <a:solidFill>
              <a:srgbClr val="D9DEE7"/>
            </a:solidFill>
            <a:prstDash val="solid"/>
          </a:ln>
          <a:effectLst>
            <a:outerShdw sx="100000" sy="100000" kx="0" ky="0" algn="bl" rotWithShape="0" blurRad="177800" dist="38100" dir="5400000">
              <a:srgbClr val="000000">
                <a:alpha val="35000"/>
              </a:srgbClr>
            </a:outerShdw>
          </a:effectLst>
        </p:spPr>
      </p:sp>
      <p:sp>
        <p:nvSpPr>
          <p:cNvPr id="17" name="Text 14"/>
          <p:cNvSpPr/>
          <p:nvPr/>
        </p:nvSpPr>
        <p:spPr>
          <a:xfrm>
            <a:off x="877824" y="2724912"/>
            <a:ext cx="1005840" cy="475488"/>
          </a:xfrm>
          <a:prstGeom prst="rect">
            <a:avLst/>
          </a:prstGeom>
          <a:noFill/>
          <a:ln/>
        </p:spPr>
        <p:txBody>
          <a:bodyPr wrap="square" lIns="0" tIns="0" rIns="0" bIns="0" rtlCol="0" anchor="ctr"/>
          <a:lstStyle/>
          <a:p>
            <a:pPr indent="0" marL="0">
              <a:buNone/>
            </a:pPr>
            <a:r>
              <a:rPr lang="en-US" sz="1100" b="1" dirty="0">
                <a:solidFill>
                  <a:srgbClr val="6741D9"/>
                </a:solidFill>
                <a:latin typeface="Courier New" pitchFamily="34" charset="0"/>
                <a:ea typeface="Courier New" pitchFamily="34" charset="-122"/>
                <a:cs typeface="Courier New" pitchFamily="34" charset="-120"/>
              </a:rPr>
              <a:t>12 min</a:t>
            </a:r>
            <a:endParaRPr lang="en-US" sz="1100" dirty="0"/>
          </a:p>
        </p:txBody>
      </p:sp>
      <p:sp>
        <p:nvSpPr>
          <p:cNvPr id="18" name="Text 15"/>
          <p:cNvSpPr/>
          <p:nvPr/>
        </p:nvSpPr>
        <p:spPr>
          <a:xfrm>
            <a:off x="2011680" y="2724912"/>
            <a:ext cx="4023360" cy="475488"/>
          </a:xfrm>
          <a:prstGeom prst="rect">
            <a:avLst/>
          </a:prstGeom>
          <a:noFill/>
          <a:ln/>
        </p:spPr>
        <p:txBody>
          <a:bodyPr wrap="square" lIns="0" tIns="0" rIns="0" bIns="0" rtlCol="0" anchor="ctr"/>
          <a:lstStyle/>
          <a:p>
            <a:pPr indent="0" marL="0">
              <a:buNone/>
            </a:pPr>
            <a:r>
              <a:rPr lang="en-US" sz="1300" b="1" dirty="0">
                <a:solidFill>
                  <a:srgbClr val="15202B"/>
                </a:solidFill>
                <a:latin typeface="Calibri" pitchFamily="34" charset="0"/>
                <a:ea typeface="Calibri" pitchFamily="34" charset="-122"/>
                <a:cs typeface="Calibri" pitchFamily="34" charset="-120"/>
              </a:rPr>
              <a:t>Three ways to add CSS, and which wins</a:t>
            </a:r>
            <a:endParaRPr lang="en-US" sz="1300" dirty="0"/>
          </a:p>
        </p:txBody>
      </p:sp>
      <p:sp>
        <p:nvSpPr>
          <p:cNvPr id="19" name="Shape 16"/>
          <p:cNvSpPr/>
          <p:nvPr/>
        </p:nvSpPr>
        <p:spPr>
          <a:xfrm>
            <a:off x="6126480" y="2843784"/>
            <a:ext cx="2693324" cy="237744"/>
          </a:xfrm>
          <a:prstGeom prst="roundRect">
            <a:avLst>
              <a:gd name="adj" fmla="val 19231"/>
            </a:avLst>
          </a:prstGeom>
          <a:solidFill>
            <a:srgbClr val="6741D9"/>
          </a:solidFill>
          <a:ln w="12700">
            <a:solidFill>
              <a:srgbClr val="6741D9"/>
            </a:solidFill>
            <a:prstDash val="solid"/>
          </a:ln>
        </p:spPr>
      </p:sp>
      <p:sp>
        <p:nvSpPr>
          <p:cNvPr id="20" name="Shape 17"/>
          <p:cNvSpPr/>
          <p:nvPr/>
        </p:nvSpPr>
        <p:spPr>
          <a:xfrm>
            <a:off x="640080" y="3273552"/>
            <a:ext cx="10881360" cy="475488"/>
          </a:xfrm>
          <a:prstGeom prst="roundRect">
            <a:avLst>
              <a:gd name="adj" fmla="val 15385"/>
            </a:avLst>
          </a:prstGeom>
          <a:solidFill>
            <a:srgbClr val="FDF0DC"/>
          </a:solidFill>
          <a:ln w="12700">
            <a:solidFill>
              <a:srgbClr val="D9DEE7"/>
            </a:solidFill>
            <a:prstDash val="solid"/>
          </a:ln>
          <a:effectLst>
            <a:outerShdw sx="100000" sy="100000" kx="0" ky="0" algn="bl" rotWithShape="0" blurRad="177800" dist="38100" dir="5400000">
              <a:srgbClr val="000000">
                <a:alpha val="35000"/>
              </a:srgbClr>
            </a:outerShdw>
          </a:effectLst>
        </p:spPr>
      </p:sp>
      <p:sp>
        <p:nvSpPr>
          <p:cNvPr id="21" name="Text 18"/>
          <p:cNvSpPr/>
          <p:nvPr/>
        </p:nvSpPr>
        <p:spPr>
          <a:xfrm>
            <a:off x="877824" y="3273552"/>
            <a:ext cx="1005840" cy="475488"/>
          </a:xfrm>
          <a:prstGeom prst="rect">
            <a:avLst/>
          </a:prstGeom>
          <a:noFill/>
          <a:ln/>
        </p:spPr>
        <p:txBody>
          <a:bodyPr wrap="square" lIns="0" tIns="0" rIns="0" bIns="0" rtlCol="0" anchor="ctr"/>
          <a:lstStyle/>
          <a:p>
            <a:pPr indent="0" marL="0">
              <a:buNone/>
            </a:pPr>
            <a:r>
              <a:rPr lang="en-US" sz="1100" b="1" dirty="0">
                <a:solidFill>
                  <a:srgbClr val="B26A00"/>
                </a:solidFill>
                <a:latin typeface="Courier New" pitchFamily="34" charset="0"/>
                <a:ea typeface="Courier New" pitchFamily="34" charset="-122"/>
                <a:cs typeface="Courier New" pitchFamily="34" charset="-120"/>
              </a:rPr>
              <a:t>05 min</a:t>
            </a:r>
            <a:endParaRPr lang="en-US" sz="1100" dirty="0"/>
          </a:p>
        </p:txBody>
      </p:sp>
      <p:sp>
        <p:nvSpPr>
          <p:cNvPr id="22" name="Text 19"/>
          <p:cNvSpPr/>
          <p:nvPr/>
        </p:nvSpPr>
        <p:spPr>
          <a:xfrm>
            <a:off x="2011680" y="3273552"/>
            <a:ext cx="4023360" cy="475488"/>
          </a:xfrm>
          <a:prstGeom prst="rect">
            <a:avLst/>
          </a:prstGeom>
          <a:noFill/>
          <a:ln/>
        </p:spPr>
        <p:txBody>
          <a:bodyPr wrap="square" lIns="0" tIns="0" rIns="0" bIns="0" rtlCol="0" anchor="ctr"/>
          <a:lstStyle/>
          <a:p>
            <a:pPr indent="0" marL="0">
              <a:buNone/>
            </a:pPr>
            <a:r>
              <a:rPr lang="en-US" sz="1300" b="1" dirty="0">
                <a:solidFill>
                  <a:srgbClr val="15202B"/>
                </a:solidFill>
                <a:latin typeface="Calibri" pitchFamily="34" charset="0"/>
                <a:ea typeface="Calibri" pitchFamily="34" charset="-122"/>
                <a:cs typeface="Calibri" pitchFamily="34" charset="-120"/>
              </a:rPr>
              <a:t>Break</a:t>
            </a:r>
            <a:endParaRPr lang="en-US" sz="1300" dirty="0"/>
          </a:p>
        </p:txBody>
      </p:sp>
      <p:sp>
        <p:nvSpPr>
          <p:cNvPr id="23" name="Shape 20"/>
          <p:cNvSpPr/>
          <p:nvPr/>
        </p:nvSpPr>
        <p:spPr>
          <a:xfrm>
            <a:off x="6126480" y="3392424"/>
            <a:ext cx="1122218" cy="237744"/>
          </a:xfrm>
          <a:prstGeom prst="roundRect">
            <a:avLst>
              <a:gd name="adj" fmla="val 19231"/>
            </a:avLst>
          </a:prstGeom>
          <a:solidFill>
            <a:srgbClr val="B26A00"/>
          </a:solidFill>
          <a:ln w="12700">
            <a:solidFill>
              <a:srgbClr val="B26A00"/>
            </a:solidFill>
            <a:prstDash val="solid"/>
          </a:ln>
        </p:spPr>
      </p:sp>
      <p:sp>
        <p:nvSpPr>
          <p:cNvPr id="24" name="Shape 21"/>
          <p:cNvSpPr/>
          <p:nvPr/>
        </p:nvSpPr>
        <p:spPr>
          <a:xfrm>
            <a:off x="640080" y="3822192"/>
            <a:ext cx="10881360" cy="475488"/>
          </a:xfrm>
          <a:prstGeom prst="roundRect">
            <a:avLst>
              <a:gd name="adj" fmla="val 15385"/>
            </a:avLst>
          </a:prstGeom>
          <a:solidFill>
            <a:srgbClr val="FFFFFF"/>
          </a:solidFill>
          <a:ln w="12700">
            <a:solidFill>
              <a:srgbClr val="D9DEE7"/>
            </a:solidFill>
            <a:prstDash val="solid"/>
          </a:ln>
          <a:effectLst>
            <a:outerShdw sx="100000" sy="100000" kx="0" ky="0" algn="bl" rotWithShape="0" blurRad="177800" dist="38100" dir="5400000">
              <a:srgbClr val="000000">
                <a:alpha val="35000"/>
              </a:srgbClr>
            </a:outerShdw>
          </a:effectLst>
        </p:spPr>
      </p:sp>
      <p:sp>
        <p:nvSpPr>
          <p:cNvPr id="25" name="Text 22"/>
          <p:cNvSpPr/>
          <p:nvPr/>
        </p:nvSpPr>
        <p:spPr>
          <a:xfrm>
            <a:off x="877824" y="3822192"/>
            <a:ext cx="1005840" cy="475488"/>
          </a:xfrm>
          <a:prstGeom prst="rect">
            <a:avLst/>
          </a:prstGeom>
          <a:noFill/>
          <a:ln/>
        </p:spPr>
        <p:txBody>
          <a:bodyPr wrap="square" lIns="0" tIns="0" rIns="0" bIns="0" rtlCol="0" anchor="ctr"/>
          <a:lstStyle/>
          <a:p>
            <a:pPr indent="0" marL="0">
              <a:buNone/>
            </a:pPr>
            <a:r>
              <a:rPr lang="en-US" sz="1100" b="1" dirty="0">
                <a:solidFill>
                  <a:srgbClr val="D6336C"/>
                </a:solidFill>
                <a:latin typeface="Courier New" pitchFamily="34" charset="0"/>
                <a:ea typeface="Courier New" pitchFamily="34" charset="-122"/>
                <a:cs typeface="Courier New" pitchFamily="34" charset="-120"/>
              </a:rPr>
              <a:t>22 min</a:t>
            </a:r>
            <a:endParaRPr lang="en-US" sz="1100" dirty="0"/>
          </a:p>
        </p:txBody>
      </p:sp>
      <p:sp>
        <p:nvSpPr>
          <p:cNvPr id="26" name="Text 23"/>
          <p:cNvSpPr/>
          <p:nvPr/>
        </p:nvSpPr>
        <p:spPr>
          <a:xfrm>
            <a:off x="2011680" y="3822192"/>
            <a:ext cx="4023360" cy="475488"/>
          </a:xfrm>
          <a:prstGeom prst="rect">
            <a:avLst/>
          </a:prstGeom>
          <a:noFill/>
          <a:ln/>
        </p:spPr>
        <p:txBody>
          <a:bodyPr wrap="square" lIns="0" tIns="0" rIns="0" bIns="0" rtlCol="0" anchor="ctr"/>
          <a:lstStyle/>
          <a:p>
            <a:pPr indent="0" marL="0">
              <a:buNone/>
            </a:pPr>
            <a:r>
              <a:rPr lang="en-US" sz="1300" b="1" dirty="0">
                <a:solidFill>
                  <a:srgbClr val="15202B"/>
                </a:solidFill>
                <a:latin typeface="Calibri" pitchFamily="34" charset="0"/>
                <a:ea typeface="Calibri" pitchFamily="34" charset="-122"/>
                <a:cs typeface="Calibri" pitchFamily="34" charset="-120"/>
              </a:rPr>
              <a:t>Selectors</a:t>
            </a:r>
            <a:endParaRPr lang="en-US" sz="1300" dirty="0"/>
          </a:p>
        </p:txBody>
      </p:sp>
      <p:sp>
        <p:nvSpPr>
          <p:cNvPr id="27" name="Shape 24"/>
          <p:cNvSpPr/>
          <p:nvPr/>
        </p:nvSpPr>
        <p:spPr>
          <a:xfrm>
            <a:off x="6126480" y="3941064"/>
            <a:ext cx="4937760" cy="237744"/>
          </a:xfrm>
          <a:prstGeom prst="roundRect">
            <a:avLst>
              <a:gd name="adj" fmla="val 19231"/>
            </a:avLst>
          </a:prstGeom>
          <a:solidFill>
            <a:srgbClr val="D6336C"/>
          </a:solidFill>
          <a:ln w="12700">
            <a:solidFill>
              <a:srgbClr val="D6336C"/>
            </a:solidFill>
            <a:prstDash val="solid"/>
          </a:ln>
        </p:spPr>
      </p:sp>
      <p:sp>
        <p:nvSpPr>
          <p:cNvPr id="28" name="Shape 25"/>
          <p:cNvSpPr/>
          <p:nvPr/>
        </p:nvSpPr>
        <p:spPr>
          <a:xfrm>
            <a:off x="640080" y="4370832"/>
            <a:ext cx="10881360" cy="475488"/>
          </a:xfrm>
          <a:prstGeom prst="roundRect">
            <a:avLst>
              <a:gd name="adj" fmla="val 15385"/>
            </a:avLst>
          </a:prstGeom>
          <a:solidFill>
            <a:srgbClr val="FDF0DC"/>
          </a:solidFill>
          <a:ln w="12700">
            <a:solidFill>
              <a:srgbClr val="D9DEE7"/>
            </a:solidFill>
            <a:prstDash val="solid"/>
          </a:ln>
          <a:effectLst>
            <a:outerShdw sx="100000" sy="100000" kx="0" ky="0" algn="bl" rotWithShape="0" blurRad="177800" dist="38100" dir="5400000">
              <a:srgbClr val="000000">
                <a:alpha val="35000"/>
              </a:srgbClr>
            </a:outerShdw>
          </a:effectLst>
        </p:spPr>
      </p:sp>
      <p:sp>
        <p:nvSpPr>
          <p:cNvPr id="29" name="Text 26"/>
          <p:cNvSpPr/>
          <p:nvPr/>
        </p:nvSpPr>
        <p:spPr>
          <a:xfrm>
            <a:off x="877824" y="4370832"/>
            <a:ext cx="1005840" cy="475488"/>
          </a:xfrm>
          <a:prstGeom prst="rect">
            <a:avLst/>
          </a:prstGeom>
          <a:noFill/>
          <a:ln/>
        </p:spPr>
        <p:txBody>
          <a:bodyPr wrap="square" lIns="0" tIns="0" rIns="0" bIns="0" rtlCol="0" anchor="ctr"/>
          <a:lstStyle/>
          <a:p>
            <a:pPr indent="0" marL="0">
              <a:buNone/>
            </a:pPr>
            <a:r>
              <a:rPr lang="en-US" sz="1100" b="1" dirty="0">
                <a:solidFill>
                  <a:srgbClr val="B26A00"/>
                </a:solidFill>
                <a:latin typeface="Courier New" pitchFamily="34" charset="0"/>
                <a:ea typeface="Courier New" pitchFamily="34" charset="-122"/>
                <a:cs typeface="Courier New" pitchFamily="34" charset="-120"/>
              </a:rPr>
              <a:t>05 min</a:t>
            </a:r>
            <a:endParaRPr lang="en-US" sz="1100" dirty="0"/>
          </a:p>
        </p:txBody>
      </p:sp>
      <p:sp>
        <p:nvSpPr>
          <p:cNvPr id="30" name="Text 27"/>
          <p:cNvSpPr/>
          <p:nvPr/>
        </p:nvSpPr>
        <p:spPr>
          <a:xfrm>
            <a:off x="2011680" y="4370832"/>
            <a:ext cx="4023360" cy="475488"/>
          </a:xfrm>
          <a:prstGeom prst="rect">
            <a:avLst/>
          </a:prstGeom>
          <a:noFill/>
          <a:ln/>
        </p:spPr>
        <p:txBody>
          <a:bodyPr wrap="square" lIns="0" tIns="0" rIns="0" bIns="0" rtlCol="0" anchor="ctr"/>
          <a:lstStyle/>
          <a:p>
            <a:pPr indent="0" marL="0">
              <a:buNone/>
            </a:pPr>
            <a:r>
              <a:rPr lang="en-US" sz="1300" b="1" dirty="0">
                <a:solidFill>
                  <a:srgbClr val="15202B"/>
                </a:solidFill>
                <a:latin typeface="Calibri" pitchFamily="34" charset="0"/>
                <a:ea typeface="Calibri" pitchFamily="34" charset="-122"/>
                <a:cs typeface="Calibri" pitchFamily="34" charset="-120"/>
              </a:rPr>
              <a:t>Break</a:t>
            </a:r>
            <a:endParaRPr lang="en-US" sz="1300" dirty="0"/>
          </a:p>
        </p:txBody>
      </p:sp>
      <p:sp>
        <p:nvSpPr>
          <p:cNvPr id="31" name="Shape 28"/>
          <p:cNvSpPr/>
          <p:nvPr/>
        </p:nvSpPr>
        <p:spPr>
          <a:xfrm>
            <a:off x="6126480" y="4489704"/>
            <a:ext cx="1122218" cy="237744"/>
          </a:xfrm>
          <a:prstGeom prst="roundRect">
            <a:avLst>
              <a:gd name="adj" fmla="val 19231"/>
            </a:avLst>
          </a:prstGeom>
          <a:solidFill>
            <a:srgbClr val="B26A00"/>
          </a:solidFill>
          <a:ln w="12700">
            <a:solidFill>
              <a:srgbClr val="B26A00"/>
            </a:solidFill>
            <a:prstDash val="solid"/>
          </a:ln>
        </p:spPr>
      </p:sp>
      <p:sp>
        <p:nvSpPr>
          <p:cNvPr id="32" name="Shape 29"/>
          <p:cNvSpPr/>
          <p:nvPr/>
        </p:nvSpPr>
        <p:spPr>
          <a:xfrm>
            <a:off x="640080" y="4919472"/>
            <a:ext cx="10881360" cy="475488"/>
          </a:xfrm>
          <a:prstGeom prst="roundRect">
            <a:avLst>
              <a:gd name="adj" fmla="val 15385"/>
            </a:avLst>
          </a:prstGeom>
          <a:solidFill>
            <a:srgbClr val="FFFFFF"/>
          </a:solidFill>
          <a:ln w="12700">
            <a:solidFill>
              <a:srgbClr val="D9DEE7"/>
            </a:solidFill>
            <a:prstDash val="solid"/>
          </a:ln>
          <a:effectLst>
            <a:outerShdw sx="100000" sy="100000" kx="0" ky="0" algn="bl" rotWithShape="0" blurRad="177800" dist="38100" dir="5400000">
              <a:srgbClr val="000000">
                <a:alpha val="35000"/>
              </a:srgbClr>
            </a:outerShdw>
          </a:effectLst>
        </p:spPr>
      </p:sp>
      <p:sp>
        <p:nvSpPr>
          <p:cNvPr id="33" name="Text 30"/>
          <p:cNvSpPr/>
          <p:nvPr/>
        </p:nvSpPr>
        <p:spPr>
          <a:xfrm>
            <a:off x="877824" y="4919472"/>
            <a:ext cx="1005840" cy="475488"/>
          </a:xfrm>
          <a:prstGeom prst="rect">
            <a:avLst/>
          </a:prstGeom>
          <a:noFill/>
          <a:ln/>
        </p:spPr>
        <p:txBody>
          <a:bodyPr wrap="square" lIns="0" tIns="0" rIns="0" bIns="0" rtlCol="0" anchor="ctr"/>
          <a:lstStyle/>
          <a:p>
            <a:pPr indent="0" marL="0">
              <a:buNone/>
            </a:pPr>
            <a:r>
              <a:rPr lang="en-US" sz="1100" b="1" dirty="0">
                <a:solidFill>
                  <a:srgbClr val="1F8A54"/>
                </a:solidFill>
                <a:latin typeface="Courier New" pitchFamily="34" charset="0"/>
                <a:ea typeface="Courier New" pitchFamily="34" charset="-122"/>
                <a:cs typeface="Courier New" pitchFamily="34" charset="-120"/>
              </a:rPr>
              <a:t>18 min</a:t>
            </a:r>
            <a:endParaRPr lang="en-US" sz="1100" dirty="0"/>
          </a:p>
        </p:txBody>
      </p:sp>
      <p:sp>
        <p:nvSpPr>
          <p:cNvPr id="34" name="Text 31"/>
          <p:cNvSpPr/>
          <p:nvPr/>
        </p:nvSpPr>
        <p:spPr>
          <a:xfrm>
            <a:off x="2011680" y="4919472"/>
            <a:ext cx="4023360" cy="475488"/>
          </a:xfrm>
          <a:prstGeom prst="rect">
            <a:avLst/>
          </a:prstGeom>
          <a:noFill/>
          <a:ln/>
        </p:spPr>
        <p:txBody>
          <a:bodyPr wrap="square" lIns="0" tIns="0" rIns="0" bIns="0" rtlCol="0" anchor="ctr"/>
          <a:lstStyle/>
          <a:p>
            <a:pPr indent="0" marL="0">
              <a:buNone/>
            </a:pPr>
            <a:r>
              <a:rPr lang="en-US" sz="1300" b="1" dirty="0">
                <a:solidFill>
                  <a:srgbClr val="15202B"/>
                </a:solidFill>
                <a:latin typeface="Calibri" pitchFamily="34" charset="0"/>
                <a:ea typeface="Calibri" pitchFamily="34" charset="-122"/>
                <a:cs typeface="Calibri" pitchFamily="34" charset="-120"/>
              </a:rPr>
              <a:t>Colour, fonts and text</a:t>
            </a:r>
            <a:endParaRPr lang="en-US" sz="1300" dirty="0"/>
          </a:p>
        </p:txBody>
      </p:sp>
      <p:sp>
        <p:nvSpPr>
          <p:cNvPr id="35" name="Shape 32"/>
          <p:cNvSpPr/>
          <p:nvPr/>
        </p:nvSpPr>
        <p:spPr>
          <a:xfrm>
            <a:off x="6126480" y="5038344"/>
            <a:ext cx="4039985" cy="237744"/>
          </a:xfrm>
          <a:prstGeom prst="roundRect">
            <a:avLst>
              <a:gd name="adj" fmla="val 19231"/>
            </a:avLst>
          </a:prstGeom>
          <a:solidFill>
            <a:srgbClr val="1F8A54"/>
          </a:solidFill>
          <a:ln w="12700">
            <a:solidFill>
              <a:srgbClr val="1F8A54"/>
            </a:solidFill>
            <a:prstDash val="solid"/>
          </a:ln>
        </p:spPr>
      </p:sp>
      <p:sp>
        <p:nvSpPr>
          <p:cNvPr id="36" name="Shape 33"/>
          <p:cNvSpPr/>
          <p:nvPr/>
        </p:nvSpPr>
        <p:spPr>
          <a:xfrm>
            <a:off x="640080" y="5468112"/>
            <a:ext cx="10881360" cy="475488"/>
          </a:xfrm>
          <a:prstGeom prst="roundRect">
            <a:avLst>
              <a:gd name="adj" fmla="val 15385"/>
            </a:avLst>
          </a:prstGeom>
          <a:solidFill>
            <a:srgbClr val="FFFFFF"/>
          </a:solidFill>
          <a:ln w="12700">
            <a:solidFill>
              <a:srgbClr val="D9DEE7"/>
            </a:solidFill>
            <a:prstDash val="solid"/>
          </a:ln>
          <a:effectLst>
            <a:outerShdw sx="100000" sy="100000" kx="0" ky="0" algn="bl" rotWithShape="0" blurRad="177800" dist="38100" dir="5400000">
              <a:srgbClr val="000000">
                <a:alpha val="35000"/>
              </a:srgbClr>
            </a:outerShdw>
          </a:effectLst>
        </p:spPr>
      </p:sp>
      <p:sp>
        <p:nvSpPr>
          <p:cNvPr id="37" name="Text 34"/>
          <p:cNvSpPr/>
          <p:nvPr/>
        </p:nvSpPr>
        <p:spPr>
          <a:xfrm>
            <a:off x="877824" y="5468112"/>
            <a:ext cx="1005840" cy="475488"/>
          </a:xfrm>
          <a:prstGeom prst="rect">
            <a:avLst/>
          </a:prstGeom>
          <a:noFill/>
          <a:ln/>
        </p:spPr>
        <p:txBody>
          <a:bodyPr wrap="square" lIns="0" tIns="0" rIns="0" bIns="0" rtlCol="0" anchor="ctr"/>
          <a:lstStyle/>
          <a:p>
            <a:pPr indent="0" marL="0">
              <a:buNone/>
            </a:pPr>
            <a:r>
              <a:rPr lang="en-US" sz="1100" b="1" dirty="0">
                <a:solidFill>
                  <a:srgbClr val="939DAB"/>
                </a:solidFill>
                <a:latin typeface="Courier New" pitchFamily="34" charset="0"/>
                <a:ea typeface="Courier New" pitchFamily="34" charset="-122"/>
                <a:cs typeface="Courier New" pitchFamily="34" charset="-120"/>
              </a:rPr>
              <a:t>05 min</a:t>
            </a:r>
            <a:endParaRPr lang="en-US" sz="1100" dirty="0"/>
          </a:p>
        </p:txBody>
      </p:sp>
      <p:sp>
        <p:nvSpPr>
          <p:cNvPr id="38" name="Text 35"/>
          <p:cNvSpPr/>
          <p:nvPr/>
        </p:nvSpPr>
        <p:spPr>
          <a:xfrm>
            <a:off x="2011680" y="5468112"/>
            <a:ext cx="4023360" cy="475488"/>
          </a:xfrm>
          <a:prstGeom prst="rect">
            <a:avLst/>
          </a:prstGeom>
          <a:noFill/>
          <a:ln/>
        </p:spPr>
        <p:txBody>
          <a:bodyPr wrap="square" lIns="0" tIns="0" rIns="0" bIns="0" rtlCol="0" anchor="ctr"/>
          <a:lstStyle/>
          <a:p>
            <a:pPr indent="0" marL="0">
              <a:buNone/>
            </a:pPr>
            <a:r>
              <a:rPr lang="en-US" sz="1300" b="1" dirty="0">
                <a:solidFill>
                  <a:srgbClr val="15202B"/>
                </a:solidFill>
                <a:latin typeface="Calibri" pitchFamily="34" charset="0"/>
                <a:ea typeface="Calibri" pitchFamily="34" charset="-122"/>
                <a:cs typeface="Calibri" pitchFamily="34" charset="-120"/>
              </a:rPr>
              <a:t>Wrap and doubts</a:t>
            </a:r>
            <a:endParaRPr lang="en-US" sz="1300" dirty="0"/>
          </a:p>
        </p:txBody>
      </p:sp>
      <p:sp>
        <p:nvSpPr>
          <p:cNvPr id="39" name="Shape 36"/>
          <p:cNvSpPr/>
          <p:nvPr/>
        </p:nvSpPr>
        <p:spPr>
          <a:xfrm>
            <a:off x="6126480" y="5586984"/>
            <a:ext cx="1122218" cy="237744"/>
          </a:xfrm>
          <a:prstGeom prst="roundRect">
            <a:avLst>
              <a:gd name="adj" fmla="val 19231"/>
            </a:avLst>
          </a:prstGeom>
          <a:solidFill>
            <a:srgbClr val="939DAB"/>
          </a:solidFill>
          <a:ln w="12700">
            <a:solidFill>
              <a:srgbClr val="939DAB"/>
            </a:solidFill>
            <a:prstDash val="solid"/>
          </a:ln>
        </p:spPr>
      </p:sp>
      <p:sp>
        <p:nvSpPr>
          <p:cNvPr id="40" name="Shape 37"/>
          <p:cNvSpPr/>
          <p:nvPr/>
        </p:nvSpPr>
        <p:spPr>
          <a:xfrm>
            <a:off x="640080" y="6053328"/>
            <a:ext cx="10908792" cy="548640"/>
          </a:xfrm>
          <a:prstGeom prst="roundRect">
            <a:avLst>
              <a:gd name="adj" fmla="val 16667"/>
            </a:avLst>
          </a:prstGeom>
          <a:solidFill>
            <a:srgbClr val="E7EEFD"/>
          </a:solidFill>
          <a:ln w="12700">
            <a:solidFill>
              <a:srgbClr val="B6CDFA"/>
            </a:solidFill>
            <a:prstDash val="solid"/>
          </a:ln>
          <a:effectLst>
            <a:outerShdw sx="100000" sy="100000" kx="0" ky="0" algn="bl" rotWithShape="0" blurRad="177800" dist="38100" dir="5400000">
              <a:srgbClr val="000000">
                <a:alpha val="35000"/>
              </a:srgbClr>
            </a:outerShdw>
          </a:effectLst>
        </p:spPr>
      </p:sp>
      <p:sp>
        <p:nvSpPr>
          <p:cNvPr id="41" name="Text 38"/>
          <p:cNvSpPr/>
          <p:nvPr/>
        </p:nvSpPr>
        <p:spPr>
          <a:xfrm>
            <a:off x="914400" y="6053328"/>
            <a:ext cx="10360152" cy="548640"/>
          </a:xfrm>
          <a:prstGeom prst="rect">
            <a:avLst/>
          </a:prstGeom>
          <a:noFill/>
          <a:ln/>
        </p:spPr>
        <p:txBody>
          <a:bodyPr wrap="square" lIns="0" tIns="0" rIns="0" bIns="0" rtlCol="0" anchor="ctr"/>
          <a:lstStyle/>
          <a:p>
            <a:pPr algn="ctr" indent="0" marL="0">
              <a:buNone/>
            </a:pPr>
            <a:r>
              <a:rPr lang="en-US" sz="1450" b="1" dirty="0">
                <a:solidFill>
                  <a:srgbClr val="15202B"/>
                </a:solidFill>
                <a:latin typeface="Calibri" pitchFamily="34" charset="0"/>
                <a:ea typeface="Calibri" pitchFamily="34" charset="-122"/>
                <a:cs typeface="Calibri" pitchFamily="34" charset="-120"/>
              </a:rPr>
              <a:t>Seventy minutes of teaching, ten of break, and three live coding blocks.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826"/>
        </a:solidFill>
      </p:bgPr>
    </p:bg>
    <p:spTree>
      <p:nvGrpSpPr>
        <p:cNvPr id="1" name=""/>
        <p:cNvGrpSpPr/>
        <p:nvPr/>
      </p:nvGrpSpPr>
      <p:grpSpPr>
        <a:xfrm>
          <a:off x="0" y="0"/>
          <a:ext cx="0" cy="0"/>
          <a:chOff x="0" y="0"/>
          <a:chExt cx="0" cy="0"/>
        </a:xfrm>
      </p:grpSpPr>
      <p:sp>
        <p:nvSpPr>
          <p:cNvPr id="3" name="Text 0"/>
          <p:cNvSpPr/>
          <p:nvPr/>
        </p:nvSpPr>
        <p:spPr>
          <a:xfrm>
            <a:off x="0" y="1737360"/>
            <a:ext cx="12188952" cy="1371600"/>
          </a:xfrm>
          <a:prstGeom prst="rect">
            <a:avLst/>
          </a:prstGeom>
          <a:noFill/>
          <a:ln/>
        </p:spPr>
        <p:txBody>
          <a:bodyPr wrap="square" lIns="0" tIns="0" rIns="0" bIns="0" rtlCol="0" anchor="ctr"/>
          <a:lstStyle/>
          <a:p>
            <a:pPr algn="ctr" indent="0" marL="0">
              <a:buNone/>
            </a:pPr>
            <a:r>
              <a:rPr lang="en-US" sz="10400" b="1" dirty="0">
                <a:solidFill>
                  <a:srgbClr val="1F2A3D"/>
                </a:solidFill>
                <a:latin typeface="Calibri" pitchFamily="34" charset="0"/>
                <a:ea typeface="Calibri" pitchFamily="34" charset="-122"/>
                <a:cs typeface="Calibri" pitchFamily="34" charset="-120"/>
              </a:rPr>
              <a:t>01</a:t>
            </a:r>
            <a:endParaRPr lang="en-US" sz="10400" dirty="0"/>
          </a:p>
        </p:txBody>
      </p:sp>
      <p:sp>
        <p:nvSpPr>
          <p:cNvPr id="4" name="Text 1"/>
          <p:cNvSpPr/>
          <p:nvPr/>
        </p:nvSpPr>
        <p:spPr>
          <a:xfrm>
            <a:off x="1097280" y="3072384"/>
            <a:ext cx="9994392" cy="82296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What a rule is</a:t>
            </a:r>
            <a:endParaRPr lang="en-US" sz="4000" dirty="0"/>
          </a:p>
        </p:txBody>
      </p:sp>
      <p:sp>
        <p:nvSpPr>
          <p:cNvPr id="5" name="Shape 2"/>
          <p:cNvSpPr/>
          <p:nvPr/>
        </p:nvSpPr>
        <p:spPr>
          <a:xfrm>
            <a:off x="5545836" y="4059936"/>
            <a:ext cx="1097280" cy="45720"/>
          </a:xfrm>
          <a:prstGeom prst="rect">
            <a:avLst/>
          </a:prstGeom>
          <a:solidFill>
            <a:srgbClr val="2C6BED"/>
          </a:solidFill>
          <a:ln w="12700">
            <a:solidFill>
              <a:srgbClr val="2C6BED"/>
            </a:solidFill>
            <a:prstDash val="solid"/>
          </a:ln>
        </p:spPr>
      </p:sp>
      <p:sp>
        <p:nvSpPr>
          <p:cNvPr id="6" name="Text 3"/>
          <p:cNvSpPr/>
          <p:nvPr/>
        </p:nvSpPr>
        <p:spPr>
          <a:xfrm>
            <a:off x="1828800" y="4297680"/>
            <a:ext cx="8531352" cy="457200"/>
          </a:xfrm>
          <a:prstGeom prst="rect">
            <a:avLst/>
          </a:prstGeom>
          <a:noFill/>
          <a:ln/>
        </p:spPr>
        <p:txBody>
          <a:bodyPr wrap="square" lIns="0" tIns="0" rIns="0" bIns="0" rtlCol="0" anchor="ctr"/>
          <a:lstStyle/>
          <a:p>
            <a:pPr algn="ctr" indent="0" marL="0">
              <a:buNone/>
            </a:pPr>
            <a:r>
              <a:rPr lang="en-US" sz="1600" dirty="0">
                <a:solidFill>
                  <a:srgbClr val="C3BEE4"/>
                </a:solidFill>
                <a:latin typeface="Calibri" pitchFamily="34" charset="0"/>
                <a:ea typeface="Calibri" pitchFamily="34" charset="-122"/>
                <a:cs typeface="Calibri" pitchFamily="34" charset="-120"/>
              </a:rPr>
              <a:t>Selector, braces, property, value. Five words you will use all year.</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3" name="Text 0"/>
          <p:cNvSpPr/>
          <p:nvPr/>
        </p:nvSpPr>
        <p:spPr>
          <a:xfrm>
            <a:off x="640080" y="6364224"/>
            <a:ext cx="3657600" cy="256032"/>
          </a:xfrm>
          <a:prstGeom prst="rect">
            <a:avLst/>
          </a:prstGeom>
          <a:noFill/>
          <a:ln/>
        </p:spPr>
        <p:txBody>
          <a:bodyPr wrap="square" lIns="0" tIns="0" rIns="0" bIns="0" rtlCol="0" anchor="ctr"/>
          <a:lstStyle/>
          <a:p>
            <a:pPr indent="0" marL="0">
              <a:buNone/>
            </a:pPr>
            <a:r>
              <a:rPr lang="en-US" sz="900" dirty="0">
                <a:solidFill>
                  <a:srgbClr val="939DAB"/>
                </a:solidFill>
                <a:latin typeface="Courier New" pitchFamily="34" charset="0"/>
                <a:ea typeface="Courier New" pitchFamily="34" charset="-122"/>
                <a:cs typeface="Courier New" pitchFamily="34" charset="-120"/>
              </a:rPr>
              <a:t>CLASS 03  ·  CSS</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939DAB"/>
                </a:solidFill>
                <a:latin typeface="Courier New" pitchFamily="34" charset="0"/>
                <a:ea typeface="Courier New" pitchFamily="34" charset="-122"/>
                <a:cs typeface="Courier New" pitchFamily="34" charset="-120"/>
              </a:rPr>
              <a:t>02</a:t>
            </a:r>
            <a:endParaRPr lang="en-US" sz="900" dirty="0"/>
          </a:p>
        </p:txBody>
      </p:sp>
      <p:sp>
        <p:nvSpPr>
          <p:cNvPr id="5" name="Shape 2"/>
          <p:cNvSpPr/>
          <p:nvPr/>
        </p:nvSpPr>
        <p:spPr>
          <a:xfrm>
            <a:off x="640080" y="365760"/>
            <a:ext cx="1773936" cy="347472"/>
          </a:xfrm>
          <a:prstGeom prst="roundRect">
            <a:avLst>
              <a:gd name="adj" fmla="val 21053"/>
            </a:avLst>
          </a:prstGeom>
          <a:solidFill>
            <a:srgbClr val="2C6BED"/>
          </a:solidFill>
          <a:ln w="15875">
            <a:solidFill>
              <a:srgbClr val="15202B"/>
            </a:solidFill>
            <a:prstDash val="solid"/>
          </a:ln>
        </p:spPr>
      </p:sp>
      <p:sp>
        <p:nvSpPr>
          <p:cNvPr id="6" name="Text 3"/>
          <p:cNvSpPr/>
          <p:nvPr/>
        </p:nvSpPr>
        <p:spPr>
          <a:xfrm>
            <a:off x="640080" y="365760"/>
            <a:ext cx="1773936" cy="347472"/>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CSS RULES</a:t>
            </a:r>
            <a:endParaRPr lang="en-US" sz="1050" dirty="0"/>
          </a:p>
        </p:txBody>
      </p:sp>
      <p:sp>
        <p:nvSpPr>
          <p:cNvPr id="7" name="Text 4"/>
          <p:cNvSpPr/>
          <p:nvPr/>
        </p:nvSpPr>
        <p:spPr>
          <a:xfrm>
            <a:off x="640080" y="786384"/>
            <a:ext cx="10881360" cy="603504"/>
          </a:xfrm>
          <a:prstGeom prst="rect">
            <a:avLst/>
          </a:prstGeom>
          <a:noFill/>
          <a:ln/>
        </p:spPr>
        <p:txBody>
          <a:bodyPr wrap="square" lIns="0" tIns="0" rIns="0" bIns="0" rtlCol="0" anchor="ctr"/>
          <a:lstStyle/>
          <a:p>
            <a:pPr indent="0" marL="0">
              <a:buNone/>
            </a:pPr>
            <a:r>
              <a:rPr lang="en-US" sz="3200" b="1" dirty="0">
                <a:solidFill>
                  <a:srgbClr val="15202B"/>
                </a:solidFill>
                <a:latin typeface="Calibri" pitchFamily="34" charset="0"/>
                <a:ea typeface="Calibri" pitchFamily="34" charset="-122"/>
                <a:cs typeface="Calibri" pitchFamily="34" charset="-120"/>
              </a:rPr>
              <a:t>Anatomy of a rule</a:t>
            </a:r>
            <a:endParaRPr lang="en-US" sz="3200" dirty="0"/>
          </a:p>
        </p:txBody>
      </p:sp>
      <p:sp>
        <p:nvSpPr>
          <p:cNvPr id="8" name="Shape 5"/>
          <p:cNvSpPr/>
          <p:nvPr/>
        </p:nvSpPr>
        <p:spPr>
          <a:xfrm>
            <a:off x="2651760" y="1874520"/>
            <a:ext cx="6949440" cy="2148840"/>
          </a:xfrm>
          <a:prstGeom prst="roundRect">
            <a:avLst>
              <a:gd name="adj" fmla="val 5106"/>
            </a:avLst>
          </a:prstGeom>
          <a:solidFill>
            <a:srgbClr val="111826"/>
          </a:solidFill>
          <a:ln w="19050">
            <a:solidFill>
              <a:srgbClr val="2A3446"/>
            </a:solidFill>
            <a:prstDash val="solid"/>
          </a:ln>
        </p:spPr>
      </p:sp>
      <p:sp>
        <p:nvSpPr>
          <p:cNvPr id="9" name="Text 6"/>
          <p:cNvSpPr/>
          <p:nvPr/>
        </p:nvSpPr>
        <p:spPr>
          <a:xfrm>
            <a:off x="3200400" y="2093976"/>
            <a:ext cx="5852160" cy="1709928"/>
          </a:xfrm>
          <a:prstGeom prst="rect">
            <a:avLst/>
          </a:prstGeom>
          <a:noFill/>
          <a:ln/>
        </p:spPr>
        <p:txBody>
          <a:bodyPr wrap="square" lIns="0" tIns="0" rIns="0" bIns="0" rtlCol="0" anchor="ctr"/>
          <a:lstStyle/>
          <a:p>
            <a:pPr indent="0" marL="0">
              <a:lnSpc>
                <a:spcPts val="4000"/>
              </a:lnSpc>
              <a:buNone/>
            </a:pPr>
            <a:r>
              <a:rPr lang="en-US" sz="2400" dirty="0">
                <a:solidFill>
                  <a:srgbClr val="FF9E86"/>
                </a:solidFill>
                <a:latin typeface="Courier New" pitchFamily="34" charset="0"/>
                <a:ea typeface="Courier New" pitchFamily="34" charset="-122"/>
                <a:cs typeface="Courier New" pitchFamily="34" charset="-120"/>
              </a:rPr>
              <a:t>h1</a:t>
            </a:r>
            <a:pPr indent="0" marL="0">
              <a:lnSpc>
                <a:spcPts val="4000"/>
              </a:lnSpc>
              <a:buNone/>
            </a:pPr>
            <a:r>
              <a:rPr lang="en-US" sz="2400" dirty="0">
                <a:solidFill>
                  <a:srgbClr val="9AA4B5"/>
                </a:solidFill>
                <a:latin typeface="Courier New" pitchFamily="34" charset="0"/>
                <a:ea typeface="Courier New" pitchFamily="34" charset="-122"/>
                <a:cs typeface="Courier New" pitchFamily="34" charset="-120"/>
              </a:rPr>
              <a:t> {</a:t>
            </a:r>
            <a:endParaRPr lang="en-US" sz="2400" dirty="0"/>
          </a:p>
          <a:p>
            <a:pPr indent="0" marL="0">
              <a:lnSpc>
                <a:spcPts val="4000"/>
              </a:lnSpc>
              <a:buNone/>
            </a:pPr>
            <a:r>
              <a:rPr lang="en-US" sz="2400" dirty="0">
                <a:solidFill>
                  <a:srgbClr val="FFD08A"/>
                </a:solidFill>
                <a:latin typeface="Courier New" pitchFamily="34" charset="0"/>
                <a:ea typeface="Courier New" pitchFamily="34" charset="-122"/>
                <a:cs typeface="Courier New" pitchFamily="34" charset="-120"/>
              </a:rPr>
              <a:t>    color</a:t>
            </a:r>
            <a:pPr indent="0" marL="0">
              <a:lnSpc>
                <a:spcPts val="4000"/>
              </a:lnSpc>
              <a:buNone/>
            </a:pPr>
            <a:r>
              <a:rPr lang="en-US" sz="2400" dirty="0">
                <a:solidFill>
                  <a:srgbClr val="9AA4B5"/>
                </a:solidFill>
                <a:latin typeface="Courier New" pitchFamily="34" charset="0"/>
                <a:ea typeface="Courier New" pitchFamily="34" charset="-122"/>
                <a:cs typeface="Courier New" pitchFamily="34" charset="-120"/>
              </a:rPr>
              <a:t>: </a:t>
            </a:r>
            <a:pPr indent="0" marL="0">
              <a:lnSpc>
                <a:spcPts val="4000"/>
              </a:lnSpc>
              <a:buNone/>
            </a:pPr>
            <a:r>
              <a:rPr lang="en-US" sz="2400" dirty="0">
                <a:solidFill>
                  <a:srgbClr val="FF7A7A"/>
                </a:solidFill>
                <a:latin typeface="Courier New" pitchFamily="34" charset="0"/>
                <a:ea typeface="Courier New" pitchFamily="34" charset="-122"/>
                <a:cs typeface="Courier New" pitchFamily="34" charset="-120"/>
              </a:rPr>
              <a:t>red</a:t>
            </a:r>
            <a:pPr indent="0" marL="0">
              <a:lnSpc>
                <a:spcPts val="4000"/>
              </a:lnSpc>
              <a:buNone/>
            </a:pPr>
            <a:r>
              <a:rPr lang="en-US" sz="2400" dirty="0">
                <a:solidFill>
                  <a:srgbClr val="9AA4B5"/>
                </a:solidFill>
                <a:latin typeface="Courier New" pitchFamily="34" charset="0"/>
                <a:ea typeface="Courier New" pitchFamily="34" charset="-122"/>
                <a:cs typeface="Courier New" pitchFamily="34" charset="-120"/>
              </a:rPr>
              <a:t>;</a:t>
            </a:r>
            <a:endParaRPr lang="en-US" sz="2400" dirty="0"/>
          </a:p>
          <a:p>
            <a:pPr indent="0" marL="0">
              <a:lnSpc>
                <a:spcPts val="4000"/>
              </a:lnSpc>
              <a:buNone/>
            </a:pPr>
            <a:r>
              <a:rPr lang="en-US" sz="2400" dirty="0">
                <a:solidFill>
                  <a:srgbClr val="FFD08A"/>
                </a:solidFill>
                <a:latin typeface="Courier New" pitchFamily="34" charset="0"/>
                <a:ea typeface="Courier New" pitchFamily="34" charset="-122"/>
                <a:cs typeface="Courier New" pitchFamily="34" charset="-120"/>
              </a:rPr>
              <a:t>    font-size</a:t>
            </a:r>
            <a:pPr indent="0" marL="0">
              <a:lnSpc>
                <a:spcPts val="4000"/>
              </a:lnSpc>
              <a:buNone/>
            </a:pPr>
            <a:r>
              <a:rPr lang="en-US" sz="2400" dirty="0">
                <a:solidFill>
                  <a:srgbClr val="9AA4B5"/>
                </a:solidFill>
                <a:latin typeface="Courier New" pitchFamily="34" charset="0"/>
                <a:ea typeface="Courier New" pitchFamily="34" charset="-122"/>
                <a:cs typeface="Courier New" pitchFamily="34" charset="-120"/>
              </a:rPr>
              <a:t>: </a:t>
            </a:r>
            <a:pPr indent="0" marL="0">
              <a:lnSpc>
                <a:spcPts val="4000"/>
              </a:lnSpc>
              <a:buNone/>
            </a:pPr>
            <a:r>
              <a:rPr lang="en-US" sz="2400" dirty="0">
                <a:solidFill>
                  <a:srgbClr val="9BD5FF"/>
                </a:solidFill>
                <a:latin typeface="Courier New" pitchFamily="34" charset="0"/>
                <a:ea typeface="Courier New" pitchFamily="34" charset="-122"/>
                <a:cs typeface="Courier New" pitchFamily="34" charset="-120"/>
              </a:rPr>
              <a:t>5em</a:t>
            </a:r>
            <a:pPr indent="0" marL="0">
              <a:lnSpc>
                <a:spcPts val="4000"/>
              </a:lnSpc>
              <a:buNone/>
            </a:pPr>
            <a:r>
              <a:rPr lang="en-US" sz="2400" dirty="0">
                <a:solidFill>
                  <a:srgbClr val="9AA4B5"/>
                </a:solidFill>
                <a:latin typeface="Courier New" pitchFamily="34" charset="0"/>
                <a:ea typeface="Courier New" pitchFamily="34" charset="-122"/>
                <a:cs typeface="Courier New" pitchFamily="34" charset="-120"/>
              </a:rPr>
              <a:t>;</a:t>
            </a:r>
            <a:endParaRPr lang="en-US" sz="2400" dirty="0"/>
          </a:p>
          <a:p>
            <a:pPr indent="0" marL="0">
              <a:lnSpc>
                <a:spcPts val="4000"/>
              </a:lnSpc>
              <a:buNone/>
            </a:pPr>
            <a:r>
              <a:rPr lang="en-US" sz="2400" dirty="0">
                <a:solidFill>
                  <a:srgbClr val="9AA4B5"/>
                </a:solidFill>
                <a:latin typeface="Courier New" pitchFamily="34" charset="0"/>
                <a:ea typeface="Courier New" pitchFamily="34" charset="-122"/>
                <a:cs typeface="Courier New" pitchFamily="34" charset="-120"/>
              </a:rPr>
              <a:t>}</a:t>
            </a:r>
            <a:endParaRPr lang="en-US" sz="2400" dirty="0"/>
          </a:p>
        </p:txBody>
      </p:sp>
      <p:sp>
        <p:nvSpPr>
          <p:cNvPr id="10" name="Shape 7"/>
          <p:cNvSpPr/>
          <p:nvPr/>
        </p:nvSpPr>
        <p:spPr>
          <a:xfrm>
            <a:off x="640080" y="1609344"/>
            <a:ext cx="1783080" cy="548640"/>
          </a:xfrm>
          <a:prstGeom prst="roundRect">
            <a:avLst>
              <a:gd name="adj" fmla="val 13333"/>
            </a:avLst>
          </a:prstGeom>
          <a:solidFill>
            <a:srgbClr val="E7EEFD"/>
          </a:solidFill>
          <a:ln w="15875">
            <a:solidFill>
              <a:srgbClr val="15202B"/>
            </a:solidFill>
            <a:prstDash val="solid"/>
          </a:ln>
        </p:spPr>
      </p:sp>
      <p:sp>
        <p:nvSpPr>
          <p:cNvPr id="11" name="Text 8"/>
          <p:cNvSpPr/>
          <p:nvPr/>
        </p:nvSpPr>
        <p:spPr>
          <a:xfrm>
            <a:off x="768096" y="1645920"/>
            <a:ext cx="1527048" cy="274320"/>
          </a:xfrm>
          <a:prstGeom prst="rect">
            <a:avLst/>
          </a:prstGeom>
          <a:noFill/>
          <a:ln/>
        </p:spPr>
        <p:txBody>
          <a:bodyPr wrap="square" lIns="0" tIns="0" rIns="0" bIns="0" rtlCol="0" anchor="ctr"/>
          <a:lstStyle/>
          <a:p>
            <a:pPr indent="0" marL="0">
              <a:buNone/>
            </a:pPr>
            <a:r>
              <a:rPr lang="en-US" sz="1150" b="1" dirty="0">
                <a:solidFill>
                  <a:srgbClr val="15202B"/>
                </a:solidFill>
                <a:latin typeface="Courier New" pitchFamily="34" charset="0"/>
                <a:ea typeface="Courier New" pitchFamily="34" charset="-122"/>
                <a:cs typeface="Courier New" pitchFamily="34" charset="-120"/>
              </a:rPr>
              <a:t>selector</a:t>
            </a:r>
            <a:endParaRPr lang="en-US" sz="1150" dirty="0"/>
          </a:p>
        </p:txBody>
      </p:sp>
      <p:sp>
        <p:nvSpPr>
          <p:cNvPr id="12" name="Text 9"/>
          <p:cNvSpPr/>
          <p:nvPr/>
        </p:nvSpPr>
        <p:spPr>
          <a:xfrm>
            <a:off x="768096" y="1883664"/>
            <a:ext cx="1527048" cy="256032"/>
          </a:xfrm>
          <a:prstGeom prst="rect">
            <a:avLst/>
          </a:prstGeom>
          <a:noFill/>
          <a:ln/>
        </p:spPr>
        <p:txBody>
          <a:bodyPr wrap="square" lIns="0" tIns="0" rIns="0" bIns="0" rtlCol="0" anchor="ctr"/>
          <a:lstStyle/>
          <a:p>
            <a:pPr indent="0" marL="0">
              <a:buNone/>
            </a:pPr>
            <a:r>
              <a:rPr lang="en-US" sz="950" dirty="0">
                <a:solidFill>
                  <a:srgbClr val="55616F"/>
                </a:solidFill>
                <a:latin typeface="Calibri" pitchFamily="34" charset="0"/>
                <a:ea typeface="Calibri" pitchFamily="34" charset="-122"/>
                <a:cs typeface="Calibri" pitchFamily="34" charset="-120"/>
              </a:rPr>
              <a:t>what to style</a:t>
            </a:r>
            <a:endParaRPr lang="en-US" sz="950" dirty="0"/>
          </a:p>
        </p:txBody>
      </p:sp>
      <p:sp>
        <p:nvSpPr>
          <p:cNvPr id="13" name="Shape 10"/>
          <p:cNvSpPr/>
          <p:nvPr/>
        </p:nvSpPr>
        <p:spPr>
          <a:xfrm>
            <a:off x="2450592" y="1883664"/>
            <a:ext cx="457200" cy="292608"/>
          </a:xfrm>
          <a:prstGeom prst="line">
            <a:avLst/>
          </a:prstGeom>
          <a:noFill/>
          <a:ln w="15875">
            <a:solidFill>
              <a:srgbClr val="15202B"/>
            </a:solidFill>
            <a:prstDash val="dash"/>
            <a:tailEnd type="triangle"/>
          </a:ln>
        </p:spPr>
      </p:sp>
      <p:sp>
        <p:nvSpPr>
          <p:cNvPr id="14" name="Shape 11"/>
          <p:cNvSpPr/>
          <p:nvPr/>
        </p:nvSpPr>
        <p:spPr>
          <a:xfrm>
            <a:off x="640080" y="2395728"/>
            <a:ext cx="1783080" cy="548640"/>
          </a:xfrm>
          <a:prstGeom prst="roundRect">
            <a:avLst>
              <a:gd name="adj" fmla="val 13333"/>
            </a:avLst>
          </a:prstGeom>
          <a:solidFill>
            <a:srgbClr val="E7EEFD"/>
          </a:solidFill>
          <a:ln w="15875">
            <a:solidFill>
              <a:srgbClr val="15202B"/>
            </a:solidFill>
            <a:prstDash val="solid"/>
          </a:ln>
        </p:spPr>
      </p:sp>
      <p:sp>
        <p:nvSpPr>
          <p:cNvPr id="15" name="Text 12"/>
          <p:cNvSpPr/>
          <p:nvPr/>
        </p:nvSpPr>
        <p:spPr>
          <a:xfrm>
            <a:off x="768096" y="2432304"/>
            <a:ext cx="1527048" cy="274320"/>
          </a:xfrm>
          <a:prstGeom prst="rect">
            <a:avLst/>
          </a:prstGeom>
          <a:noFill/>
          <a:ln/>
        </p:spPr>
        <p:txBody>
          <a:bodyPr wrap="square" lIns="0" tIns="0" rIns="0" bIns="0" rtlCol="0" anchor="ctr"/>
          <a:lstStyle/>
          <a:p>
            <a:pPr indent="0" marL="0">
              <a:buNone/>
            </a:pPr>
            <a:r>
              <a:rPr lang="en-US" sz="1150" b="1" dirty="0">
                <a:solidFill>
                  <a:srgbClr val="15202B"/>
                </a:solidFill>
                <a:latin typeface="Courier New" pitchFamily="34" charset="0"/>
                <a:ea typeface="Courier New" pitchFamily="34" charset="-122"/>
                <a:cs typeface="Courier New" pitchFamily="34" charset="-120"/>
              </a:rPr>
              <a:t>property</a:t>
            </a:r>
            <a:endParaRPr lang="en-US" sz="1150" dirty="0"/>
          </a:p>
        </p:txBody>
      </p:sp>
      <p:sp>
        <p:nvSpPr>
          <p:cNvPr id="16" name="Text 13"/>
          <p:cNvSpPr/>
          <p:nvPr/>
        </p:nvSpPr>
        <p:spPr>
          <a:xfrm>
            <a:off x="768096" y="2670048"/>
            <a:ext cx="1527048" cy="256032"/>
          </a:xfrm>
          <a:prstGeom prst="rect">
            <a:avLst/>
          </a:prstGeom>
          <a:noFill/>
          <a:ln/>
        </p:spPr>
        <p:txBody>
          <a:bodyPr wrap="square" lIns="0" tIns="0" rIns="0" bIns="0" rtlCol="0" anchor="ctr"/>
          <a:lstStyle/>
          <a:p>
            <a:pPr indent="0" marL="0">
              <a:buNone/>
            </a:pPr>
            <a:r>
              <a:rPr lang="en-US" sz="950" dirty="0">
                <a:solidFill>
                  <a:srgbClr val="55616F"/>
                </a:solidFill>
                <a:latin typeface="Calibri" pitchFamily="34" charset="0"/>
                <a:ea typeface="Calibri" pitchFamily="34" charset="-122"/>
                <a:cs typeface="Calibri" pitchFamily="34" charset="-120"/>
              </a:rPr>
              <a:t>which thing to change</a:t>
            </a:r>
            <a:endParaRPr lang="en-US" sz="950" dirty="0"/>
          </a:p>
        </p:txBody>
      </p:sp>
      <p:sp>
        <p:nvSpPr>
          <p:cNvPr id="17" name="Shape 14"/>
          <p:cNvSpPr/>
          <p:nvPr/>
        </p:nvSpPr>
        <p:spPr>
          <a:xfrm>
            <a:off x="2450592" y="2670048"/>
            <a:ext cx="502920" cy="0"/>
          </a:xfrm>
          <a:prstGeom prst="line">
            <a:avLst/>
          </a:prstGeom>
          <a:noFill/>
          <a:ln w="15875">
            <a:solidFill>
              <a:srgbClr val="15202B"/>
            </a:solidFill>
            <a:prstDash val="dash"/>
            <a:tailEnd type="triangle"/>
          </a:ln>
        </p:spPr>
      </p:sp>
      <p:sp>
        <p:nvSpPr>
          <p:cNvPr id="18" name="Shape 15"/>
          <p:cNvSpPr/>
          <p:nvPr/>
        </p:nvSpPr>
        <p:spPr>
          <a:xfrm>
            <a:off x="640080" y="3182112"/>
            <a:ext cx="1783080" cy="548640"/>
          </a:xfrm>
          <a:prstGeom prst="roundRect">
            <a:avLst>
              <a:gd name="adj" fmla="val 13333"/>
            </a:avLst>
          </a:prstGeom>
          <a:solidFill>
            <a:srgbClr val="E7EEFD"/>
          </a:solidFill>
          <a:ln w="15875">
            <a:solidFill>
              <a:srgbClr val="15202B"/>
            </a:solidFill>
            <a:prstDash val="solid"/>
          </a:ln>
        </p:spPr>
      </p:sp>
      <p:sp>
        <p:nvSpPr>
          <p:cNvPr id="19" name="Text 16"/>
          <p:cNvSpPr/>
          <p:nvPr/>
        </p:nvSpPr>
        <p:spPr>
          <a:xfrm>
            <a:off x="768096" y="3218688"/>
            <a:ext cx="1527048" cy="274320"/>
          </a:xfrm>
          <a:prstGeom prst="rect">
            <a:avLst/>
          </a:prstGeom>
          <a:noFill/>
          <a:ln/>
        </p:spPr>
        <p:txBody>
          <a:bodyPr wrap="square" lIns="0" tIns="0" rIns="0" bIns="0" rtlCol="0" anchor="ctr"/>
          <a:lstStyle/>
          <a:p>
            <a:pPr indent="0" marL="0">
              <a:buNone/>
            </a:pPr>
            <a:r>
              <a:rPr lang="en-US" sz="1150" b="1" dirty="0">
                <a:solidFill>
                  <a:srgbClr val="15202B"/>
                </a:solidFill>
                <a:latin typeface="Courier New" pitchFamily="34" charset="0"/>
                <a:ea typeface="Courier New" pitchFamily="34" charset="-122"/>
                <a:cs typeface="Courier New" pitchFamily="34" charset="-120"/>
              </a:rPr>
              <a:t>value</a:t>
            </a:r>
            <a:endParaRPr lang="en-US" sz="1150" dirty="0"/>
          </a:p>
        </p:txBody>
      </p:sp>
      <p:sp>
        <p:nvSpPr>
          <p:cNvPr id="20" name="Text 17"/>
          <p:cNvSpPr/>
          <p:nvPr/>
        </p:nvSpPr>
        <p:spPr>
          <a:xfrm>
            <a:off x="768096" y="3456432"/>
            <a:ext cx="1527048" cy="256032"/>
          </a:xfrm>
          <a:prstGeom prst="rect">
            <a:avLst/>
          </a:prstGeom>
          <a:noFill/>
          <a:ln/>
        </p:spPr>
        <p:txBody>
          <a:bodyPr wrap="square" lIns="0" tIns="0" rIns="0" bIns="0" rtlCol="0" anchor="ctr"/>
          <a:lstStyle/>
          <a:p>
            <a:pPr indent="0" marL="0">
              <a:buNone/>
            </a:pPr>
            <a:r>
              <a:rPr lang="en-US" sz="950" dirty="0">
                <a:solidFill>
                  <a:srgbClr val="55616F"/>
                </a:solidFill>
                <a:latin typeface="Calibri" pitchFamily="34" charset="0"/>
                <a:ea typeface="Calibri" pitchFamily="34" charset="-122"/>
                <a:cs typeface="Calibri" pitchFamily="34" charset="-120"/>
              </a:rPr>
              <a:t>what to change it to</a:t>
            </a:r>
            <a:endParaRPr lang="en-US" sz="950" dirty="0"/>
          </a:p>
        </p:txBody>
      </p:sp>
      <p:sp>
        <p:nvSpPr>
          <p:cNvPr id="21" name="Shape 18"/>
          <p:cNvSpPr/>
          <p:nvPr/>
        </p:nvSpPr>
        <p:spPr>
          <a:xfrm>
            <a:off x="2450592" y="3456432"/>
            <a:ext cx="1691640" cy="-109728"/>
          </a:xfrm>
          <a:prstGeom prst="line">
            <a:avLst/>
          </a:prstGeom>
          <a:noFill/>
          <a:ln w="15875">
            <a:solidFill>
              <a:srgbClr val="15202B"/>
            </a:solidFill>
            <a:prstDash val="dash"/>
            <a:tailEnd type="triangle"/>
          </a:ln>
        </p:spPr>
      </p:sp>
      <p:sp>
        <p:nvSpPr>
          <p:cNvPr id="22" name="Shape 19"/>
          <p:cNvSpPr/>
          <p:nvPr/>
        </p:nvSpPr>
        <p:spPr>
          <a:xfrm>
            <a:off x="9784080" y="1737360"/>
            <a:ext cx="1783080" cy="548640"/>
          </a:xfrm>
          <a:prstGeom prst="roundRect">
            <a:avLst>
              <a:gd name="adj" fmla="val 13333"/>
            </a:avLst>
          </a:prstGeom>
          <a:solidFill>
            <a:srgbClr val="E7EEFD"/>
          </a:solidFill>
          <a:ln w="15875">
            <a:solidFill>
              <a:srgbClr val="15202B"/>
            </a:solidFill>
            <a:prstDash val="solid"/>
          </a:ln>
        </p:spPr>
      </p:sp>
      <p:sp>
        <p:nvSpPr>
          <p:cNvPr id="23" name="Text 20"/>
          <p:cNvSpPr/>
          <p:nvPr/>
        </p:nvSpPr>
        <p:spPr>
          <a:xfrm>
            <a:off x="9912096" y="1773936"/>
            <a:ext cx="1527048" cy="274320"/>
          </a:xfrm>
          <a:prstGeom prst="rect">
            <a:avLst/>
          </a:prstGeom>
          <a:noFill/>
          <a:ln/>
        </p:spPr>
        <p:txBody>
          <a:bodyPr wrap="square" lIns="0" tIns="0" rIns="0" bIns="0" rtlCol="0" anchor="ctr"/>
          <a:lstStyle/>
          <a:p>
            <a:pPr indent="0" marL="0">
              <a:buNone/>
            </a:pPr>
            <a:r>
              <a:rPr lang="en-US" sz="1150" b="1" dirty="0">
                <a:solidFill>
                  <a:srgbClr val="15202B"/>
                </a:solidFill>
                <a:latin typeface="Courier New" pitchFamily="34" charset="0"/>
                <a:ea typeface="Courier New" pitchFamily="34" charset="-122"/>
                <a:cs typeface="Courier New" pitchFamily="34" charset="-120"/>
              </a:rPr>
              <a:t>{  }</a:t>
            </a:r>
            <a:endParaRPr lang="en-US" sz="1150" dirty="0"/>
          </a:p>
        </p:txBody>
      </p:sp>
      <p:sp>
        <p:nvSpPr>
          <p:cNvPr id="24" name="Text 21"/>
          <p:cNvSpPr/>
          <p:nvPr/>
        </p:nvSpPr>
        <p:spPr>
          <a:xfrm>
            <a:off x="9912096" y="2011680"/>
            <a:ext cx="1527048" cy="256032"/>
          </a:xfrm>
          <a:prstGeom prst="rect">
            <a:avLst/>
          </a:prstGeom>
          <a:noFill/>
          <a:ln/>
        </p:spPr>
        <p:txBody>
          <a:bodyPr wrap="square" lIns="0" tIns="0" rIns="0" bIns="0" rtlCol="0" anchor="ctr"/>
          <a:lstStyle/>
          <a:p>
            <a:pPr indent="0" marL="0">
              <a:buNone/>
            </a:pPr>
            <a:r>
              <a:rPr lang="en-US" sz="950" dirty="0">
                <a:solidFill>
                  <a:srgbClr val="55616F"/>
                </a:solidFill>
                <a:latin typeface="Calibri" pitchFamily="34" charset="0"/>
                <a:ea typeface="Calibri" pitchFamily="34" charset="-122"/>
                <a:cs typeface="Calibri" pitchFamily="34" charset="-120"/>
              </a:rPr>
              <a:t>holds the declarations</a:t>
            </a:r>
            <a:endParaRPr lang="en-US" sz="950" dirty="0"/>
          </a:p>
        </p:txBody>
      </p:sp>
      <p:sp>
        <p:nvSpPr>
          <p:cNvPr id="25" name="Shape 22"/>
          <p:cNvSpPr/>
          <p:nvPr/>
        </p:nvSpPr>
        <p:spPr>
          <a:xfrm>
            <a:off x="9710928" y="2011680"/>
            <a:ext cx="-320040" cy="0"/>
          </a:xfrm>
          <a:prstGeom prst="line">
            <a:avLst/>
          </a:prstGeom>
          <a:noFill/>
          <a:ln w="15875">
            <a:solidFill>
              <a:srgbClr val="15202B"/>
            </a:solidFill>
            <a:prstDash val="dash"/>
            <a:tailEnd type="triangle"/>
          </a:ln>
        </p:spPr>
      </p:sp>
      <p:sp>
        <p:nvSpPr>
          <p:cNvPr id="26" name="Shape 23"/>
          <p:cNvSpPr/>
          <p:nvPr/>
        </p:nvSpPr>
        <p:spPr>
          <a:xfrm>
            <a:off x="9784080" y="2670048"/>
            <a:ext cx="1783080" cy="548640"/>
          </a:xfrm>
          <a:prstGeom prst="roundRect">
            <a:avLst>
              <a:gd name="adj" fmla="val 13333"/>
            </a:avLst>
          </a:prstGeom>
          <a:solidFill>
            <a:srgbClr val="E7EEFD"/>
          </a:solidFill>
          <a:ln w="15875">
            <a:solidFill>
              <a:srgbClr val="15202B"/>
            </a:solidFill>
            <a:prstDash val="solid"/>
          </a:ln>
        </p:spPr>
      </p:sp>
      <p:sp>
        <p:nvSpPr>
          <p:cNvPr id="27" name="Text 24"/>
          <p:cNvSpPr/>
          <p:nvPr/>
        </p:nvSpPr>
        <p:spPr>
          <a:xfrm>
            <a:off x="9912096" y="2706624"/>
            <a:ext cx="1527048" cy="274320"/>
          </a:xfrm>
          <a:prstGeom prst="rect">
            <a:avLst/>
          </a:prstGeom>
          <a:noFill/>
          <a:ln/>
        </p:spPr>
        <p:txBody>
          <a:bodyPr wrap="square" lIns="0" tIns="0" rIns="0" bIns="0" rtlCol="0" anchor="ctr"/>
          <a:lstStyle/>
          <a:p>
            <a:pPr indent="0" marL="0">
              <a:buNone/>
            </a:pPr>
            <a:r>
              <a:rPr lang="en-US" sz="1150" b="1" dirty="0">
                <a:solidFill>
                  <a:srgbClr val="15202B"/>
                </a:solidFill>
                <a:latin typeface="Courier New" pitchFamily="34" charset="0"/>
                <a:ea typeface="Courier New" pitchFamily="34" charset="-122"/>
                <a:cs typeface="Courier New" pitchFamily="34" charset="-120"/>
              </a:rPr>
              <a:t>declaration</a:t>
            </a:r>
            <a:endParaRPr lang="en-US" sz="1150" dirty="0"/>
          </a:p>
        </p:txBody>
      </p:sp>
      <p:sp>
        <p:nvSpPr>
          <p:cNvPr id="28" name="Text 25"/>
          <p:cNvSpPr/>
          <p:nvPr/>
        </p:nvSpPr>
        <p:spPr>
          <a:xfrm>
            <a:off x="9912096" y="2944368"/>
            <a:ext cx="1527048" cy="256032"/>
          </a:xfrm>
          <a:prstGeom prst="rect">
            <a:avLst/>
          </a:prstGeom>
          <a:noFill/>
          <a:ln/>
        </p:spPr>
        <p:txBody>
          <a:bodyPr wrap="square" lIns="0" tIns="0" rIns="0" bIns="0" rtlCol="0" anchor="ctr"/>
          <a:lstStyle/>
          <a:p>
            <a:pPr indent="0" marL="0">
              <a:buNone/>
            </a:pPr>
            <a:r>
              <a:rPr lang="en-US" sz="950" dirty="0">
                <a:solidFill>
                  <a:srgbClr val="55616F"/>
                </a:solidFill>
                <a:latin typeface="Calibri" pitchFamily="34" charset="0"/>
                <a:ea typeface="Calibri" pitchFamily="34" charset="-122"/>
                <a:cs typeface="Calibri" pitchFamily="34" charset="-120"/>
              </a:rPr>
              <a:t>one property and value</a:t>
            </a:r>
            <a:endParaRPr lang="en-US" sz="950" dirty="0"/>
          </a:p>
        </p:txBody>
      </p:sp>
      <p:sp>
        <p:nvSpPr>
          <p:cNvPr id="29" name="Shape 26"/>
          <p:cNvSpPr/>
          <p:nvPr/>
        </p:nvSpPr>
        <p:spPr>
          <a:xfrm>
            <a:off x="9710928" y="2944368"/>
            <a:ext cx="-1463040" cy="0"/>
          </a:xfrm>
          <a:prstGeom prst="line">
            <a:avLst/>
          </a:prstGeom>
          <a:noFill/>
          <a:ln w="15875">
            <a:solidFill>
              <a:srgbClr val="15202B"/>
            </a:solidFill>
            <a:prstDash val="dash"/>
            <a:tailEnd type="triangle"/>
          </a:ln>
        </p:spPr>
      </p:sp>
      <p:sp>
        <p:nvSpPr>
          <p:cNvPr id="30" name="Shape 27"/>
          <p:cNvSpPr/>
          <p:nvPr/>
        </p:nvSpPr>
        <p:spPr>
          <a:xfrm>
            <a:off x="9784080" y="3602736"/>
            <a:ext cx="1783080" cy="548640"/>
          </a:xfrm>
          <a:prstGeom prst="roundRect">
            <a:avLst>
              <a:gd name="adj" fmla="val 13333"/>
            </a:avLst>
          </a:prstGeom>
          <a:solidFill>
            <a:srgbClr val="E7EEFD"/>
          </a:solidFill>
          <a:ln w="15875">
            <a:solidFill>
              <a:srgbClr val="15202B"/>
            </a:solidFill>
            <a:prstDash val="solid"/>
          </a:ln>
        </p:spPr>
      </p:sp>
      <p:sp>
        <p:nvSpPr>
          <p:cNvPr id="31" name="Text 28"/>
          <p:cNvSpPr/>
          <p:nvPr/>
        </p:nvSpPr>
        <p:spPr>
          <a:xfrm>
            <a:off x="9912096" y="3639312"/>
            <a:ext cx="1527048" cy="274320"/>
          </a:xfrm>
          <a:prstGeom prst="rect">
            <a:avLst/>
          </a:prstGeom>
          <a:noFill/>
          <a:ln/>
        </p:spPr>
        <p:txBody>
          <a:bodyPr wrap="square" lIns="0" tIns="0" rIns="0" bIns="0" rtlCol="0" anchor="ctr"/>
          <a:lstStyle/>
          <a:p>
            <a:pPr indent="0" marL="0">
              <a:buNone/>
            </a:pPr>
            <a:r>
              <a:rPr lang="en-US" sz="1150" b="1" dirty="0">
                <a:solidFill>
                  <a:srgbClr val="15202B"/>
                </a:solidFill>
                <a:latin typeface="Courier New" pitchFamily="34" charset="0"/>
                <a:ea typeface="Courier New" pitchFamily="34" charset="-122"/>
                <a:cs typeface="Courier New" pitchFamily="34" charset="-120"/>
              </a:rPr>
              <a:t>;</a:t>
            </a:r>
            <a:endParaRPr lang="en-US" sz="1150" dirty="0"/>
          </a:p>
        </p:txBody>
      </p:sp>
      <p:sp>
        <p:nvSpPr>
          <p:cNvPr id="32" name="Text 29"/>
          <p:cNvSpPr/>
          <p:nvPr/>
        </p:nvSpPr>
        <p:spPr>
          <a:xfrm>
            <a:off x="9912096" y="3877056"/>
            <a:ext cx="1527048" cy="256032"/>
          </a:xfrm>
          <a:prstGeom prst="rect">
            <a:avLst/>
          </a:prstGeom>
          <a:noFill/>
          <a:ln/>
        </p:spPr>
        <p:txBody>
          <a:bodyPr wrap="square" lIns="0" tIns="0" rIns="0" bIns="0" rtlCol="0" anchor="ctr"/>
          <a:lstStyle/>
          <a:p>
            <a:pPr indent="0" marL="0">
              <a:buNone/>
            </a:pPr>
            <a:r>
              <a:rPr lang="en-US" sz="950" dirty="0">
                <a:solidFill>
                  <a:srgbClr val="55616F"/>
                </a:solidFill>
                <a:latin typeface="Calibri" pitchFamily="34" charset="0"/>
                <a:ea typeface="Calibri" pitchFamily="34" charset="-122"/>
                <a:cs typeface="Calibri" pitchFamily="34" charset="-120"/>
              </a:rPr>
              <a:t>ends each declaration</a:t>
            </a:r>
            <a:endParaRPr lang="en-US" sz="950" dirty="0"/>
          </a:p>
        </p:txBody>
      </p:sp>
      <p:sp>
        <p:nvSpPr>
          <p:cNvPr id="33" name="Shape 30"/>
          <p:cNvSpPr/>
          <p:nvPr/>
        </p:nvSpPr>
        <p:spPr>
          <a:xfrm>
            <a:off x="9710928" y="3877056"/>
            <a:ext cx="-1920240" cy="-320040"/>
          </a:xfrm>
          <a:prstGeom prst="line">
            <a:avLst/>
          </a:prstGeom>
          <a:noFill/>
          <a:ln w="15875">
            <a:solidFill>
              <a:srgbClr val="15202B"/>
            </a:solidFill>
            <a:prstDash val="dash"/>
            <a:tailEnd type="triangle"/>
          </a:ln>
        </p:spPr>
      </p:sp>
      <p:sp>
        <p:nvSpPr>
          <p:cNvPr id="34" name="Shape 31"/>
          <p:cNvSpPr/>
          <p:nvPr/>
        </p:nvSpPr>
        <p:spPr>
          <a:xfrm>
            <a:off x="3566160" y="4315968"/>
            <a:ext cx="5120640" cy="1170432"/>
          </a:xfrm>
          <a:prstGeom prst="roundRect">
            <a:avLst>
              <a:gd name="adj" fmla="val 7813"/>
            </a:avLst>
          </a:prstGeom>
          <a:solidFill>
            <a:srgbClr val="FFFFFF"/>
          </a:solidFill>
          <a:ln w="15875">
            <a:solidFill>
              <a:srgbClr val="D9DEE7"/>
            </a:solidFill>
            <a:prstDash val="solid"/>
          </a:ln>
          <a:effectLst>
            <a:outerShdw sx="100000" sy="100000" kx="0" ky="0" algn="bl" rotWithShape="0" blurRad="127000" dist="25400" dir="5400000">
              <a:srgbClr val="8B95A6">
                <a:alpha val="25000"/>
              </a:srgbClr>
            </a:outerShdw>
          </a:effectLst>
        </p:spPr>
      </p:sp>
      <p:sp>
        <p:nvSpPr>
          <p:cNvPr id="35" name="Shape 32"/>
          <p:cNvSpPr/>
          <p:nvPr/>
        </p:nvSpPr>
        <p:spPr>
          <a:xfrm>
            <a:off x="3566160" y="4315968"/>
            <a:ext cx="5120640" cy="292608"/>
          </a:xfrm>
          <a:prstGeom prst="roundRect">
            <a:avLst>
              <a:gd name="adj" fmla="val 31250"/>
            </a:avLst>
          </a:prstGeom>
          <a:solidFill>
            <a:srgbClr val="EFF2F7"/>
          </a:solidFill>
          <a:ln w="15875">
            <a:solidFill>
              <a:srgbClr val="D9DEE7"/>
            </a:solidFill>
            <a:prstDash val="solid"/>
          </a:ln>
        </p:spPr>
      </p:sp>
      <p:sp>
        <p:nvSpPr>
          <p:cNvPr id="36" name="Shape 33"/>
          <p:cNvSpPr/>
          <p:nvPr/>
        </p:nvSpPr>
        <p:spPr>
          <a:xfrm>
            <a:off x="3712464" y="4416552"/>
            <a:ext cx="91440" cy="91440"/>
          </a:xfrm>
          <a:prstGeom prst="ellipse">
            <a:avLst/>
          </a:prstGeom>
          <a:solidFill>
            <a:srgbClr val="E06C61"/>
          </a:solidFill>
          <a:ln w="6350">
            <a:solidFill>
              <a:srgbClr val="E06C61"/>
            </a:solidFill>
            <a:prstDash val="solid"/>
          </a:ln>
        </p:spPr>
      </p:sp>
      <p:sp>
        <p:nvSpPr>
          <p:cNvPr id="37" name="Shape 34"/>
          <p:cNvSpPr/>
          <p:nvPr/>
        </p:nvSpPr>
        <p:spPr>
          <a:xfrm>
            <a:off x="3867912" y="4416552"/>
            <a:ext cx="91440" cy="91440"/>
          </a:xfrm>
          <a:prstGeom prst="ellipse">
            <a:avLst/>
          </a:prstGeom>
          <a:solidFill>
            <a:srgbClr val="E8B44A"/>
          </a:solidFill>
          <a:ln w="6350">
            <a:solidFill>
              <a:srgbClr val="E8B44A"/>
            </a:solidFill>
            <a:prstDash val="solid"/>
          </a:ln>
        </p:spPr>
      </p:sp>
      <p:sp>
        <p:nvSpPr>
          <p:cNvPr id="38" name="Shape 35"/>
          <p:cNvSpPr/>
          <p:nvPr/>
        </p:nvSpPr>
        <p:spPr>
          <a:xfrm>
            <a:off x="4023360" y="4416552"/>
            <a:ext cx="91440" cy="91440"/>
          </a:xfrm>
          <a:prstGeom prst="ellipse">
            <a:avLst/>
          </a:prstGeom>
          <a:solidFill>
            <a:srgbClr val="62BD6B"/>
          </a:solidFill>
          <a:ln w="6350">
            <a:solidFill>
              <a:srgbClr val="62BD6B"/>
            </a:solidFill>
            <a:prstDash val="solid"/>
          </a:ln>
        </p:spPr>
      </p:sp>
      <p:sp>
        <p:nvSpPr>
          <p:cNvPr id="39" name="Text 36"/>
          <p:cNvSpPr/>
          <p:nvPr/>
        </p:nvSpPr>
        <p:spPr>
          <a:xfrm>
            <a:off x="4224528" y="4315968"/>
            <a:ext cx="4297680" cy="292608"/>
          </a:xfrm>
          <a:prstGeom prst="rect">
            <a:avLst/>
          </a:prstGeom>
          <a:noFill/>
          <a:ln/>
        </p:spPr>
        <p:txBody>
          <a:bodyPr wrap="square" lIns="0" tIns="0" rIns="0" bIns="0" rtlCol="0" anchor="ctr"/>
          <a:lstStyle/>
          <a:p>
            <a:pPr indent="0" marL="0">
              <a:buNone/>
            </a:pPr>
            <a:r>
              <a:rPr lang="en-US" sz="850" dirty="0">
                <a:solidFill>
                  <a:srgbClr val="939DAB"/>
                </a:solidFill>
                <a:latin typeface="Courier New" pitchFamily="34" charset="0"/>
                <a:ea typeface="Courier New" pitchFamily="34" charset="-122"/>
                <a:cs typeface="Courier New" pitchFamily="34" charset="-120"/>
              </a:rPr>
              <a:t>index.html</a:t>
            </a:r>
            <a:endParaRPr lang="en-US" sz="850" dirty="0"/>
          </a:p>
        </p:txBody>
      </p:sp>
      <p:sp>
        <p:nvSpPr>
          <p:cNvPr id="40" name="Text 37"/>
          <p:cNvSpPr/>
          <p:nvPr/>
        </p:nvSpPr>
        <p:spPr>
          <a:xfrm>
            <a:off x="3749040" y="4626864"/>
            <a:ext cx="4754880" cy="786384"/>
          </a:xfrm>
          <a:prstGeom prst="rect">
            <a:avLst/>
          </a:prstGeom>
          <a:noFill/>
          <a:ln/>
        </p:spPr>
        <p:txBody>
          <a:bodyPr wrap="square" lIns="0" tIns="0" rIns="0" bIns="0" rtlCol="0" anchor="ctr"/>
          <a:lstStyle/>
          <a:p>
            <a:pPr indent="0" marL="0">
              <a:buNone/>
            </a:pPr>
            <a:r>
              <a:rPr lang="en-US" sz="2800" b="1" dirty="0">
                <a:solidFill>
                  <a:srgbClr val="E03131"/>
                </a:solidFill>
                <a:latin typeface="Calibri" pitchFamily="34" charset="0"/>
                <a:ea typeface="Calibri" pitchFamily="34" charset="-122"/>
                <a:cs typeface="Calibri" pitchFamily="34" charset="-120"/>
              </a:rPr>
              <a:t>Welcome to Scaler</a:t>
            </a:r>
            <a:endParaRPr lang="en-US" sz="2800" dirty="0"/>
          </a:p>
        </p:txBody>
      </p:sp>
      <p:sp>
        <p:nvSpPr>
          <p:cNvPr id="41" name="Shape 38"/>
          <p:cNvSpPr/>
          <p:nvPr/>
        </p:nvSpPr>
        <p:spPr>
          <a:xfrm>
            <a:off x="640080" y="5669280"/>
            <a:ext cx="10908792" cy="566928"/>
          </a:xfrm>
          <a:prstGeom prst="roundRect">
            <a:avLst>
              <a:gd name="adj" fmla="val 16129"/>
            </a:avLst>
          </a:prstGeom>
          <a:solidFill>
            <a:srgbClr val="E7EEFD"/>
          </a:solidFill>
          <a:ln w="12700">
            <a:solidFill>
              <a:srgbClr val="B6CDFA"/>
            </a:solidFill>
            <a:prstDash val="solid"/>
          </a:ln>
          <a:effectLst>
            <a:outerShdw sx="100000" sy="100000" kx="0" ky="0" algn="bl" rotWithShape="0" blurRad="177800" dist="38100" dir="5400000">
              <a:srgbClr val="000000">
                <a:alpha val="35000"/>
              </a:srgbClr>
            </a:outerShdw>
          </a:effectLst>
        </p:spPr>
      </p:sp>
      <p:sp>
        <p:nvSpPr>
          <p:cNvPr id="42" name="Text 39"/>
          <p:cNvSpPr/>
          <p:nvPr/>
        </p:nvSpPr>
        <p:spPr>
          <a:xfrm>
            <a:off x="914400" y="5669280"/>
            <a:ext cx="10360152" cy="566928"/>
          </a:xfrm>
          <a:prstGeom prst="rect">
            <a:avLst/>
          </a:prstGeom>
          <a:noFill/>
          <a:ln/>
        </p:spPr>
        <p:txBody>
          <a:bodyPr wrap="square" lIns="0" tIns="0" rIns="0" bIns="0" rtlCol="0" anchor="ctr"/>
          <a:lstStyle/>
          <a:p>
            <a:pPr algn="ctr" indent="0" marL="0">
              <a:buNone/>
            </a:pPr>
            <a:r>
              <a:rPr lang="en-US" sz="1550" b="1" dirty="0">
                <a:solidFill>
                  <a:srgbClr val="15202B"/>
                </a:solidFill>
                <a:latin typeface="Calibri" pitchFamily="34" charset="0"/>
                <a:ea typeface="Calibri" pitchFamily="34" charset="-122"/>
                <a:cs typeface="Calibri" pitchFamily="34" charset="-120"/>
              </a:rPr>
              <a:t>Selector, then a pair of braces, then declarations of property and value.</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826"/>
        </a:solidFill>
      </p:bgPr>
    </p:bg>
    <p:spTree>
      <p:nvGrpSpPr>
        <p:cNvPr id="1" name=""/>
        <p:cNvGrpSpPr/>
        <p:nvPr/>
      </p:nvGrpSpPr>
      <p:grpSpPr>
        <a:xfrm>
          <a:off x="0" y="0"/>
          <a:ext cx="0" cy="0"/>
          <a:chOff x="0" y="0"/>
          <a:chExt cx="0" cy="0"/>
        </a:xfrm>
      </p:grpSpPr>
      <p:sp>
        <p:nvSpPr>
          <p:cNvPr id="3" name="Text 0"/>
          <p:cNvSpPr/>
          <p:nvPr/>
        </p:nvSpPr>
        <p:spPr>
          <a:xfrm>
            <a:off x="640080" y="6364224"/>
            <a:ext cx="3657600" cy="256032"/>
          </a:xfrm>
          <a:prstGeom prst="rect">
            <a:avLst/>
          </a:prstGeom>
          <a:noFill/>
          <a:ln/>
        </p:spPr>
        <p:txBody>
          <a:bodyPr wrap="square" lIns="0" tIns="0" rIns="0" bIns="0" rtlCol="0" anchor="ctr"/>
          <a:lstStyle/>
          <a:p>
            <a:pPr indent="0" marL="0">
              <a:buNone/>
            </a:pPr>
            <a:r>
              <a:rPr lang="en-US" sz="900" dirty="0">
                <a:solidFill>
                  <a:srgbClr val="5C6478"/>
                </a:solidFill>
                <a:latin typeface="Courier New" pitchFamily="34" charset="0"/>
                <a:ea typeface="Courier New" pitchFamily="34" charset="-122"/>
                <a:cs typeface="Courier New" pitchFamily="34" charset="-120"/>
              </a:rPr>
              <a:t>CLASS 03  ·  CSS</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5C6478"/>
                </a:solidFill>
                <a:latin typeface="Courier New" pitchFamily="34" charset="0"/>
                <a:ea typeface="Courier New" pitchFamily="34" charset="-122"/>
                <a:cs typeface="Courier New" pitchFamily="34" charset="-120"/>
              </a:rPr>
              <a:t>03</a:t>
            </a:r>
            <a:endParaRPr lang="en-US" sz="900" dirty="0"/>
          </a:p>
        </p:txBody>
      </p:sp>
      <p:sp>
        <p:nvSpPr>
          <p:cNvPr id="5" name="Shape 2"/>
          <p:cNvSpPr/>
          <p:nvPr/>
        </p:nvSpPr>
        <p:spPr>
          <a:xfrm>
            <a:off x="640080" y="384048"/>
            <a:ext cx="1508760" cy="329184"/>
          </a:xfrm>
          <a:prstGeom prst="roundRect">
            <a:avLst>
              <a:gd name="adj" fmla="val 22222"/>
            </a:avLst>
          </a:prstGeom>
          <a:solidFill>
            <a:srgbClr val="2C6BED"/>
          </a:solidFill>
          <a:ln w="12700">
            <a:solidFill>
              <a:srgbClr val="2C6BED"/>
            </a:solidFill>
            <a:prstDash val="solid"/>
          </a:ln>
        </p:spPr>
      </p:sp>
      <p:sp>
        <p:nvSpPr>
          <p:cNvPr id="6" name="Text 3"/>
          <p:cNvSpPr/>
          <p:nvPr/>
        </p:nvSpPr>
        <p:spPr>
          <a:xfrm>
            <a:off x="640080" y="384048"/>
            <a:ext cx="1508760" cy="329184"/>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LIVE CODE</a:t>
            </a:r>
            <a:endParaRPr lang="en-US" sz="1050" dirty="0"/>
          </a:p>
        </p:txBody>
      </p:sp>
      <p:sp>
        <p:nvSpPr>
          <p:cNvPr id="7" name="Text 4"/>
          <p:cNvSpPr/>
          <p:nvPr/>
        </p:nvSpPr>
        <p:spPr>
          <a:xfrm>
            <a:off x="2331720" y="384048"/>
            <a:ext cx="5486400" cy="329184"/>
          </a:xfrm>
          <a:prstGeom prst="rect">
            <a:avLst/>
          </a:prstGeom>
          <a:noFill/>
          <a:ln/>
        </p:spPr>
        <p:txBody>
          <a:bodyPr wrap="square" lIns="0" tIns="0" rIns="0" bIns="0" rtlCol="0" anchor="ctr"/>
          <a:lstStyle/>
          <a:p>
            <a:pPr indent="0" marL="0">
              <a:buNone/>
            </a:pPr>
            <a:r>
              <a:rPr lang="en-US" sz="1200" dirty="0">
                <a:solidFill>
                  <a:srgbClr val="FFD08A"/>
                </a:solidFill>
                <a:latin typeface="Courier New" pitchFamily="34" charset="0"/>
                <a:ea typeface="Courier New" pitchFamily="34" charset="-122"/>
                <a:cs typeface="Courier New" pitchFamily="34" charset="-120"/>
              </a:rPr>
              <a:t>index.html</a:t>
            </a:r>
            <a:endParaRPr lang="en-US" sz="1200" dirty="0"/>
          </a:p>
        </p:txBody>
      </p:sp>
      <p:sp>
        <p:nvSpPr>
          <p:cNvPr id="8" name="Text 5"/>
          <p:cNvSpPr/>
          <p:nvPr/>
        </p:nvSpPr>
        <p:spPr>
          <a:xfrm>
            <a:off x="640080" y="822960"/>
            <a:ext cx="10881360" cy="548640"/>
          </a:xfrm>
          <a:prstGeom prst="rect">
            <a:avLst/>
          </a:prstGeom>
          <a:noFill/>
          <a:ln/>
        </p:spPr>
        <p:txBody>
          <a:bodyPr wrap="square" lIns="0" tIns="0" rIns="0" bIns="0" rtlCol="0" anchor="ctr"/>
          <a:lstStyle/>
          <a:p>
            <a:pPr indent="0" marL="0">
              <a:buNone/>
            </a:pPr>
            <a:r>
              <a:rPr lang="en-US" sz="2900" b="1" dirty="0">
                <a:solidFill>
                  <a:srgbClr val="FFFFFF"/>
                </a:solidFill>
                <a:latin typeface="Calibri" pitchFamily="34" charset="0"/>
                <a:ea typeface="Calibri" pitchFamily="34" charset="-122"/>
                <a:cs typeface="Calibri" pitchFamily="34" charset="-120"/>
              </a:rPr>
              <a:t>Your first rule</a:t>
            </a:r>
            <a:endParaRPr lang="en-US" sz="2900" dirty="0"/>
          </a:p>
        </p:txBody>
      </p:sp>
      <p:sp>
        <p:nvSpPr>
          <p:cNvPr id="9" name="Shape 6"/>
          <p:cNvSpPr/>
          <p:nvPr/>
        </p:nvSpPr>
        <p:spPr>
          <a:xfrm>
            <a:off x="640080" y="1517904"/>
            <a:ext cx="6858000" cy="4023360"/>
          </a:xfrm>
          <a:prstGeom prst="roundRect">
            <a:avLst>
              <a:gd name="adj" fmla="val 2273"/>
            </a:avLst>
          </a:prstGeom>
          <a:solidFill>
            <a:srgbClr val="0C121D"/>
          </a:solidFill>
          <a:ln w="12700">
            <a:solidFill>
              <a:srgbClr val="1D2637"/>
            </a:solidFill>
            <a:prstDash val="solid"/>
          </a:ln>
        </p:spPr>
      </p:sp>
      <p:sp>
        <p:nvSpPr>
          <p:cNvPr id="10" name="Text 7"/>
          <p:cNvSpPr/>
          <p:nvPr/>
        </p:nvSpPr>
        <p:spPr>
          <a:xfrm>
            <a:off x="914400" y="1755648"/>
            <a:ext cx="6309360" cy="3547872"/>
          </a:xfrm>
          <a:prstGeom prst="rect">
            <a:avLst/>
          </a:prstGeom>
          <a:noFill/>
          <a:ln/>
        </p:spPr>
        <p:txBody>
          <a:bodyPr wrap="square" lIns="0" tIns="0" rIns="0" bIns="0" rtlCol="0" anchor="t"/>
          <a:lstStyle/>
          <a:p>
            <a:pPr indent="0" marL="0">
              <a:lnSpc>
                <a:spcPts val="2400"/>
              </a:lnSpc>
              <a:buNone/>
            </a:pPr>
            <a:r>
              <a:rPr lang="en-US" sz="1300" dirty="0">
                <a:solidFill>
                  <a:srgbClr val="9AA4B5"/>
                </a:solidFill>
                <a:latin typeface="Courier New" pitchFamily="34" charset="0"/>
                <a:ea typeface="Courier New" pitchFamily="34" charset="-122"/>
                <a:cs typeface="Courier New" pitchFamily="34" charset="-120"/>
              </a:rPr>
              <a:t>&lt;</a:t>
            </a:r>
            <a:pPr indent="0" marL="0">
              <a:lnSpc>
                <a:spcPts val="2400"/>
              </a:lnSpc>
              <a:buNone/>
            </a:pPr>
            <a:r>
              <a:rPr lang="en-US" sz="1300" dirty="0">
                <a:solidFill>
                  <a:srgbClr val="FF9E86"/>
                </a:solidFill>
                <a:latin typeface="Courier New" pitchFamily="34" charset="0"/>
                <a:ea typeface="Courier New" pitchFamily="34" charset="-122"/>
                <a:cs typeface="Courier New" pitchFamily="34" charset="-120"/>
              </a:rPr>
              <a:t>head</a:t>
            </a:r>
            <a:pPr indent="0" marL="0">
              <a:lnSpc>
                <a:spcPts val="2400"/>
              </a:lnSpc>
              <a:buNone/>
            </a:pPr>
            <a:r>
              <a:rPr lang="en-US" sz="1300" dirty="0">
                <a:solidFill>
                  <a:srgbClr val="9AA4B5"/>
                </a:solidFill>
                <a:latin typeface="Courier New" pitchFamily="34" charset="0"/>
                <a:ea typeface="Courier New" pitchFamily="34" charset="-122"/>
                <a:cs typeface="Courier New" pitchFamily="34" charset="-120"/>
              </a:rPr>
              <a:t>&gt;</a:t>
            </a:r>
            <a:pPr indent="0" marL="0">
              <a:lnSpc>
                <a:spcPts val="2400"/>
              </a:lnSpc>
              <a:buNone/>
            </a:pPr>
            <a:endParaRPr lang="en-US" sz="1300" dirty="0"/>
          </a:p>
          <a:p>
            <a:pPr indent="0" marL="0">
              <a:lnSpc>
                <a:spcPts val="2400"/>
              </a:lnSpc>
              <a:buNone/>
            </a:pPr>
            <a:r>
              <a:rPr lang="en-US" sz="1300" dirty="0">
                <a:solidFill>
                  <a:srgbClr val="9AA4B5"/>
                </a:solidFill>
                <a:latin typeface="Courier New" pitchFamily="34" charset="0"/>
                <a:ea typeface="Courier New" pitchFamily="34" charset="-122"/>
                <a:cs typeface="Courier New" pitchFamily="34" charset="-120"/>
              </a:rPr>
              <a:t>  &lt;</a:t>
            </a:r>
            <a:pPr indent="0" marL="0">
              <a:lnSpc>
                <a:spcPts val="2400"/>
              </a:lnSpc>
              <a:buNone/>
            </a:pPr>
            <a:r>
              <a:rPr lang="en-US" sz="1300" dirty="0">
                <a:solidFill>
                  <a:srgbClr val="FF9E86"/>
                </a:solidFill>
                <a:latin typeface="Courier New" pitchFamily="34" charset="0"/>
                <a:ea typeface="Courier New" pitchFamily="34" charset="-122"/>
                <a:cs typeface="Courier New" pitchFamily="34" charset="-120"/>
              </a:rPr>
              <a:t>style</a:t>
            </a:r>
            <a:pPr indent="0" marL="0">
              <a:lnSpc>
                <a:spcPts val="2400"/>
              </a:lnSpc>
              <a:buNone/>
            </a:pPr>
            <a:r>
              <a:rPr lang="en-US" sz="1300" dirty="0">
                <a:solidFill>
                  <a:srgbClr val="9AA4B5"/>
                </a:solidFill>
                <a:latin typeface="Courier New" pitchFamily="34" charset="0"/>
                <a:ea typeface="Courier New" pitchFamily="34" charset="-122"/>
                <a:cs typeface="Courier New" pitchFamily="34" charset="-120"/>
              </a:rPr>
              <a:t>&gt;</a:t>
            </a:r>
            <a:pPr indent="0" marL="0">
              <a:lnSpc>
                <a:spcPts val="2400"/>
              </a:lnSpc>
              <a:buNone/>
            </a:pPr>
            <a:endParaRPr lang="en-US" sz="1300" dirty="0"/>
          </a:p>
          <a:p>
            <a:pPr indent="0" marL="0">
              <a:lnSpc>
                <a:spcPts val="2400"/>
              </a:lnSpc>
              <a:buNone/>
            </a:pPr>
            <a:endParaRPr lang="en-US" sz="1300" dirty="0"/>
          </a:p>
          <a:p>
            <a:pPr indent="0" marL="0">
              <a:lnSpc>
                <a:spcPts val="2400"/>
              </a:lnSpc>
              <a:buNone/>
            </a:pPr>
            <a:r>
              <a:rPr lang="en-US" sz="1300" dirty="0">
                <a:solidFill>
                  <a:srgbClr val="E6EAF2"/>
                </a:solidFill>
                <a:latin typeface="Courier New" pitchFamily="34" charset="0"/>
                <a:ea typeface="Courier New" pitchFamily="34" charset="-122"/>
                <a:cs typeface="Courier New" pitchFamily="34" charset="-120"/>
              </a:rPr>
              <a:t>    h1 </a:t>
            </a:r>
            <a:pPr indent="0" marL="0">
              <a:lnSpc>
                <a:spcPts val="2400"/>
              </a:lnSpc>
              <a:buNone/>
            </a:pPr>
            <a:r>
              <a:rPr lang="en-US" sz="1300" dirty="0">
                <a:solidFill>
                  <a:srgbClr val="9AA4B5"/>
                </a:solidFill>
                <a:latin typeface="Courier New" pitchFamily="34" charset="0"/>
                <a:ea typeface="Courier New" pitchFamily="34" charset="-122"/>
                <a:cs typeface="Courier New" pitchFamily="34" charset="-120"/>
              </a:rPr>
              <a:t>{</a:t>
            </a:r>
            <a:pPr indent="0" marL="0">
              <a:lnSpc>
                <a:spcPts val="2400"/>
              </a:lnSpc>
              <a:buNone/>
            </a:pPr>
            <a:endParaRPr lang="en-US" sz="1300" dirty="0"/>
          </a:p>
          <a:p>
            <a:pPr indent="0" marL="0">
              <a:lnSpc>
                <a:spcPts val="2400"/>
              </a:lnSpc>
              <a:buNone/>
            </a:pPr>
            <a:r>
              <a:rPr lang="en-US" sz="1300" dirty="0">
                <a:solidFill>
                  <a:srgbClr val="E6EAF2"/>
                </a:solidFill>
                <a:latin typeface="Courier New" pitchFamily="34" charset="0"/>
                <a:ea typeface="Courier New" pitchFamily="34" charset="-122"/>
                <a:cs typeface="Courier New" pitchFamily="34" charset="-120"/>
              </a:rPr>
              <a:t>      </a:t>
            </a:r>
            <a:pPr indent="0" marL="0">
              <a:lnSpc>
                <a:spcPts val="2400"/>
              </a:lnSpc>
              <a:buNone/>
            </a:pPr>
            <a:r>
              <a:rPr lang="en-US" sz="1300" dirty="0">
                <a:solidFill>
                  <a:srgbClr val="FFD08A"/>
                </a:solidFill>
                <a:latin typeface="Courier New" pitchFamily="34" charset="0"/>
                <a:ea typeface="Courier New" pitchFamily="34" charset="-122"/>
                <a:cs typeface="Courier New" pitchFamily="34" charset="-120"/>
              </a:rPr>
              <a:t>color</a:t>
            </a:r>
            <a:pPr indent="0" marL="0">
              <a:lnSpc>
                <a:spcPts val="2400"/>
              </a:lnSpc>
              <a:buNone/>
            </a:pPr>
            <a:r>
              <a:rPr lang="en-US" sz="1300" dirty="0">
                <a:solidFill>
                  <a:srgbClr val="9AA4B5"/>
                </a:solidFill>
                <a:latin typeface="Courier New" pitchFamily="34" charset="0"/>
                <a:ea typeface="Courier New" pitchFamily="34" charset="-122"/>
                <a:cs typeface="Courier New" pitchFamily="34" charset="-120"/>
              </a:rPr>
              <a:t>: </a:t>
            </a:r>
            <a:pPr indent="0" marL="0">
              <a:lnSpc>
                <a:spcPts val="2400"/>
              </a:lnSpc>
              <a:buNone/>
            </a:pPr>
            <a:r>
              <a:rPr lang="en-US" sz="1300" dirty="0">
                <a:solidFill>
                  <a:srgbClr val="9BD5FF"/>
                </a:solidFill>
                <a:latin typeface="Courier New" pitchFamily="34" charset="0"/>
                <a:ea typeface="Courier New" pitchFamily="34" charset="-122"/>
                <a:cs typeface="Courier New" pitchFamily="34" charset="-120"/>
              </a:rPr>
              <a:t>red</a:t>
            </a:r>
            <a:pPr indent="0" marL="0">
              <a:lnSpc>
                <a:spcPts val="2400"/>
              </a:lnSpc>
              <a:buNone/>
            </a:pPr>
            <a:r>
              <a:rPr lang="en-US" sz="1300" dirty="0">
                <a:solidFill>
                  <a:srgbClr val="9AA4B5"/>
                </a:solidFill>
                <a:latin typeface="Courier New" pitchFamily="34" charset="0"/>
                <a:ea typeface="Courier New" pitchFamily="34" charset="-122"/>
                <a:cs typeface="Courier New" pitchFamily="34" charset="-120"/>
              </a:rPr>
              <a:t>;</a:t>
            </a:r>
            <a:pPr indent="0" marL="0">
              <a:lnSpc>
                <a:spcPts val="2400"/>
              </a:lnSpc>
              <a:buNone/>
            </a:pPr>
            <a:endParaRPr lang="en-US" sz="1300" dirty="0"/>
          </a:p>
          <a:p>
            <a:pPr indent="0" marL="0">
              <a:lnSpc>
                <a:spcPts val="2400"/>
              </a:lnSpc>
              <a:buNone/>
            </a:pPr>
            <a:r>
              <a:rPr lang="en-US" sz="1300" dirty="0">
                <a:solidFill>
                  <a:srgbClr val="E6EAF2"/>
                </a:solidFill>
                <a:latin typeface="Courier New" pitchFamily="34" charset="0"/>
                <a:ea typeface="Courier New" pitchFamily="34" charset="-122"/>
                <a:cs typeface="Courier New" pitchFamily="34" charset="-120"/>
              </a:rPr>
              <a:t>      </a:t>
            </a:r>
            <a:pPr indent="0" marL="0">
              <a:lnSpc>
                <a:spcPts val="2400"/>
              </a:lnSpc>
              <a:buNone/>
            </a:pPr>
            <a:r>
              <a:rPr lang="en-US" sz="1300" dirty="0">
                <a:solidFill>
                  <a:srgbClr val="FFD08A"/>
                </a:solidFill>
                <a:latin typeface="Courier New" pitchFamily="34" charset="0"/>
                <a:ea typeface="Courier New" pitchFamily="34" charset="-122"/>
                <a:cs typeface="Courier New" pitchFamily="34" charset="-120"/>
              </a:rPr>
              <a:t>font-size</a:t>
            </a:r>
            <a:pPr indent="0" marL="0">
              <a:lnSpc>
                <a:spcPts val="2400"/>
              </a:lnSpc>
              <a:buNone/>
            </a:pPr>
            <a:r>
              <a:rPr lang="en-US" sz="1300" dirty="0">
                <a:solidFill>
                  <a:srgbClr val="9AA4B5"/>
                </a:solidFill>
                <a:latin typeface="Courier New" pitchFamily="34" charset="0"/>
                <a:ea typeface="Courier New" pitchFamily="34" charset="-122"/>
                <a:cs typeface="Courier New" pitchFamily="34" charset="-120"/>
              </a:rPr>
              <a:t>: </a:t>
            </a:r>
            <a:pPr indent="0" marL="0">
              <a:lnSpc>
                <a:spcPts val="2400"/>
              </a:lnSpc>
              <a:buNone/>
            </a:pPr>
            <a:r>
              <a:rPr lang="en-US" sz="1300" dirty="0">
                <a:solidFill>
                  <a:srgbClr val="9BD5FF"/>
                </a:solidFill>
                <a:latin typeface="Courier New" pitchFamily="34" charset="0"/>
                <a:ea typeface="Courier New" pitchFamily="34" charset="-122"/>
                <a:cs typeface="Courier New" pitchFamily="34" charset="-120"/>
              </a:rPr>
              <a:t>5em</a:t>
            </a:r>
            <a:pPr indent="0" marL="0">
              <a:lnSpc>
                <a:spcPts val="2400"/>
              </a:lnSpc>
              <a:buNone/>
            </a:pPr>
            <a:r>
              <a:rPr lang="en-US" sz="1300" dirty="0">
                <a:solidFill>
                  <a:srgbClr val="9AA4B5"/>
                </a:solidFill>
                <a:latin typeface="Courier New" pitchFamily="34" charset="0"/>
                <a:ea typeface="Courier New" pitchFamily="34" charset="-122"/>
                <a:cs typeface="Courier New" pitchFamily="34" charset="-120"/>
              </a:rPr>
              <a:t>;</a:t>
            </a:r>
            <a:pPr indent="0" marL="0">
              <a:lnSpc>
                <a:spcPts val="2400"/>
              </a:lnSpc>
              <a:buNone/>
            </a:pPr>
            <a:endParaRPr lang="en-US" sz="1300" dirty="0"/>
          </a:p>
          <a:p>
            <a:pPr indent="0" marL="0">
              <a:lnSpc>
                <a:spcPts val="2400"/>
              </a:lnSpc>
              <a:buNone/>
            </a:pPr>
            <a:r>
              <a:rPr lang="en-US" sz="1300" dirty="0">
                <a:solidFill>
                  <a:srgbClr val="E6EAF2"/>
                </a:solidFill>
                <a:latin typeface="Courier New" pitchFamily="34" charset="0"/>
                <a:ea typeface="Courier New" pitchFamily="34" charset="-122"/>
                <a:cs typeface="Courier New" pitchFamily="34" charset="-120"/>
              </a:rPr>
              <a:t>    </a:t>
            </a:r>
            <a:pPr indent="0" marL="0">
              <a:lnSpc>
                <a:spcPts val="2400"/>
              </a:lnSpc>
              <a:buNone/>
            </a:pPr>
            <a:r>
              <a:rPr lang="en-US" sz="1300" dirty="0">
                <a:solidFill>
                  <a:srgbClr val="9AA4B5"/>
                </a:solidFill>
                <a:latin typeface="Courier New" pitchFamily="34" charset="0"/>
                <a:ea typeface="Courier New" pitchFamily="34" charset="-122"/>
                <a:cs typeface="Courier New" pitchFamily="34" charset="-120"/>
              </a:rPr>
              <a:t>}</a:t>
            </a:r>
            <a:pPr indent="0" marL="0">
              <a:lnSpc>
                <a:spcPts val="2400"/>
              </a:lnSpc>
              <a:buNone/>
            </a:pPr>
            <a:endParaRPr lang="en-US" sz="1300" dirty="0"/>
          </a:p>
          <a:p>
            <a:pPr indent="0" marL="0">
              <a:lnSpc>
                <a:spcPts val="2400"/>
              </a:lnSpc>
              <a:buNone/>
            </a:pPr>
            <a:endParaRPr lang="en-US" sz="1300" dirty="0"/>
          </a:p>
          <a:p>
            <a:pPr indent="0" marL="0">
              <a:lnSpc>
                <a:spcPts val="2400"/>
              </a:lnSpc>
              <a:buNone/>
            </a:pPr>
            <a:r>
              <a:rPr lang="en-US" sz="1300" dirty="0">
                <a:solidFill>
                  <a:srgbClr val="9AA4B5"/>
                </a:solidFill>
                <a:latin typeface="Courier New" pitchFamily="34" charset="0"/>
                <a:ea typeface="Courier New" pitchFamily="34" charset="-122"/>
                <a:cs typeface="Courier New" pitchFamily="34" charset="-120"/>
              </a:rPr>
              <a:t>  &lt;/</a:t>
            </a:r>
            <a:pPr indent="0" marL="0">
              <a:lnSpc>
                <a:spcPts val="2400"/>
              </a:lnSpc>
              <a:buNone/>
            </a:pPr>
            <a:r>
              <a:rPr lang="en-US" sz="1300" dirty="0">
                <a:solidFill>
                  <a:srgbClr val="FF9E86"/>
                </a:solidFill>
                <a:latin typeface="Courier New" pitchFamily="34" charset="0"/>
                <a:ea typeface="Courier New" pitchFamily="34" charset="-122"/>
                <a:cs typeface="Courier New" pitchFamily="34" charset="-120"/>
              </a:rPr>
              <a:t>style</a:t>
            </a:r>
            <a:pPr indent="0" marL="0">
              <a:lnSpc>
                <a:spcPts val="2400"/>
              </a:lnSpc>
              <a:buNone/>
            </a:pPr>
            <a:r>
              <a:rPr lang="en-US" sz="1300" dirty="0">
                <a:solidFill>
                  <a:srgbClr val="9AA4B5"/>
                </a:solidFill>
                <a:latin typeface="Courier New" pitchFamily="34" charset="0"/>
                <a:ea typeface="Courier New" pitchFamily="34" charset="-122"/>
                <a:cs typeface="Courier New" pitchFamily="34" charset="-120"/>
              </a:rPr>
              <a:t>&gt;</a:t>
            </a:r>
            <a:pPr indent="0" marL="0">
              <a:lnSpc>
                <a:spcPts val="2400"/>
              </a:lnSpc>
              <a:buNone/>
            </a:pPr>
            <a:endParaRPr lang="en-US" sz="1300" dirty="0"/>
          </a:p>
          <a:p>
            <a:pPr indent="0" marL="0">
              <a:lnSpc>
                <a:spcPts val="2400"/>
              </a:lnSpc>
              <a:buNone/>
            </a:pPr>
            <a:r>
              <a:rPr lang="en-US" sz="1300" dirty="0">
                <a:solidFill>
                  <a:srgbClr val="9AA4B5"/>
                </a:solidFill>
                <a:latin typeface="Courier New" pitchFamily="34" charset="0"/>
                <a:ea typeface="Courier New" pitchFamily="34" charset="-122"/>
                <a:cs typeface="Courier New" pitchFamily="34" charset="-120"/>
              </a:rPr>
              <a:t>&lt;/</a:t>
            </a:r>
            <a:pPr indent="0" marL="0">
              <a:lnSpc>
                <a:spcPts val="2400"/>
              </a:lnSpc>
              <a:buNone/>
            </a:pPr>
            <a:r>
              <a:rPr lang="en-US" sz="1300" dirty="0">
                <a:solidFill>
                  <a:srgbClr val="FF9E86"/>
                </a:solidFill>
                <a:latin typeface="Courier New" pitchFamily="34" charset="0"/>
                <a:ea typeface="Courier New" pitchFamily="34" charset="-122"/>
                <a:cs typeface="Courier New" pitchFamily="34" charset="-120"/>
              </a:rPr>
              <a:t>head</a:t>
            </a:r>
            <a:pPr indent="0" marL="0">
              <a:lnSpc>
                <a:spcPts val="2400"/>
              </a:lnSpc>
              <a:buNone/>
            </a:pPr>
            <a:r>
              <a:rPr lang="en-US" sz="1300" dirty="0">
                <a:solidFill>
                  <a:srgbClr val="9AA4B5"/>
                </a:solidFill>
                <a:latin typeface="Courier New" pitchFamily="34" charset="0"/>
                <a:ea typeface="Courier New" pitchFamily="34" charset="-122"/>
                <a:cs typeface="Courier New" pitchFamily="34" charset="-120"/>
              </a:rPr>
              <a:t>&gt;</a:t>
            </a:r>
            <a:endParaRPr lang="en-US" sz="1300" dirty="0"/>
          </a:p>
        </p:txBody>
      </p:sp>
      <p:sp>
        <p:nvSpPr>
          <p:cNvPr id="11" name="Text 8"/>
          <p:cNvSpPr/>
          <p:nvPr/>
        </p:nvSpPr>
        <p:spPr>
          <a:xfrm>
            <a:off x="7863840" y="1517904"/>
            <a:ext cx="3685032" cy="292608"/>
          </a:xfrm>
          <a:prstGeom prst="rect">
            <a:avLst/>
          </a:prstGeom>
          <a:noFill/>
          <a:ln/>
        </p:spPr>
        <p:txBody>
          <a:bodyPr wrap="square" lIns="0" tIns="0" rIns="0" bIns="0" rtlCol="0" anchor="ctr"/>
          <a:lstStyle/>
          <a:p>
            <a:pPr indent="0" marL="0">
              <a:buNone/>
            </a:pPr>
            <a:r>
              <a:rPr lang="en-US" sz="1050" b="1" spc="200" kern="0" dirty="0">
                <a:solidFill>
                  <a:srgbClr val="FF9E86"/>
                </a:solidFill>
                <a:latin typeface="Calibri" pitchFamily="34" charset="0"/>
                <a:ea typeface="Calibri" pitchFamily="34" charset="-122"/>
                <a:cs typeface="Calibri" pitchFamily="34" charset="-120"/>
              </a:rPr>
              <a:t>SAY THIS WHILE YOU TYPE</a:t>
            </a:r>
            <a:endParaRPr lang="en-US" sz="1050" dirty="0"/>
          </a:p>
        </p:txBody>
      </p:sp>
      <p:sp>
        <p:nvSpPr>
          <p:cNvPr id="12" name="Shape 9"/>
          <p:cNvSpPr/>
          <p:nvPr/>
        </p:nvSpPr>
        <p:spPr>
          <a:xfrm>
            <a:off x="7863840" y="1901952"/>
            <a:ext cx="3685032" cy="658368"/>
          </a:xfrm>
          <a:prstGeom prst="roundRect">
            <a:avLst>
              <a:gd name="adj" fmla="val 11111"/>
            </a:avLst>
          </a:prstGeom>
          <a:solidFill>
            <a:srgbClr val="1D2637"/>
          </a:solidFill>
          <a:ln w="12700">
            <a:solidFill>
              <a:srgbClr val="2A3446"/>
            </a:solidFill>
            <a:prstDash val="solid"/>
          </a:ln>
        </p:spPr>
      </p:sp>
      <p:sp>
        <p:nvSpPr>
          <p:cNvPr id="13" name="Text 10"/>
          <p:cNvSpPr/>
          <p:nvPr/>
        </p:nvSpPr>
        <p:spPr>
          <a:xfrm>
            <a:off x="8065008" y="1901952"/>
            <a:ext cx="3282696" cy="658368"/>
          </a:xfrm>
          <a:prstGeom prst="rect">
            <a:avLst/>
          </a:prstGeom>
          <a:noFill/>
          <a:ln/>
        </p:spPr>
        <p:txBody>
          <a:bodyPr wrap="square" lIns="0" tIns="0" rIns="0" bIns="0" rtlCol="0" anchor="ctr"/>
          <a:lstStyle/>
          <a:p>
            <a:pPr algn="l" indent="0" marL="0">
              <a:lnSpc>
                <a:spcPts val="1550"/>
              </a:lnSpc>
              <a:buNone/>
            </a:pPr>
            <a:r>
              <a:rPr lang="en-US" sz="1150" dirty="0">
                <a:solidFill>
                  <a:srgbClr val="C9C4E6"/>
                </a:solidFill>
                <a:latin typeface="Calibri" pitchFamily="34" charset="0"/>
                <a:ea typeface="Calibri" pitchFamily="34" charset="-122"/>
                <a:cs typeface="Calibri" pitchFamily="34" charset="-120"/>
              </a:rPr>
              <a:t>Style tag goes inside head, not body. Type style and press Tab, Emmet writes both halves.</a:t>
            </a:r>
            <a:endParaRPr lang="en-US" sz="1150" dirty="0"/>
          </a:p>
        </p:txBody>
      </p:sp>
      <p:sp>
        <p:nvSpPr>
          <p:cNvPr id="14" name="Shape 11"/>
          <p:cNvSpPr/>
          <p:nvPr/>
        </p:nvSpPr>
        <p:spPr>
          <a:xfrm>
            <a:off x="7863840" y="2651760"/>
            <a:ext cx="3685032" cy="658368"/>
          </a:xfrm>
          <a:prstGeom prst="roundRect">
            <a:avLst>
              <a:gd name="adj" fmla="val 11111"/>
            </a:avLst>
          </a:prstGeom>
          <a:solidFill>
            <a:srgbClr val="1D2637"/>
          </a:solidFill>
          <a:ln w="12700">
            <a:solidFill>
              <a:srgbClr val="2A3446"/>
            </a:solidFill>
            <a:prstDash val="solid"/>
          </a:ln>
        </p:spPr>
      </p:sp>
      <p:sp>
        <p:nvSpPr>
          <p:cNvPr id="15" name="Text 12"/>
          <p:cNvSpPr/>
          <p:nvPr/>
        </p:nvSpPr>
        <p:spPr>
          <a:xfrm>
            <a:off x="8065008" y="2651760"/>
            <a:ext cx="3282696" cy="658368"/>
          </a:xfrm>
          <a:prstGeom prst="rect">
            <a:avLst/>
          </a:prstGeom>
          <a:noFill/>
          <a:ln/>
        </p:spPr>
        <p:txBody>
          <a:bodyPr wrap="square" lIns="0" tIns="0" rIns="0" bIns="0" rtlCol="0" anchor="ctr"/>
          <a:lstStyle/>
          <a:p>
            <a:pPr algn="l" indent="0" marL="0">
              <a:lnSpc>
                <a:spcPts val="1550"/>
              </a:lnSpc>
              <a:buNone/>
            </a:pPr>
            <a:r>
              <a:rPr lang="en-US" sz="1150" dirty="0">
                <a:solidFill>
                  <a:srgbClr val="C9C4E6"/>
                </a:solidFill>
                <a:latin typeface="Calibri" pitchFamily="34" charset="0"/>
                <a:ea typeface="Calibri" pitchFamily="34" charset="-122"/>
                <a:cs typeface="Calibri" pitchFamily="34" charset="-120"/>
              </a:rPr>
              <a:t>Select h1, open the braces, and let them watch the heading turn red the moment you save.</a:t>
            </a:r>
            <a:endParaRPr lang="en-US" sz="1150" dirty="0"/>
          </a:p>
        </p:txBody>
      </p:sp>
      <p:sp>
        <p:nvSpPr>
          <p:cNvPr id="16" name="Shape 13"/>
          <p:cNvSpPr/>
          <p:nvPr/>
        </p:nvSpPr>
        <p:spPr>
          <a:xfrm>
            <a:off x="7863840" y="3401568"/>
            <a:ext cx="3685032" cy="658368"/>
          </a:xfrm>
          <a:prstGeom prst="roundRect">
            <a:avLst>
              <a:gd name="adj" fmla="val 11111"/>
            </a:avLst>
          </a:prstGeom>
          <a:solidFill>
            <a:srgbClr val="1D2637"/>
          </a:solidFill>
          <a:ln w="12700">
            <a:solidFill>
              <a:srgbClr val="2A3446"/>
            </a:solidFill>
            <a:prstDash val="solid"/>
          </a:ln>
        </p:spPr>
      </p:sp>
      <p:sp>
        <p:nvSpPr>
          <p:cNvPr id="17" name="Text 14"/>
          <p:cNvSpPr/>
          <p:nvPr/>
        </p:nvSpPr>
        <p:spPr>
          <a:xfrm>
            <a:off x="8065008" y="3401568"/>
            <a:ext cx="3282696" cy="658368"/>
          </a:xfrm>
          <a:prstGeom prst="rect">
            <a:avLst/>
          </a:prstGeom>
          <a:noFill/>
          <a:ln/>
        </p:spPr>
        <p:txBody>
          <a:bodyPr wrap="square" lIns="0" tIns="0" rIns="0" bIns="0" rtlCol="0" anchor="ctr"/>
          <a:lstStyle/>
          <a:p>
            <a:pPr algn="l" indent="0" marL="0">
              <a:lnSpc>
                <a:spcPts val="1550"/>
              </a:lnSpc>
              <a:buNone/>
            </a:pPr>
            <a:r>
              <a:rPr lang="en-US" sz="1150" dirty="0">
                <a:solidFill>
                  <a:srgbClr val="C9C4E6"/>
                </a:solidFill>
                <a:latin typeface="Calibri" pitchFamily="34" charset="0"/>
                <a:ea typeface="Calibri" pitchFamily="34" charset="-122"/>
                <a:cs typeface="Calibri" pitchFamily="34" charset="-120"/>
              </a:rPr>
              <a:t>Change red to a hex code, then to rgb, and let them see all three do the same job.</a:t>
            </a:r>
            <a:endParaRPr lang="en-US" sz="1150" dirty="0"/>
          </a:p>
        </p:txBody>
      </p:sp>
      <p:sp>
        <p:nvSpPr>
          <p:cNvPr id="18" name="Shape 15"/>
          <p:cNvSpPr/>
          <p:nvPr/>
        </p:nvSpPr>
        <p:spPr>
          <a:xfrm>
            <a:off x="7863840" y="4151376"/>
            <a:ext cx="3685032" cy="658368"/>
          </a:xfrm>
          <a:prstGeom prst="roundRect">
            <a:avLst>
              <a:gd name="adj" fmla="val 11111"/>
            </a:avLst>
          </a:prstGeom>
          <a:solidFill>
            <a:srgbClr val="1D2637"/>
          </a:solidFill>
          <a:ln w="12700">
            <a:solidFill>
              <a:srgbClr val="2A3446"/>
            </a:solidFill>
            <a:prstDash val="solid"/>
          </a:ln>
        </p:spPr>
      </p:sp>
      <p:sp>
        <p:nvSpPr>
          <p:cNvPr id="19" name="Text 16"/>
          <p:cNvSpPr/>
          <p:nvPr/>
        </p:nvSpPr>
        <p:spPr>
          <a:xfrm>
            <a:off x="8065008" y="4151376"/>
            <a:ext cx="3282696" cy="658368"/>
          </a:xfrm>
          <a:prstGeom prst="rect">
            <a:avLst/>
          </a:prstGeom>
          <a:noFill/>
          <a:ln/>
        </p:spPr>
        <p:txBody>
          <a:bodyPr wrap="square" lIns="0" tIns="0" rIns="0" bIns="0" rtlCol="0" anchor="ctr"/>
          <a:lstStyle/>
          <a:p>
            <a:pPr algn="l" indent="0" marL="0">
              <a:lnSpc>
                <a:spcPts val="1550"/>
              </a:lnSpc>
              <a:buNone/>
            </a:pPr>
            <a:r>
              <a:rPr lang="en-US" sz="1150" dirty="0">
                <a:solidFill>
                  <a:srgbClr val="C9C4E6"/>
                </a:solidFill>
                <a:latin typeface="Calibri" pitchFamily="34" charset="0"/>
                <a:ea typeface="Calibri" pitchFamily="34" charset="-122"/>
                <a:cs typeface="Calibri" pitchFamily="34" charset="-120"/>
              </a:rPr>
              <a:t>Delete one semicolon on purpose. The rule below it dies. Put it back. That is the lesson.</a:t>
            </a:r>
            <a:endParaRPr lang="en-US" sz="1150" dirty="0"/>
          </a:p>
        </p:txBody>
      </p:sp>
      <p:sp>
        <p:nvSpPr>
          <p:cNvPr id="20" name="Shape 17"/>
          <p:cNvSpPr/>
          <p:nvPr/>
        </p:nvSpPr>
        <p:spPr>
          <a:xfrm>
            <a:off x="7863840" y="5486400"/>
            <a:ext cx="3685032" cy="658368"/>
          </a:xfrm>
          <a:prstGeom prst="roundRect">
            <a:avLst>
              <a:gd name="adj" fmla="val 11111"/>
            </a:avLst>
          </a:prstGeom>
          <a:solidFill>
            <a:srgbClr val="1D2637"/>
          </a:solidFill>
          <a:ln w="12700">
            <a:solidFill>
              <a:srgbClr val="2A3446"/>
            </a:solidFill>
            <a:prstDash val="solid"/>
          </a:ln>
        </p:spPr>
      </p:sp>
      <p:sp>
        <p:nvSpPr>
          <p:cNvPr id="21" name="Text 18"/>
          <p:cNvSpPr/>
          <p:nvPr/>
        </p:nvSpPr>
        <p:spPr>
          <a:xfrm>
            <a:off x="8065008" y="5486400"/>
            <a:ext cx="3282696" cy="658368"/>
          </a:xfrm>
          <a:prstGeom prst="rect">
            <a:avLst/>
          </a:prstGeom>
          <a:noFill/>
          <a:ln/>
        </p:spPr>
        <p:txBody>
          <a:bodyPr wrap="square" lIns="0" tIns="0" rIns="0" bIns="0" rtlCol="0" anchor="ctr"/>
          <a:lstStyle/>
          <a:p>
            <a:pPr indent="0" marL="0">
              <a:lnSpc>
                <a:spcPts val="1400"/>
              </a:lnSpc>
              <a:buNone/>
            </a:pPr>
            <a:r>
              <a:rPr lang="en-US" sz="1000" dirty="0">
                <a:solidFill>
                  <a:srgbClr val="7C8CA5"/>
                </a:solidFill>
                <a:latin typeface="Courier New" pitchFamily="34" charset="0"/>
                <a:ea typeface="Courier New" pitchFamily="34" charset="-122"/>
                <a:cs typeface="Courier New" pitchFamily="34" charset="-120"/>
              </a:rPr>
              <a:t>a missing semicolon breaks the next line, not the line it is on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826"/>
        </a:solidFill>
      </p:bgPr>
    </p:bg>
    <p:spTree>
      <p:nvGrpSpPr>
        <p:cNvPr id="1" name=""/>
        <p:cNvGrpSpPr/>
        <p:nvPr/>
      </p:nvGrpSpPr>
      <p:grpSpPr>
        <a:xfrm>
          <a:off x="0" y="0"/>
          <a:ext cx="0" cy="0"/>
          <a:chOff x="0" y="0"/>
          <a:chExt cx="0" cy="0"/>
        </a:xfrm>
      </p:grpSpPr>
      <p:sp>
        <p:nvSpPr>
          <p:cNvPr id="3" name="Text 0"/>
          <p:cNvSpPr/>
          <p:nvPr/>
        </p:nvSpPr>
        <p:spPr>
          <a:xfrm>
            <a:off x="0" y="1737360"/>
            <a:ext cx="12188952" cy="1371600"/>
          </a:xfrm>
          <a:prstGeom prst="rect">
            <a:avLst/>
          </a:prstGeom>
          <a:noFill/>
          <a:ln/>
        </p:spPr>
        <p:txBody>
          <a:bodyPr wrap="square" lIns="0" tIns="0" rIns="0" bIns="0" rtlCol="0" anchor="ctr"/>
          <a:lstStyle/>
          <a:p>
            <a:pPr algn="ctr" indent="0" marL="0">
              <a:buNone/>
            </a:pPr>
            <a:r>
              <a:rPr lang="en-US" sz="10400" b="1" dirty="0">
                <a:solidFill>
                  <a:srgbClr val="1F2A3D"/>
                </a:solidFill>
                <a:latin typeface="Calibri" pitchFamily="34" charset="0"/>
                <a:ea typeface="Calibri" pitchFamily="34" charset="-122"/>
                <a:cs typeface="Calibri" pitchFamily="34" charset="-120"/>
              </a:rPr>
              <a:t>02</a:t>
            </a:r>
            <a:endParaRPr lang="en-US" sz="10400" dirty="0"/>
          </a:p>
        </p:txBody>
      </p:sp>
      <p:sp>
        <p:nvSpPr>
          <p:cNvPr id="4" name="Text 1"/>
          <p:cNvSpPr/>
          <p:nvPr/>
        </p:nvSpPr>
        <p:spPr>
          <a:xfrm>
            <a:off x="1097280" y="3072384"/>
            <a:ext cx="9994392" cy="82296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Three ways to add it</a:t>
            </a:r>
            <a:endParaRPr lang="en-US" sz="4000" dirty="0"/>
          </a:p>
        </p:txBody>
      </p:sp>
      <p:sp>
        <p:nvSpPr>
          <p:cNvPr id="5" name="Shape 2"/>
          <p:cNvSpPr/>
          <p:nvPr/>
        </p:nvSpPr>
        <p:spPr>
          <a:xfrm>
            <a:off x="5545836" y="4059936"/>
            <a:ext cx="1097280" cy="45720"/>
          </a:xfrm>
          <a:prstGeom prst="rect">
            <a:avLst/>
          </a:prstGeom>
          <a:solidFill>
            <a:srgbClr val="6741D9"/>
          </a:solidFill>
          <a:ln w="12700">
            <a:solidFill>
              <a:srgbClr val="6741D9"/>
            </a:solidFill>
            <a:prstDash val="solid"/>
          </a:ln>
        </p:spPr>
      </p:sp>
      <p:sp>
        <p:nvSpPr>
          <p:cNvPr id="6" name="Text 3"/>
          <p:cNvSpPr/>
          <p:nvPr/>
        </p:nvSpPr>
        <p:spPr>
          <a:xfrm>
            <a:off x="1828800" y="4297680"/>
            <a:ext cx="8531352" cy="457200"/>
          </a:xfrm>
          <a:prstGeom prst="rect">
            <a:avLst/>
          </a:prstGeom>
          <a:noFill/>
          <a:ln/>
        </p:spPr>
        <p:txBody>
          <a:bodyPr wrap="square" lIns="0" tIns="0" rIns="0" bIns="0" rtlCol="0" anchor="ctr"/>
          <a:lstStyle/>
          <a:p>
            <a:pPr algn="ctr" indent="0" marL="0">
              <a:buNone/>
            </a:pPr>
            <a:r>
              <a:rPr lang="en-US" sz="1600" dirty="0">
                <a:solidFill>
                  <a:srgbClr val="C3BEE4"/>
                </a:solidFill>
                <a:latin typeface="Calibri" pitchFamily="34" charset="0"/>
                <a:ea typeface="Calibri" pitchFamily="34" charset="-122"/>
                <a:cs typeface="Calibri" pitchFamily="34" charset="-120"/>
              </a:rPr>
              <a:t>And the order that decides which one wins.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3" name="Text 0"/>
          <p:cNvSpPr/>
          <p:nvPr/>
        </p:nvSpPr>
        <p:spPr>
          <a:xfrm>
            <a:off x="640080" y="6364224"/>
            <a:ext cx="3657600" cy="256032"/>
          </a:xfrm>
          <a:prstGeom prst="rect">
            <a:avLst/>
          </a:prstGeom>
          <a:noFill/>
          <a:ln/>
        </p:spPr>
        <p:txBody>
          <a:bodyPr wrap="square" lIns="0" tIns="0" rIns="0" bIns="0" rtlCol="0" anchor="ctr"/>
          <a:lstStyle/>
          <a:p>
            <a:pPr indent="0" marL="0">
              <a:buNone/>
            </a:pPr>
            <a:r>
              <a:rPr lang="en-US" sz="900" dirty="0">
                <a:solidFill>
                  <a:srgbClr val="939DAB"/>
                </a:solidFill>
                <a:latin typeface="Courier New" pitchFamily="34" charset="0"/>
                <a:ea typeface="Courier New" pitchFamily="34" charset="-122"/>
                <a:cs typeface="Courier New" pitchFamily="34" charset="-120"/>
              </a:rPr>
              <a:t>CLASS 03  ·  CSS</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939DAB"/>
                </a:solidFill>
                <a:latin typeface="Courier New" pitchFamily="34" charset="0"/>
                <a:ea typeface="Courier New" pitchFamily="34" charset="-122"/>
                <a:cs typeface="Courier New" pitchFamily="34" charset="-120"/>
              </a:rPr>
              <a:t>04</a:t>
            </a:r>
            <a:endParaRPr lang="en-US" sz="900" dirty="0"/>
          </a:p>
        </p:txBody>
      </p:sp>
      <p:sp>
        <p:nvSpPr>
          <p:cNvPr id="5" name="Shape 2"/>
          <p:cNvSpPr/>
          <p:nvPr/>
        </p:nvSpPr>
        <p:spPr>
          <a:xfrm>
            <a:off x="640080" y="365760"/>
            <a:ext cx="3968496" cy="347472"/>
          </a:xfrm>
          <a:prstGeom prst="roundRect">
            <a:avLst>
              <a:gd name="adj" fmla="val 21053"/>
            </a:avLst>
          </a:prstGeom>
          <a:solidFill>
            <a:srgbClr val="2C6BED"/>
          </a:solidFill>
          <a:ln w="15875">
            <a:solidFill>
              <a:srgbClr val="15202B"/>
            </a:solidFill>
            <a:prstDash val="solid"/>
          </a:ln>
        </p:spPr>
      </p:sp>
      <p:sp>
        <p:nvSpPr>
          <p:cNvPr id="6" name="Text 3"/>
          <p:cNvSpPr/>
          <p:nvPr/>
        </p:nvSpPr>
        <p:spPr>
          <a:xfrm>
            <a:off x="640080" y="365760"/>
            <a:ext cx="3968496" cy="347472"/>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BEFORE YOU WRITE ANY CSS</a:t>
            </a:r>
            <a:endParaRPr lang="en-US" sz="1050" dirty="0"/>
          </a:p>
        </p:txBody>
      </p:sp>
      <p:sp>
        <p:nvSpPr>
          <p:cNvPr id="7" name="Text 4"/>
          <p:cNvSpPr/>
          <p:nvPr/>
        </p:nvSpPr>
        <p:spPr>
          <a:xfrm>
            <a:off x="640080" y="786384"/>
            <a:ext cx="10881360" cy="603504"/>
          </a:xfrm>
          <a:prstGeom prst="rect">
            <a:avLst/>
          </a:prstGeom>
          <a:noFill/>
          <a:ln/>
        </p:spPr>
        <p:txBody>
          <a:bodyPr wrap="square" lIns="0" tIns="0" rIns="0" bIns="0" rtlCol="0" anchor="ctr"/>
          <a:lstStyle/>
          <a:p>
            <a:pPr indent="0" marL="0">
              <a:buNone/>
            </a:pPr>
            <a:r>
              <a:rPr lang="en-US" sz="3200" b="1" dirty="0">
                <a:solidFill>
                  <a:srgbClr val="15202B"/>
                </a:solidFill>
                <a:latin typeface="Calibri" pitchFamily="34" charset="0"/>
                <a:ea typeface="Calibri" pitchFamily="34" charset="-122"/>
                <a:cs typeface="Calibri" pitchFamily="34" charset="-120"/>
              </a:rPr>
              <a:t>The page was never unstyled</a:t>
            </a:r>
            <a:endParaRPr lang="en-US" sz="3200" dirty="0"/>
          </a:p>
        </p:txBody>
      </p:sp>
      <p:sp>
        <p:nvSpPr>
          <p:cNvPr id="8" name="Shape 5"/>
          <p:cNvSpPr/>
          <p:nvPr/>
        </p:nvSpPr>
        <p:spPr>
          <a:xfrm>
            <a:off x="640080" y="1645920"/>
            <a:ext cx="5212080" cy="3566160"/>
          </a:xfrm>
          <a:prstGeom prst="roundRect">
            <a:avLst>
              <a:gd name="adj" fmla="val 2564"/>
            </a:avLst>
          </a:prstGeom>
          <a:solidFill>
            <a:srgbClr val="FFFFFF"/>
          </a:solidFill>
          <a:ln w="15875">
            <a:solidFill>
              <a:srgbClr val="D9DEE7"/>
            </a:solidFill>
            <a:prstDash val="solid"/>
          </a:ln>
          <a:effectLst>
            <a:outerShdw sx="100000" sy="100000" kx="0" ky="0" algn="bl" rotWithShape="0" blurRad="127000" dist="25400" dir="5400000">
              <a:srgbClr val="8B95A6">
                <a:alpha val="25000"/>
              </a:srgbClr>
            </a:outerShdw>
          </a:effectLst>
        </p:spPr>
      </p:sp>
      <p:sp>
        <p:nvSpPr>
          <p:cNvPr id="9" name="Shape 6"/>
          <p:cNvSpPr/>
          <p:nvPr/>
        </p:nvSpPr>
        <p:spPr>
          <a:xfrm>
            <a:off x="640080" y="1645920"/>
            <a:ext cx="5212080" cy="292608"/>
          </a:xfrm>
          <a:prstGeom prst="roundRect">
            <a:avLst>
              <a:gd name="adj" fmla="val 31250"/>
            </a:avLst>
          </a:prstGeom>
          <a:solidFill>
            <a:srgbClr val="EFF2F7"/>
          </a:solidFill>
          <a:ln w="15875">
            <a:solidFill>
              <a:srgbClr val="D9DEE7"/>
            </a:solidFill>
            <a:prstDash val="solid"/>
          </a:ln>
        </p:spPr>
      </p:sp>
      <p:sp>
        <p:nvSpPr>
          <p:cNvPr id="10" name="Shape 7"/>
          <p:cNvSpPr/>
          <p:nvPr/>
        </p:nvSpPr>
        <p:spPr>
          <a:xfrm>
            <a:off x="786384" y="1746504"/>
            <a:ext cx="91440" cy="91440"/>
          </a:xfrm>
          <a:prstGeom prst="ellipse">
            <a:avLst/>
          </a:prstGeom>
          <a:solidFill>
            <a:srgbClr val="E06C61"/>
          </a:solidFill>
          <a:ln w="6350">
            <a:solidFill>
              <a:srgbClr val="E06C61"/>
            </a:solidFill>
            <a:prstDash val="solid"/>
          </a:ln>
        </p:spPr>
      </p:sp>
      <p:sp>
        <p:nvSpPr>
          <p:cNvPr id="11" name="Shape 8"/>
          <p:cNvSpPr/>
          <p:nvPr/>
        </p:nvSpPr>
        <p:spPr>
          <a:xfrm>
            <a:off x="941832" y="1746504"/>
            <a:ext cx="91440" cy="91440"/>
          </a:xfrm>
          <a:prstGeom prst="ellipse">
            <a:avLst/>
          </a:prstGeom>
          <a:solidFill>
            <a:srgbClr val="E8B44A"/>
          </a:solidFill>
          <a:ln w="6350">
            <a:solidFill>
              <a:srgbClr val="E8B44A"/>
            </a:solidFill>
            <a:prstDash val="solid"/>
          </a:ln>
        </p:spPr>
      </p:sp>
      <p:sp>
        <p:nvSpPr>
          <p:cNvPr id="12" name="Shape 9"/>
          <p:cNvSpPr/>
          <p:nvPr/>
        </p:nvSpPr>
        <p:spPr>
          <a:xfrm>
            <a:off x="1097280" y="1746504"/>
            <a:ext cx="91440" cy="91440"/>
          </a:xfrm>
          <a:prstGeom prst="ellipse">
            <a:avLst/>
          </a:prstGeom>
          <a:solidFill>
            <a:srgbClr val="62BD6B"/>
          </a:solidFill>
          <a:ln w="6350">
            <a:solidFill>
              <a:srgbClr val="62BD6B"/>
            </a:solidFill>
            <a:prstDash val="solid"/>
          </a:ln>
        </p:spPr>
      </p:sp>
      <p:sp>
        <p:nvSpPr>
          <p:cNvPr id="13" name="Text 10"/>
          <p:cNvSpPr/>
          <p:nvPr/>
        </p:nvSpPr>
        <p:spPr>
          <a:xfrm>
            <a:off x="1298448" y="1645920"/>
            <a:ext cx="4389120" cy="292608"/>
          </a:xfrm>
          <a:prstGeom prst="rect">
            <a:avLst/>
          </a:prstGeom>
          <a:noFill/>
          <a:ln/>
        </p:spPr>
        <p:txBody>
          <a:bodyPr wrap="square" lIns="0" tIns="0" rIns="0" bIns="0" rtlCol="0" anchor="ctr"/>
          <a:lstStyle/>
          <a:p>
            <a:pPr indent="0" marL="0">
              <a:buNone/>
            </a:pPr>
            <a:r>
              <a:rPr lang="en-US" sz="850" dirty="0">
                <a:solidFill>
                  <a:srgbClr val="939DAB"/>
                </a:solidFill>
                <a:latin typeface="Courier New" pitchFamily="34" charset="0"/>
                <a:ea typeface="Courier New" pitchFamily="34" charset="-122"/>
                <a:cs typeface="Courier New" pitchFamily="34" charset="-120"/>
              </a:rPr>
              <a:t>no css of your own</a:t>
            </a:r>
            <a:endParaRPr lang="en-US" sz="850" dirty="0"/>
          </a:p>
        </p:txBody>
      </p:sp>
      <p:sp>
        <p:nvSpPr>
          <p:cNvPr id="14" name="Text 11"/>
          <p:cNvSpPr/>
          <p:nvPr/>
        </p:nvSpPr>
        <p:spPr>
          <a:xfrm>
            <a:off x="932688" y="2103120"/>
            <a:ext cx="4023360" cy="457200"/>
          </a:xfrm>
          <a:prstGeom prst="rect">
            <a:avLst/>
          </a:prstGeom>
          <a:noFill/>
          <a:ln/>
        </p:spPr>
        <p:txBody>
          <a:bodyPr wrap="square" lIns="0" tIns="0" rIns="0" bIns="0" rtlCol="0" anchor="ctr"/>
          <a:lstStyle/>
          <a:p>
            <a:pPr indent="0" marL="0">
              <a:buNone/>
            </a:pPr>
            <a:r>
              <a:rPr lang="en-US" sz="2400" b="1" dirty="0">
                <a:solidFill>
                  <a:srgbClr val="15202B"/>
                </a:solidFill>
                <a:latin typeface="Calibri" pitchFamily="34" charset="0"/>
                <a:ea typeface="Calibri" pitchFamily="34" charset="-122"/>
                <a:cs typeface="Calibri" pitchFamily="34" charset="-120"/>
              </a:rPr>
              <a:t>Welcome to Scaler</a:t>
            </a:r>
            <a:endParaRPr lang="en-US" sz="2400" dirty="0"/>
          </a:p>
        </p:txBody>
      </p:sp>
      <p:sp>
        <p:nvSpPr>
          <p:cNvPr id="15" name="Text 12"/>
          <p:cNvSpPr/>
          <p:nvPr/>
        </p:nvSpPr>
        <p:spPr>
          <a:xfrm>
            <a:off x="5074920" y="2103120"/>
            <a:ext cx="640080" cy="457200"/>
          </a:xfrm>
          <a:prstGeom prst="rect">
            <a:avLst/>
          </a:prstGeom>
          <a:noFill/>
          <a:ln/>
        </p:spPr>
        <p:txBody>
          <a:bodyPr wrap="square" lIns="0" tIns="0" rIns="0" bIns="0" rtlCol="0" anchor="ctr"/>
          <a:lstStyle/>
          <a:p>
            <a:pPr indent="0" marL="0">
              <a:buNone/>
            </a:pPr>
            <a:r>
              <a:rPr lang="en-US" sz="900" dirty="0">
                <a:solidFill>
                  <a:srgbClr val="939DAB"/>
                </a:solidFill>
                <a:latin typeface="Courier New" pitchFamily="34" charset="0"/>
                <a:ea typeface="Courier New" pitchFamily="34" charset="-122"/>
                <a:cs typeface="Courier New" pitchFamily="34" charset="-120"/>
              </a:rPr>
              <a:t>&lt;h1&gt;</a:t>
            </a:r>
            <a:endParaRPr lang="en-US" sz="900" dirty="0"/>
          </a:p>
        </p:txBody>
      </p:sp>
      <p:sp>
        <p:nvSpPr>
          <p:cNvPr id="16" name="Text 13"/>
          <p:cNvSpPr/>
          <p:nvPr/>
        </p:nvSpPr>
        <p:spPr>
          <a:xfrm>
            <a:off x="932688" y="2670048"/>
            <a:ext cx="4023360" cy="457200"/>
          </a:xfrm>
          <a:prstGeom prst="rect">
            <a:avLst/>
          </a:prstGeom>
          <a:noFill/>
          <a:ln/>
        </p:spPr>
        <p:txBody>
          <a:bodyPr wrap="square" lIns="0" tIns="0" rIns="0" bIns="0" rtlCol="0" anchor="ctr"/>
          <a:lstStyle/>
          <a:p>
            <a:pPr indent="0" marL="0">
              <a:buNone/>
            </a:pPr>
            <a:r>
              <a:rPr lang="en-US" sz="1200" dirty="0">
                <a:solidFill>
                  <a:srgbClr val="15202B"/>
                </a:solidFill>
                <a:latin typeface="Calibri" pitchFamily="34" charset="0"/>
                <a:ea typeface="Calibri" pitchFamily="34" charset="-122"/>
                <a:cs typeface="Calibri" pitchFamily="34" charset="-120"/>
              </a:rPr>
              <a:t>Some ordinary paragraph text.</a:t>
            </a:r>
            <a:endParaRPr lang="en-US" sz="1200" dirty="0"/>
          </a:p>
        </p:txBody>
      </p:sp>
      <p:sp>
        <p:nvSpPr>
          <p:cNvPr id="17" name="Text 14"/>
          <p:cNvSpPr/>
          <p:nvPr/>
        </p:nvSpPr>
        <p:spPr>
          <a:xfrm>
            <a:off x="5074920" y="2670048"/>
            <a:ext cx="640080" cy="457200"/>
          </a:xfrm>
          <a:prstGeom prst="rect">
            <a:avLst/>
          </a:prstGeom>
          <a:noFill/>
          <a:ln/>
        </p:spPr>
        <p:txBody>
          <a:bodyPr wrap="square" lIns="0" tIns="0" rIns="0" bIns="0" rtlCol="0" anchor="ctr"/>
          <a:lstStyle/>
          <a:p>
            <a:pPr indent="0" marL="0">
              <a:buNone/>
            </a:pPr>
            <a:r>
              <a:rPr lang="en-US" sz="900" dirty="0">
                <a:solidFill>
                  <a:srgbClr val="939DAB"/>
                </a:solidFill>
                <a:latin typeface="Courier New" pitchFamily="34" charset="0"/>
                <a:ea typeface="Courier New" pitchFamily="34" charset="-122"/>
                <a:cs typeface="Courier New" pitchFamily="34" charset="-120"/>
              </a:rPr>
              <a:t>&lt;p&gt;</a:t>
            </a:r>
            <a:endParaRPr lang="en-US" sz="900" dirty="0"/>
          </a:p>
        </p:txBody>
      </p:sp>
      <p:sp>
        <p:nvSpPr>
          <p:cNvPr id="18" name="Text 15"/>
          <p:cNvSpPr/>
          <p:nvPr/>
        </p:nvSpPr>
        <p:spPr>
          <a:xfrm>
            <a:off x="932688" y="3236976"/>
            <a:ext cx="4023360" cy="457200"/>
          </a:xfrm>
          <a:prstGeom prst="rect">
            <a:avLst/>
          </a:prstGeom>
          <a:noFill/>
          <a:ln/>
        </p:spPr>
        <p:txBody>
          <a:bodyPr wrap="square" lIns="0" tIns="0" rIns="0" bIns="0" rtlCol="0" anchor="ctr"/>
          <a:lstStyle/>
          <a:p>
            <a:pPr indent="0" marL="0">
              <a:buNone/>
            </a:pPr>
            <a:r>
              <a:rPr lang="en-US" sz="1200" u="sng" dirty="0">
                <a:solidFill>
                  <a:srgbClr val="0000EE"/>
                </a:solidFill>
                <a:latin typeface="Calibri" pitchFamily="34" charset="0"/>
                <a:ea typeface="Calibri" pitchFamily="34" charset="-122"/>
                <a:cs typeface="Calibri" pitchFamily="34" charset="-120"/>
              </a:rPr>
              <a:t>a link, blue and underlined</a:t>
            </a:r>
            <a:endParaRPr lang="en-US" sz="1200" dirty="0"/>
          </a:p>
        </p:txBody>
      </p:sp>
      <p:sp>
        <p:nvSpPr>
          <p:cNvPr id="19" name="Text 16"/>
          <p:cNvSpPr/>
          <p:nvPr/>
        </p:nvSpPr>
        <p:spPr>
          <a:xfrm>
            <a:off x="5074920" y="3236976"/>
            <a:ext cx="640080" cy="457200"/>
          </a:xfrm>
          <a:prstGeom prst="rect">
            <a:avLst/>
          </a:prstGeom>
          <a:noFill/>
          <a:ln/>
        </p:spPr>
        <p:txBody>
          <a:bodyPr wrap="square" lIns="0" tIns="0" rIns="0" bIns="0" rtlCol="0" anchor="ctr"/>
          <a:lstStyle/>
          <a:p>
            <a:pPr indent="0" marL="0">
              <a:buNone/>
            </a:pPr>
            <a:r>
              <a:rPr lang="en-US" sz="900" dirty="0">
                <a:solidFill>
                  <a:srgbClr val="939DAB"/>
                </a:solidFill>
                <a:latin typeface="Courier New" pitchFamily="34" charset="0"/>
                <a:ea typeface="Courier New" pitchFamily="34" charset="-122"/>
                <a:cs typeface="Courier New" pitchFamily="34" charset="-120"/>
              </a:rPr>
              <a:t>&lt;a&gt;</a:t>
            </a:r>
            <a:endParaRPr lang="en-US" sz="900" dirty="0"/>
          </a:p>
        </p:txBody>
      </p:sp>
      <p:sp>
        <p:nvSpPr>
          <p:cNvPr id="20" name="Shape 17"/>
          <p:cNvSpPr/>
          <p:nvPr/>
        </p:nvSpPr>
        <p:spPr>
          <a:xfrm>
            <a:off x="932688" y="3931920"/>
            <a:ext cx="1005840" cy="365760"/>
          </a:xfrm>
          <a:prstGeom prst="roundRect">
            <a:avLst>
              <a:gd name="adj" fmla="val 12500"/>
            </a:avLst>
          </a:prstGeom>
          <a:solidFill>
            <a:srgbClr val="EFEFEF"/>
          </a:solidFill>
          <a:ln w="15875">
            <a:solidFill>
              <a:srgbClr val="8F8F8F"/>
            </a:solidFill>
            <a:prstDash val="solid"/>
          </a:ln>
        </p:spPr>
      </p:sp>
      <p:sp>
        <p:nvSpPr>
          <p:cNvPr id="21" name="Text 18"/>
          <p:cNvSpPr/>
          <p:nvPr/>
        </p:nvSpPr>
        <p:spPr>
          <a:xfrm>
            <a:off x="932688" y="3931920"/>
            <a:ext cx="1005840" cy="365760"/>
          </a:xfrm>
          <a:prstGeom prst="rect">
            <a:avLst/>
          </a:prstGeom>
          <a:noFill/>
          <a:ln/>
        </p:spPr>
        <p:txBody>
          <a:bodyPr wrap="square" lIns="0" tIns="0" rIns="0" bIns="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Button</a:t>
            </a:r>
            <a:endParaRPr lang="en-US" sz="1050" dirty="0"/>
          </a:p>
        </p:txBody>
      </p:sp>
      <p:sp>
        <p:nvSpPr>
          <p:cNvPr id="22" name="Shape 19"/>
          <p:cNvSpPr/>
          <p:nvPr/>
        </p:nvSpPr>
        <p:spPr>
          <a:xfrm>
            <a:off x="2148840" y="3931920"/>
            <a:ext cx="1828800" cy="365760"/>
          </a:xfrm>
          <a:prstGeom prst="rect">
            <a:avLst/>
          </a:prstGeom>
          <a:solidFill>
            <a:srgbClr val="FFFFFF"/>
          </a:solidFill>
          <a:ln w="15875">
            <a:solidFill>
              <a:srgbClr val="767676"/>
            </a:solidFill>
            <a:prstDash val="solid"/>
          </a:ln>
        </p:spPr>
      </p:sp>
      <p:sp>
        <p:nvSpPr>
          <p:cNvPr id="23" name="Text 20"/>
          <p:cNvSpPr/>
          <p:nvPr/>
        </p:nvSpPr>
        <p:spPr>
          <a:xfrm>
            <a:off x="2267712" y="3931920"/>
            <a:ext cx="1645920" cy="365760"/>
          </a:xfrm>
          <a:prstGeom prst="rect">
            <a:avLst/>
          </a:prstGeom>
          <a:noFill/>
          <a:ln/>
        </p:spPr>
        <p:txBody>
          <a:bodyPr wrap="square" lIns="0" tIns="0" rIns="0" bIns="0" rtlCol="0" anchor="ctr"/>
          <a:lstStyle/>
          <a:p>
            <a:pPr indent="0" marL="0">
              <a:buNone/>
            </a:pPr>
            <a:r>
              <a:rPr lang="en-US" sz="1050" dirty="0">
                <a:solidFill>
                  <a:srgbClr val="767676"/>
                </a:solidFill>
                <a:latin typeface="Calibri" pitchFamily="34" charset="0"/>
                <a:ea typeface="Calibri" pitchFamily="34" charset="-122"/>
                <a:cs typeface="Calibri" pitchFamily="34" charset="-120"/>
              </a:rPr>
              <a:t>input</a:t>
            </a:r>
            <a:endParaRPr lang="en-US" sz="1050" dirty="0"/>
          </a:p>
        </p:txBody>
      </p:sp>
      <p:sp>
        <p:nvSpPr>
          <p:cNvPr id="24" name="Shape 21"/>
          <p:cNvSpPr/>
          <p:nvPr/>
        </p:nvSpPr>
        <p:spPr>
          <a:xfrm>
            <a:off x="1024128" y="4590288"/>
            <a:ext cx="118872" cy="118872"/>
          </a:xfrm>
          <a:prstGeom prst="ellipse">
            <a:avLst/>
          </a:prstGeom>
          <a:solidFill>
            <a:srgbClr val="15202B"/>
          </a:solidFill>
          <a:ln w="12700">
            <a:solidFill>
              <a:srgbClr val="15202B"/>
            </a:solidFill>
            <a:prstDash val="solid"/>
          </a:ln>
        </p:spPr>
      </p:sp>
      <p:sp>
        <p:nvSpPr>
          <p:cNvPr id="25" name="Text 22"/>
          <p:cNvSpPr/>
          <p:nvPr/>
        </p:nvSpPr>
        <p:spPr>
          <a:xfrm>
            <a:off x="1298448" y="4480560"/>
            <a:ext cx="4023360" cy="329184"/>
          </a:xfrm>
          <a:prstGeom prst="rect">
            <a:avLst/>
          </a:prstGeom>
          <a:noFill/>
          <a:ln/>
        </p:spPr>
        <p:txBody>
          <a:bodyPr wrap="square" lIns="0" tIns="0" rIns="0" bIns="0" rtlCol="0" anchor="ctr"/>
          <a:lstStyle/>
          <a:p>
            <a:pPr indent="0" marL="0">
              <a:buNone/>
            </a:pPr>
            <a:r>
              <a:rPr lang="en-US" sz="1150" dirty="0">
                <a:solidFill>
                  <a:srgbClr val="15202B"/>
                </a:solidFill>
                <a:latin typeface="Calibri" pitchFamily="34" charset="0"/>
                <a:ea typeface="Calibri" pitchFamily="34" charset="-122"/>
                <a:cs typeface="Calibri" pitchFamily="34" charset="-120"/>
              </a:rPr>
              <a:t>list items already have bullets</a:t>
            </a:r>
            <a:endParaRPr lang="en-US" sz="1150" dirty="0"/>
          </a:p>
        </p:txBody>
      </p:sp>
      <p:sp>
        <p:nvSpPr>
          <p:cNvPr id="26" name="Shape 23"/>
          <p:cNvSpPr/>
          <p:nvPr/>
        </p:nvSpPr>
        <p:spPr>
          <a:xfrm>
            <a:off x="6336792" y="1645920"/>
            <a:ext cx="5212080" cy="1060704"/>
          </a:xfrm>
          <a:prstGeom prst="roundRect">
            <a:avLst>
              <a:gd name="adj" fmla="val 8621"/>
            </a:avLst>
          </a:prstGeom>
          <a:solidFill>
            <a:srgbClr val="FFFFFF"/>
          </a:solidFill>
          <a:ln w="12700">
            <a:solidFill>
              <a:srgbClr val="D9DEE7"/>
            </a:solidFill>
            <a:prstDash val="solid"/>
          </a:ln>
          <a:effectLst>
            <a:outerShdw sx="100000" sy="100000" kx="0" ky="0" algn="bl" rotWithShape="0" blurRad="177800" dist="38100" dir="5400000">
              <a:srgbClr val="000000">
                <a:alpha val="35000"/>
              </a:srgbClr>
            </a:outerShdw>
          </a:effectLst>
        </p:spPr>
      </p:sp>
      <p:sp>
        <p:nvSpPr>
          <p:cNvPr id="27" name="Shape 24"/>
          <p:cNvSpPr/>
          <p:nvPr/>
        </p:nvSpPr>
        <p:spPr>
          <a:xfrm>
            <a:off x="6592824" y="1920240"/>
            <a:ext cx="512064" cy="512064"/>
          </a:xfrm>
          <a:prstGeom prst="roundRect">
            <a:avLst>
              <a:gd name="adj" fmla="val 17857"/>
            </a:avLst>
          </a:prstGeom>
          <a:solidFill>
            <a:srgbClr val="E7EEFD"/>
          </a:solidFill>
          <a:ln w="12700">
            <a:solidFill>
              <a:srgbClr val="B6CDFA"/>
            </a:solidFill>
            <a:prstDash val="solid"/>
          </a:ln>
        </p:spPr>
      </p:sp>
      <p:pic>
        <p:nvPicPr>
          <p:cNvPr id="28" name="Image 0" descr="preencoded.png">    </p:cNvPr>
          <p:cNvPicPr>
            <a:picLocks noChangeAspect="1"/>
          </p:cNvPicPr>
          <p:nvPr/>
        </p:nvPicPr>
        <p:blipFill>
          <a:blip r:embed="rId1"/>
          <a:stretch>
            <a:fillRect/>
          </a:stretch>
        </p:blipFill>
        <p:spPr>
          <a:xfrm>
            <a:off x="6725961" y="2053377"/>
            <a:ext cx="245791" cy="245791"/>
          </a:xfrm>
          <a:prstGeom prst="rect">
            <a:avLst/>
          </a:prstGeom>
        </p:spPr>
      </p:pic>
      <p:sp>
        <p:nvSpPr>
          <p:cNvPr id="29" name="Text 25"/>
          <p:cNvSpPr/>
          <p:nvPr/>
        </p:nvSpPr>
        <p:spPr>
          <a:xfrm>
            <a:off x="7269480" y="1828800"/>
            <a:ext cx="4114800" cy="329184"/>
          </a:xfrm>
          <a:prstGeom prst="rect">
            <a:avLst/>
          </a:prstGeom>
          <a:noFill/>
          <a:ln/>
        </p:spPr>
        <p:txBody>
          <a:bodyPr wrap="square" lIns="0" tIns="0" rIns="0" bIns="0" rtlCol="0" anchor="ctr"/>
          <a:lstStyle/>
          <a:p>
            <a:pPr indent="0" marL="0">
              <a:buNone/>
            </a:pPr>
            <a:r>
              <a:rPr lang="en-US" sz="1500" b="1" dirty="0">
                <a:solidFill>
                  <a:srgbClr val="15202B"/>
                </a:solidFill>
                <a:latin typeface="Calibri" pitchFamily="34" charset="0"/>
                <a:ea typeface="Calibri" pitchFamily="34" charset="-122"/>
                <a:cs typeface="Calibri" pitchFamily="34" charset="-120"/>
              </a:rPr>
              <a:t>Every browser ships defaults</a:t>
            </a:r>
            <a:endParaRPr lang="en-US" sz="1500" dirty="0"/>
          </a:p>
        </p:txBody>
      </p:sp>
      <p:sp>
        <p:nvSpPr>
          <p:cNvPr id="30" name="Text 26"/>
          <p:cNvSpPr/>
          <p:nvPr/>
        </p:nvSpPr>
        <p:spPr>
          <a:xfrm>
            <a:off x="7269480" y="2157984"/>
            <a:ext cx="4114800" cy="420624"/>
          </a:xfrm>
          <a:prstGeom prst="rect">
            <a:avLst/>
          </a:prstGeom>
          <a:noFill/>
          <a:ln/>
        </p:spPr>
        <p:txBody>
          <a:bodyPr wrap="square" lIns="0" tIns="0" rIns="0" bIns="0" rtlCol="0" anchor="t"/>
          <a:lstStyle/>
          <a:p>
            <a:pPr algn="l" indent="0" marL="0">
              <a:lnSpc>
                <a:spcPts val="1500"/>
              </a:lnSpc>
              <a:buNone/>
            </a:pPr>
            <a:r>
              <a:rPr lang="en-US" sz="1150" dirty="0">
                <a:solidFill>
                  <a:srgbClr val="55616F"/>
                </a:solidFill>
                <a:latin typeface="Calibri" pitchFamily="34" charset="0"/>
                <a:ea typeface="Calibri" pitchFamily="34" charset="-122"/>
                <a:cs typeface="Calibri" pitchFamily="34" charset="-120"/>
              </a:rPr>
              <a:t>Headings are already big and bold, links already blue, buttons already grey.</a:t>
            </a:r>
            <a:endParaRPr lang="en-US" sz="1150" dirty="0"/>
          </a:p>
        </p:txBody>
      </p:sp>
      <p:sp>
        <p:nvSpPr>
          <p:cNvPr id="31" name="Shape 27"/>
          <p:cNvSpPr/>
          <p:nvPr/>
        </p:nvSpPr>
        <p:spPr>
          <a:xfrm>
            <a:off x="6336792" y="2889504"/>
            <a:ext cx="5212080" cy="1060704"/>
          </a:xfrm>
          <a:prstGeom prst="roundRect">
            <a:avLst>
              <a:gd name="adj" fmla="val 8621"/>
            </a:avLst>
          </a:prstGeom>
          <a:solidFill>
            <a:srgbClr val="FFFFFF"/>
          </a:solidFill>
          <a:ln w="12700">
            <a:solidFill>
              <a:srgbClr val="D9DEE7"/>
            </a:solidFill>
            <a:prstDash val="solid"/>
          </a:ln>
          <a:effectLst>
            <a:outerShdw sx="100000" sy="100000" kx="0" ky="0" algn="bl" rotWithShape="0" blurRad="177800" dist="38100" dir="5400000">
              <a:srgbClr val="000000">
                <a:alpha val="35000"/>
              </a:srgbClr>
            </a:outerShdw>
          </a:effectLst>
        </p:spPr>
      </p:sp>
      <p:sp>
        <p:nvSpPr>
          <p:cNvPr id="32" name="Shape 28"/>
          <p:cNvSpPr/>
          <p:nvPr/>
        </p:nvSpPr>
        <p:spPr>
          <a:xfrm>
            <a:off x="6592824" y="3163824"/>
            <a:ext cx="512064" cy="512064"/>
          </a:xfrm>
          <a:prstGeom prst="roundRect">
            <a:avLst>
              <a:gd name="adj" fmla="val 17857"/>
            </a:avLst>
          </a:prstGeom>
          <a:solidFill>
            <a:srgbClr val="E7EEFD"/>
          </a:solidFill>
          <a:ln w="12700">
            <a:solidFill>
              <a:srgbClr val="B6CDFA"/>
            </a:solidFill>
            <a:prstDash val="solid"/>
          </a:ln>
        </p:spPr>
      </p:sp>
      <p:pic>
        <p:nvPicPr>
          <p:cNvPr id="33" name="Image 1" descr="preencoded.png">    </p:cNvPr>
          <p:cNvPicPr>
            <a:picLocks noChangeAspect="1"/>
          </p:cNvPicPr>
          <p:nvPr/>
        </p:nvPicPr>
        <p:blipFill>
          <a:blip r:embed="rId2"/>
          <a:stretch>
            <a:fillRect/>
          </a:stretch>
        </p:blipFill>
        <p:spPr>
          <a:xfrm>
            <a:off x="6725961" y="3296961"/>
            <a:ext cx="245791" cy="245791"/>
          </a:xfrm>
          <a:prstGeom prst="rect">
            <a:avLst/>
          </a:prstGeom>
        </p:spPr>
      </p:pic>
      <p:sp>
        <p:nvSpPr>
          <p:cNvPr id="34" name="Text 29"/>
          <p:cNvSpPr/>
          <p:nvPr/>
        </p:nvSpPr>
        <p:spPr>
          <a:xfrm>
            <a:off x="7269480" y="3072384"/>
            <a:ext cx="4114800" cy="329184"/>
          </a:xfrm>
          <a:prstGeom prst="rect">
            <a:avLst/>
          </a:prstGeom>
          <a:noFill/>
          <a:ln/>
        </p:spPr>
        <p:txBody>
          <a:bodyPr wrap="square" lIns="0" tIns="0" rIns="0" bIns="0" rtlCol="0" anchor="ctr"/>
          <a:lstStyle/>
          <a:p>
            <a:pPr indent="0" marL="0">
              <a:buNone/>
            </a:pPr>
            <a:r>
              <a:rPr lang="en-US" sz="1500" b="1" dirty="0">
                <a:solidFill>
                  <a:srgbClr val="15202B"/>
                </a:solidFill>
                <a:latin typeface="Calibri" pitchFamily="34" charset="0"/>
                <a:ea typeface="Calibri" pitchFamily="34" charset="-122"/>
                <a:cs typeface="Calibri" pitchFamily="34" charset="-120"/>
              </a:rPr>
              <a:t>It is called the user agent stylesheet</a:t>
            </a:r>
            <a:endParaRPr lang="en-US" sz="1500" dirty="0"/>
          </a:p>
        </p:txBody>
      </p:sp>
      <p:sp>
        <p:nvSpPr>
          <p:cNvPr id="35" name="Text 30"/>
          <p:cNvSpPr/>
          <p:nvPr/>
        </p:nvSpPr>
        <p:spPr>
          <a:xfrm>
            <a:off x="7269480" y="3401568"/>
            <a:ext cx="4114800" cy="420624"/>
          </a:xfrm>
          <a:prstGeom prst="rect">
            <a:avLst/>
          </a:prstGeom>
          <a:noFill/>
          <a:ln/>
        </p:spPr>
        <p:txBody>
          <a:bodyPr wrap="square" lIns="0" tIns="0" rIns="0" bIns="0" rtlCol="0" anchor="t"/>
          <a:lstStyle/>
          <a:p>
            <a:pPr algn="l" indent="0" marL="0">
              <a:lnSpc>
                <a:spcPts val="1500"/>
              </a:lnSpc>
              <a:buNone/>
            </a:pPr>
            <a:r>
              <a:rPr lang="en-US" sz="1150" dirty="0">
                <a:solidFill>
                  <a:srgbClr val="55616F"/>
                </a:solidFill>
                <a:latin typeface="Calibri" pitchFamily="34" charset="0"/>
                <a:ea typeface="Calibri" pitchFamily="34" charset="-122"/>
                <a:cs typeface="Calibri" pitchFamily="34" charset="-120"/>
              </a:rPr>
              <a:t>User agent means the browser, acting on your behalf.</a:t>
            </a:r>
            <a:endParaRPr lang="en-US" sz="1150" dirty="0"/>
          </a:p>
        </p:txBody>
      </p:sp>
      <p:sp>
        <p:nvSpPr>
          <p:cNvPr id="36" name="Shape 31"/>
          <p:cNvSpPr/>
          <p:nvPr/>
        </p:nvSpPr>
        <p:spPr>
          <a:xfrm>
            <a:off x="6336792" y="4133088"/>
            <a:ext cx="5212080" cy="1060704"/>
          </a:xfrm>
          <a:prstGeom prst="roundRect">
            <a:avLst>
              <a:gd name="adj" fmla="val 8621"/>
            </a:avLst>
          </a:prstGeom>
          <a:solidFill>
            <a:srgbClr val="FFFFFF"/>
          </a:solidFill>
          <a:ln w="12700">
            <a:solidFill>
              <a:srgbClr val="D9DEE7"/>
            </a:solidFill>
            <a:prstDash val="solid"/>
          </a:ln>
          <a:effectLst>
            <a:outerShdw sx="100000" sy="100000" kx="0" ky="0" algn="bl" rotWithShape="0" blurRad="177800" dist="38100" dir="5400000">
              <a:srgbClr val="000000">
                <a:alpha val="35000"/>
              </a:srgbClr>
            </a:outerShdw>
          </a:effectLst>
        </p:spPr>
      </p:sp>
      <p:sp>
        <p:nvSpPr>
          <p:cNvPr id="37" name="Shape 32"/>
          <p:cNvSpPr/>
          <p:nvPr/>
        </p:nvSpPr>
        <p:spPr>
          <a:xfrm>
            <a:off x="6592824" y="4407408"/>
            <a:ext cx="512064" cy="512064"/>
          </a:xfrm>
          <a:prstGeom prst="roundRect">
            <a:avLst>
              <a:gd name="adj" fmla="val 17857"/>
            </a:avLst>
          </a:prstGeom>
          <a:solidFill>
            <a:srgbClr val="E7EEFD"/>
          </a:solidFill>
          <a:ln w="12700">
            <a:solidFill>
              <a:srgbClr val="B6CDFA"/>
            </a:solidFill>
            <a:prstDash val="solid"/>
          </a:ln>
        </p:spPr>
      </p:sp>
      <p:pic>
        <p:nvPicPr>
          <p:cNvPr id="38" name="Image 2" descr="preencoded.png">    </p:cNvPr>
          <p:cNvPicPr>
            <a:picLocks noChangeAspect="1"/>
          </p:cNvPicPr>
          <p:nvPr/>
        </p:nvPicPr>
        <p:blipFill>
          <a:blip r:embed="rId3"/>
          <a:stretch>
            <a:fillRect/>
          </a:stretch>
        </p:blipFill>
        <p:spPr>
          <a:xfrm>
            <a:off x="6725961" y="4540545"/>
            <a:ext cx="245791" cy="245791"/>
          </a:xfrm>
          <a:prstGeom prst="rect">
            <a:avLst/>
          </a:prstGeom>
        </p:spPr>
      </p:pic>
      <p:sp>
        <p:nvSpPr>
          <p:cNvPr id="39" name="Text 33"/>
          <p:cNvSpPr/>
          <p:nvPr/>
        </p:nvSpPr>
        <p:spPr>
          <a:xfrm>
            <a:off x="7269480" y="4315968"/>
            <a:ext cx="4114800" cy="329184"/>
          </a:xfrm>
          <a:prstGeom prst="rect">
            <a:avLst/>
          </a:prstGeom>
          <a:noFill/>
          <a:ln/>
        </p:spPr>
        <p:txBody>
          <a:bodyPr wrap="square" lIns="0" tIns="0" rIns="0" bIns="0" rtlCol="0" anchor="ctr"/>
          <a:lstStyle/>
          <a:p>
            <a:pPr indent="0" marL="0">
              <a:buNone/>
            </a:pPr>
            <a:r>
              <a:rPr lang="en-US" sz="1500" b="1" dirty="0">
                <a:solidFill>
                  <a:srgbClr val="15202B"/>
                </a:solidFill>
                <a:latin typeface="Calibri" pitchFamily="34" charset="0"/>
                <a:ea typeface="Calibri" pitchFamily="34" charset="-122"/>
                <a:cs typeface="Calibri" pitchFamily="34" charset="-120"/>
              </a:rPr>
              <a:t>Your CSS sits on top of it</a:t>
            </a:r>
            <a:endParaRPr lang="en-US" sz="1500" dirty="0"/>
          </a:p>
        </p:txBody>
      </p:sp>
      <p:sp>
        <p:nvSpPr>
          <p:cNvPr id="40" name="Text 34"/>
          <p:cNvSpPr/>
          <p:nvPr/>
        </p:nvSpPr>
        <p:spPr>
          <a:xfrm>
            <a:off x="7269480" y="4645152"/>
            <a:ext cx="4114800" cy="420624"/>
          </a:xfrm>
          <a:prstGeom prst="rect">
            <a:avLst/>
          </a:prstGeom>
          <a:noFill/>
          <a:ln/>
        </p:spPr>
        <p:txBody>
          <a:bodyPr wrap="square" lIns="0" tIns="0" rIns="0" bIns="0" rtlCol="0" anchor="t"/>
          <a:lstStyle/>
          <a:p>
            <a:pPr algn="l" indent="0" marL="0">
              <a:lnSpc>
                <a:spcPts val="1500"/>
              </a:lnSpc>
              <a:buNone/>
            </a:pPr>
            <a:r>
              <a:rPr lang="en-US" sz="1150" dirty="0">
                <a:solidFill>
                  <a:srgbClr val="55616F"/>
                </a:solidFill>
                <a:latin typeface="Calibri" pitchFamily="34" charset="0"/>
                <a:ea typeface="Calibri" pitchFamily="34" charset="-122"/>
                <a:cs typeface="Calibri" pitchFamily="34" charset="-120"/>
              </a:rPr>
              <a:t>You are not painting a blank page. You are overriding somebody else’s rules.</a:t>
            </a:r>
            <a:endParaRPr lang="en-US" sz="1150" dirty="0"/>
          </a:p>
        </p:txBody>
      </p:sp>
      <p:sp>
        <p:nvSpPr>
          <p:cNvPr id="41" name="Shape 35"/>
          <p:cNvSpPr/>
          <p:nvPr/>
        </p:nvSpPr>
        <p:spPr>
          <a:xfrm>
            <a:off x="640080" y="5486400"/>
            <a:ext cx="10908792" cy="603504"/>
          </a:xfrm>
          <a:prstGeom prst="roundRect">
            <a:avLst>
              <a:gd name="adj" fmla="val 15152"/>
            </a:avLst>
          </a:prstGeom>
          <a:solidFill>
            <a:srgbClr val="E7EEFD"/>
          </a:solidFill>
          <a:ln w="12700">
            <a:solidFill>
              <a:srgbClr val="B6CDFA"/>
            </a:solidFill>
            <a:prstDash val="solid"/>
          </a:ln>
          <a:effectLst>
            <a:outerShdw sx="100000" sy="100000" kx="0" ky="0" algn="bl" rotWithShape="0" blurRad="177800" dist="38100" dir="5400000">
              <a:srgbClr val="000000">
                <a:alpha val="35000"/>
              </a:srgbClr>
            </a:outerShdw>
          </a:effectLst>
        </p:spPr>
      </p:sp>
      <p:sp>
        <p:nvSpPr>
          <p:cNvPr id="42" name="Text 36"/>
          <p:cNvSpPr/>
          <p:nvPr/>
        </p:nvSpPr>
        <p:spPr>
          <a:xfrm>
            <a:off x="914400" y="5486400"/>
            <a:ext cx="10360152" cy="603504"/>
          </a:xfrm>
          <a:prstGeom prst="rect">
            <a:avLst/>
          </a:prstGeom>
          <a:noFill/>
          <a:ln/>
        </p:spPr>
        <p:txBody>
          <a:bodyPr wrap="square" lIns="0" tIns="0" rIns="0" bIns="0" rtlCol="0" anchor="ctr"/>
          <a:lstStyle/>
          <a:p>
            <a:pPr algn="ctr" indent="0" marL="0">
              <a:buNone/>
            </a:pPr>
            <a:r>
              <a:rPr lang="en-US" sz="1550" b="1" dirty="0">
                <a:solidFill>
                  <a:srgbClr val="15202B"/>
                </a:solidFill>
                <a:latin typeface="Calibri" pitchFamily="34" charset="0"/>
                <a:ea typeface="Calibri" pitchFamily="34" charset="-122"/>
                <a:cs typeface="Calibri" pitchFamily="34" charset="-120"/>
              </a:rPr>
              <a:t>There is no such thing as an unstyled page, only a page you have not restyled yet.</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3" name="Text 0"/>
          <p:cNvSpPr/>
          <p:nvPr/>
        </p:nvSpPr>
        <p:spPr>
          <a:xfrm>
            <a:off x="640080" y="6364224"/>
            <a:ext cx="3657600" cy="256032"/>
          </a:xfrm>
          <a:prstGeom prst="rect">
            <a:avLst/>
          </a:prstGeom>
          <a:noFill/>
          <a:ln/>
        </p:spPr>
        <p:txBody>
          <a:bodyPr wrap="square" lIns="0" tIns="0" rIns="0" bIns="0" rtlCol="0" anchor="ctr"/>
          <a:lstStyle/>
          <a:p>
            <a:pPr indent="0" marL="0">
              <a:buNone/>
            </a:pPr>
            <a:r>
              <a:rPr lang="en-US" sz="900" dirty="0">
                <a:solidFill>
                  <a:srgbClr val="939DAB"/>
                </a:solidFill>
                <a:latin typeface="Courier New" pitchFamily="34" charset="0"/>
                <a:ea typeface="Courier New" pitchFamily="34" charset="-122"/>
                <a:cs typeface="Courier New" pitchFamily="34" charset="-120"/>
              </a:rPr>
              <a:t>CLASS 03  ·  CSS</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939DAB"/>
                </a:solidFill>
                <a:latin typeface="Courier New" pitchFamily="34" charset="0"/>
                <a:ea typeface="Courier New" pitchFamily="34" charset="-122"/>
                <a:cs typeface="Courier New" pitchFamily="34" charset="-120"/>
              </a:rPr>
              <a:t>05</a:t>
            </a:r>
            <a:endParaRPr lang="en-US" sz="900" dirty="0"/>
          </a:p>
        </p:txBody>
      </p:sp>
      <p:sp>
        <p:nvSpPr>
          <p:cNvPr id="5" name="Shape 2"/>
          <p:cNvSpPr/>
          <p:nvPr/>
        </p:nvSpPr>
        <p:spPr>
          <a:xfrm>
            <a:off x="640080" y="365760"/>
            <a:ext cx="3529584" cy="347472"/>
          </a:xfrm>
          <a:prstGeom prst="roundRect">
            <a:avLst>
              <a:gd name="adj" fmla="val 21053"/>
            </a:avLst>
          </a:prstGeom>
          <a:solidFill>
            <a:srgbClr val="2C6BED"/>
          </a:solidFill>
          <a:ln w="15875">
            <a:solidFill>
              <a:srgbClr val="15202B"/>
            </a:solidFill>
            <a:prstDash val="solid"/>
          </a:ln>
        </p:spPr>
      </p:sp>
      <p:sp>
        <p:nvSpPr>
          <p:cNvPr id="6" name="Text 3"/>
          <p:cNvSpPr/>
          <p:nvPr/>
        </p:nvSpPr>
        <p:spPr>
          <a:xfrm>
            <a:off x="640080" y="365760"/>
            <a:ext cx="3529584" cy="347472"/>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THREE WAYS TO ADD CSS</a:t>
            </a:r>
            <a:endParaRPr lang="en-US" sz="1050" dirty="0"/>
          </a:p>
        </p:txBody>
      </p:sp>
      <p:sp>
        <p:nvSpPr>
          <p:cNvPr id="7" name="Text 4"/>
          <p:cNvSpPr/>
          <p:nvPr/>
        </p:nvSpPr>
        <p:spPr>
          <a:xfrm>
            <a:off x="640080" y="786384"/>
            <a:ext cx="10881360" cy="603504"/>
          </a:xfrm>
          <a:prstGeom prst="rect">
            <a:avLst/>
          </a:prstGeom>
          <a:noFill/>
          <a:ln/>
        </p:spPr>
        <p:txBody>
          <a:bodyPr wrap="square" lIns="0" tIns="0" rIns="0" bIns="0" rtlCol="0" anchor="ctr"/>
          <a:lstStyle/>
          <a:p>
            <a:pPr indent="0" marL="0">
              <a:buNone/>
            </a:pPr>
            <a:r>
              <a:rPr lang="en-US" sz="3200" b="1" dirty="0">
                <a:solidFill>
                  <a:srgbClr val="15202B"/>
                </a:solidFill>
                <a:latin typeface="Calibri" pitchFamily="34" charset="0"/>
                <a:ea typeface="Calibri" pitchFamily="34" charset="-122"/>
                <a:cs typeface="Calibri" pitchFamily="34" charset="-120"/>
              </a:rPr>
              <a:t>Same result, three places to put it</a:t>
            </a:r>
            <a:endParaRPr lang="en-US" sz="3200" dirty="0"/>
          </a:p>
        </p:txBody>
      </p:sp>
      <p:sp>
        <p:nvSpPr>
          <p:cNvPr id="8" name="Shape 5"/>
          <p:cNvSpPr/>
          <p:nvPr/>
        </p:nvSpPr>
        <p:spPr>
          <a:xfrm>
            <a:off x="640080" y="1627632"/>
            <a:ext cx="3419856" cy="3566160"/>
          </a:xfrm>
          <a:prstGeom prst="roundRect">
            <a:avLst>
              <a:gd name="adj" fmla="val 2674"/>
            </a:avLst>
          </a:prstGeom>
          <a:solidFill>
            <a:srgbClr val="E3F3EA"/>
          </a:solidFill>
          <a:ln w="12700">
            <a:solidFill>
              <a:srgbClr val="1F8A54"/>
            </a:solidFill>
            <a:prstDash val="solid"/>
          </a:ln>
          <a:effectLst>
            <a:outerShdw sx="100000" sy="100000" kx="0" ky="0" algn="bl" rotWithShape="0" blurRad="177800" dist="38100" dir="5400000">
              <a:srgbClr val="000000">
                <a:alpha val="35000"/>
              </a:srgbClr>
            </a:outerShdw>
          </a:effectLst>
        </p:spPr>
      </p:sp>
      <p:sp>
        <p:nvSpPr>
          <p:cNvPr id="9" name="Shape 6"/>
          <p:cNvSpPr/>
          <p:nvPr/>
        </p:nvSpPr>
        <p:spPr>
          <a:xfrm>
            <a:off x="896112" y="1847088"/>
            <a:ext cx="512064" cy="512064"/>
          </a:xfrm>
          <a:prstGeom prst="roundRect">
            <a:avLst>
              <a:gd name="adj" fmla="val 17857"/>
            </a:avLst>
          </a:prstGeom>
          <a:solidFill>
            <a:srgbClr val="FFFFFF"/>
          </a:solidFill>
          <a:ln w="12700">
            <a:solidFill>
              <a:srgbClr val="1F8A54"/>
            </a:solidFill>
            <a:prstDash val="solid"/>
          </a:ln>
        </p:spPr>
      </p:sp>
      <p:pic>
        <p:nvPicPr>
          <p:cNvPr id="10" name="Image 0" descr="preencoded.png">    </p:cNvPr>
          <p:cNvPicPr>
            <a:picLocks noChangeAspect="1"/>
          </p:cNvPicPr>
          <p:nvPr/>
        </p:nvPicPr>
        <p:blipFill>
          <a:blip r:embed="rId1"/>
          <a:stretch>
            <a:fillRect/>
          </a:stretch>
        </p:blipFill>
        <p:spPr>
          <a:xfrm>
            <a:off x="1029249" y="1980225"/>
            <a:ext cx="245791" cy="245791"/>
          </a:xfrm>
          <a:prstGeom prst="rect">
            <a:avLst/>
          </a:prstGeom>
        </p:spPr>
      </p:pic>
      <p:sp>
        <p:nvSpPr>
          <p:cNvPr id="11" name="Text 7"/>
          <p:cNvSpPr/>
          <p:nvPr/>
        </p:nvSpPr>
        <p:spPr>
          <a:xfrm>
            <a:off x="1554480" y="1847088"/>
            <a:ext cx="2249424" cy="512064"/>
          </a:xfrm>
          <a:prstGeom prst="rect">
            <a:avLst/>
          </a:prstGeom>
          <a:noFill/>
          <a:ln/>
        </p:spPr>
        <p:txBody>
          <a:bodyPr wrap="square" lIns="0" tIns="0" rIns="0" bIns="0" rtlCol="0" anchor="ctr"/>
          <a:lstStyle/>
          <a:p>
            <a:pPr indent="0" marL="0">
              <a:buNone/>
            </a:pPr>
            <a:r>
              <a:rPr lang="en-US" sz="1900" b="1" dirty="0">
                <a:solidFill>
                  <a:srgbClr val="15202B"/>
                </a:solidFill>
                <a:latin typeface="Calibri" pitchFamily="34" charset="0"/>
                <a:ea typeface="Calibri" pitchFamily="34" charset="-122"/>
                <a:cs typeface="Calibri" pitchFamily="34" charset="-120"/>
              </a:rPr>
              <a:t>External</a:t>
            </a:r>
            <a:endParaRPr lang="en-US" sz="1900" dirty="0"/>
          </a:p>
        </p:txBody>
      </p:sp>
      <p:sp>
        <p:nvSpPr>
          <p:cNvPr id="12" name="Text 8"/>
          <p:cNvSpPr/>
          <p:nvPr/>
        </p:nvSpPr>
        <p:spPr>
          <a:xfrm>
            <a:off x="896112" y="2450592"/>
            <a:ext cx="2907792" cy="256032"/>
          </a:xfrm>
          <a:prstGeom prst="rect">
            <a:avLst/>
          </a:prstGeom>
          <a:noFill/>
          <a:ln/>
        </p:spPr>
        <p:txBody>
          <a:bodyPr wrap="square" lIns="0" tIns="0" rIns="0" bIns="0" rtlCol="0" anchor="ctr"/>
          <a:lstStyle/>
          <a:p>
            <a:pPr indent="0" marL="0">
              <a:buNone/>
            </a:pPr>
            <a:r>
              <a:rPr lang="en-US" sz="950" dirty="0">
                <a:solidFill>
                  <a:srgbClr val="1F8A54"/>
                </a:solidFill>
                <a:latin typeface="Courier New" pitchFamily="34" charset="0"/>
                <a:ea typeface="Courier New" pitchFamily="34" charset="-122"/>
                <a:cs typeface="Courier New" pitchFamily="34" charset="-120"/>
              </a:rPr>
              <a:t>style.css  +  a &lt;link&gt;</a:t>
            </a:r>
            <a:endParaRPr lang="en-US" sz="950" dirty="0"/>
          </a:p>
        </p:txBody>
      </p:sp>
      <p:sp>
        <p:nvSpPr>
          <p:cNvPr id="13" name="Shape 9"/>
          <p:cNvSpPr/>
          <p:nvPr/>
        </p:nvSpPr>
        <p:spPr>
          <a:xfrm>
            <a:off x="896112" y="2743200"/>
            <a:ext cx="2907792" cy="1143000"/>
          </a:xfrm>
          <a:prstGeom prst="roundRect">
            <a:avLst>
              <a:gd name="adj" fmla="val 8000"/>
            </a:avLst>
          </a:prstGeom>
          <a:solidFill>
            <a:srgbClr val="111826"/>
          </a:solidFill>
          <a:ln w="12700">
            <a:solidFill>
              <a:srgbClr val="1D2637"/>
            </a:solidFill>
            <a:prstDash val="solid"/>
          </a:ln>
        </p:spPr>
      </p:sp>
      <p:sp>
        <p:nvSpPr>
          <p:cNvPr id="14" name="Text 10"/>
          <p:cNvSpPr/>
          <p:nvPr/>
        </p:nvSpPr>
        <p:spPr>
          <a:xfrm>
            <a:off x="1170432" y="2980944"/>
            <a:ext cx="2359152" cy="667512"/>
          </a:xfrm>
          <a:prstGeom prst="rect">
            <a:avLst/>
          </a:prstGeom>
          <a:noFill/>
          <a:ln/>
        </p:spPr>
        <p:txBody>
          <a:bodyPr wrap="square" lIns="0" tIns="0" rIns="0" bIns="0" rtlCol="0" anchor="t"/>
          <a:lstStyle/>
          <a:p>
            <a:pPr indent="0" marL="0">
              <a:lnSpc>
                <a:spcPts val="1600"/>
              </a:lnSpc>
              <a:buNone/>
            </a:pPr>
            <a:r>
              <a:rPr lang="en-US" sz="1000" dirty="0">
                <a:solidFill>
                  <a:srgbClr val="E6EAF2"/>
                </a:solidFill>
                <a:latin typeface="Courier New" pitchFamily="34" charset="0"/>
                <a:ea typeface="Courier New" pitchFamily="34" charset="-122"/>
                <a:cs typeface="Courier New" pitchFamily="34" charset="-120"/>
              </a:rPr>
              <a:t>h3 </a:t>
            </a:r>
            <a:pPr indent="0" marL="0">
              <a:lnSpc>
                <a:spcPts val="1600"/>
              </a:lnSpc>
              <a:buNone/>
            </a:pPr>
            <a:r>
              <a:rPr lang="en-US" sz="1000" dirty="0">
                <a:solidFill>
                  <a:srgbClr val="9AA4B5"/>
                </a:solidFill>
                <a:latin typeface="Courier New" pitchFamily="34" charset="0"/>
                <a:ea typeface="Courier New" pitchFamily="34" charset="-122"/>
                <a:cs typeface="Courier New" pitchFamily="34" charset="-120"/>
              </a:rPr>
              <a:t>{</a:t>
            </a:r>
            <a:pPr indent="0" marL="0">
              <a:lnSpc>
                <a:spcPts val="1600"/>
              </a:lnSpc>
              <a:buNone/>
            </a:pPr>
            <a:endParaRPr lang="en-US" sz="1000" dirty="0"/>
          </a:p>
          <a:p>
            <a:pPr indent="0" marL="0">
              <a:lnSpc>
                <a:spcPts val="1600"/>
              </a:lnSpc>
              <a:buNone/>
            </a:pPr>
            <a:r>
              <a:rPr lang="en-US" sz="1000" dirty="0">
                <a:solidFill>
                  <a:srgbClr val="E6EAF2"/>
                </a:solidFill>
                <a:latin typeface="Courier New" pitchFamily="34" charset="0"/>
                <a:ea typeface="Courier New" pitchFamily="34" charset="-122"/>
                <a:cs typeface="Courier New" pitchFamily="34" charset="-120"/>
              </a:rPr>
              <a:t>  </a:t>
            </a:r>
            <a:pPr indent="0" marL="0">
              <a:lnSpc>
                <a:spcPts val="1600"/>
              </a:lnSpc>
              <a:buNone/>
            </a:pPr>
            <a:r>
              <a:rPr lang="en-US" sz="1000" dirty="0">
                <a:solidFill>
                  <a:srgbClr val="FFD08A"/>
                </a:solidFill>
                <a:latin typeface="Courier New" pitchFamily="34" charset="0"/>
                <a:ea typeface="Courier New" pitchFamily="34" charset="-122"/>
                <a:cs typeface="Courier New" pitchFamily="34" charset="-120"/>
              </a:rPr>
              <a:t>color</a:t>
            </a:r>
            <a:pPr indent="0" marL="0">
              <a:lnSpc>
                <a:spcPts val="1600"/>
              </a:lnSpc>
              <a:buNone/>
            </a:pPr>
            <a:r>
              <a:rPr lang="en-US" sz="1000" dirty="0">
                <a:solidFill>
                  <a:srgbClr val="9AA4B5"/>
                </a:solidFill>
                <a:latin typeface="Courier New" pitchFamily="34" charset="0"/>
                <a:ea typeface="Courier New" pitchFamily="34" charset="-122"/>
                <a:cs typeface="Courier New" pitchFamily="34" charset="-120"/>
              </a:rPr>
              <a:t>: </a:t>
            </a:r>
            <a:pPr indent="0" marL="0">
              <a:lnSpc>
                <a:spcPts val="1600"/>
              </a:lnSpc>
              <a:buNone/>
            </a:pPr>
            <a:r>
              <a:rPr lang="en-US" sz="1000" dirty="0">
                <a:solidFill>
                  <a:srgbClr val="9BD5FF"/>
                </a:solidFill>
                <a:latin typeface="Courier New" pitchFamily="34" charset="0"/>
                <a:ea typeface="Courier New" pitchFamily="34" charset="-122"/>
                <a:cs typeface="Courier New" pitchFamily="34" charset="-120"/>
              </a:rPr>
              <a:t>green</a:t>
            </a:r>
            <a:pPr indent="0" marL="0">
              <a:lnSpc>
                <a:spcPts val="1600"/>
              </a:lnSpc>
              <a:buNone/>
            </a:pPr>
            <a:r>
              <a:rPr lang="en-US" sz="1000" dirty="0">
                <a:solidFill>
                  <a:srgbClr val="9AA4B5"/>
                </a:solidFill>
                <a:latin typeface="Courier New" pitchFamily="34" charset="0"/>
                <a:ea typeface="Courier New" pitchFamily="34" charset="-122"/>
                <a:cs typeface="Courier New" pitchFamily="34" charset="-120"/>
              </a:rPr>
              <a:t>;</a:t>
            </a:r>
            <a:pPr indent="0" marL="0">
              <a:lnSpc>
                <a:spcPts val="1600"/>
              </a:lnSpc>
              <a:buNone/>
            </a:pPr>
            <a:endParaRPr lang="en-US" sz="1000" dirty="0"/>
          </a:p>
          <a:p>
            <a:pPr indent="0" marL="0">
              <a:lnSpc>
                <a:spcPts val="1600"/>
              </a:lnSpc>
              <a:buNone/>
            </a:pPr>
            <a:r>
              <a:rPr lang="en-US" sz="1000" dirty="0">
                <a:solidFill>
                  <a:srgbClr val="9AA4B5"/>
                </a:solidFill>
                <a:latin typeface="Courier New" pitchFamily="34" charset="0"/>
                <a:ea typeface="Courier New" pitchFamily="34" charset="-122"/>
                <a:cs typeface="Courier New" pitchFamily="34" charset="-120"/>
              </a:rPr>
              <a:t>}</a:t>
            </a:r>
            <a:endParaRPr lang="en-US" sz="1000" dirty="0"/>
          </a:p>
        </p:txBody>
      </p:sp>
      <p:sp>
        <p:nvSpPr>
          <p:cNvPr id="15" name="Text 11"/>
          <p:cNvSpPr/>
          <p:nvPr/>
        </p:nvSpPr>
        <p:spPr>
          <a:xfrm>
            <a:off x="896112" y="4023360"/>
            <a:ext cx="2907792" cy="548640"/>
          </a:xfrm>
          <a:prstGeom prst="rect">
            <a:avLst/>
          </a:prstGeom>
          <a:noFill/>
          <a:ln/>
        </p:spPr>
        <p:txBody>
          <a:bodyPr wrap="square" lIns="0" tIns="0" rIns="0" bIns="0" rtlCol="0" anchor="t"/>
          <a:lstStyle/>
          <a:p>
            <a:pPr algn="l" indent="0" marL="0">
              <a:lnSpc>
                <a:spcPts val="1500"/>
              </a:lnSpc>
              <a:buNone/>
            </a:pPr>
            <a:r>
              <a:rPr lang="en-US" sz="1150" dirty="0">
                <a:solidFill>
                  <a:srgbClr val="15202B"/>
                </a:solidFill>
                <a:latin typeface="Calibri" pitchFamily="34" charset="0"/>
                <a:ea typeface="Calibri" pitchFamily="34" charset="-122"/>
                <a:cs typeface="Calibri" pitchFamily="34" charset="-120"/>
              </a:rPr>
              <a:t>A separate .css file, linked in the head. One file styles every page.</a:t>
            </a:r>
            <a:endParaRPr lang="en-US" sz="1150" dirty="0"/>
          </a:p>
        </p:txBody>
      </p:sp>
      <p:sp>
        <p:nvSpPr>
          <p:cNvPr id="16" name="Shape 12"/>
          <p:cNvSpPr/>
          <p:nvPr/>
        </p:nvSpPr>
        <p:spPr>
          <a:xfrm>
            <a:off x="896112" y="4681728"/>
            <a:ext cx="2907792" cy="329184"/>
          </a:xfrm>
          <a:prstGeom prst="roundRect">
            <a:avLst>
              <a:gd name="adj" fmla="val 25000"/>
            </a:avLst>
          </a:prstGeom>
          <a:solidFill>
            <a:srgbClr val="FFFFFF"/>
          </a:solidFill>
          <a:ln w="12700">
            <a:solidFill>
              <a:srgbClr val="1F8A54"/>
            </a:solidFill>
            <a:prstDash val="solid"/>
          </a:ln>
        </p:spPr>
      </p:sp>
      <p:sp>
        <p:nvSpPr>
          <p:cNvPr id="17" name="Text 13"/>
          <p:cNvSpPr/>
          <p:nvPr/>
        </p:nvSpPr>
        <p:spPr>
          <a:xfrm>
            <a:off x="896112" y="4681728"/>
            <a:ext cx="2907792" cy="329184"/>
          </a:xfrm>
          <a:prstGeom prst="rect">
            <a:avLst/>
          </a:prstGeom>
          <a:noFill/>
          <a:ln/>
        </p:spPr>
        <p:txBody>
          <a:bodyPr wrap="square" lIns="0" tIns="0" rIns="0" bIns="0" rtlCol="0" anchor="ctr"/>
          <a:lstStyle/>
          <a:p>
            <a:pPr algn="ctr" indent="0" marL="0">
              <a:buNone/>
            </a:pPr>
            <a:r>
              <a:rPr lang="en-US" sz="850" b="1" spc="120" kern="0" dirty="0">
                <a:solidFill>
                  <a:srgbClr val="1F8A54"/>
                </a:solidFill>
                <a:latin typeface="Calibri" pitchFamily="34" charset="0"/>
                <a:ea typeface="Calibri" pitchFamily="34" charset="-122"/>
                <a:cs typeface="Calibri" pitchFamily="34" charset="-120"/>
              </a:rPr>
              <a:t>WHAT REAL PROJECTS USE</a:t>
            </a:r>
            <a:endParaRPr lang="en-US" sz="850" dirty="0"/>
          </a:p>
        </p:txBody>
      </p:sp>
      <p:sp>
        <p:nvSpPr>
          <p:cNvPr id="18" name="Shape 14"/>
          <p:cNvSpPr/>
          <p:nvPr/>
        </p:nvSpPr>
        <p:spPr>
          <a:xfrm>
            <a:off x="4379976" y="1627632"/>
            <a:ext cx="3419856" cy="3566160"/>
          </a:xfrm>
          <a:prstGeom prst="roundRect">
            <a:avLst>
              <a:gd name="adj" fmla="val 2674"/>
            </a:avLst>
          </a:prstGeom>
          <a:solidFill>
            <a:srgbClr val="E7EEFD"/>
          </a:solidFill>
          <a:ln w="12700">
            <a:solidFill>
              <a:srgbClr val="2C6BED"/>
            </a:solidFill>
            <a:prstDash val="solid"/>
          </a:ln>
          <a:effectLst>
            <a:outerShdw sx="100000" sy="100000" kx="0" ky="0" algn="bl" rotWithShape="0" blurRad="177800" dist="38100" dir="5400000">
              <a:srgbClr val="000000">
                <a:alpha val="35000"/>
              </a:srgbClr>
            </a:outerShdw>
          </a:effectLst>
        </p:spPr>
      </p:sp>
      <p:sp>
        <p:nvSpPr>
          <p:cNvPr id="19" name="Shape 15"/>
          <p:cNvSpPr/>
          <p:nvPr/>
        </p:nvSpPr>
        <p:spPr>
          <a:xfrm>
            <a:off x="4636008" y="1847088"/>
            <a:ext cx="512064" cy="512064"/>
          </a:xfrm>
          <a:prstGeom prst="roundRect">
            <a:avLst>
              <a:gd name="adj" fmla="val 17857"/>
            </a:avLst>
          </a:prstGeom>
          <a:solidFill>
            <a:srgbClr val="FFFFFF"/>
          </a:solidFill>
          <a:ln w="12700">
            <a:solidFill>
              <a:srgbClr val="2C6BED"/>
            </a:solidFill>
            <a:prstDash val="solid"/>
          </a:ln>
        </p:spPr>
      </p:sp>
      <p:pic>
        <p:nvPicPr>
          <p:cNvPr id="20" name="Image 1" descr="preencoded.png">    </p:cNvPr>
          <p:cNvPicPr>
            <a:picLocks noChangeAspect="1"/>
          </p:cNvPicPr>
          <p:nvPr/>
        </p:nvPicPr>
        <p:blipFill>
          <a:blip r:embed="rId2"/>
          <a:stretch>
            <a:fillRect/>
          </a:stretch>
        </p:blipFill>
        <p:spPr>
          <a:xfrm>
            <a:off x="4769145" y="1980225"/>
            <a:ext cx="245791" cy="245791"/>
          </a:xfrm>
          <a:prstGeom prst="rect">
            <a:avLst/>
          </a:prstGeom>
        </p:spPr>
      </p:pic>
      <p:sp>
        <p:nvSpPr>
          <p:cNvPr id="21" name="Text 16"/>
          <p:cNvSpPr/>
          <p:nvPr/>
        </p:nvSpPr>
        <p:spPr>
          <a:xfrm>
            <a:off x="5294376" y="1847088"/>
            <a:ext cx="2249424" cy="512064"/>
          </a:xfrm>
          <a:prstGeom prst="rect">
            <a:avLst/>
          </a:prstGeom>
          <a:noFill/>
          <a:ln/>
        </p:spPr>
        <p:txBody>
          <a:bodyPr wrap="square" lIns="0" tIns="0" rIns="0" bIns="0" rtlCol="0" anchor="ctr"/>
          <a:lstStyle/>
          <a:p>
            <a:pPr indent="0" marL="0">
              <a:buNone/>
            </a:pPr>
            <a:r>
              <a:rPr lang="en-US" sz="1900" b="1" dirty="0">
                <a:solidFill>
                  <a:srgbClr val="15202B"/>
                </a:solidFill>
                <a:latin typeface="Calibri" pitchFamily="34" charset="0"/>
                <a:ea typeface="Calibri" pitchFamily="34" charset="-122"/>
                <a:cs typeface="Calibri" pitchFamily="34" charset="-120"/>
              </a:rPr>
              <a:t>Internal</a:t>
            </a:r>
            <a:endParaRPr lang="en-US" sz="1900" dirty="0"/>
          </a:p>
        </p:txBody>
      </p:sp>
      <p:sp>
        <p:nvSpPr>
          <p:cNvPr id="22" name="Text 17"/>
          <p:cNvSpPr/>
          <p:nvPr/>
        </p:nvSpPr>
        <p:spPr>
          <a:xfrm>
            <a:off x="4636008" y="2450592"/>
            <a:ext cx="2907792" cy="256032"/>
          </a:xfrm>
          <a:prstGeom prst="rect">
            <a:avLst/>
          </a:prstGeom>
          <a:noFill/>
          <a:ln/>
        </p:spPr>
        <p:txBody>
          <a:bodyPr wrap="square" lIns="0" tIns="0" rIns="0" bIns="0" rtlCol="0" anchor="ctr"/>
          <a:lstStyle/>
          <a:p>
            <a:pPr indent="0" marL="0">
              <a:buNone/>
            </a:pPr>
            <a:r>
              <a:rPr lang="en-US" sz="950" dirty="0">
                <a:solidFill>
                  <a:srgbClr val="2C6BED"/>
                </a:solidFill>
                <a:latin typeface="Courier New" pitchFamily="34" charset="0"/>
                <a:ea typeface="Courier New" pitchFamily="34" charset="-122"/>
                <a:cs typeface="Courier New" pitchFamily="34" charset="-120"/>
              </a:rPr>
              <a:t>&lt;style&gt; in the head</a:t>
            </a:r>
            <a:endParaRPr lang="en-US" sz="950" dirty="0"/>
          </a:p>
        </p:txBody>
      </p:sp>
      <p:sp>
        <p:nvSpPr>
          <p:cNvPr id="23" name="Shape 18"/>
          <p:cNvSpPr/>
          <p:nvPr/>
        </p:nvSpPr>
        <p:spPr>
          <a:xfrm>
            <a:off x="4636008" y="2743200"/>
            <a:ext cx="2907792" cy="1143000"/>
          </a:xfrm>
          <a:prstGeom prst="roundRect">
            <a:avLst>
              <a:gd name="adj" fmla="val 8000"/>
            </a:avLst>
          </a:prstGeom>
          <a:solidFill>
            <a:srgbClr val="111826"/>
          </a:solidFill>
          <a:ln w="12700">
            <a:solidFill>
              <a:srgbClr val="1D2637"/>
            </a:solidFill>
            <a:prstDash val="solid"/>
          </a:ln>
        </p:spPr>
      </p:sp>
      <p:sp>
        <p:nvSpPr>
          <p:cNvPr id="24" name="Text 19"/>
          <p:cNvSpPr/>
          <p:nvPr/>
        </p:nvSpPr>
        <p:spPr>
          <a:xfrm>
            <a:off x="4910328" y="2980944"/>
            <a:ext cx="2359152" cy="667512"/>
          </a:xfrm>
          <a:prstGeom prst="rect">
            <a:avLst/>
          </a:prstGeom>
          <a:noFill/>
          <a:ln/>
        </p:spPr>
        <p:txBody>
          <a:bodyPr wrap="square" lIns="0" tIns="0" rIns="0" bIns="0" rtlCol="0" anchor="t"/>
          <a:lstStyle/>
          <a:p>
            <a:pPr indent="0" marL="0">
              <a:lnSpc>
                <a:spcPts val="1600"/>
              </a:lnSpc>
              <a:buNone/>
            </a:pPr>
            <a:r>
              <a:rPr lang="en-US" sz="1000" dirty="0">
                <a:solidFill>
                  <a:srgbClr val="9AA4B5"/>
                </a:solidFill>
                <a:latin typeface="Courier New" pitchFamily="34" charset="0"/>
                <a:ea typeface="Courier New" pitchFamily="34" charset="-122"/>
                <a:cs typeface="Courier New" pitchFamily="34" charset="-120"/>
              </a:rPr>
              <a:t>&lt;</a:t>
            </a:r>
            <a:pPr indent="0" marL="0">
              <a:lnSpc>
                <a:spcPts val="1600"/>
              </a:lnSpc>
              <a:buNone/>
            </a:pPr>
            <a:r>
              <a:rPr lang="en-US" sz="1000" dirty="0">
                <a:solidFill>
                  <a:srgbClr val="FF9E86"/>
                </a:solidFill>
                <a:latin typeface="Courier New" pitchFamily="34" charset="0"/>
                <a:ea typeface="Courier New" pitchFamily="34" charset="-122"/>
                <a:cs typeface="Courier New" pitchFamily="34" charset="-120"/>
              </a:rPr>
              <a:t>style</a:t>
            </a:r>
            <a:pPr indent="0" marL="0">
              <a:lnSpc>
                <a:spcPts val="1600"/>
              </a:lnSpc>
              <a:buNone/>
            </a:pPr>
            <a:r>
              <a:rPr lang="en-US" sz="1000" dirty="0">
                <a:solidFill>
                  <a:srgbClr val="9AA4B5"/>
                </a:solidFill>
                <a:latin typeface="Courier New" pitchFamily="34" charset="0"/>
                <a:ea typeface="Courier New" pitchFamily="34" charset="-122"/>
                <a:cs typeface="Courier New" pitchFamily="34" charset="-120"/>
              </a:rPr>
              <a:t>&gt;</a:t>
            </a:r>
            <a:pPr indent="0" marL="0">
              <a:lnSpc>
                <a:spcPts val="1600"/>
              </a:lnSpc>
              <a:buNone/>
            </a:pPr>
            <a:endParaRPr lang="en-US" sz="1000" dirty="0"/>
          </a:p>
          <a:p>
            <a:pPr indent="0" marL="0">
              <a:lnSpc>
                <a:spcPts val="1600"/>
              </a:lnSpc>
              <a:buNone/>
            </a:pPr>
            <a:r>
              <a:rPr lang="en-US" sz="1000" dirty="0">
                <a:solidFill>
                  <a:srgbClr val="E6EAF2"/>
                </a:solidFill>
                <a:latin typeface="Courier New" pitchFamily="34" charset="0"/>
                <a:ea typeface="Courier New" pitchFamily="34" charset="-122"/>
                <a:cs typeface="Courier New" pitchFamily="34" charset="-120"/>
              </a:rPr>
              <a:t>  h1 </a:t>
            </a:r>
            <a:pPr indent="0" marL="0">
              <a:lnSpc>
                <a:spcPts val="1600"/>
              </a:lnSpc>
              <a:buNone/>
            </a:pPr>
            <a:r>
              <a:rPr lang="en-US" sz="1000" dirty="0">
                <a:solidFill>
                  <a:srgbClr val="9AA4B5"/>
                </a:solidFill>
                <a:latin typeface="Courier New" pitchFamily="34" charset="0"/>
                <a:ea typeface="Courier New" pitchFamily="34" charset="-122"/>
                <a:cs typeface="Courier New" pitchFamily="34" charset="-120"/>
              </a:rPr>
              <a:t>{ </a:t>
            </a:r>
            <a:pPr indent="0" marL="0">
              <a:lnSpc>
                <a:spcPts val="1600"/>
              </a:lnSpc>
              <a:buNone/>
            </a:pPr>
            <a:r>
              <a:rPr lang="en-US" sz="1000" dirty="0">
                <a:solidFill>
                  <a:srgbClr val="FFD08A"/>
                </a:solidFill>
                <a:latin typeface="Courier New" pitchFamily="34" charset="0"/>
                <a:ea typeface="Courier New" pitchFamily="34" charset="-122"/>
                <a:cs typeface="Courier New" pitchFamily="34" charset="-120"/>
              </a:rPr>
              <a:t>color</a:t>
            </a:r>
            <a:pPr indent="0" marL="0">
              <a:lnSpc>
                <a:spcPts val="1600"/>
              </a:lnSpc>
              <a:buNone/>
            </a:pPr>
            <a:r>
              <a:rPr lang="en-US" sz="1000" dirty="0">
                <a:solidFill>
                  <a:srgbClr val="9AA4B5"/>
                </a:solidFill>
                <a:latin typeface="Courier New" pitchFamily="34" charset="0"/>
                <a:ea typeface="Courier New" pitchFamily="34" charset="-122"/>
                <a:cs typeface="Courier New" pitchFamily="34" charset="-120"/>
              </a:rPr>
              <a:t>: </a:t>
            </a:r>
            <a:pPr indent="0" marL="0">
              <a:lnSpc>
                <a:spcPts val="1600"/>
              </a:lnSpc>
              <a:buNone/>
            </a:pPr>
            <a:r>
              <a:rPr lang="en-US" sz="1000" dirty="0">
                <a:solidFill>
                  <a:srgbClr val="9BD5FF"/>
                </a:solidFill>
                <a:latin typeface="Courier New" pitchFamily="34" charset="0"/>
                <a:ea typeface="Courier New" pitchFamily="34" charset="-122"/>
                <a:cs typeface="Courier New" pitchFamily="34" charset="-120"/>
              </a:rPr>
              <a:t>tomato</a:t>
            </a:r>
            <a:pPr indent="0" marL="0">
              <a:lnSpc>
                <a:spcPts val="1600"/>
              </a:lnSpc>
              <a:buNone/>
            </a:pPr>
            <a:r>
              <a:rPr lang="en-US" sz="1000" dirty="0">
                <a:solidFill>
                  <a:srgbClr val="9AA4B5"/>
                </a:solidFill>
                <a:latin typeface="Courier New" pitchFamily="34" charset="0"/>
                <a:ea typeface="Courier New" pitchFamily="34" charset="-122"/>
                <a:cs typeface="Courier New" pitchFamily="34" charset="-120"/>
              </a:rPr>
              <a:t>; }</a:t>
            </a:r>
            <a:pPr indent="0" marL="0">
              <a:lnSpc>
                <a:spcPts val="1600"/>
              </a:lnSpc>
              <a:buNone/>
            </a:pPr>
            <a:endParaRPr lang="en-US" sz="1000" dirty="0"/>
          </a:p>
          <a:p>
            <a:pPr indent="0" marL="0">
              <a:lnSpc>
                <a:spcPts val="1600"/>
              </a:lnSpc>
              <a:buNone/>
            </a:pPr>
            <a:r>
              <a:rPr lang="en-US" sz="1000" dirty="0">
                <a:solidFill>
                  <a:srgbClr val="9AA4B5"/>
                </a:solidFill>
                <a:latin typeface="Courier New" pitchFamily="34" charset="0"/>
                <a:ea typeface="Courier New" pitchFamily="34" charset="-122"/>
                <a:cs typeface="Courier New" pitchFamily="34" charset="-120"/>
              </a:rPr>
              <a:t>&lt;/</a:t>
            </a:r>
            <a:pPr indent="0" marL="0">
              <a:lnSpc>
                <a:spcPts val="1600"/>
              </a:lnSpc>
              <a:buNone/>
            </a:pPr>
            <a:r>
              <a:rPr lang="en-US" sz="1000" dirty="0">
                <a:solidFill>
                  <a:srgbClr val="FF9E86"/>
                </a:solidFill>
                <a:latin typeface="Courier New" pitchFamily="34" charset="0"/>
                <a:ea typeface="Courier New" pitchFamily="34" charset="-122"/>
                <a:cs typeface="Courier New" pitchFamily="34" charset="-120"/>
              </a:rPr>
              <a:t>style</a:t>
            </a:r>
            <a:pPr indent="0" marL="0">
              <a:lnSpc>
                <a:spcPts val="1600"/>
              </a:lnSpc>
              <a:buNone/>
            </a:pPr>
            <a:r>
              <a:rPr lang="en-US" sz="1000" dirty="0">
                <a:solidFill>
                  <a:srgbClr val="9AA4B5"/>
                </a:solidFill>
                <a:latin typeface="Courier New" pitchFamily="34" charset="0"/>
                <a:ea typeface="Courier New" pitchFamily="34" charset="-122"/>
                <a:cs typeface="Courier New" pitchFamily="34" charset="-120"/>
              </a:rPr>
              <a:t>&gt;</a:t>
            </a:r>
            <a:endParaRPr lang="en-US" sz="1000" dirty="0"/>
          </a:p>
        </p:txBody>
      </p:sp>
      <p:sp>
        <p:nvSpPr>
          <p:cNvPr id="25" name="Text 20"/>
          <p:cNvSpPr/>
          <p:nvPr/>
        </p:nvSpPr>
        <p:spPr>
          <a:xfrm>
            <a:off x="4636008" y="4023360"/>
            <a:ext cx="2907792" cy="548640"/>
          </a:xfrm>
          <a:prstGeom prst="rect">
            <a:avLst/>
          </a:prstGeom>
          <a:noFill/>
          <a:ln/>
        </p:spPr>
        <p:txBody>
          <a:bodyPr wrap="square" lIns="0" tIns="0" rIns="0" bIns="0" rtlCol="0" anchor="t"/>
          <a:lstStyle/>
          <a:p>
            <a:pPr algn="l" indent="0" marL="0">
              <a:lnSpc>
                <a:spcPts val="1500"/>
              </a:lnSpc>
              <a:buNone/>
            </a:pPr>
            <a:r>
              <a:rPr lang="en-US" sz="1150" dirty="0">
                <a:solidFill>
                  <a:srgbClr val="15202B"/>
                </a:solidFill>
                <a:latin typeface="Calibri" pitchFamily="34" charset="0"/>
                <a:ea typeface="Calibri" pitchFamily="34" charset="-122"/>
                <a:cs typeface="Calibri" pitchFamily="34" charset="-120"/>
              </a:rPr>
              <a:t>Written inside the HTML file. Styles that one page only.</a:t>
            </a:r>
            <a:endParaRPr lang="en-US" sz="1150" dirty="0"/>
          </a:p>
        </p:txBody>
      </p:sp>
      <p:sp>
        <p:nvSpPr>
          <p:cNvPr id="26" name="Shape 21"/>
          <p:cNvSpPr/>
          <p:nvPr/>
        </p:nvSpPr>
        <p:spPr>
          <a:xfrm>
            <a:off x="4636008" y="4681728"/>
            <a:ext cx="2907792" cy="329184"/>
          </a:xfrm>
          <a:prstGeom prst="roundRect">
            <a:avLst>
              <a:gd name="adj" fmla="val 25000"/>
            </a:avLst>
          </a:prstGeom>
          <a:solidFill>
            <a:srgbClr val="FFFFFF"/>
          </a:solidFill>
          <a:ln w="12700">
            <a:solidFill>
              <a:srgbClr val="2C6BED"/>
            </a:solidFill>
            <a:prstDash val="solid"/>
          </a:ln>
        </p:spPr>
      </p:sp>
      <p:sp>
        <p:nvSpPr>
          <p:cNvPr id="27" name="Text 22"/>
          <p:cNvSpPr/>
          <p:nvPr/>
        </p:nvSpPr>
        <p:spPr>
          <a:xfrm>
            <a:off x="4636008" y="4681728"/>
            <a:ext cx="2907792" cy="329184"/>
          </a:xfrm>
          <a:prstGeom prst="rect">
            <a:avLst/>
          </a:prstGeom>
          <a:noFill/>
          <a:ln/>
        </p:spPr>
        <p:txBody>
          <a:bodyPr wrap="square" lIns="0" tIns="0" rIns="0" bIns="0" rtlCol="0" anchor="ctr"/>
          <a:lstStyle/>
          <a:p>
            <a:pPr algn="ctr" indent="0" marL="0">
              <a:buNone/>
            </a:pPr>
            <a:r>
              <a:rPr lang="en-US" sz="850" b="1" spc="120" kern="0" dirty="0">
                <a:solidFill>
                  <a:srgbClr val="2C6BED"/>
                </a:solidFill>
                <a:latin typeface="Calibri" pitchFamily="34" charset="0"/>
                <a:ea typeface="Calibri" pitchFamily="34" charset="-122"/>
                <a:cs typeface="Calibri" pitchFamily="34" charset="-120"/>
              </a:rPr>
              <a:t>FINE FOR ONE PAGE</a:t>
            </a:r>
            <a:endParaRPr lang="en-US" sz="850" dirty="0"/>
          </a:p>
        </p:txBody>
      </p:sp>
      <p:sp>
        <p:nvSpPr>
          <p:cNvPr id="28" name="Shape 23"/>
          <p:cNvSpPr/>
          <p:nvPr/>
        </p:nvSpPr>
        <p:spPr>
          <a:xfrm>
            <a:off x="8119872" y="1627632"/>
            <a:ext cx="3419856" cy="3566160"/>
          </a:xfrm>
          <a:prstGeom prst="roundRect">
            <a:avLst>
              <a:gd name="adj" fmla="val 2674"/>
            </a:avLst>
          </a:prstGeom>
          <a:solidFill>
            <a:srgbClr val="FCE7EF"/>
          </a:solidFill>
          <a:ln w="12700">
            <a:solidFill>
              <a:srgbClr val="D6336C"/>
            </a:solidFill>
            <a:prstDash val="solid"/>
          </a:ln>
          <a:effectLst>
            <a:outerShdw sx="100000" sy="100000" kx="0" ky="0" algn="bl" rotWithShape="0" blurRad="177800" dist="38100" dir="5400000">
              <a:srgbClr val="000000">
                <a:alpha val="35000"/>
              </a:srgbClr>
            </a:outerShdw>
          </a:effectLst>
        </p:spPr>
      </p:sp>
      <p:sp>
        <p:nvSpPr>
          <p:cNvPr id="29" name="Shape 24"/>
          <p:cNvSpPr/>
          <p:nvPr/>
        </p:nvSpPr>
        <p:spPr>
          <a:xfrm>
            <a:off x="8375904" y="1847088"/>
            <a:ext cx="512064" cy="512064"/>
          </a:xfrm>
          <a:prstGeom prst="roundRect">
            <a:avLst>
              <a:gd name="adj" fmla="val 17857"/>
            </a:avLst>
          </a:prstGeom>
          <a:solidFill>
            <a:srgbClr val="FFFFFF"/>
          </a:solidFill>
          <a:ln w="12700">
            <a:solidFill>
              <a:srgbClr val="D6336C"/>
            </a:solidFill>
            <a:prstDash val="solid"/>
          </a:ln>
        </p:spPr>
      </p:sp>
      <p:pic>
        <p:nvPicPr>
          <p:cNvPr id="30" name="Image 2" descr="preencoded.png">    </p:cNvPr>
          <p:cNvPicPr>
            <a:picLocks noChangeAspect="1"/>
          </p:cNvPicPr>
          <p:nvPr/>
        </p:nvPicPr>
        <p:blipFill>
          <a:blip r:embed="rId3"/>
          <a:stretch>
            <a:fillRect/>
          </a:stretch>
        </p:blipFill>
        <p:spPr>
          <a:xfrm>
            <a:off x="8509041" y="1980225"/>
            <a:ext cx="245791" cy="245791"/>
          </a:xfrm>
          <a:prstGeom prst="rect">
            <a:avLst/>
          </a:prstGeom>
        </p:spPr>
      </p:pic>
      <p:sp>
        <p:nvSpPr>
          <p:cNvPr id="31" name="Text 25"/>
          <p:cNvSpPr/>
          <p:nvPr/>
        </p:nvSpPr>
        <p:spPr>
          <a:xfrm>
            <a:off x="9034272" y="1847088"/>
            <a:ext cx="2249424" cy="512064"/>
          </a:xfrm>
          <a:prstGeom prst="rect">
            <a:avLst/>
          </a:prstGeom>
          <a:noFill/>
          <a:ln/>
        </p:spPr>
        <p:txBody>
          <a:bodyPr wrap="square" lIns="0" tIns="0" rIns="0" bIns="0" rtlCol="0" anchor="ctr"/>
          <a:lstStyle/>
          <a:p>
            <a:pPr indent="0" marL="0">
              <a:buNone/>
            </a:pPr>
            <a:r>
              <a:rPr lang="en-US" sz="1900" b="1" dirty="0">
                <a:solidFill>
                  <a:srgbClr val="15202B"/>
                </a:solidFill>
                <a:latin typeface="Calibri" pitchFamily="34" charset="0"/>
                <a:ea typeface="Calibri" pitchFamily="34" charset="-122"/>
                <a:cs typeface="Calibri" pitchFamily="34" charset="-120"/>
              </a:rPr>
              <a:t>Inline</a:t>
            </a:r>
            <a:endParaRPr lang="en-US" sz="1900" dirty="0"/>
          </a:p>
        </p:txBody>
      </p:sp>
      <p:sp>
        <p:nvSpPr>
          <p:cNvPr id="32" name="Text 26"/>
          <p:cNvSpPr/>
          <p:nvPr/>
        </p:nvSpPr>
        <p:spPr>
          <a:xfrm>
            <a:off x="8375904" y="2450592"/>
            <a:ext cx="2907792" cy="256032"/>
          </a:xfrm>
          <a:prstGeom prst="rect">
            <a:avLst/>
          </a:prstGeom>
          <a:noFill/>
          <a:ln/>
        </p:spPr>
        <p:txBody>
          <a:bodyPr wrap="square" lIns="0" tIns="0" rIns="0" bIns="0" rtlCol="0" anchor="ctr"/>
          <a:lstStyle/>
          <a:p>
            <a:pPr indent="0" marL="0">
              <a:buNone/>
            </a:pPr>
            <a:r>
              <a:rPr lang="en-US" sz="950" dirty="0">
                <a:solidFill>
                  <a:srgbClr val="D6336C"/>
                </a:solidFill>
                <a:latin typeface="Courier New" pitchFamily="34" charset="0"/>
                <a:ea typeface="Courier New" pitchFamily="34" charset="-122"/>
                <a:cs typeface="Courier New" pitchFamily="34" charset="-120"/>
              </a:rPr>
              <a:t>style attribute</a:t>
            </a:r>
            <a:endParaRPr lang="en-US" sz="950" dirty="0"/>
          </a:p>
        </p:txBody>
      </p:sp>
      <p:sp>
        <p:nvSpPr>
          <p:cNvPr id="33" name="Shape 27"/>
          <p:cNvSpPr/>
          <p:nvPr/>
        </p:nvSpPr>
        <p:spPr>
          <a:xfrm>
            <a:off x="8375904" y="2743200"/>
            <a:ext cx="2907792" cy="1143000"/>
          </a:xfrm>
          <a:prstGeom prst="roundRect">
            <a:avLst>
              <a:gd name="adj" fmla="val 8000"/>
            </a:avLst>
          </a:prstGeom>
          <a:solidFill>
            <a:srgbClr val="111826"/>
          </a:solidFill>
          <a:ln w="12700">
            <a:solidFill>
              <a:srgbClr val="1D2637"/>
            </a:solidFill>
            <a:prstDash val="solid"/>
          </a:ln>
        </p:spPr>
      </p:sp>
      <p:sp>
        <p:nvSpPr>
          <p:cNvPr id="34" name="Text 28"/>
          <p:cNvSpPr/>
          <p:nvPr/>
        </p:nvSpPr>
        <p:spPr>
          <a:xfrm>
            <a:off x="8650224" y="2980944"/>
            <a:ext cx="2359152" cy="667512"/>
          </a:xfrm>
          <a:prstGeom prst="rect">
            <a:avLst/>
          </a:prstGeom>
          <a:noFill/>
          <a:ln/>
        </p:spPr>
        <p:txBody>
          <a:bodyPr wrap="square" lIns="0" tIns="0" rIns="0" bIns="0" rtlCol="0" anchor="t"/>
          <a:lstStyle/>
          <a:p>
            <a:pPr indent="0" marL="0">
              <a:lnSpc>
                <a:spcPts val="1600"/>
              </a:lnSpc>
              <a:buNone/>
            </a:pPr>
            <a:r>
              <a:rPr lang="en-US" sz="1000" dirty="0">
                <a:solidFill>
                  <a:srgbClr val="9AA4B5"/>
                </a:solidFill>
                <a:latin typeface="Courier New" pitchFamily="34" charset="0"/>
                <a:ea typeface="Courier New" pitchFamily="34" charset="-122"/>
                <a:cs typeface="Courier New" pitchFamily="34" charset="-120"/>
              </a:rPr>
              <a:t>&lt;</a:t>
            </a:r>
            <a:pPr indent="0" marL="0">
              <a:lnSpc>
                <a:spcPts val="1600"/>
              </a:lnSpc>
              <a:buNone/>
            </a:pPr>
            <a:r>
              <a:rPr lang="en-US" sz="1000" dirty="0">
                <a:solidFill>
                  <a:srgbClr val="FF9E86"/>
                </a:solidFill>
                <a:latin typeface="Courier New" pitchFamily="34" charset="0"/>
                <a:ea typeface="Courier New" pitchFamily="34" charset="-122"/>
                <a:cs typeface="Courier New" pitchFamily="34" charset="-120"/>
              </a:rPr>
              <a:t>h2</a:t>
            </a:r>
            <a:pPr indent="0" marL="0">
              <a:lnSpc>
                <a:spcPts val="1600"/>
              </a:lnSpc>
              <a:buNone/>
            </a:pPr>
            <a:endParaRPr lang="en-US" sz="1000" dirty="0"/>
          </a:p>
          <a:p>
            <a:pPr indent="0" marL="0">
              <a:lnSpc>
                <a:spcPts val="1600"/>
              </a:lnSpc>
              <a:buNone/>
            </a:pPr>
            <a:r>
              <a:rPr lang="en-US" sz="1000" dirty="0">
                <a:solidFill>
                  <a:srgbClr val="E6EAF2"/>
                </a:solidFill>
                <a:latin typeface="Courier New" pitchFamily="34" charset="0"/>
                <a:ea typeface="Courier New" pitchFamily="34" charset="-122"/>
                <a:cs typeface="Courier New" pitchFamily="34" charset="-120"/>
              </a:rPr>
              <a:t>  </a:t>
            </a:r>
            <a:pPr indent="0" marL="0">
              <a:lnSpc>
                <a:spcPts val="1600"/>
              </a:lnSpc>
              <a:buNone/>
            </a:pPr>
            <a:r>
              <a:rPr lang="en-US" sz="1000" dirty="0">
                <a:solidFill>
                  <a:srgbClr val="FFD08A"/>
                </a:solidFill>
                <a:latin typeface="Courier New" pitchFamily="34" charset="0"/>
                <a:ea typeface="Courier New" pitchFamily="34" charset="-122"/>
                <a:cs typeface="Courier New" pitchFamily="34" charset="-120"/>
              </a:rPr>
              <a:t>style</a:t>
            </a:r>
            <a:pPr indent="0" marL="0">
              <a:lnSpc>
                <a:spcPts val="1600"/>
              </a:lnSpc>
              <a:buNone/>
            </a:pPr>
            <a:r>
              <a:rPr lang="en-US" sz="1000" dirty="0">
                <a:solidFill>
                  <a:srgbClr val="9AA4B5"/>
                </a:solidFill>
                <a:latin typeface="Courier New" pitchFamily="34" charset="0"/>
                <a:ea typeface="Courier New" pitchFamily="34" charset="-122"/>
                <a:cs typeface="Courier New" pitchFamily="34" charset="-120"/>
              </a:rPr>
              <a:t>=</a:t>
            </a:r>
            <a:pPr indent="0" marL="0">
              <a:lnSpc>
                <a:spcPts val="1600"/>
              </a:lnSpc>
              <a:buNone/>
            </a:pPr>
            <a:r>
              <a:rPr lang="en-US" sz="1000" dirty="0">
                <a:solidFill>
                  <a:srgbClr val="9BD5FF"/>
                </a:solidFill>
                <a:latin typeface="Courier New" pitchFamily="34" charset="0"/>
                <a:ea typeface="Courier New" pitchFamily="34" charset="-122"/>
                <a:cs typeface="Courier New" pitchFamily="34" charset="-120"/>
              </a:rPr>
              <a:t>"color:blue"</a:t>
            </a:r>
            <a:pPr indent="0" marL="0">
              <a:lnSpc>
                <a:spcPts val="1600"/>
              </a:lnSpc>
              <a:buNone/>
            </a:pPr>
            <a:r>
              <a:rPr lang="en-US" sz="1000" dirty="0">
                <a:solidFill>
                  <a:srgbClr val="9AA4B5"/>
                </a:solidFill>
                <a:latin typeface="Courier New" pitchFamily="34" charset="0"/>
                <a:ea typeface="Courier New" pitchFamily="34" charset="-122"/>
                <a:cs typeface="Courier New" pitchFamily="34" charset="-120"/>
              </a:rPr>
              <a:t>&gt;</a:t>
            </a:r>
            <a:endParaRPr lang="en-US" sz="1000" dirty="0"/>
          </a:p>
        </p:txBody>
      </p:sp>
      <p:sp>
        <p:nvSpPr>
          <p:cNvPr id="35" name="Text 29"/>
          <p:cNvSpPr/>
          <p:nvPr/>
        </p:nvSpPr>
        <p:spPr>
          <a:xfrm>
            <a:off x="8375904" y="4023360"/>
            <a:ext cx="2907792" cy="548640"/>
          </a:xfrm>
          <a:prstGeom prst="rect">
            <a:avLst/>
          </a:prstGeom>
          <a:noFill/>
          <a:ln/>
        </p:spPr>
        <p:txBody>
          <a:bodyPr wrap="square" lIns="0" tIns="0" rIns="0" bIns="0" rtlCol="0" anchor="t"/>
          <a:lstStyle/>
          <a:p>
            <a:pPr algn="l" indent="0" marL="0">
              <a:lnSpc>
                <a:spcPts val="1500"/>
              </a:lnSpc>
              <a:buNone/>
            </a:pPr>
            <a:r>
              <a:rPr lang="en-US" sz="1150" dirty="0">
                <a:solidFill>
                  <a:srgbClr val="15202B"/>
                </a:solidFill>
                <a:latin typeface="Calibri" pitchFamily="34" charset="0"/>
                <a:ea typeface="Calibri" pitchFamily="34" charset="-122"/>
                <a:cs typeface="Calibri" pitchFamily="34" charset="-120"/>
              </a:rPr>
              <a:t>Straight on one element. Styles that element and nothing else.</a:t>
            </a:r>
            <a:endParaRPr lang="en-US" sz="1150" dirty="0"/>
          </a:p>
        </p:txBody>
      </p:sp>
      <p:sp>
        <p:nvSpPr>
          <p:cNvPr id="36" name="Shape 30"/>
          <p:cNvSpPr/>
          <p:nvPr/>
        </p:nvSpPr>
        <p:spPr>
          <a:xfrm>
            <a:off x="8375904" y="4681728"/>
            <a:ext cx="2907792" cy="329184"/>
          </a:xfrm>
          <a:prstGeom prst="roundRect">
            <a:avLst>
              <a:gd name="adj" fmla="val 25000"/>
            </a:avLst>
          </a:prstGeom>
          <a:solidFill>
            <a:srgbClr val="FFFFFF"/>
          </a:solidFill>
          <a:ln w="12700">
            <a:solidFill>
              <a:srgbClr val="D6336C"/>
            </a:solidFill>
            <a:prstDash val="solid"/>
          </a:ln>
        </p:spPr>
      </p:sp>
      <p:sp>
        <p:nvSpPr>
          <p:cNvPr id="37" name="Text 31"/>
          <p:cNvSpPr/>
          <p:nvPr/>
        </p:nvSpPr>
        <p:spPr>
          <a:xfrm>
            <a:off x="8375904" y="4681728"/>
            <a:ext cx="2907792" cy="329184"/>
          </a:xfrm>
          <a:prstGeom prst="rect">
            <a:avLst/>
          </a:prstGeom>
          <a:noFill/>
          <a:ln/>
        </p:spPr>
        <p:txBody>
          <a:bodyPr wrap="square" lIns="0" tIns="0" rIns="0" bIns="0" rtlCol="0" anchor="ctr"/>
          <a:lstStyle/>
          <a:p>
            <a:pPr algn="ctr" indent="0" marL="0">
              <a:buNone/>
            </a:pPr>
            <a:r>
              <a:rPr lang="en-US" sz="850" b="1" spc="120" kern="0" dirty="0">
                <a:solidFill>
                  <a:srgbClr val="D6336C"/>
                </a:solidFill>
                <a:latin typeface="Calibri" pitchFamily="34" charset="0"/>
                <a:ea typeface="Calibri" pitchFamily="34" charset="-122"/>
                <a:cs typeface="Calibri" pitchFamily="34" charset="-120"/>
              </a:rPr>
              <a:t>DEBUGGING ONLY</a:t>
            </a:r>
            <a:endParaRPr lang="en-US" sz="850" dirty="0"/>
          </a:p>
        </p:txBody>
      </p:sp>
      <p:sp>
        <p:nvSpPr>
          <p:cNvPr id="38" name="Shape 32"/>
          <p:cNvSpPr/>
          <p:nvPr/>
        </p:nvSpPr>
        <p:spPr>
          <a:xfrm>
            <a:off x="640080" y="5394960"/>
            <a:ext cx="10908792" cy="603504"/>
          </a:xfrm>
          <a:prstGeom prst="roundRect">
            <a:avLst>
              <a:gd name="adj" fmla="val 15152"/>
            </a:avLst>
          </a:prstGeom>
          <a:solidFill>
            <a:srgbClr val="E7EEFD"/>
          </a:solidFill>
          <a:ln w="12700">
            <a:solidFill>
              <a:srgbClr val="B6CDFA"/>
            </a:solidFill>
            <a:prstDash val="solid"/>
          </a:ln>
          <a:effectLst>
            <a:outerShdw sx="100000" sy="100000" kx="0" ky="0" algn="bl" rotWithShape="0" blurRad="177800" dist="38100" dir="5400000">
              <a:srgbClr val="000000">
                <a:alpha val="35000"/>
              </a:srgbClr>
            </a:outerShdw>
          </a:effectLst>
        </p:spPr>
      </p:sp>
      <p:sp>
        <p:nvSpPr>
          <p:cNvPr id="39" name="Text 33"/>
          <p:cNvSpPr/>
          <p:nvPr/>
        </p:nvSpPr>
        <p:spPr>
          <a:xfrm>
            <a:off x="914400" y="5394960"/>
            <a:ext cx="10360152" cy="603504"/>
          </a:xfrm>
          <a:prstGeom prst="rect">
            <a:avLst/>
          </a:prstGeom>
          <a:noFill/>
          <a:ln/>
        </p:spPr>
        <p:txBody>
          <a:bodyPr wrap="square" lIns="0" tIns="0" rIns="0" bIns="0" rtlCol="0" anchor="ctr"/>
          <a:lstStyle/>
          <a:p>
            <a:pPr algn="ctr" indent="0" marL="0">
              <a:buNone/>
            </a:pPr>
            <a:r>
              <a:rPr lang="en-US" sz="1450" b="1" dirty="0">
                <a:solidFill>
                  <a:srgbClr val="15202B"/>
                </a:solidFill>
                <a:latin typeface="Calibri" pitchFamily="34" charset="0"/>
                <a:ea typeface="Calibri" pitchFamily="34" charset="-122"/>
                <a:cs typeface="Calibri" pitchFamily="34" charset="-120"/>
              </a:rPr>
              <a:t>All three produce identical pixels. What differs is how many things you can restyle later with one edit.</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3" name="Text 0"/>
          <p:cNvSpPr/>
          <p:nvPr/>
        </p:nvSpPr>
        <p:spPr>
          <a:xfrm>
            <a:off x="640080" y="6364224"/>
            <a:ext cx="3657600" cy="256032"/>
          </a:xfrm>
          <a:prstGeom prst="rect">
            <a:avLst/>
          </a:prstGeom>
          <a:noFill/>
          <a:ln/>
        </p:spPr>
        <p:txBody>
          <a:bodyPr wrap="square" lIns="0" tIns="0" rIns="0" bIns="0" rtlCol="0" anchor="ctr"/>
          <a:lstStyle/>
          <a:p>
            <a:pPr indent="0" marL="0">
              <a:buNone/>
            </a:pPr>
            <a:r>
              <a:rPr lang="en-US" sz="900" dirty="0">
                <a:solidFill>
                  <a:srgbClr val="939DAB"/>
                </a:solidFill>
                <a:latin typeface="Courier New" pitchFamily="34" charset="0"/>
                <a:ea typeface="Courier New" pitchFamily="34" charset="-122"/>
                <a:cs typeface="Courier New" pitchFamily="34" charset="-120"/>
              </a:rPr>
              <a:t>CLASS 03  ·  CSS</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939DAB"/>
                </a:solidFill>
                <a:latin typeface="Courier New" pitchFamily="34" charset="0"/>
                <a:ea typeface="Courier New" pitchFamily="34" charset="-122"/>
                <a:cs typeface="Courier New" pitchFamily="34" charset="-120"/>
              </a:rPr>
              <a:t>06</a:t>
            </a:r>
            <a:endParaRPr lang="en-US" sz="900" dirty="0"/>
          </a:p>
        </p:txBody>
      </p:sp>
      <p:sp>
        <p:nvSpPr>
          <p:cNvPr id="5" name="Shape 2"/>
          <p:cNvSpPr/>
          <p:nvPr/>
        </p:nvSpPr>
        <p:spPr>
          <a:xfrm>
            <a:off x="640080" y="365760"/>
            <a:ext cx="1920240" cy="347472"/>
          </a:xfrm>
          <a:prstGeom prst="roundRect">
            <a:avLst>
              <a:gd name="adj" fmla="val 21053"/>
            </a:avLst>
          </a:prstGeom>
          <a:solidFill>
            <a:srgbClr val="2C6BED"/>
          </a:solidFill>
          <a:ln w="15875">
            <a:solidFill>
              <a:srgbClr val="15202B"/>
            </a:solidFill>
            <a:prstDash val="solid"/>
          </a:ln>
        </p:spPr>
      </p:sp>
      <p:sp>
        <p:nvSpPr>
          <p:cNvPr id="6" name="Text 3"/>
          <p:cNvSpPr/>
          <p:nvPr/>
        </p:nvSpPr>
        <p:spPr>
          <a:xfrm>
            <a:off x="640080" y="365760"/>
            <a:ext cx="1920240" cy="347472"/>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PRECEDENCE</a:t>
            </a:r>
            <a:endParaRPr lang="en-US" sz="1050" dirty="0"/>
          </a:p>
        </p:txBody>
      </p:sp>
      <p:sp>
        <p:nvSpPr>
          <p:cNvPr id="7" name="Text 4"/>
          <p:cNvSpPr/>
          <p:nvPr/>
        </p:nvSpPr>
        <p:spPr>
          <a:xfrm>
            <a:off x="640080" y="786384"/>
            <a:ext cx="10881360" cy="603504"/>
          </a:xfrm>
          <a:prstGeom prst="rect">
            <a:avLst/>
          </a:prstGeom>
          <a:noFill/>
          <a:ln/>
        </p:spPr>
        <p:txBody>
          <a:bodyPr wrap="square" lIns="0" tIns="0" rIns="0" bIns="0" rtlCol="0" anchor="ctr"/>
          <a:lstStyle/>
          <a:p>
            <a:pPr indent="0" marL="0">
              <a:buNone/>
            </a:pPr>
            <a:r>
              <a:rPr lang="en-US" sz="3200" b="1" dirty="0">
                <a:solidFill>
                  <a:srgbClr val="15202B"/>
                </a:solidFill>
                <a:latin typeface="Calibri" pitchFamily="34" charset="0"/>
                <a:ea typeface="Calibri" pitchFamily="34" charset="-122"/>
                <a:cs typeface="Calibri" pitchFamily="34" charset="-120"/>
              </a:rPr>
              <a:t>When three rules disagree, inline wins</a:t>
            </a:r>
            <a:endParaRPr lang="en-US" sz="3200" dirty="0"/>
          </a:p>
        </p:txBody>
      </p:sp>
      <p:sp>
        <p:nvSpPr>
          <p:cNvPr id="8" name="Shape 5"/>
          <p:cNvSpPr/>
          <p:nvPr/>
        </p:nvSpPr>
        <p:spPr>
          <a:xfrm>
            <a:off x="1143000" y="3968496"/>
            <a:ext cx="4846320" cy="768096"/>
          </a:xfrm>
          <a:prstGeom prst="roundRect">
            <a:avLst>
              <a:gd name="adj" fmla="val 11905"/>
            </a:avLst>
          </a:prstGeom>
          <a:solidFill>
            <a:srgbClr val="E3F3EA"/>
          </a:solidFill>
          <a:ln w="19050">
            <a:solidFill>
              <a:srgbClr val="1F8A54"/>
            </a:solidFill>
            <a:prstDash val="solid"/>
          </a:ln>
          <a:effectLst>
            <a:outerShdw sx="100000" sy="100000" kx="0" ky="0" algn="bl" rotWithShape="0" blurRad="101600" dist="25400" dir="5400000">
              <a:srgbClr val="8B95A6">
                <a:alpha val="30000"/>
              </a:srgbClr>
            </a:outerShdw>
          </a:effectLst>
        </p:spPr>
      </p:sp>
      <p:sp>
        <p:nvSpPr>
          <p:cNvPr id="9" name="Text 6"/>
          <p:cNvSpPr/>
          <p:nvPr/>
        </p:nvSpPr>
        <p:spPr>
          <a:xfrm>
            <a:off x="1380744" y="4059936"/>
            <a:ext cx="1554480" cy="292608"/>
          </a:xfrm>
          <a:prstGeom prst="rect">
            <a:avLst/>
          </a:prstGeom>
          <a:noFill/>
          <a:ln/>
        </p:spPr>
        <p:txBody>
          <a:bodyPr wrap="square" lIns="0" tIns="0" rIns="0" bIns="0" rtlCol="0" anchor="ctr"/>
          <a:lstStyle/>
          <a:p>
            <a:pPr indent="0" marL="0">
              <a:buNone/>
            </a:pPr>
            <a:r>
              <a:rPr lang="en-US" sz="1450" b="1" dirty="0">
                <a:solidFill>
                  <a:srgbClr val="15202B"/>
                </a:solidFill>
                <a:latin typeface="Calibri" pitchFamily="34" charset="0"/>
                <a:ea typeface="Calibri" pitchFamily="34" charset="-122"/>
                <a:cs typeface="Calibri" pitchFamily="34" charset="-120"/>
              </a:rPr>
              <a:t>External</a:t>
            </a:r>
            <a:endParaRPr lang="en-US" sz="1450" dirty="0"/>
          </a:p>
        </p:txBody>
      </p:sp>
      <p:sp>
        <p:nvSpPr>
          <p:cNvPr id="10" name="Text 7"/>
          <p:cNvSpPr/>
          <p:nvPr/>
        </p:nvSpPr>
        <p:spPr>
          <a:xfrm>
            <a:off x="1380744" y="4370832"/>
            <a:ext cx="1737360" cy="256032"/>
          </a:xfrm>
          <a:prstGeom prst="rect">
            <a:avLst/>
          </a:prstGeom>
          <a:noFill/>
          <a:ln/>
        </p:spPr>
        <p:txBody>
          <a:bodyPr wrap="square" lIns="0" tIns="0" rIns="0" bIns="0" rtlCol="0" anchor="ctr"/>
          <a:lstStyle/>
          <a:p>
            <a:pPr indent="0" marL="0">
              <a:buNone/>
            </a:pPr>
            <a:r>
              <a:rPr lang="en-US" sz="850" dirty="0">
                <a:solidFill>
                  <a:srgbClr val="55616F"/>
                </a:solidFill>
                <a:latin typeface="Courier New" pitchFamily="34" charset="0"/>
                <a:ea typeface="Courier New" pitchFamily="34" charset="-122"/>
                <a:cs typeface="Courier New" pitchFamily="34" charset="-120"/>
              </a:rPr>
              <a:t>style.css</a:t>
            </a:r>
            <a:endParaRPr lang="en-US" sz="850" dirty="0"/>
          </a:p>
        </p:txBody>
      </p:sp>
      <p:sp>
        <p:nvSpPr>
          <p:cNvPr id="11" name="Text 8"/>
          <p:cNvSpPr/>
          <p:nvPr/>
        </p:nvSpPr>
        <p:spPr>
          <a:xfrm>
            <a:off x="3337560" y="3968496"/>
            <a:ext cx="1920240" cy="768096"/>
          </a:xfrm>
          <a:prstGeom prst="rect">
            <a:avLst/>
          </a:prstGeom>
          <a:noFill/>
          <a:ln/>
        </p:spPr>
        <p:txBody>
          <a:bodyPr wrap="square" lIns="0" tIns="0" rIns="0" bIns="0" rtlCol="0" anchor="ctr"/>
          <a:lstStyle/>
          <a:p>
            <a:pPr indent="0" marL="0">
              <a:buNone/>
            </a:pPr>
            <a:r>
              <a:rPr lang="en-US" sz="1150" b="1" dirty="0">
                <a:solidFill>
                  <a:srgbClr val="1F8A54"/>
                </a:solidFill>
                <a:latin typeface="Courier New" pitchFamily="34" charset="0"/>
                <a:ea typeface="Courier New" pitchFamily="34" charset="-122"/>
                <a:cs typeface="Courier New" pitchFamily="34" charset="-120"/>
              </a:rPr>
              <a:t>color: green</a:t>
            </a:r>
            <a:endParaRPr lang="en-US" sz="1150" dirty="0"/>
          </a:p>
        </p:txBody>
      </p:sp>
      <p:sp>
        <p:nvSpPr>
          <p:cNvPr id="12" name="Shape 9"/>
          <p:cNvSpPr/>
          <p:nvPr/>
        </p:nvSpPr>
        <p:spPr>
          <a:xfrm>
            <a:off x="886968" y="3127248"/>
            <a:ext cx="4846320" cy="768096"/>
          </a:xfrm>
          <a:prstGeom prst="roundRect">
            <a:avLst>
              <a:gd name="adj" fmla="val 11905"/>
            </a:avLst>
          </a:prstGeom>
          <a:solidFill>
            <a:srgbClr val="E7EEFD"/>
          </a:solidFill>
          <a:ln w="19050">
            <a:solidFill>
              <a:srgbClr val="2C6BED"/>
            </a:solidFill>
            <a:prstDash val="solid"/>
          </a:ln>
          <a:effectLst>
            <a:outerShdw sx="100000" sy="100000" kx="0" ky="0" algn="bl" rotWithShape="0" blurRad="101600" dist="25400" dir="5400000">
              <a:srgbClr val="8B95A6">
                <a:alpha val="30000"/>
              </a:srgbClr>
            </a:outerShdw>
          </a:effectLst>
        </p:spPr>
      </p:sp>
      <p:sp>
        <p:nvSpPr>
          <p:cNvPr id="13" name="Text 10"/>
          <p:cNvSpPr/>
          <p:nvPr/>
        </p:nvSpPr>
        <p:spPr>
          <a:xfrm>
            <a:off x="1124712" y="3218688"/>
            <a:ext cx="1554480" cy="292608"/>
          </a:xfrm>
          <a:prstGeom prst="rect">
            <a:avLst/>
          </a:prstGeom>
          <a:noFill/>
          <a:ln/>
        </p:spPr>
        <p:txBody>
          <a:bodyPr wrap="square" lIns="0" tIns="0" rIns="0" bIns="0" rtlCol="0" anchor="ctr"/>
          <a:lstStyle/>
          <a:p>
            <a:pPr indent="0" marL="0">
              <a:buNone/>
            </a:pPr>
            <a:r>
              <a:rPr lang="en-US" sz="1450" b="1" dirty="0">
                <a:solidFill>
                  <a:srgbClr val="15202B"/>
                </a:solidFill>
                <a:latin typeface="Calibri" pitchFamily="34" charset="0"/>
                <a:ea typeface="Calibri" pitchFamily="34" charset="-122"/>
                <a:cs typeface="Calibri" pitchFamily="34" charset="-120"/>
              </a:rPr>
              <a:t>Internal</a:t>
            </a:r>
            <a:endParaRPr lang="en-US" sz="1450" dirty="0"/>
          </a:p>
        </p:txBody>
      </p:sp>
      <p:sp>
        <p:nvSpPr>
          <p:cNvPr id="14" name="Text 11"/>
          <p:cNvSpPr/>
          <p:nvPr/>
        </p:nvSpPr>
        <p:spPr>
          <a:xfrm>
            <a:off x="1124712" y="3529584"/>
            <a:ext cx="1737360" cy="256032"/>
          </a:xfrm>
          <a:prstGeom prst="rect">
            <a:avLst/>
          </a:prstGeom>
          <a:noFill/>
          <a:ln/>
        </p:spPr>
        <p:txBody>
          <a:bodyPr wrap="square" lIns="0" tIns="0" rIns="0" bIns="0" rtlCol="0" anchor="ctr"/>
          <a:lstStyle/>
          <a:p>
            <a:pPr indent="0" marL="0">
              <a:buNone/>
            </a:pPr>
            <a:r>
              <a:rPr lang="en-US" sz="850" dirty="0">
                <a:solidFill>
                  <a:srgbClr val="55616F"/>
                </a:solidFill>
                <a:latin typeface="Courier New" pitchFamily="34" charset="0"/>
                <a:ea typeface="Courier New" pitchFamily="34" charset="-122"/>
                <a:cs typeface="Courier New" pitchFamily="34" charset="-120"/>
              </a:rPr>
              <a:t>&lt;style&gt; in head</a:t>
            </a:r>
            <a:endParaRPr lang="en-US" sz="850" dirty="0"/>
          </a:p>
        </p:txBody>
      </p:sp>
      <p:sp>
        <p:nvSpPr>
          <p:cNvPr id="15" name="Text 12"/>
          <p:cNvSpPr/>
          <p:nvPr/>
        </p:nvSpPr>
        <p:spPr>
          <a:xfrm>
            <a:off x="3081528" y="3127248"/>
            <a:ext cx="1920240" cy="768096"/>
          </a:xfrm>
          <a:prstGeom prst="rect">
            <a:avLst/>
          </a:prstGeom>
          <a:noFill/>
          <a:ln/>
        </p:spPr>
        <p:txBody>
          <a:bodyPr wrap="square" lIns="0" tIns="0" rIns="0" bIns="0" rtlCol="0" anchor="ctr"/>
          <a:lstStyle/>
          <a:p>
            <a:pPr indent="0" marL="0">
              <a:buNone/>
            </a:pPr>
            <a:r>
              <a:rPr lang="en-US" sz="1150" b="1" dirty="0">
                <a:solidFill>
                  <a:srgbClr val="2C6BED"/>
                </a:solidFill>
                <a:latin typeface="Courier New" pitchFamily="34" charset="0"/>
                <a:ea typeface="Courier New" pitchFamily="34" charset="-122"/>
                <a:cs typeface="Courier New" pitchFamily="34" charset="-120"/>
              </a:rPr>
              <a:t>color: tomato</a:t>
            </a:r>
            <a:endParaRPr lang="en-US" sz="1150" dirty="0"/>
          </a:p>
        </p:txBody>
      </p:sp>
      <p:sp>
        <p:nvSpPr>
          <p:cNvPr id="16" name="Shape 13"/>
          <p:cNvSpPr/>
          <p:nvPr/>
        </p:nvSpPr>
        <p:spPr>
          <a:xfrm>
            <a:off x="630936" y="2286000"/>
            <a:ext cx="4846320" cy="768096"/>
          </a:xfrm>
          <a:prstGeom prst="roundRect">
            <a:avLst>
              <a:gd name="adj" fmla="val 11905"/>
            </a:avLst>
          </a:prstGeom>
          <a:solidFill>
            <a:srgbClr val="FCE7EF"/>
          </a:solidFill>
          <a:ln w="19050">
            <a:solidFill>
              <a:srgbClr val="D6336C"/>
            </a:solidFill>
            <a:prstDash val="solid"/>
          </a:ln>
          <a:effectLst>
            <a:outerShdw sx="100000" sy="100000" kx="0" ky="0" algn="bl" rotWithShape="0" blurRad="101600" dist="25400" dir="5400000">
              <a:srgbClr val="8B95A6">
                <a:alpha val="30000"/>
              </a:srgbClr>
            </a:outerShdw>
          </a:effectLst>
        </p:spPr>
      </p:sp>
      <p:sp>
        <p:nvSpPr>
          <p:cNvPr id="17" name="Text 14"/>
          <p:cNvSpPr/>
          <p:nvPr/>
        </p:nvSpPr>
        <p:spPr>
          <a:xfrm>
            <a:off x="868680" y="2377440"/>
            <a:ext cx="1554480" cy="292608"/>
          </a:xfrm>
          <a:prstGeom prst="rect">
            <a:avLst/>
          </a:prstGeom>
          <a:noFill/>
          <a:ln/>
        </p:spPr>
        <p:txBody>
          <a:bodyPr wrap="square" lIns="0" tIns="0" rIns="0" bIns="0" rtlCol="0" anchor="ctr"/>
          <a:lstStyle/>
          <a:p>
            <a:pPr indent="0" marL="0">
              <a:buNone/>
            </a:pPr>
            <a:r>
              <a:rPr lang="en-US" sz="1450" b="1" dirty="0">
                <a:solidFill>
                  <a:srgbClr val="15202B"/>
                </a:solidFill>
                <a:latin typeface="Calibri" pitchFamily="34" charset="0"/>
                <a:ea typeface="Calibri" pitchFamily="34" charset="-122"/>
                <a:cs typeface="Calibri" pitchFamily="34" charset="-120"/>
              </a:rPr>
              <a:t>Inline</a:t>
            </a:r>
            <a:endParaRPr lang="en-US" sz="1450" dirty="0"/>
          </a:p>
        </p:txBody>
      </p:sp>
      <p:sp>
        <p:nvSpPr>
          <p:cNvPr id="18" name="Text 15"/>
          <p:cNvSpPr/>
          <p:nvPr/>
        </p:nvSpPr>
        <p:spPr>
          <a:xfrm>
            <a:off x="868680" y="2688336"/>
            <a:ext cx="1737360" cy="256032"/>
          </a:xfrm>
          <a:prstGeom prst="rect">
            <a:avLst/>
          </a:prstGeom>
          <a:noFill/>
          <a:ln/>
        </p:spPr>
        <p:txBody>
          <a:bodyPr wrap="square" lIns="0" tIns="0" rIns="0" bIns="0" rtlCol="0" anchor="ctr"/>
          <a:lstStyle/>
          <a:p>
            <a:pPr indent="0" marL="0">
              <a:buNone/>
            </a:pPr>
            <a:r>
              <a:rPr lang="en-US" sz="850" dirty="0">
                <a:solidFill>
                  <a:srgbClr val="55616F"/>
                </a:solidFill>
                <a:latin typeface="Courier New" pitchFamily="34" charset="0"/>
                <a:ea typeface="Courier New" pitchFamily="34" charset="-122"/>
                <a:cs typeface="Courier New" pitchFamily="34" charset="-120"/>
              </a:rPr>
              <a:t>style attribute</a:t>
            </a:r>
            <a:endParaRPr lang="en-US" sz="850" dirty="0"/>
          </a:p>
        </p:txBody>
      </p:sp>
      <p:sp>
        <p:nvSpPr>
          <p:cNvPr id="19" name="Text 16"/>
          <p:cNvSpPr/>
          <p:nvPr/>
        </p:nvSpPr>
        <p:spPr>
          <a:xfrm>
            <a:off x="2825496" y="2286000"/>
            <a:ext cx="1920240" cy="768096"/>
          </a:xfrm>
          <a:prstGeom prst="rect">
            <a:avLst/>
          </a:prstGeom>
          <a:noFill/>
          <a:ln/>
        </p:spPr>
        <p:txBody>
          <a:bodyPr wrap="square" lIns="0" tIns="0" rIns="0" bIns="0" rtlCol="0" anchor="ctr"/>
          <a:lstStyle/>
          <a:p>
            <a:pPr indent="0" marL="0">
              <a:buNone/>
            </a:pPr>
            <a:r>
              <a:rPr lang="en-US" sz="1150" b="1" dirty="0">
                <a:solidFill>
                  <a:srgbClr val="D6336C"/>
                </a:solidFill>
                <a:latin typeface="Courier New" pitchFamily="34" charset="0"/>
                <a:ea typeface="Courier New" pitchFamily="34" charset="-122"/>
                <a:cs typeface="Courier New" pitchFamily="34" charset="-120"/>
              </a:rPr>
              <a:t>color: blue</a:t>
            </a:r>
            <a:endParaRPr lang="en-US" sz="1150" dirty="0"/>
          </a:p>
        </p:txBody>
      </p:sp>
      <p:sp>
        <p:nvSpPr>
          <p:cNvPr id="20" name="Shape 17"/>
          <p:cNvSpPr/>
          <p:nvPr/>
        </p:nvSpPr>
        <p:spPr>
          <a:xfrm>
            <a:off x="4837176" y="2487168"/>
            <a:ext cx="457200" cy="365760"/>
          </a:xfrm>
          <a:prstGeom prst="roundRect">
            <a:avLst>
              <a:gd name="adj" fmla="val 20000"/>
            </a:avLst>
          </a:prstGeom>
          <a:solidFill>
            <a:srgbClr val="D6336C"/>
          </a:solidFill>
          <a:ln w="12700">
            <a:solidFill>
              <a:srgbClr val="D6336C"/>
            </a:solidFill>
            <a:prstDash val="solid"/>
          </a:ln>
        </p:spPr>
      </p:sp>
      <p:pic>
        <p:nvPicPr>
          <p:cNvPr id="21" name="Image 0" descr="preencoded.png">    </p:cNvPr>
          <p:cNvPicPr>
            <a:picLocks noChangeAspect="1"/>
          </p:cNvPicPr>
          <p:nvPr/>
        </p:nvPicPr>
        <p:blipFill>
          <a:blip r:embed="rId1"/>
          <a:stretch>
            <a:fillRect/>
          </a:stretch>
        </p:blipFill>
        <p:spPr>
          <a:xfrm>
            <a:off x="4946904" y="2569464"/>
            <a:ext cx="237744" cy="201168"/>
          </a:xfrm>
          <a:prstGeom prst="rect">
            <a:avLst/>
          </a:prstGeom>
        </p:spPr>
      </p:pic>
      <p:sp>
        <p:nvSpPr>
          <p:cNvPr id="22" name="Text 18"/>
          <p:cNvSpPr/>
          <p:nvPr/>
        </p:nvSpPr>
        <p:spPr>
          <a:xfrm>
            <a:off x="1143000" y="2011680"/>
            <a:ext cx="2377440" cy="274320"/>
          </a:xfrm>
          <a:prstGeom prst="rect">
            <a:avLst/>
          </a:prstGeom>
          <a:noFill/>
          <a:ln/>
        </p:spPr>
        <p:txBody>
          <a:bodyPr wrap="square" lIns="0" tIns="0" rIns="0" bIns="0" rtlCol="0" anchor="ctr"/>
          <a:lstStyle/>
          <a:p>
            <a:pPr indent="0" marL="0">
              <a:buNone/>
            </a:pPr>
            <a:r>
              <a:rPr lang="en-US" sz="950" dirty="0">
                <a:solidFill>
                  <a:srgbClr val="D6336C"/>
                </a:solidFill>
                <a:latin typeface="Courier New" pitchFamily="34" charset="0"/>
                <a:ea typeface="Courier New" pitchFamily="34" charset="-122"/>
                <a:cs typeface="Courier New" pitchFamily="34" charset="-120"/>
              </a:rPr>
              <a:t>highest precedence</a:t>
            </a:r>
            <a:endParaRPr lang="en-US" sz="950" dirty="0"/>
          </a:p>
        </p:txBody>
      </p:sp>
      <p:sp>
        <p:nvSpPr>
          <p:cNvPr id="23" name="Text 19"/>
          <p:cNvSpPr/>
          <p:nvPr/>
        </p:nvSpPr>
        <p:spPr>
          <a:xfrm>
            <a:off x="886968" y="4809744"/>
            <a:ext cx="2377440" cy="274320"/>
          </a:xfrm>
          <a:prstGeom prst="rect">
            <a:avLst/>
          </a:prstGeom>
          <a:noFill/>
          <a:ln/>
        </p:spPr>
        <p:txBody>
          <a:bodyPr wrap="square" lIns="0" tIns="0" rIns="0" bIns="0" rtlCol="0" anchor="ctr"/>
          <a:lstStyle/>
          <a:p>
            <a:pPr indent="0" marL="0">
              <a:buNone/>
            </a:pPr>
            <a:r>
              <a:rPr lang="en-US" sz="950" dirty="0">
                <a:solidFill>
                  <a:srgbClr val="1F8A54"/>
                </a:solidFill>
                <a:latin typeface="Courier New" pitchFamily="34" charset="0"/>
                <a:ea typeface="Courier New" pitchFamily="34" charset="-122"/>
                <a:cs typeface="Courier New" pitchFamily="34" charset="-120"/>
              </a:rPr>
              <a:t>lowest precedence</a:t>
            </a:r>
            <a:endParaRPr lang="en-US" sz="950" dirty="0"/>
          </a:p>
        </p:txBody>
      </p:sp>
      <p:sp>
        <p:nvSpPr>
          <p:cNvPr id="24" name="Shape 20"/>
          <p:cNvSpPr/>
          <p:nvPr/>
        </p:nvSpPr>
        <p:spPr>
          <a:xfrm>
            <a:off x="6492240" y="2011680"/>
            <a:ext cx="5056632" cy="2194560"/>
          </a:xfrm>
          <a:prstGeom prst="roundRect">
            <a:avLst>
              <a:gd name="adj" fmla="val 4167"/>
            </a:avLst>
          </a:prstGeom>
          <a:solidFill>
            <a:srgbClr val="FFFFFF"/>
          </a:solidFill>
          <a:ln w="15875">
            <a:solidFill>
              <a:srgbClr val="D9DEE7"/>
            </a:solidFill>
            <a:prstDash val="solid"/>
          </a:ln>
          <a:effectLst>
            <a:outerShdw sx="100000" sy="100000" kx="0" ky="0" algn="bl" rotWithShape="0" blurRad="127000" dist="25400" dir="5400000">
              <a:srgbClr val="8B95A6">
                <a:alpha val="25000"/>
              </a:srgbClr>
            </a:outerShdw>
          </a:effectLst>
        </p:spPr>
      </p:sp>
      <p:sp>
        <p:nvSpPr>
          <p:cNvPr id="25" name="Shape 21"/>
          <p:cNvSpPr/>
          <p:nvPr/>
        </p:nvSpPr>
        <p:spPr>
          <a:xfrm>
            <a:off x="6492240" y="2011680"/>
            <a:ext cx="5056632" cy="292608"/>
          </a:xfrm>
          <a:prstGeom prst="roundRect">
            <a:avLst>
              <a:gd name="adj" fmla="val 31250"/>
            </a:avLst>
          </a:prstGeom>
          <a:solidFill>
            <a:srgbClr val="EFF2F7"/>
          </a:solidFill>
          <a:ln w="15875">
            <a:solidFill>
              <a:srgbClr val="D9DEE7"/>
            </a:solidFill>
            <a:prstDash val="solid"/>
          </a:ln>
        </p:spPr>
      </p:sp>
      <p:sp>
        <p:nvSpPr>
          <p:cNvPr id="26" name="Shape 22"/>
          <p:cNvSpPr/>
          <p:nvPr/>
        </p:nvSpPr>
        <p:spPr>
          <a:xfrm>
            <a:off x="6638544" y="2112264"/>
            <a:ext cx="91440" cy="91440"/>
          </a:xfrm>
          <a:prstGeom prst="ellipse">
            <a:avLst/>
          </a:prstGeom>
          <a:solidFill>
            <a:srgbClr val="E06C61"/>
          </a:solidFill>
          <a:ln w="6350">
            <a:solidFill>
              <a:srgbClr val="E06C61"/>
            </a:solidFill>
            <a:prstDash val="solid"/>
          </a:ln>
        </p:spPr>
      </p:sp>
      <p:sp>
        <p:nvSpPr>
          <p:cNvPr id="27" name="Shape 23"/>
          <p:cNvSpPr/>
          <p:nvPr/>
        </p:nvSpPr>
        <p:spPr>
          <a:xfrm>
            <a:off x="6793992" y="2112264"/>
            <a:ext cx="91440" cy="91440"/>
          </a:xfrm>
          <a:prstGeom prst="ellipse">
            <a:avLst/>
          </a:prstGeom>
          <a:solidFill>
            <a:srgbClr val="E8B44A"/>
          </a:solidFill>
          <a:ln w="6350">
            <a:solidFill>
              <a:srgbClr val="E8B44A"/>
            </a:solidFill>
            <a:prstDash val="solid"/>
          </a:ln>
        </p:spPr>
      </p:sp>
      <p:sp>
        <p:nvSpPr>
          <p:cNvPr id="28" name="Shape 24"/>
          <p:cNvSpPr/>
          <p:nvPr/>
        </p:nvSpPr>
        <p:spPr>
          <a:xfrm>
            <a:off x="6949440" y="2112264"/>
            <a:ext cx="91440" cy="91440"/>
          </a:xfrm>
          <a:prstGeom prst="ellipse">
            <a:avLst/>
          </a:prstGeom>
          <a:solidFill>
            <a:srgbClr val="62BD6B"/>
          </a:solidFill>
          <a:ln w="6350">
            <a:solidFill>
              <a:srgbClr val="62BD6B"/>
            </a:solidFill>
            <a:prstDash val="solid"/>
          </a:ln>
        </p:spPr>
      </p:sp>
      <p:sp>
        <p:nvSpPr>
          <p:cNvPr id="29" name="Text 25"/>
          <p:cNvSpPr/>
          <p:nvPr/>
        </p:nvSpPr>
        <p:spPr>
          <a:xfrm>
            <a:off x="7150608" y="2011680"/>
            <a:ext cx="4233672" cy="292608"/>
          </a:xfrm>
          <a:prstGeom prst="rect">
            <a:avLst/>
          </a:prstGeom>
          <a:noFill/>
          <a:ln/>
        </p:spPr>
        <p:txBody>
          <a:bodyPr wrap="square" lIns="0" tIns="0" rIns="0" bIns="0" rtlCol="0" anchor="ctr"/>
          <a:lstStyle/>
          <a:p>
            <a:pPr indent="0" marL="0">
              <a:buNone/>
            </a:pPr>
            <a:r>
              <a:rPr lang="en-US" sz="850" dirty="0">
                <a:solidFill>
                  <a:srgbClr val="939DAB"/>
                </a:solidFill>
                <a:latin typeface="Courier New" pitchFamily="34" charset="0"/>
                <a:ea typeface="Courier New" pitchFamily="34" charset="-122"/>
                <a:cs typeface="Courier New" pitchFamily="34" charset="-120"/>
              </a:rPr>
              <a:t>the h2 on the page</a:t>
            </a:r>
            <a:endParaRPr lang="en-US" sz="850" dirty="0"/>
          </a:p>
        </p:txBody>
      </p:sp>
      <p:sp>
        <p:nvSpPr>
          <p:cNvPr id="30" name="Text 26"/>
          <p:cNvSpPr/>
          <p:nvPr/>
        </p:nvSpPr>
        <p:spPr>
          <a:xfrm>
            <a:off x="6720840" y="2523744"/>
            <a:ext cx="4599432" cy="731520"/>
          </a:xfrm>
          <a:prstGeom prst="rect">
            <a:avLst/>
          </a:prstGeom>
          <a:noFill/>
          <a:ln/>
        </p:spPr>
        <p:txBody>
          <a:bodyPr wrap="square" lIns="0" tIns="0" rIns="0" bIns="0" rtlCol="0" anchor="ctr"/>
          <a:lstStyle/>
          <a:p>
            <a:pPr algn="ctr" indent="0" marL="0">
              <a:buNone/>
            </a:pPr>
            <a:r>
              <a:rPr lang="en-US" sz="2200" b="1" dirty="0">
                <a:solidFill>
                  <a:srgbClr val="2C6BED"/>
                </a:solidFill>
                <a:latin typeface="Calibri" pitchFamily="34" charset="0"/>
                <a:ea typeface="Calibri" pitchFamily="34" charset="-122"/>
                <a:cs typeface="Calibri" pitchFamily="34" charset="-120"/>
              </a:rPr>
              <a:t>I hope you are doing good</a:t>
            </a:r>
            <a:endParaRPr lang="en-US" sz="2200" dirty="0"/>
          </a:p>
        </p:txBody>
      </p:sp>
      <p:sp>
        <p:nvSpPr>
          <p:cNvPr id="31" name="Shape 27"/>
          <p:cNvSpPr/>
          <p:nvPr/>
        </p:nvSpPr>
        <p:spPr>
          <a:xfrm>
            <a:off x="6858000" y="3401568"/>
            <a:ext cx="4325112" cy="566928"/>
          </a:xfrm>
          <a:prstGeom prst="roundRect">
            <a:avLst>
              <a:gd name="adj" fmla="val 12903"/>
            </a:avLst>
          </a:prstGeom>
          <a:solidFill>
            <a:srgbClr val="FCE7EF"/>
          </a:solidFill>
          <a:ln w="15875">
            <a:solidFill>
              <a:srgbClr val="D6336C"/>
            </a:solidFill>
            <a:prstDash val="solid"/>
          </a:ln>
        </p:spPr>
      </p:sp>
      <p:sp>
        <p:nvSpPr>
          <p:cNvPr id="32" name="Text 28"/>
          <p:cNvSpPr/>
          <p:nvPr/>
        </p:nvSpPr>
        <p:spPr>
          <a:xfrm>
            <a:off x="6858000" y="3401568"/>
            <a:ext cx="4325112" cy="566928"/>
          </a:xfrm>
          <a:prstGeom prst="rect">
            <a:avLst/>
          </a:prstGeom>
          <a:noFill/>
          <a:ln/>
        </p:spPr>
        <p:txBody>
          <a:bodyPr wrap="square" lIns="0" tIns="0" rIns="0" bIns="0" rtlCol="0" anchor="ctr"/>
          <a:lstStyle/>
          <a:p>
            <a:pPr algn="ctr" indent="0" marL="0">
              <a:buNone/>
            </a:pPr>
            <a:r>
              <a:rPr lang="en-US" sz="1200" b="1" dirty="0">
                <a:solidFill>
                  <a:srgbClr val="D6336C"/>
                </a:solidFill>
                <a:latin typeface="Calibri" pitchFamily="34" charset="0"/>
                <a:ea typeface="Calibri" pitchFamily="34" charset="-122"/>
                <a:cs typeface="Calibri" pitchFamily="34" charset="-120"/>
              </a:rPr>
              <a:t>blue wins, because it was written inline</a:t>
            </a:r>
            <a:endParaRPr lang="en-US" sz="1200" dirty="0"/>
          </a:p>
        </p:txBody>
      </p:sp>
      <p:sp>
        <p:nvSpPr>
          <p:cNvPr id="33" name="Shape 29"/>
          <p:cNvSpPr/>
          <p:nvPr/>
        </p:nvSpPr>
        <p:spPr>
          <a:xfrm>
            <a:off x="6492240" y="4407408"/>
            <a:ext cx="5056632" cy="786384"/>
          </a:xfrm>
          <a:prstGeom prst="roundRect">
            <a:avLst>
              <a:gd name="adj" fmla="val 11628"/>
            </a:avLst>
          </a:prstGeom>
          <a:solidFill>
            <a:srgbClr val="FDF0DC"/>
          </a:solidFill>
          <a:ln w="12700">
            <a:solidFill>
              <a:srgbClr val="E8C48A"/>
            </a:solidFill>
            <a:prstDash val="solid"/>
          </a:ln>
          <a:effectLst>
            <a:outerShdw sx="100000" sy="100000" kx="0" ky="0" algn="bl" rotWithShape="0" blurRad="177800" dist="38100" dir="5400000">
              <a:srgbClr val="000000">
                <a:alpha val="35000"/>
              </a:srgbClr>
            </a:outerShdw>
          </a:effectLst>
        </p:spPr>
      </p:sp>
      <p:sp>
        <p:nvSpPr>
          <p:cNvPr id="34" name="Text 30"/>
          <p:cNvSpPr/>
          <p:nvPr/>
        </p:nvSpPr>
        <p:spPr>
          <a:xfrm>
            <a:off x="6729984" y="4480560"/>
            <a:ext cx="4572000" cy="292608"/>
          </a:xfrm>
          <a:prstGeom prst="rect">
            <a:avLst/>
          </a:prstGeom>
          <a:noFill/>
          <a:ln/>
        </p:spPr>
        <p:txBody>
          <a:bodyPr wrap="square" lIns="0" tIns="0" rIns="0" bIns="0" rtlCol="0" anchor="ctr"/>
          <a:lstStyle/>
          <a:p>
            <a:pPr indent="0" marL="0">
              <a:buNone/>
            </a:pPr>
            <a:r>
              <a:rPr lang="en-US" sz="1400" b="1" dirty="0">
                <a:solidFill>
                  <a:srgbClr val="15202B"/>
                </a:solidFill>
                <a:latin typeface="Calibri" pitchFamily="34" charset="0"/>
                <a:ea typeface="Calibri" pitchFamily="34" charset="-122"/>
                <a:cs typeface="Calibri" pitchFamily="34" charset="-120"/>
              </a:rPr>
              <a:t>Tie? The later rule wins.</a:t>
            </a:r>
            <a:endParaRPr lang="en-US" sz="1400" dirty="0"/>
          </a:p>
        </p:txBody>
      </p:sp>
      <p:sp>
        <p:nvSpPr>
          <p:cNvPr id="35" name="Text 31"/>
          <p:cNvSpPr/>
          <p:nvPr/>
        </p:nvSpPr>
        <p:spPr>
          <a:xfrm>
            <a:off x="6729984" y="4754880"/>
            <a:ext cx="4572000" cy="384048"/>
          </a:xfrm>
          <a:prstGeom prst="rect">
            <a:avLst/>
          </a:prstGeom>
          <a:noFill/>
          <a:ln/>
        </p:spPr>
        <p:txBody>
          <a:bodyPr wrap="square" lIns="0" tIns="0" rIns="0" bIns="0" rtlCol="0" anchor="t"/>
          <a:lstStyle/>
          <a:p>
            <a:pPr algn="l" indent="0" marL="0">
              <a:lnSpc>
                <a:spcPts val="1400"/>
              </a:lnSpc>
              <a:buNone/>
            </a:pPr>
            <a:r>
              <a:rPr lang="en-US" sz="1100" dirty="0">
                <a:solidFill>
                  <a:srgbClr val="55616F"/>
                </a:solidFill>
                <a:latin typeface="Calibri" pitchFamily="34" charset="0"/>
                <a:ea typeface="Calibri" pitchFamily="34" charset="-122"/>
                <a:cs typeface="Calibri" pitchFamily="34" charset="-120"/>
              </a:rPr>
              <a:t>Two rules at the same level, same property: whichever is written further down the file takes effect.</a:t>
            </a:r>
            <a:endParaRPr lang="en-US" sz="1100" dirty="0"/>
          </a:p>
        </p:txBody>
      </p:sp>
      <p:sp>
        <p:nvSpPr>
          <p:cNvPr id="36" name="Shape 32"/>
          <p:cNvSpPr/>
          <p:nvPr/>
        </p:nvSpPr>
        <p:spPr>
          <a:xfrm>
            <a:off x="640080" y="5431536"/>
            <a:ext cx="10908792" cy="603504"/>
          </a:xfrm>
          <a:prstGeom prst="roundRect">
            <a:avLst>
              <a:gd name="adj" fmla="val 15152"/>
            </a:avLst>
          </a:prstGeom>
          <a:solidFill>
            <a:srgbClr val="E7EEFD"/>
          </a:solidFill>
          <a:ln w="12700">
            <a:solidFill>
              <a:srgbClr val="B6CDFA"/>
            </a:solidFill>
            <a:prstDash val="solid"/>
          </a:ln>
          <a:effectLst>
            <a:outerShdw sx="100000" sy="100000" kx="0" ky="0" algn="bl" rotWithShape="0" blurRad="177800" dist="38100" dir="5400000">
              <a:srgbClr val="000000">
                <a:alpha val="35000"/>
              </a:srgbClr>
            </a:outerShdw>
          </a:effectLst>
        </p:spPr>
      </p:sp>
      <p:sp>
        <p:nvSpPr>
          <p:cNvPr id="37" name="Text 33"/>
          <p:cNvSpPr/>
          <p:nvPr/>
        </p:nvSpPr>
        <p:spPr>
          <a:xfrm>
            <a:off x="914400" y="5431536"/>
            <a:ext cx="10360152" cy="603504"/>
          </a:xfrm>
          <a:prstGeom prst="rect">
            <a:avLst/>
          </a:prstGeom>
          <a:noFill/>
          <a:ln/>
        </p:spPr>
        <p:txBody>
          <a:bodyPr wrap="square" lIns="0" tIns="0" rIns="0" bIns="0" rtlCol="0" anchor="ctr"/>
          <a:lstStyle/>
          <a:p>
            <a:pPr algn="ctr" indent="0" marL="0">
              <a:buNone/>
            </a:pPr>
            <a:r>
              <a:rPr lang="en-US" sz="1550" b="1" dirty="0">
                <a:solidFill>
                  <a:srgbClr val="15202B"/>
                </a:solidFill>
                <a:latin typeface="Calibri" pitchFamily="34" charset="0"/>
                <a:ea typeface="Calibri" pitchFamily="34" charset="-122"/>
                <a:cs typeface="Calibri" pitchFamily="34" charset="-120"/>
              </a:rPr>
              <a:t>Inline, then internal, then external. On a tie, the one written later wins.</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826"/>
        </a:solidFill>
      </p:bgPr>
    </p:bg>
    <p:spTree>
      <p:nvGrpSpPr>
        <p:cNvPr id="1" name=""/>
        <p:cNvGrpSpPr/>
        <p:nvPr/>
      </p:nvGrpSpPr>
      <p:grpSpPr>
        <a:xfrm>
          <a:off x="0" y="0"/>
          <a:ext cx="0" cy="0"/>
          <a:chOff x="0" y="0"/>
          <a:chExt cx="0" cy="0"/>
        </a:xfrm>
      </p:grpSpPr>
      <p:sp>
        <p:nvSpPr>
          <p:cNvPr id="3" name="Text 0"/>
          <p:cNvSpPr/>
          <p:nvPr/>
        </p:nvSpPr>
        <p:spPr>
          <a:xfrm>
            <a:off x="0" y="1417320"/>
            <a:ext cx="12188952" cy="2194560"/>
          </a:xfrm>
          <a:prstGeom prst="rect">
            <a:avLst/>
          </a:prstGeom>
          <a:noFill/>
          <a:ln/>
        </p:spPr>
        <p:txBody>
          <a:bodyPr wrap="square" lIns="0" tIns="0" rIns="0" bIns="0" rtlCol="0" anchor="ctr"/>
          <a:lstStyle/>
          <a:p>
            <a:pPr algn="ctr" indent="0" marL="0">
              <a:buNone/>
            </a:pPr>
            <a:r>
              <a:rPr lang="en-US" sz="15000" b="1" dirty="0">
                <a:solidFill>
                  <a:srgbClr val="E8A33D"/>
                </a:solidFill>
                <a:latin typeface="Calibri" pitchFamily="34" charset="0"/>
                <a:ea typeface="Calibri" pitchFamily="34" charset="-122"/>
                <a:cs typeface="Calibri" pitchFamily="34" charset="-120"/>
              </a:rPr>
              <a:t>5</a:t>
            </a:r>
            <a:endParaRPr lang="en-US" sz="15000" dirty="0"/>
          </a:p>
        </p:txBody>
      </p:sp>
      <p:sp>
        <p:nvSpPr>
          <p:cNvPr id="4" name="Text 1"/>
          <p:cNvSpPr/>
          <p:nvPr/>
        </p:nvSpPr>
        <p:spPr>
          <a:xfrm>
            <a:off x="0" y="3429000"/>
            <a:ext cx="12188952" cy="457200"/>
          </a:xfrm>
          <a:prstGeom prst="rect">
            <a:avLst/>
          </a:prstGeom>
          <a:noFill/>
          <a:ln/>
        </p:spPr>
        <p:txBody>
          <a:bodyPr wrap="square" lIns="0" tIns="0" rIns="0" bIns="0" rtlCol="0" anchor="ctr"/>
          <a:lstStyle/>
          <a:p>
            <a:pPr algn="ctr" indent="0" marL="0">
              <a:buNone/>
            </a:pPr>
            <a:r>
              <a:rPr lang="en-US" sz="2600" b="1" spc="600" kern="0" dirty="0">
                <a:solidFill>
                  <a:srgbClr val="FFFFFF"/>
                </a:solidFill>
                <a:latin typeface="Calibri" pitchFamily="34" charset="0"/>
                <a:ea typeface="Calibri" pitchFamily="34" charset="-122"/>
                <a:cs typeface="Calibri" pitchFamily="34" charset="-120"/>
              </a:rPr>
              <a:t>MINUTE BREAK</a:t>
            </a:r>
            <a:endParaRPr lang="en-US" sz="2600" dirty="0"/>
          </a:p>
        </p:txBody>
      </p:sp>
      <p:sp>
        <p:nvSpPr>
          <p:cNvPr id="5" name="Text 2"/>
          <p:cNvSpPr/>
          <p:nvPr/>
        </p:nvSpPr>
        <p:spPr>
          <a:xfrm>
            <a:off x="0" y="3977640"/>
            <a:ext cx="12188952" cy="365760"/>
          </a:xfrm>
          <a:prstGeom prst="rect">
            <a:avLst/>
          </a:prstGeom>
          <a:noFill/>
          <a:ln/>
        </p:spPr>
        <p:txBody>
          <a:bodyPr wrap="square" lIns="0" tIns="0" rIns="0" bIns="0" rtlCol="0" anchor="ctr"/>
          <a:lstStyle/>
          <a:p>
            <a:pPr algn="ctr" indent="0" marL="0">
              <a:buNone/>
            </a:pPr>
            <a:r>
              <a:rPr lang="en-US" sz="1400" dirty="0">
                <a:solidFill>
                  <a:srgbClr val="C3BEE4"/>
                </a:solidFill>
                <a:latin typeface="Courier New" pitchFamily="34" charset="0"/>
                <a:ea typeface="Courier New" pitchFamily="34" charset="-122"/>
                <a:cs typeface="Courier New" pitchFamily="34" charset="-120"/>
              </a:rPr>
              <a:t>back at  __ : __     (say the actual clock time)</a:t>
            </a:r>
            <a:endParaRPr lang="en-US" sz="1400" dirty="0"/>
          </a:p>
        </p:txBody>
      </p:sp>
      <p:sp>
        <p:nvSpPr>
          <p:cNvPr id="6" name="Shape 3"/>
          <p:cNvSpPr/>
          <p:nvPr/>
        </p:nvSpPr>
        <p:spPr>
          <a:xfrm>
            <a:off x="2153412" y="4526280"/>
            <a:ext cx="2468880" cy="502920"/>
          </a:xfrm>
          <a:prstGeom prst="roundRect">
            <a:avLst>
              <a:gd name="adj" fmla="val 18182"/>
            </a:avLst>
          </a:prstGeom>
          <a:solidFill>
            <a:srgbClr val="1D2637"/>
          </a:solidFill>
          <a:ln w="12700">
            <a:solidFill>
              <a:srgbClr val="3B3470"/>
            </a:solidFill>
            <a:prstDash val="solid"/>
          </a:ln>
        </p:spPr>
      </p:sp>
      <p:sp>
        <p:nvSpPr>
          <p:cNvPr id="7" name="Text 4"/>
          <p:cNvSpPr/>
          <p:nvPr/>
        </p:nvSpPr>
        <p:spPr>
          <a:xfrm>
            <a:off x="2153412" y="4526280"/>
            <a:ext cx="2468880" cy="502920"/>
          </a:xfrm>
          <a:prstGeom prst="rect">
            <a:avLst/>
          </a:prstGeom>
          <a:noFill/>
          <a:ln/>
        </p:spPr>
        <p:txBody>
          <a:bodyPr wrap="square" lIns="0" tIns="0" rIns="0" bIns="0" rtlCol="0" anchor="ctr"/>
          <a:lstStyle/>
          <a:p>
            <a:pPr algn="ctr" indent="0" marL="0">
              <a:buNone/>
            </a:pPr>
            <a:r>
              <a:rPr lang="en-US" sz="1150" b="1" dirty="0">
                <a:solidFill>
                  <a:srgbClr val="DDD8F5"/>
                </a:solidFill>
                <a:latin typeface="Calibri" pitchFamily="34" charset="0"/>
                <a:ea typeface="Calibri" pitchFamily="34" charset="-122"/>
                <a:cs typeface="Calibri" pitchFamily="34" charset="-120"/>
              </a:rPr>
              <a:t>Stand up</a:t>
            </a:r>
            <a:endParaRPr lang="en-US" sz="1150" dirty="0"/>
          </a:p>
        </p:txBody>
      </p:sp>
      <p:sp>
        <p:nvSpPr>
          <p:cNvPr id="8" name="Shape 5"/>
          <p:cNvSpPr/>
          <p:nvPr/>
        </p:nvSpPr>
        <p:spPr>
          <a:xfrm>
            <a:off x="4860036" y="4526280"/>
            <a:ext cx="2468880" cy="502920"/>
          </a:xfrm>
          <a:prstGeom prst="roundRect">
            <a:avLst>
              <a:gd name="adj" fmla="val 18182"/>
            </a:avLst>
          </a:prstGeom>
          <a:solidFill>
            <a:srgbClr val="1D2637"/>
          </a:solidFill>
          <a:ln w="12700">
            <a:solidFill>
              <a:srgbClr val="3B3470"/>
            </a:solidFill>
            <a:prstDash val="solid"/>
          </a:ln>
        </p:spPr>
      </p:sp>
      <p:sp>
        <p:nvSpPr>
          <p:cNvPr id="9" name="Text 6"/>
          <p:cNvSpPr/>
          <p:nvPr/>
        </p:nvSpPr>
        <p:spPr>
          <a:xfrm>
            <a:off x="4860036" y="4526280"/>
            <a:ext cx="2468880" cy="502920"/>
          </a:xfrm>
          <a:prstGeom prst="rect">
            <a:avLst/>
          </a:prstGeom>
          <a:noFill/>
          <a:ln/>
        </p:spPr>
        <p:txBody>
          <a:bodyPr wrap="square" lIns="0" tIns="0" rIns="0" bIns="0" rtlCol="0" anchor="ctr"/>
          <a:lstStyle/>
          <a:p>
            <a:pPr algn="ctr" indent="0" marL="0">
              <a:buNone/>
            </a:pPr>
            <a:r>
              <a:rPr lang="en-US" sz="1150" b="1" dirty="0">
                <a:solidFill>
                  <a:srgbClr val="DDD8F5"/>
                </a:solidFill>
                <a:latin typeface="Calibri" pitchFamily="34" charset="0"/>
                <a:ea typeface="Calibri" pitchFamily="34" charset="-122"/>
                <a:cs typeface="Calibri" pitchFamily="34" charset="-120"/>
              </a:rPr>
              <a:t>Water</a:t>
            </a:r>
            <a:endParaRPr lang="en-US" sz="1150" dirty="0"/>
          </a:p>
        </p:txBody>
      </p:sp>
      <p:sp>
        <p:nvSpPr>
          <p:cNvPr id="10" name="Shape 7"/>
          <p:cNvSpPr/>
          <p:nvPr/>
        </p:nvSpPr>
        <p:spPr>
          <a:xfrm>
            <a:off x="7566660" y="4526280"/>
            <a:ext cx="2468880" cy="502920"/>
          </a:xfrm>
          <a:prstGeom prst="roundRect">
            <a:avLst>
              <a:gd name="adj" fmla="val 18182"/>
            </a:avLst>
          </a:prstGeom>
          <a:solidFill>
            <a:srgbClr val="1D2637"/>
          </a:solidFill>
          <a:ln w="12700">
            <a:solidFill>
              <a:srgbClr val="3B3470"/>
            </a:solidFill>
            <a:prstDash val="solid"/>
          </a:ln>
        </p:spPr>
      </p:sp>
      <p:sp>
        <p:nvSpPr>
          <p:cNvPr id="11" name="Text 8"/>
          <p:cNvSpPr/>
          <p:nvPr/>
        </p:nvSpPr>
        <p:spPr>
          <a:xfrm>
            <a:off x="7566660" y="4526280"/>
            <a:ext cx="2468880" cy="502920"/>
          </a:xfrm>
          <a:prstGeom prst="rect">
            <a:avLst/>
          </a:prstGeom>
          <a:noFill/>
          <a:ln/>
        </p:spPr>
        <p:txBody>
          <a:bodyPr wrap="square" lIns="0" tIns="0" rIns="0" bIns="0" rtlCol="0" anchor="ctr"/>
          <a:lstStyle/>
          <a:p>
            <a:pPr algn="ctr" indent="0" marL="0">
              <a:buNone/>
            </a:pPr>
            <a:r>
              <a:rPr lang="en-US" sz="1150" b="1" dirty="0">
                <a:solidFill>
                  <a:srgbClr val="DDD8F5"/>
                </a:solidFill>
                <a:latin typeface="Calibri" pitchFamily="34" charset="0"/>
                <a:ea typeface="Calibri" pitchFamily="34" charset="-122"/>
                <a:cs typeface="Calibri" pitchFamily="34" charset="-120"/>
              </a:rPr>
              <a:t>Look out of a window</a:t>
            </a:r>
            <a:endParaRPr lang="en-US" sz="1150" dirty="0"/>
          </a:p>
        </p:txBody>
      </p:sp>
      <p:sp>
        <p:nvSpPr>
          <p:cNvPr id="12" name="Text 9"/>
          <p:cNvSpPr/>
          <p:nvPr/>
        </p:nvSpPr>
        <p:spPr>
          <a:xfrm>
            <a:off x="0" y="5303520"/>
            <a:ext cx="12188952" cy="365760"/>
          </a:xfrm>
          <a:prstGeom prst="rect">
            <a:avLst/>
          </a:prstGeom>
          <a:noFill/>
          <a:ln/>
        </p:spPr>
        <p:txBody>
          <a:bodyPr wrap="square" lIns="0" tIns="0" rIns="0" bIns="0" rtlCol="0" anchor="ctr"/>
          <a:lstStyle/>
          <a:p>
            <a:pPr algn="ctr" indent="0" marL="0">
              <a:buNone/>
            </a:pPr>
            <a:r>
              <a:rPr lang="en-US" sz="1200" b="1" spc="300" kern="0" dirty="0">
                <a:solidFill>
                  <a:srgbClr val="E8A33D"/>
                </a:solidFill>
                <a:latin typeface="Calibri" pitchFamily="34" charset="0"/>
                <a:ea typeface="Calibri" pitchFamily="34" charset="-122"/>
                <a:cs typeface="Calibri" pitchFamily="34" charset="-120"/>
              </a:rPr>
              <a:t>UP NEXT:  SELECTORS, THE BIGGEST SECTION</a:t>
            </a:r>
            <a:endParaRPr lang="en-US" sz="1200" dirty="0"/>
          </a:p>
        </p:txBody>
      </p:sp>
      <p:sp>
        <p:nvSpPr>
          <p:cNvPr id="13" name="Text 10"/>
          <p:cNvSpPr/>
          <p:nvPr/>
        </p:nvSpPr>
        <p:spPr>
          <a:xfrm>
            <a:off x="1828800" y="5760720"/>
            <a:ext cx="8531352" cy="365760"/>
          </a:xfrm>
          <a:prstGeom prst="rect">
            <a:avLst/>
          </a:prstGeom>
          <a:noFill/>
          <a:ln/>
        </p:spPr>
        <p:txBody>
          <a:bodyPr wrap="square" lIns="0" tIns="0" rIns="0" bIns="0" rtlCol="0" anchor="ctr"/>
          <a:lstStyle/>
          <a:p>
            <a:pPr algn="ctr" indent="0" marL="0">
              <a:buNone/>
            </a:pPr>
            <a:r>
              <a:rPr lang="en-US" sz="1200" i="1" dirty="0">
                <a:solidFill>
                  <a:srgbClr val="8981B8"/>
                </a:solidFill>
                <a:latin typeface="Calibri" pitchFamily="34" charset="0"/>
                <a:ea typeface="Calibri" pitchFamily="34" charset="-122"/>
                <a:cs typeface="Calibri" pitchFamily="34" charset="-120"/>
              </a:rPr>
              <a:t>the second half is all live coding, so keep the laptop open.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826"/>
        </a:solidFill>
      </p:bgPr>
    </p:bg>
    <p:spTree>
      <p:nvGrpSpPr>
        <p:cNvPr id="1" name=""/>
        <p:cNvGrpSpPr/>
        <p:nvPr/>
      </p:nvGrpSpPr>
      <p:grpSpPr>
        <a:xfrm>
          <a:off x="0" y="0"/>
          <a:ext cx="0" cy="0"/>
          <a:chOff x="0" y="0"/>
          <a:chExt cx="0" cy="0"/>
        </a:xfrm>
      </p:grpSpPr>
      <p:sp>
        <p:nvSpPr>
          <p:cNvPr id="3" name="Text 0"/>
          <p:cNvSpPr/>
          <p:nvPr/>
        </p:nvSpPr>
        <p:spPr>
          <a:xfrm>
            <a:off x="0" y="1737360"/>
            <a:ext cx="12188952" cy="1371600"/>
          </a:xfrm>
          <a:prstGeom prst="rect">
            <a:avLst/>
          </a:prstGeom>
          <a:noFill/>
          <a:ln/>
        </p:spPr>
        <p:txBody>
          <a:bodyPr wrap="square" lIns="0" tIns="0" rIns="0" bIns="0" rtlCol="0" anchor="ctr"/>
          <a:lstStyle/>
          <a:p>
            <a:pPr algn="ctr" indent="0" marL="0">
              <a:buNone/>
            </a:pPr>
            <a:r>
              <a:rPr lang="en-US" sz="10400" b="1" dirty="0">
                <a:solidFill>
                  <a:srgbClr val="1F2A3D"/>
                </a:solidFill>
                <a:latin typeface="Calibri" pitchFamily="34" charset="0"/>
                <a:ea typeface="Calibri" pitchFamily="34" charset="-122"/>
                <a:cs typeface="Calibri" pitchFamily="34" charset="-120"/>
              </a:rPr>
              <a:t>03</a:t>
            </a:r>
            <a:endParaRPr lang="en-US" sz="10400" dirty="0"/>
          </a:p>
        </p:txBody>
      </p:sp>
      <p:sp>
        <p:nvSpPr>
          <p:cNvPr id="4" name="Text 1"/>
          <p:cNvSpPr/>
          <p:nvPr/>
        </p:nvSpPr>
        <p:spPr>
          <a:xfrm>
            <a:off x="1097280" y="3072384"/>
            <a:ext cx="9994392" cy="82296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Selectors</a:t>
            </a:r>
            <a:endParaRPr lang="en-US" sz="4000" dirty="0"/>
          </a:p>
        </p:txBody>
      </p:sp>
      <p:sp>
        <p:nvSpPr>
          <p:cNvPr id="5" name="Shape 2"/>
          <p:cNvSpPr/>
          <p:nvPr/>
        </p:nvSpPr>
        <p:spPr>
          <a:xfrm>
            <a:off x="5545836" y="4059936"/>
            <a:ext cx="1097280" cy="45720"/>
          </a:xfrm>
          <a:prstGeom prst="rect">
            <a:avLst/>
          </a:prstGeom>
          <a:solidFill>
            <a:srgbClr val="D6336C"/>
          </a:solidFill>
          <a:ln w="12700">
            <a:solidFill>
              <a:srgbClr val="D6336C"/>
            </a:solidFill>
            <a:prstDash val="solid"/>
          </a:ln>
        </p:spPr>
      </p:sp>
      <p:sp>
        <p:nvSpPr>
          <p:cNvPr id="6" name="Text 3"/>
          <p:cNvSpPr/>
          <p:nvPr/>
        </p:nvSpPr>
        <p:spPr>
          <a:xfrm>
            <a:off x="1828800" y="4297680"/>
            <a:ext cx="8531352" cy="457200"/>
          </a:xfrm>
          <a:prstGeom prst="rect">
            <a:avLst/>
          </a:prstGeom>
          <a:noFill/>
          <a:ln/>
        </p:spPr>
        <p:txBody>
          <a:bodyPr wrap="square" lIns="0" tIns="0" rIns="0" bIns="0" rtlCol="0" anchor="ctr"/>
          <a:lstStyle/>
          <a:p>
            <a:pPr algn="ctr" indent="0" marL="0">
              <a:buNone/>
            </a:pPr>
            <a:r>
              <a:rPr lang="en-US" sz="1600" dirty="0">
                <a:solidFill>
                  <a:srgbClr val="C3BEE4"/>
                </a:solidFill>
                <a:latin typeface="Calibri" pitchFamily="34" charset="0"/>
                <a:ea typeface="Calibri" pitchFamily="34" charset="-122"/>
                <a:cs typeface="Calibri" pitchFamily="34" charset="-120"/>
              </a:rPr>
              <a:t>Pointing at exactly the elements you mean, and nothing else.</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3" name="Text 0"/>
          <p:cNvSpPr/>
          <p:nvPr/>
        </p:nvSpPr>
        <p:spPr>
          <a:xfrm>
            <a:off x="640080" y="6364224"/>
            <a:ext cx="3657600" cy="256032"/>
          </a:xfrm>
          <a:prstGeom prst="rect">
            <a:avLst/>
          </a:prstGeom>
          <a:noFill/>
          <a:ln/>
        </p:spPr>
        <p:txBody>
          <a:bodyPr wrap="square" lIns="0" tIns="0" rIns="0" bIns="0" rtlCol="0" anchor="ctr"/>
          <a:lstStyle/>
          <a:p>
            <a:pPr indent="0" marL="0">
              <a:buNone/>
            </a:pPr>
            <a:r>
              <a:rPr lang="en-US" sz="900" dirty="0">
                <a:solidFill>
                  <a:srgbClr val="939DAB"/>
                </a:solidFill>
                <a:latin typeface="Courier New" pitchFamily="34" charset="0"/>
                <a:ea typeface="Courier New" pitchFamily="34" charset="-122"/>
                <a:cs typeface="Courier New" pitchFamily="34" charset="-120"/>
              </a:rPr>
              <a:t>CLASS 03  ·  CSS</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939DAB"/>
                </a:solidFill>
                <a:latin typeface="Courier New" pitchFamily="34" charset="0"/>
                <a:ea typeface="Courier New" pitchFamily="34" charset="-122"/>
                <a:cs typeface="Courier New" pitchFamily="34" charset="-120"/>
              </a:rPr>
              <a:t>07</a:t>
            </a:r>
            <a:endParaRPr lang="en-US" sz="900" dirty="0"/>
          </a:p>
        </p:txBody>
      </p:sp>
      <p:sp>
        <p:nvSpPr>
          <p:cNvPr id="5" name="Shape 2"/>
          <p:cNvSpPr/>
          <p:nvPr/>
        </p:nvSpPr>
        <p:spPr>
          <a:xfrm>
            <a:off x="640080" y="365760"/>
            <a:ext cx="1773936" cy="347472"/>
          </a:xfrm>
          <a:prstGeom prst="roundRect">
            <a:avLst>
              <a:gd name="adj" fmla="val 21053"/>
            </a:avLst>
          </a:prstGeom>
          <a:solidFill>
            <a:srgbClr val="2C6BED"/>
          </a:solidFill>
          <a:ln w="15875">
            <a:solidFill>
              <a:srgbClr val="15202B"/>
            </a:solidFill>
            <a:prstDash val="solid"/>
          </a:ln>
        </p:spPr>
      </p:sp>
      <p:sp>
        <p:nvSpPr>
          <p:cNvPr id="6" name="Text 3"/>
          <p:cNvSpPr/>
          <p:nvPr/>
        </p:nvSpPr>
        <p:spPr>
          <a:xfrm>
            <a:off x="640080" y="365760"/>
            <a:ext cx="1773936" cy="347472"/>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SELECTORS</a:t>
            </a:r>
            <a:endParaRPr lang="en-US" sz="1050" dirty="0"/>
          </a:p>
        </p:txBody>
      </p:sp>
      <p:sp>
        <p:nvSpPr>
          <p:cNvPr id="7" name="Text 4"/>
          <p:cNvSpPr/>
          <p:nvPr/>
        </p:nvSpPr>
        <p:spPr>
          <a:xfrm>
            <a:off x="640080" y="786384"/>
            <a:ext cx="10881360" cy="603504"/>
          </a:xfrm>
          <a:prstGeom prst="rect">
            <a:avLst/>
          </a:prstGeom>
          <a:noFill/>
          <a:ln/>
        </p:spPr>
        <p:txBody>
          <a:bodyPr wrap="square" lIns="0" tIns="0" rIns="0" bIns="0" rtlCol="0" anchor="ctr"/>
          <a:lstStyle/>
          <a:p>
            <a:pPr indent="0" marL="0">
              <a:buNone/>
            </a:pPr>
            <a:r>
              <a:rPr lang="en-US" sz="3200" b="1" dirty="0">
                <a:solidFill>
                  <a:srgbClr val="15202B"/>
                </a:solidFill>
                <a:latin typeface="Calibri" pitchFamily="34" charset="0"/>
                <a:ea typeface="Calibri" pitchFamily="34" charset="-122"/>
                <a:cs typeface="Calibri" pitchFamily="34" charset="-120"/>
              </a:rPr>
              <a:t>Three ways to point at an element</a:t>
            </a:r>
            <a:endParaRPr lang="en-US" sz="3200" dirty="0"/>
          </a:p>
        </p:txBody>
      </p:sp>
      <p:sp>
        <p:nvSpPr>
          <p:cNvPr id="8" name="Shape 5"/>
          <p:cNvSpPr/>
          <p:nvPr/>
        </p:nvSpPr>
        <p:spPr>
          <a:xfrm>
            <a:off x="640080" y="1627632"/>
            <a:ext cx="3419856" cy="3657600"/>
          </a:xfrm>
          <a:prstGeom prst="roundRect">
            <a:avLst>
              <a:gd name="adj" fmla="val 2674"/>
            </a:avLst>
          </a:prstGeom>
          <a:solidFill>
            <a:srgbClr val="FFFFFF"/>
          </a:solidFill>
          <a:ln w="12700">
            <a:solidFill>
              <a:srgbClr val="2C6BED"/>
            </a:solidFill>
            <a:prstDash val="solid"/>
          </a:ln>
          <a:effectLst>
            <a:outerShdw sx="100000" sy="100000" kx="0" ky="0" algn="bl" rotWithShape="0" blurRad="177800" dist="38100" dir="5400000">
              <a:srgbClr val="000000">
                <a:alpha val="35000"/>
              </a:srgbClr>
            </a:outerShdw>
          </a:effectLst>
        </p:spPr>
      </p:sp>
      <p:sp>
        <p:nvSpPr>
          <p:cNvPr id="9" name="Shape 6"/>
          <p:cNvSpPr/>
          <p:nvPr/>
        </p:nvSpPr>
        <p:spPr>
          <a:xfrm>
            <a:off x="640080" y="1627632"/>
            <a:ext cx="3419856" cy="420624"/>
          </a:xfrm>
          <a:prstGeom prst="roundRect">
            <a:avLst>
              <a:gd name="adj" fmla="val 21739"/>
            </a:avLst>
          </a:prstGeom>
          <a:solidFill>
            <a:srgbClr val="E7EEFD"/>
          </a:solidFill>
          <a:ln w="15875">
            <a:solidFill>
              <a:srgbClr val="2C6BED"/>
            </a:solidFill>
            <a:prstDash val="solid"/>
          </a:ln>
        </p:spPr>
      </p:sp>
      <p:sp>
        <p:nvSpPr>
          <p:cNvPr id="10" name="Text 7"/>
          <p:cNvSpPr/>
          <p:nvPr/>
        </p:nvSpPr>
        <p:spPr>
          <a:xfrm>
            <a:off x="877824" y="1627632"/>
            <a:ext cx="1463040" cy="420624"/>
          </a:xfrm>
          <a:prstGeom prst="rect">
            <a:avLst/>
          </a:prstGeom>
          <a:noFill/>
          <a:ln/>
        </p:spPr>
        <p:txBody>
          <a:bodyPr wrap="square" lIns="0" tIns="0" rIns="0" bIns="0" rtlCol="0" anchor="ctr"/>
          <a:lstStyle/>
          <a:p>
            <a:pPr indent="0" marL="0">
              <a:buNone/>
            </a:pPr>
            <a:r>
              <a:rPr lang="en-US" sz="1500" b="1" dirty="0">
                <a:solidFill>
                  <a:srgbClr val="15202B"/>
                </a:solidFill>
                <a:latin typeface="Calibri" pitchFamily="34" charset="0"/>
                <a:ea typeface="Calibri" pitchFamily="34" charset="-122"/>
                <a:cs typeface="Calibri" pitchFamily="34" charset="-120"/>
              </a:rPr>
              <a:t>Element</a:t>
            </a:r>
            <a:endParaRPr lang="en-US" sz="1500" dirty="0"/>
          </a:p>
        </p:txBody>
      </p:sp>
      <p:sp>
        <p:nvSpPr>
          <p:cNvPr id="11" name="Text 8"/>
          <p:cNvSpPr/>
          <p:nvPr/>
        </p:nvSpPr>
        <p:spPr>
          <a:xfrm>
            <a:off x="2194560" y="1627632"/>
            <a:ext cx="1627632" cy="420624"/>
          </a:xfrm>
          <a:prstGeom prst="rect">
            <a:avLst/>
          </a:prstGeom>
          <a:noFill/>
          <a:ln/>
        </p:spPr>
        <p:txBody>
          <a:bodyPr wrap="square" lIns="0" tIns="0" rIns="0" bIns="0" rtlCol="0" anchor="ctr"/>
          <a:lstStyle/>
          <a:p>
            <a:pPr algn="r" indent="0" marL="0">
              <a:buNone/>
            </a:pPr>
            <a:r>
              <a:rPr lang="en-US" sz="950" dirty="0">
                <a:solidFill>
                  <a:srgbClr val="55616F"/>
                </a:solidFill>
                <a:latin typeface="Calibri" pitchFamily="34" charset="0"/>
                <a:ea typeface="Calibri" pitchFamily="34" charset="-122"/>
                <a:cs typeface="Calibri" pitchFamily="34" charset="-120"/>
              </a:rPr>
              <a:t>every h1 on the page</a:t>
            </a:r>
            <a:endParaRPr lang="en-US" sz="950" dirty="0"/>
          </a:p>
        </p:txBody>
      </p:sp>
      <p:sp>
        <p:nvSpPr>
          <p:cNvPr id="12" name="Shape 9"/>
          <p:cNvSpPr/>
          <p:nvPr/>
        </p:nvSpPr>
        <p:spPr>
          <a:xfrm>
            <a:off x="877824" y="2194560"/>
            <a:ext cx="2944368" cy="566928"/>
          </a:xfrm>
          <a:prstGeom prst="roundRect">
            <a:avLst>
              <a:gd name="adj" fmla="val 16129"/>
            </a:avLst>
          </a:prstGeom>
          <a:solidFill>
            <a:srgbClr val="111826"/>
          </a:solidFill>
          <a:ln w="12700">
            <a:solidFill>
              <a:srgbClr val="1D2637"/>
            </a:solidFill>
            <a:prstDash val="solid"/>
          </a:ln>
        </p:spPr>
      </p:sp>
      <p:sp>
        <p:nvSpPr>
          <p:cNvPr id="13" name="Text 10"/>
          <p:cNvSpPr/>
          <p:nvPr/>
        </p:nvSpPr>
        <p:spPr>
          <a:xfrm>
            <a:off x="1152144" y="2432304"/>
            <a:ext cx="2395728" cy="91440"/>
          </a:xfrm>
          <a:prstGeom prst="rect">
            <a:avLst/>
          </a:prstGeom>
          <a:noFill/>
          <a:ln/>
        </p:spPr>
        <p:txBody>
          <a:bodyPr wrap="square" lIns="0" tIns="0" rIns="0" bIns="0" rtlCol="0" anchor="t"/>
          <a:lstStyle/>
          <a:p>
            <a:pPr indent="0" marL="0">
              <a:lnSpc>
                <a:spcPts val="1800"/>
              </a:lnSpc>
              <a:buNone/>
            </a:pPr>
            <a:r>
              <a:rPr lang="en-US" sz="1250" dirty="0">
                <a:solidFill>
                  <a:srgbClr val="E6EAF2"/>
                </a:solidFill>
                <a:latin typeface="Courier New" pitchFamily="34" charset="0"/>
                <a:ea typeface="Courier New" pitchFamily="34" charset="-122"/>
                <a:cs typeface="Courier New" pitchFamily="34" charset="-120"/>
              </a:rPr>
              <a:t>h1 { }</a:t>
            </a:r>
            <a:endParaRPr lang="en-US" sz="1250" dirty="0"/>
          </a:p>
        </p:txBody>
      </p:sp>
      <p:sp>
        <p:nvSpPr>
          <p:cNvPr id="14" name="Shape 11"/>
          <p:cNvSpPr/>
          <p:nvPr/>
        </p:nvSpPr>
        <p:spPr>
          <a:xfrm>
            <a:off x="969264" y="2962656"/>
            <a:ext cx="310896" cy="310896"/>
          </a:xfrm>
          <a:prstGeom prst="ellipse">
            <a:avLst/>
          </a:prstGeom>
          <a:solidFill>
            <a:srgbClr val="2C6BED"/>
          </a:solidFill>
          <a:ln w="12700">
            <a:solidFill>
              <a:srgbClr val="15202B"/>
            </a:solidFill>
            <a:prstDash val="solid"/>
          </a:ln>
        </p:spPr>
      </p:sp>
      <p:sp>
        <p:nvSpPr>
          <p:cNvPr id="15" name="Text 12"/>
          <p:cNvSpPr/>
          <p:nvPr/>
        </p:nvSpPr>
        <p:spPr>
          <a:xfrm>
            <a:off x="969264" y="2962656"/>
            <a:ext cx="310896"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Courier New" pitchFamily="34" charset="0"/>
                <a:ea typeface="Courier New" pitchFamily="34" charset="-122"/>
                <a:cs typeface="Courier New" pitchFamily="34" charset="-120"/>
              </a:rPr>
              <a:t>h1</a:t>
            </a:r>
            <a:endParaRPr lang="en-US" sz="800" dirty="0"/>
          </a:p>
        </p:txBody>
      </p:sp>
      <p:sp>
        <p:nvSpPr>
          <p:cNvPr id="16" name="Text 13"/>
          <p:cNvSpPr/>
          <p:nvPr/>
        </p:nvSpPr>
        <p:spPr>
          <a:xfrm>
            <a:off x="1408176" y="2962656"/>
            <a:ext cx="2194560" cy="310896"/>
          </a:xfrm>
          <a:prstGeom prst="rect">
            <a:avLst/>
          </a:prstGeom>
          <a:noFill/>
          <a:ln/>
        </p:spPr>
        <p:txBody>
          <a:bodyPr wrap="square" lIns="0" tIns="0" rIns="0" bIns="0" rtlCol="0" anchor="ctr"/>
          <a:lstStyle/>
          <a:p>
            <a:pPr indent="0" marL="0">
              <a:buNone/>
            </a:pPr>
            <a:r>
              <a:rPr lang="en-US" sz="1150" dirty="0">
                <a:solidFill>
                  <a:srgbClr val="15202B"/>
                </a:solidFill>
                <a:latin typeface="Calibri" pitchFamily="34" charset="0"/>
                <a:ea typeface="Calibri" pitchFamily="34" charset="-122"/>
                <a:cs typeface="Calibri" pitchFamily="34" charset="-120"/>
              </a:rPr>
              <a:t>Student 1</a:t>
            </a:r>
            <a:endParaRPr lang="en-US" sz="1150" dirty="0"/>
          </a:p>
        </p:txBody>
      </p:sp>
      <p:sp>
        <p:nvSpPr>
          <p:cNvPr id="17" name="Shape 14"/>
          <p:cNvSpPr/>
          <p:nvPr/>
        </p:nvSpPr>
        <p:spPr>
          <a:xfrm>
            <a:off x="969264" y="3419856"/>
            <a:ext cx="310896" cy="310896"/>
          </a:xfrm>
          <a:prstGeom prst="ellipse">
            <a:avLst/>
          </a:prstGeom>
          <a:solidFill>
            <a:srgbClr val="2C6BED"/>
          </a:solidFill>
          <a:ln w="12700">
            <a:solidFill>
              <a:srgbClr val="15202B"/>
            </a:solidFill>
            <a:prstDash val="solid"/>
          </a:ln>
        </p:spPr>
      </p:sp>
      <p:sp>
        <p:nvSpPr>
          <p:cNvPr id="18" name="Text 15"/>
          <p:cNvSpPr/>
          <p:nvPr/>
        </p:nvSpPr>
        <p:spPr>
          <a:xfrm>
            <a:off x="969264" y="3419856"/>
            <a:ext cx="310896"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Courier New" pitchFamily="34" charset="0"/>
                <a:ea typeface="Courier New" pitchFamily="34" charset="-122"/>
                <a:cs typeface="Courier New" pitchFamily="34" charset="-120"/>
              </a:rPr>
              <a:t>h1</a:t>
            </a:r>
            <a:endParaRPr lang="en-US" sz="800" dirty="0"/>
          </a:p>
        </p:txBody>
      </p:sp>
      <p:sp>
        <p:nvSpPr>
          <p:cNvPr id="19" name="Text 16"/>
          <p:cNvSpPr/>
          <p:nvPr/>
        </p:nvSpPr>
        <p:spPr>
          <a:xfrm>
            <a:off x="1408176" y="3419856"/>
            <a:ext cx="2194560" cy="310896"/>
          </a:xfrm>
          <a:prstGeom prst="rect">
            <a:avLst/>
          </a:prstGeom>
          <a:noFill/>
          <a:ln/>
        </p:spPr>
        <p:txBody>
          <a:bodyPr wrap="square" lIns="0" tIns="0" rIns="0" bIns="0" rtlCol="0" anchor="ctr"/>
          <a:lstStyle/>
          <a:p>
            <a:pPr indent="0" marL="0">
              <a:buNone/>
            </a:pPr>
            <a:r>
              <a:rPr lang="en-US" sz="1150" dirty="0">
                <a:solidFill>
                  <a:srgbClr val="15202B"/>
                </a:solidFill>
                <a:latin typeface="Calibri" pitchFamily="34" charset="0"/>
                <a:ea typeface="Calibri" pitchFamily="34" charset="-122"/>
                <a:cs typeface="Calibri" pitchFamily="34" charset="-120"/>
              </a:rPr>
              <a:t>Student 2</a:t>
            </a:r>
            <a:endParaRPr lang="en-US" sz="1150" dirty="0"/>
          </a:p>
        </p:txBody>
      </p:sp>
      <p:sp>
        <p:nvSpPr>
          <p:cNvPr id="20" name="Shape 17"/>
          <p:cNvSpPr/>
          <p:nvPr/>
        </p:nvSpPr>
        <p:spPr>
          <a:xfrm>
            <a:off x="969264" y="3877056"/>
            <a:ext cx="310896" cy="310896"/>
          </a:xfrm>
          <a:prstGeom prst="ellipse">
            <a:avLst/>
          </a:prstGeom>
          <a:solidFill>
            <a:srgbClr val="2C6BED"/>
          </a:solidFill>
          <a:ln w="12700">
            <a:solidFill>
              <a:srgbClr val="15202B"/>
            </a:solidFill>
            <a:prstDash val="solid"/>
          </a:ln>
        </p:spPr>
      </p:sp>
      <p:sp>
        <p:nvSpPr>
          <p:cNvPr id="21" name="Text 18"/>
          <p:cNvSpPr/>
          <p:nvPr/>
        </p:nvSpPr>
        <p:spPr>
          <a:xfrm>
            <a:off x="969264" y="3877056"/>
            <a:ext cx="310896"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Courier New" pitchFamily="34" charset="0"/>
                <a:ea typeface="Courier New" pitchFamily="34" charset="-122"/>
                <a:cs typeface="Courier New" pitchFamily="34" charset="-120"/>
              </a:rPr>
              <a:t>h1</a:t>
            </a:r>
            <a:endParaRPr lang="en-US" sz="800" dirty="0"/>
          </a:p>
        </p:txBody>
      </p:sp>
      <p:sp>
        <p:nvSpPr>
          <p:cNvPr id="22" name="Text 19"/>
          <p:cNvSpPr/>
          <p:nvPr/>
        </p:nvSpPr>
        <p:spPr>
          <a:xfrm>
            <a:off x="1408176" y="3877056"/>
            <a:ext cx="2194560" cy="310896"/>
          </a:xfrm>
          <a:prstGeom prst="rect">
            <a:avLst/>
          </a:prstGeom>
          <a:noFill/>
          <a:ln/>
        </p:spPr>
        <p:txBody>
          <a:bodyPr wrap="square" lIns="0" tIns="0" rIns="0" bIns="0" rtlCol="0" anchor="ctr"/>
          <a:lstStyle/>
          <a:p>
            <a:pPr indent="0" marL="0">
              <a:buNone/>
            </a:pPr>
            <a:r>
              <a:rPr lang="en-US" sz="1150" dirty="0">
                <a:solidFill>
                  <a:srgbClr val="15202B"/>
                </a:solidFill>
                <a:latin typeface="Calibri" pitchFamily="34" charset="0"/>
                <a:ea typeface="Calibri" pitchFamily="34" charset="-122"/>
                <a:cs typeface="Calibri" pitchFamily="34" charset="-120"/>
              </a:rPr>
              <a:t>Student 3</a:t>
            </a:r>
            <a:endParaRPr lang="en-US" sz="1150" dirty="0"/>
          </a:p>
        </p:txBody>
      </p:sp>
      <p:sp>
        <p:nvSpPr>
          <p:cNvPr id="23" name="Shape 20"/>
          <p:cNvSpPr/>
          <p:nvPr/>
        </p:nvSpPr>
        <p:spPr>
          <a:xfrm>
            <a:off x="969264" y="4334256"/>
            <a:ext cx="310896" cy="310896"/>
          </a:xfrm>
          <a:prstGeom prst="ellipse">
            <a:avLst/>
          </a:prstGeom>
          <a:solidFill>
            <a:srgbClr val="2C6BED"/>
          </a:solidFill>
          <a:ln w="12700">
            <a:solidFill>
              <a:srgbClr val="15202B"/>
            </a:solidFill>
            <a:prstDash val="solid"/>
          </a:ln>
        </p:spPr>
      </p:sp>
      <p:sp>
        <p:nvSpPr>
          <p:cNvPr id="24" name="Text 21"/>
          <p:cNvSpPr/>
          <p:nvPr/>
        </p:nvSpPr>
        <p:spPr>
          <a:xfrm>
            <a:off x="969264" y="4334256"/>
            <a:ext cx="310896" cy="310896"/>
          </a:xfrm>
          <a:prstGeom prst="rect">
            <a:avLst/>
          </a:prstGeom>
          <a:noFill/>
          <a:ln/>
        </p:spPr>
        <p:txBody>
          <a:bodyPr wrap="square" lIns="0" tIns="0" rIns="0" bIns="0" rtlCol="0" anchor="ctr"/>
          <a:lstStyle/>
          <a:p>
            <a:pPr algn="ctr" indent="0" marL="0">
              <a:buNone/>
            </a:pPr>
            <a:r>
              <a:rPr lang="en-US" sz="800" b="1" dirty="0">
                <a:solidFill>
                  <a:srgbClr val="FFFFFF"/>
                </a:solidFill>
                <a:latin typeface="Courier New" pitchFamily="34" charset="0"/>
                <a:ea typeface="Courier New" pitchFamily="34" charset="-122"/>
                <a:cs typeface="Courier New" pitchFamily="34" charset="-120"/>
              </a:rPr>
              <a:t>h1</a:t>
            </a:r>
            <a:endParaRPr lang="en-US" sz="800" dirty="0"/>
          </a:p>
        </p:txBody>
      </p:sp>
      <p:sp>
        <p:nvSpPr>
          <p:cNvPr id="25" name="Text 22"/>
          <p:cNvSpPr/>
          <p:nvPr/>
        </p:nvSpPr>
        <p:spPr>
          <a:xfrm>
            <a:off x="1408176" y="4334256"/>
            <a:ext cx="2194560" cy="310896"/>
          </a:xfrm>
          <a:prstGeom prst="rect">
            <a:avLst/>
          </a:prstGeom>
          <a:noFill/>
          <a:ln/>
        </p:spPr>
        <p:txBody>
          <a:bodyPr wrap="square" lIns="0" tIns="0" rIns="0" bIns="0" rtlCol="0" anchor="ctr"/>
          <a:lstStyle/>
          <a:p>
            <a:pPr indent="0" marL="0">
              <a:buNone/>
            </a:pPr>
            <a:r>
              <a:rPr lang="en-US" sz="1150" dirty="0">
                <a:solidFill>
                  <a:srgbClr val="15202B"/>
                </a:solidFill>
                <a:latin typeface="Calibri" pitchFamily="34" charset="0"/>
                <a:ea typeface="Calibri" pitchFamily="34" charset="-122"/>
                <a:cs typeface="Calibri" pitchFamily="34" charset="-120"/>
              </a:rPr>
              <a:t>Student 4</a:t>
            </a:r>
            <a:endParaRPr lang="en-US" sz="1150" dirty="0"/>
          </a:p>
        </p:txBody>
      </p:sp>
      <p:sp>
        <p:nvSpPr>
          <p:cNvPr id="26" name="Text 23"/>
          <p:cNvSpPr/>
          <p:nvPr/>
        </p:nvSpPr>
        <p:spPr>
          <a:xfrm>
            <a:off x="877824" y="4791456"/>
            <a:ext cx="2944368" cy="457200"/>
          </a:xfrm>
          <a:prstGeom prst="rect">
            <a:avLst/>
          </a:prstGeom>
          <a:noFill/>
          <a:ln/>
        </p:spPr>
        <p:txBody>
          <a:bodyPr wrap="square" lIns="0" tIns="0" rIns="0" bIns="0" rtlCol="0" anchor="t"/>
          <a:lstStyle/>
          <a:p>
            <a:pPr algn="l" indent="0" marL="0">
              <a:lnSpc>
                <a:spcPts val="1450"/>
              </a:lnSpc>
              <a:buNone/>
            </a:pPr>
            <a:r>
              <a:rPr lang="en-US" sz="1100" dirty="0">
                <a:solidFill>
                  <a:srgbClr val="55616F"/>
                </a:solidFill>
                <a:latin typeface="Calibri" pitchFamily="34" charset="0"/>
                <a:ea typeface="Calibri" pitchFamily="34" charset="-122"/>
                <a:cs typeface="Calibri" pitchFamily="34" charset="-120"/>
              </a:rPr>
              <a:t>Selects by tag name. Hits every one of them, no exceptions.</a:t>
            </a:r>
            <a:endParaRPr lang="en-US" sz="1100" dirty="0"/>
          </a:p>
        </p:txBody>
      </p:sp>
      <p:sp>
        <p:nvSpPr>
          <p:cNvPr id="27" name="Shape 24"/>
          <p:cNvSpPr/>
          <p:nvPr/>
        </p:nvSpPr>
        <p:spPr>
          <a:xfrm>
            <a:off x="4379976" y="1627632"/>
            <a:ext cx="3419856" cy="3657600"/>
          </a:xfrm>
          <a:prstGeom prst="roundRect">
            <a:avLst>
              <a:gd name="adj" fmla="val 2674"/>
            </a:avLst>
          </a:prstGeom>
          <a:solidFill>
            <a:srgbClr val="FFFFFF"/>
          </a:solidFill>
          <a:ln w="12700">
            <a:solidFill>
              <a:srgbClr val="1F8A54"/>
            </a:solidFill>
            <a:prstDash val="solid"/>
          </a:ln>
          <a:effectLst>
            <a:outerShdw sx="100000" sy="100000" kx="0" ky="0" algn="bl" rotWithShape="0" blurRad="177800" dist="38100" dir="5400000">
              <a:srgbClr val="000000">
                <a:alpha val="35000"/>
              </a:srgbClr>
            </a:outerShdw>
          </a:effectLst>
        </p:spPr>
      </p:sp>
      <p:sp>
        <p:nvSpPr>
          <p:cNvPr id="28" name="Shape 25"/>
          <p:cNvSpPr/>
          <p:nvPr/>
        </p:nvSpPr>
        <p:spPr>
          <a:xfrm>
            <a:off x="4379976" y="1627632"/>
            <a:ext cx="3419856" cy="420624"/>
          </a:xfrm>
          <a:prstGeom prst="roundRect">
            <a:avLst>
              <a:gd name="adj" fmla="val 21739"/>
            </a:avLst>
          </a:prstGeom>
          <a:solidFill>
            <a:srgbClr val="E3F3EA"/>
          </a:solidFill>
          <a:ln w="15875">
            <a:solidFill>
              <a:srgbClr val="1F8A54"/>
            </a:solidFill>
            <a:prstDash val="solid"/>
          </a:ln>
        </p:spPr>
      </p:sp>
      <p:sp>
        <p:nvSpPr>
          <p:cNvPr id="29" name="Text 26"/>
          <p:cNvSpPr/>
          <p:nvPr/>
        </p:nvSpPr>
        <p:spPr>
          <a:xfrm>
            <a:off x="4617720" y="1627632"/>
            <a:ext cx="1463040" cy="420624"/>
          </a:xfrm>
          <a:prstGeom prst="rect">
            <a:avLst/>
          </a:prstGeom>
          <a:noFill/>
          <a:ln/>
        </p:spPr>
        <p:txBody>
          <a:bodyPr wrap="square" lIns="0" tIns="0" rIns="0" bIns="0" rtlCol="0" anchor="ctr"/>
          <a:lstStyle/>
          <a:p>
            <a:pPr indent="0" marL="0">
              <a:buNone/>
            </a:pPr>
            <a:r>
              <a:rPr lang="en-US" sz="1500" b="1" dirty="0">
                <a:solidFill>
                  <a:srgbClr val="15202B"/>
                </a:solidFill>
                <a:latin typeface="Calibri" pitchFamily="34" charset="0"/>
                <a:ea typeface="Calibri" pitchFamily="34" charset="-122"/>
                <a:cs typeface="Calibri" pitchFamily="34" charset="-120"/>
              </a:rPr>
              <a:t>Class</a:t>
            </a:r>
            <a:endParaRPr lang="en-US" sz="1500" dirty="0"/>
          </a:p>
        </p:txBody>
      </p:sp>
      <p:sp>
        <p:nvSpPr>
          <p:cNvPr id="30" name="Text 27"/>
          <p:cNvSpPr/>
          <p:nvPr/>
        </p:nvSpPr>
        <p:spPr>
          <a:xfrm>
            <a:off x="5934456" y="1627632"/>
            <a:ext cx="1627632" cy="420624"/>
          </a:xfrm>
          <a:prstGeom prst="rect">
            <a:avLst/>
          </a:prstGeom>
          <a:noFill/>
          <a:ln/>
        </p:spPr>
        <p:txBody>
          <a:bodyPr wrap="square" lIns="0" tIns="0" rIns="0" bIns="0" rtlCol="0" anchor="ctr"/>
          <a:lstStyle/>
          <a:p>
            <a:pPr algn="r" indent="0" marL="0">
              <a:buNone/>
            </a:pPr>
            <a:r>
              <a:rPr lang="en-US" sz="950" dirty="0">
                <a:solidFill>
                  <a:srgbClr val="55616F"/>
                </a:solidFill>
                <a:latin typeface="Calibri" pitchFamily="34" charset="0"/>
                <a:ea typeface="Calibri" pitchFamily="34" charset="-122"/>
                <a:cs typeface="Calibri" pitchFamily="34" charset="-120"/>
              </a:rPr>
              <a:t>a badge many can wear</a:t>
            </a:r>
            <a:endParaRPr lang="en-US" sz="950" dirty="0"/>
          </a:p>
        </p:txBody>
      </p:sp>
      <p:sp>
        <p:nvSpPr>
          <p:cNvPr id="31" name="Shape 28"/>
          <p:cNvSpPr/>
          <p:nvPr/>
        </p:nvSpPr>
        <p:spPr>
          <a:xfrm>
            <a:off x="4617720" y="2194560"/>
            <a:ext cx="2944368" cy="566928"/>
          </a:xfrm>
          <a:prstGeom prst="roundRect">
            <a:avLst>
              <a:gd name="adj" fmla="val 16129"/>
            </a:avLst>
          </a:prstGeom>
          <a:solidFill>
            <a:srgbClr val="111826"/>
          </a:solidFill>
          <a:ln w="12700">
            <a:solidFill>
              <a:srgbClr val="1D2637"/>
            </a:solidFill>
            <a:prstDash val="solid"/>
          </a:ln>
        </p:spPr>
      </p:sp>
      <p:sp>
        <p:nvSpPr>
          <p:cNvPr id="32" name="Text 29"/>
          <p:cNvSpPr/>
          <p:nvPr/>
        </p:nvSpPr>
        <p:spPr>
          <a:xfrm>
            <a:off x="4892040" y="2432304"/>
            <a:ext cx="2395728" cy="91440"/>
          </a:xfrm>
          <a:prstGeom prst="rect">
            <a:avLst/>
          </a:prstGeom>
          <a:noFill/>
          <a:ln/>
        </p:spPr>
        <p:txBody>
          <a:bodyPr wrap="square" lIns="0" tIns="0" rIns="0" bIns="0" rtlCol="0" anchor="t"/>
          <a:lstStyle/>
          <a:p>
            <a:pPr indent="0" marL="0">
              <a:lnSpc>
                <a:spcPts val="1800"/>
              </a:lnSpc>
              <a:buNone/>
            </a:pPr>
            <a:r>
              <a:rPr lang="en-US" sz="1250" dirty="0">
                <a:solidFill>
                  <a:srgbClr val="E6EAF2"/>
                </a:solidFill>
                <a:latin typeface="Courier New" pitchFamily="34" charset="0"/>
                <a:ea typeface="Courier New" pitchFamily="34" charset="-122"/>
                <a:cs typeface="Courier New" pitchFamily="34" charset="-120"/>
              </a:rPr>
              <a:t>.science { }</a:t>
            </a:r>
            <a:endParaRPr lang="en-US" sz="1250" dirty="0"/>
          </a:p>
        </p:txBody>
      </p:sp>
      <p:sp>
        <p:nvSpPr>
          <p:cNvPr id="33" name="Shape 30"/>
          <p:cNvSpPr/>
          <p:nvPr/>
        </p:nvSpPr>
        <p:spPr>
          <a:xfrm>
            <a:off x="4709160" y="2962656"/>
            <a:ext cx="1170432" cy="310896"/>
          </a:xfrm>
          <a:prstGeom prst="roundRect">
            <a:avLst>
              <a:gd name="adj" fmla="val 17647"/>
            </a:avLst>
          </a:prstGeom>
          <a:solidFill>
            <a:srgbClr val="1F8A54"/>
          </a:solidFill>
          <a:ln w="12700">
            <a:solidFill>
              <a:srgbClr val="15202B"/>
            </a:solidFill>
            <a:prstDash val="solid"/>
          </a:ln>
        </p:spPr>
      </p:sp>
      <p:sp>
        <p:nvSpPr>
          <p:cNvPr id="34" name="Text 31"/>
          <p:cNvSpPr/>
          <p:nvPr/>
        </p:nvSpPr>
        <p:spPr>
          <a:xfrm>
            <a:off x="4709160" y="2962656"/>
            <a:ext cx="1170432" cy="310896"/>
          </a:xfrm>
          <a:prstGeom prst="rect">
            <a:avLst/>
          </a:prstGeom>
          <a:noFill/>
          <a:ln/>
        </p:spPr>
        <p:txBody>
          <a:bodyPr wrap="square" lIns="0" tIns="0" rIns="0" bIns="0" rtlCol="0" anchor="ct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science</a:t>
            </a:r>
            <a:endParaRPr lang="en-US" sz="850" dirty="0"/>
          </a:p>
        </p:txBody>
      </p:sp>
      <p:sp>
        <p:nvSpPr>
          <p:cNvPr id="35" name="Text 32"/>
          <p:cNvSpPr/>
          <p:nvPr/>
        </p:nvSpPr>
        <p:spPr>
          <a:xfrm>
            <a:off x="6007608" y="2962656"/>
            <a:ext cx="1554480" cy="310896"/>
          </a:xfrm>
          <a:prstGeom prst="rect">
            <a:avLst/>
          </a:prstGeom>
          <a:noFill/>
          <a:ln/>
        </p:spPr>
        <p:txBody>
          <a:bodyPr wrap="square" lIns="0" tIns="0" rIns="0" bIns="0" rtlCol="0" anchor="ctr"/>
          <a:lstStyle/>
          <a:p>
            <a:pPr indent="0" marL="0">
              <a:buNone/>
            </a:pPr>
            <a:r>
              <a:rPr lang="en-US" sz="1150" dirty="0">
                <a:solidFill>
                  <a:srgbClr val="15202B"/>
                </a:solidFill>
                <a:latin typeface="Calibri" pitchFamily="34" charset="0"/>
                <a:ea typeface="Calibri" pitchFamily="34" charset="-122"/>
                <a:cs typeface="Calibri" pitchFamily="34" charset="-120"/>
              </a:rPr>
              <a:t>Student 1</a:t>
            </a:r>
            <a:endParaRPr lang="en-US" sz="1150" dirty="0"/>
          </a:p>
        </p:txBody>
      </p:sp>
      <p:sp>
        <p:nvSpPr>
          <p:cNvPr id="36" name="Shape 33"/>
          <p:cNvSpPr/>
          <p:nvPr/>
        </p:nvSpPr>
        <p:spPr>
          <a:xfrm>
            <a:off x="4709160" y="3419856"/>
            <a:ext cx="1170432" cy="310896"/>
          </a:xfrm>
          <a:prstGeom prst="roundRect">
            <a:avLst>
              <a:gd name="adj" fmla="val 17647"/>
            </a:avLst>
          </a:prstGeom>
          <a:solidFill>
            <a:srgbClr val="1F8A54"/>
          </a:solidFill>
          <a:ln w="12700">
            <a:solidFill>
              <a:srgbClr val="15202B"/>
            </a:solidFill>
            <a:prstDash val="solid"/>
          </a:ln>
        </p:spPr>
      </p:sp>
      <p:sp>
        <p:nvSpPr>
          <p:cNvPr id="37" name="Text 34"/>
          <p:cNvSpPr/>
          <p:nvPr/>
        </p:nvSpPr>
        <p:spPr>
          <a:xfrm>
            <a:off x="4709160" y="3419856"/>
            <a:ext cx="1170432" cy="310896"/>
          </a:xfrm>
          <a:prstGeom prst="rect">
            <a:avLst/>
          </a:prstGeom>
          <a:noFill/>
          <a:ln/>
        </p:spPr>
        <p:txBody>
          <a:bodyPr wrap="square" lIns="0" tIns="0" rIns="0" bIns="0" rtlCol="0" anchor="ct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science</a:t>
            </a:r>
            <a:endParaRPr lang="en-US" sz="850" dirty="0"/>
          </a:p>
        </p:txBody>
      </p:sp>
      <p:sp>
        <p:nvSpPr>
          <p:cNvPr id="38" name="Text 35"/>
          <p:cNvSpPr/>
          <p:nvPr/>
        </p:nvSpPr>
        <p:spPr>
          <a:xfrm>
            <a:off x="6007608" y="3419856"/>
            <a:ext cx="1554480" cy="310896"/>
          </a:xfrm>
          <a:prstGeom prst="rect">
            <a:avLst/>
          </a:prstGeom>
          <a:noFill/>
          <a:ln/>
        </p:spPr>
        <p:txBody>
          <a:bodyPr wrap="square" lIns="0" tIns="0" rIns="0" bIns="0" rtlCol="0" anchor="ctr"/>
          <a:lstStyle/>
          <a:p>
            <a:pPr indent="0" marL="0">
              <a:buNone/>
            </a:pPr>
            <a:r>
              <a:rPr lang="en-US" sz="1150" dirty="0">
                <a:solidFill>
                  <a:srgbClr val="15202B"/>
                </a:solidFill>
                <a:latin typeface="Calibri" pitchFamily="34" charset="0"/>
                <a:ea typeface="Calibri" pitchFamily="34" charset="-122"/>
                <a:cs typeface="Calibri" pitchFamily="34" charset="-120"/>
              </a:rPr>
              <a:t>Student 2</a:t>
            </a:r>
            <a:endParaRPr lang="en-US" sz="1150" dirty="0"/>
          </a:p>
        </p:txBody>
      </p:sp>
      <p:sp>
        <p:nvSpPr>
          <p:cNvPr id="39" name="Shape 36"/>
          <p:cNvSpPr/>
          <p:nvPr/>
        </p:nvSpPr>
        <p:spPr>
          <a:xfrm>
            <a:off x="4709160" y="3877056"/>
            <a:ext cx="1170432" cy="310896"/>
          </a:xfrm>
          <a:prstGeom prst="roundRect">
            <a:avLst>
              <a:gd name="adj" fmla="val 17647"/>
            </a:avLst>
          </a:prstGeom>
          <a:solidFill>
            <a:srgbClr val="D6336C"/>
          </a:solidFill>
          <a:ln w="12700">
            <a:solidFill>
              <a:srgbClr val="15202B"/>
            </a:solidFill>
            <a:prstDash val="solid"/>
          </a:ln>
        </p:spPr>
      </p:sp>
      <p:sp>
        <p:nvSpPr>
          <p:cNvPr id="40" name="Text 37"/>
          <p:cNvSpPr/>
          <p:nvPr/>
        </p:nvSpPr>
        <p:spPr>
          <a:xfrm>
            <a:off x="4709160" y="3877056"/>
            <a:ext cx="1170432" cy="310896"/>
          </a:xfrm>
          <a:prstGeom prst="rect">
            <a:avLst/>
          </a:prstGeom>
          <a:noFill/>
          <a:ln/>
        </p:spPr>
        <p:txBody>
          <a:bodyPr wrap="square" lIns="0" tIns="0" rIns="0" bIns="0" rtlCol="0" anchor="ct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literature</a:t>
            </a:r>
            <a:endParaRPr lang="en-US" sz="850" dirty="0"/>
          </a:p>
        </p:txBody>
      </p:sp>
      <p:sp>
        <p:nvSpPr>
          <p:cNvPr id="41" name="Text 38"/>
          <p:cNvSpPr/>
          <p:nvPr/>
        </p:nvSpPr>
        <p:spPr>
          <a:xfrm>
            <a:off x="6007608" y="3877056"/>
            <a:ext cx="1554480" cy="310896"/>
          </a:xfrm>
          <a:prstGeom prst="rect">
            <a:avLst/>
          </a:prstGeom>
          <a:noFill/>
          <a:ln/>
        </p:spPr>
        <p:txBody>
          <a:bodyPr wrap="square" lIns="0" tIns="0" rIns="0" bIns="0" rtlCol="0" anchor="ctr"/>
          <a:lstStyle/>
          <a:p>
            <a:pPr indent="0" marL="0">
              <a:buNone/>
            </a:pPr>
            <a:r>
              <a:rPr lang="en-US" sz="1150" dirty="0">
                <a:solidFill>
                  <a:srgbClr val="15202B"/>
                </a:solidFill>
                <a:latin typeface="Calibri" pitchFamily="34" charset="0"/>
                <a:ea typeface="Calibri" pitchFamily="34" charset="-122"/>
                <a:cs typeface="Calibri" pitchFamily="34" charset="-120"/>
              </a:rPr>
              <a:t>Student 3</a:t>
            </a:r>
            <a:endParaRPr lang="en-US" sz="1150" dirty="0"/>
          </a:p>
        </p:txBody>
      </p:sp>
      <p:sp>
        <p:nvSpPr>
          <p:cNvPr id="42" name="Shape 39"/>
          <p:cNvSpPr/>
          <p:nvPr/>
        </p:nvSpPr>
        <p:spPr>
          <a:xfrm>
            <a:off x="4709160" y="4334256"/>
            <a:ext cx="1170432" cy="310896"/>
          </a:xfrm>
          <a:prstGeom prst="roundRect">
            <a:avLst>
              <a:gd name="adj" fmla="val 17647"/>
            </a:avLst>
          </a:prstGeom>
          <a:solidFill>
            <a:srgbClr val="1F8A54"/>
          </a:solidFill>
          <a:ln w="12700">
            <a:solidFill>
              <a:srgbClr val="15202B"/>
            </a:solidFill>
            <a:prstDash val="solid"/>
          </a:ln>
        </p:spPr>
      </p:sp>
      <p:sp>
        <p:nvSpPr>
          <p:cNvPr id="43" name="Text 40"/>
          <p:cNvSpPr/>
          <p:nvPr/>
        </p:nvSpPr>
        <p:spPr>
          <a:xfrm>
            <a:off x="4709160" y="4334256"/>
            <a:ext cx="1170432" cy="310896"/>
          </a:xfrm>
          <a:prstGeom prst="rect">
            <a:avLst/>
          </a:prstGeom>
          <a:noFill/>
          <a:ln/>
        </p:spPr>
        <p:txBody>
          <a:bodyPr wrap="square" lIns="0" tIns="0" rIns="0" bIns="0" rtlCol="0" anchor="ct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science</a:t>
            </a:r>
            <a:endParaRPr lang="en-US" sz="850" dirty="0"/>
          </a:p>
        </p:txBody>
      </p:sp>
      <p:sp>
        <p:nvSpPr>
          <p:cNvPr id="44" name="Text 41"/>
          <p:cNvSpPr/>
          <p:nvPr/>
        </p:nvSpPr>
        <p:spPr>
          <a:xfrm>
            <a:off x="6007608" y="4334256"/>
            <a:ext cx="1554480" cy="310896"/>
          </a:xfrm>
          <a:prstGeom prst="rect">
            <a:avLst/>
          </a:prstGeom>
          <a:noFill/>
          <a:ln/>
        </p:spPr>
        <p:txBody>
          <a:bodyPr wrap="square" lIns="0" tIns="0" rIns="0" bIns="0" rtlCol="0" anchor="ctr"/>
          <a:lstStyle/>
          <a:p>
            <a:pPr indent="0" marL="0">
              <a:buNone/>
            </a:pPr>
            <a:r>
              <a:rPr lang="en-US" sz="1150" dirty="0">
                <a:solidFill>
                  <a:srgbClr val="15202B"/>
                </a:solidFill>
                <a:latin typeface="Calibri" pitchFamily="34" charset="0"/>
                <a:ea typeface="Calibri" pitchFamily="34" charset="-122"/>
                <a:cs typeface="Calibri" pitchFamily="34" charset="-120"/>
              </a:rPr>
              <a:t>Student 4</a:t>
            </a:r>
            <a:endParaRPr lang="en-US" sz="1150" dirty="0"/>
          </a:p>
        </p:txBody>
      </p:sp>
      <p:sp>
        <p:nvSpPr>
          <p:cNvPr id="45" name="Text 42"/>
          <p:cNvSpPr/>
          <p:nvPr/>
        </p:nvSpPr>
        <p:spPr>
          <a:xfrm>
            <a:off x="4617720" y="4791456"/>
            <a:ext cx="2944368" cy="457200"/>
          </a:xfrm>
          <a:prstGeom prst="rect">
            <a:avLst/>
          </a:prstGeom>
          <a:noFill/>
          <a:ln/>
        </p:spPr>
        <p:txBody>
          <a:bodyPr wrap="square" lIns="0" tIns="0" rIns="0" bIns="0" rtlCol="0" anchor="t"/>
          <a:lstStyle/>
          <a:p>
            <a:pPr algn="l" indent="0" marL="0">
              <a:lnSpc>
                <a:spcPts val="1450"/>
              </a:lnSpc>
              <a:buNone/>
            </a:pPr>
            <a:r>
              <a:rPr lang="en-US" sz="1100" dirty="0">
                <a:solidFill>
                  <a:srgbClr val="55616F"/>
                </a:solidFill>
                <a:latin typeface="Calibri" pitchFamily="34" charset="0"/>
                <a:ea typeface="Calibri" pitchFamily="34" charset="-122"/>
                <a:cs typeface="Calibri" pitchFamily="34" charset="-120"/>
              </a:rPr>
              <a:t>A group badge. Many elements can share one, and one element can wear several.</a:t>
            </a:r>
            <a:endParaRPr lang="en-US" sz="1100" dirty="0"/>
          </a:p>
        </p:txBody>
      </p:sp>
      <p:sp>
        <p:nvSpPr>
          <p:cNvPr id="46" name="Shape 43"/>
          <p:cNvSpPr/>
          <p:nvPr/>
        </p:nvSpPr>
        <p:spPr>
          <a:xfrm>
            <a:off x="8119872" y="1627632"/>
            <a:ext cx="3419856" cy="3657600"/>
          </a:xfrm>
          <a:prstGeom prst="roundRect">
            <a:avLst>
              <a:gd name="adj" fmla="val 2674"/>
            </a:avLst>
          </a:prstGeom>
          <a:solidFill>
            <a:srgbClr val="FFFFFF"/>
          </a:solidFill>
          <a:ln w="12700">
            <a:solidFill>
              <a:srgbClr val="D6336C"/>
            </a:solidFill>
            <a:prstDash val="solid"/>
          </a:ln>
          <a:effectLst>
            <a:outerShdw sx="100000" sy="100000" kx="0" ky="0" algn="bl" rotWithShape="0" blurRad="177800" dist="38100" dir="5400000">
              <a:srgbClr val="000000">
                <a:alpha val="35000"/>
              </a:srgbClr>
            </a:outerShdw>
          </a:effectLst>
        </p:spPr>
      </p:sp>
      <p:sp>
        <p:nvSpPr>
          <p:cNvPr id="47" name="Shape 44"/>
          <p:cNvSpPr/>
          <p:nvPr/>
        </p:nvSpPr>
        <p:spPr>
          <a:xfrm>
            <a:off x="8119872" y="1627632"/>
            <a:ext cx="3419856" cy="420624"/>
          </a:xfrm>
          <a:prstGeom prst="roundRect">
            <a:avLst>
              <a:gd name="adj" fmla="val 21739"/>
            </a:avLst>
          </a:prstGeom>
          <a:solidFill>
            <a:srgbClr val="FCE7EF"/>
          </a:solidFill>
          <a:ln w="15875">
            <a:solidFill>
              <a:srgbClr val="D6336C"/>
            </a:solidFill>
            <a:prstDash val="solid"/>
          </a:ln>
        </p:spPr>
      </p:sp>
      <p:sp>
        <p:nvSpPr>
          <p:cNvPr id="48" name="Text 45"/>
          <p:cNvSpPr/>
          <p:nvPr/>
        </p:nvSpPr>
        <p:spPr>
          <a:xfrm>
            <a:off x="8357616" y="1627632"/>
            <a:ext cx="1463040" cy="420624"/>
          </a:xfrm>
          <a:prstGeom prst="rect">
            <a:avLst/>
          </a:prstGeom>
          <a:noFill/>
          <a:ln/>
        </p:spPr>
        <p:txBody>
          <a:bodyPr wrap="square" lIns="0" tIns="0" rIns="0" bIns="0" rtlCol="0" anchor="ctr"/>
          <a:lstStyle/>
          <a:p>
            <a:pPr indent="0" marL="0">
              <a:buNone/>
            </a:pPr>
            <a:r>
              <a:rPr lang="en-US" sz="1500" b="1" dirty="0">
                <a:solidFill>
                  <a:srgbClr val="15202B"/>
                </a:solidFill>
                <a:latin typeface="Calibri" pitchFamily="34" charset="0"/>
                <a:ea typeface="Calibri" pitchFamily="34" charset="-122"/>
                <a:cs typeface="Calibri" pitchFamily="34" charset="-120"/>
              </a:rPr>
              <a:t>ID</a:t>
            </a:r>
            <a:endParaRPr lang="en-US" sz="1500" dirty="0"/>
          </a:p>
        </p:txBody>
      </p:sp>
      <p:sp>
        <p:nvSpPr>
          <p:cNvPr id="49" name="Text 46"/>
          <p:cNvSpPr/>
          <p:nvPr/>
        </p:nvSpPr>
        <p:spPr>
          <a:xfrm>
            <a:off x="9674352" y="1627632"/>
            <a:ext cx="1627632" cy="420624"/>
          </a:xfrm>
          <a:prstGeom prst="rect">
            <a:avLst/>
          </a:prstGeom>
          <a:noFill/>
          <a:ln/>
        </p:spPr>
        <p:txBody>
          <a:bodyPr wrap="square" lIns="0" tIns="0" rIns="0" bIns="0" rtlCol="0" anchor="ctr"/>
          <a:lstStyle/>
          <a:p>
            <a:pPr algn="r" indent="0" marL="0">
              <a:buNone/>
            </a:pPr>
            <a:r>
              <a:rPr lang="en-US" sz="950" dirty="0">
                <a:solidFill>
                  <a:srgbClr val="55616F"/>
                </a:solidFill>
                <a:latin typeface="Calibri" pitchFamily="34" charset="0"/>
                <a:ea typeface="Calibri" pitchFamily="34" charset="-122"/>
                <a:cs typeface="Calibri" pitchFamily="34" charset="-120"/>
              </a:rPr>
              <a:t>a number only one thing has</a:t>
            </a:r>
            <a:endParaRPr lang="en-US" sz="950" dirty="0"/>
          </a:p>
        </p:txBody>
      </p:sp>
      <p:sp>
        <p:nvSpPr>
          <p:cNvPr id="50" name="Shape 47"/>
          <p:cNvSpPr/>
          <p:nvPr/>
        </p:nvSpPr>
        <p:spPr>
          <a:xfrm>
            <a:off x="8357616" y="2194560"/>
            <a:ext cx="2944368" cy="566928"/>
          </a:xfrm>
          <a:prstGeom prst="roundRect">
            <a:avLst>
              <a:gd name="adj" fmla="val 16129"/>
            </a:avLst>
          </a:prstGeom>
          <a:solidFill>
            <a:srgbClr val="111826"/>
          </a:solidFill>
          <a:ln w="12700">
            <a:solidFill>
              <a:srgbClr val="1D2637"/>
            </a:solidFill>
            <a:prstDash val="solid"/>
          </a:ln>
        </p:spPr>
      </p:sp>
      <p:sp>
        <p:nvSpPr>
          <p:cNvPr id="51" name="Text 48"/>
          <p:cNvSpPr/>
          <p:nvPr/>
        </p:nvSpPr>
        <p:spPr>
          <a:xfrm>
            <a:off x="8631936" y="2432304"/>
            <a:ext cx="2395728" cy="91440"/>
          </a:xfrm>
          <a:prstGeom prst="rect">
            <a:avLst/>
          </a:prstGeom>
          <a:noFill/>
          <a:ln/>
        </p:spPr>
        <p:txBody>
          <a:bodyPr wrap="square" lIns="0" tIns="0" rIns="0" bIns="0" rtlCol="0" anchor="t"/>
          <a:lstStyle/>
          <a:p>
            <a:pPr indent="0" marL="0">
              <a:lnSpc>
                <a:spcPts val="1800"/>
              </a:lnSpc>
              <a:buNone/>
            </a:pPr>
            <a:r>
              <a:rPr lang="en-US" sz="1250" dirty="0">
                <a:solidFill>
                  <a:srgbClr val="E6EAF2"/>
                </a:solidFill>
                <a:latin typeface="Courier New" pitchFamily="34" charset="0"/>
                <a:ea typeface="Courier New" pitchFamily="34" charset="-122"/>
                <a:cs typeface="Courier New" pitchFamily="34" charset="-120"/>
              </a:rPr>
              <a:t>#the-one { }</a:t>
            </a:r>
            <a:endParaRPr lang="en-US" sz="1250" dirty="0"/>
          </a:p>
        </p:txBody>
      </p:sp>
      <p:sp>
        <p:nvSpPr>
          <p:cNvPr id="52" name="Shape 49"/>
          <p:cNvSpPr/>
          <p:nvPr/>
        </p:nvSpPr>
        <p:spPr>
          <a:xfrm>
            <a:off x="8449056" y="2962656"/>
            <a:ext cx="201168" cy="310896"/>
          </a:xfrm>
          <a:prstGeom prst="roundRect">
            <a:avLst>
              <a:gd name="adj" fmla="val 13636"/>
            </a:avLst>
          </a:prstGeom>
          <a:solidFill>
            <a:srgbClr val="D6336C"/>
          </a:solidFill>
          <a:ln w="12700">
            <a:solidFill>
              <a:srgbClr val="15202B"/>
            </a:solidFill>
            <a:prstDash val="solid"/>
          </a:ln>
        </p:spPr>
      </p:sp>
      <p:sp>
        <p:nvSpPr>
          <p:cNvPr id="53" name="Text 50"/>
          <p:cNvSpPr/>
          <p:nvPr/>
        </p:nvSpPr>
        <p:spPr>
          <a:xfrm>
            <a:off x="8778240" y="2962656"/>
            <a:ext cx="2651760" cy="310896"/>
          </a:xfrm>
          <a:prstGeom prst="rect">
            <a:avLst/>
          </a:prstGeom>
          <a:noFill/>
          <a:ln/>
        </p:spPr>
        <p:txBody>
          <a:bodyPr wrap="square" lIns="0" tIns="0" rIns="0" bIns="0" rtlCol="0" anchor="ctr"/>
          <a:lstStyle/>
          <a:p>
            <a:pPr indent="0" marL="0">
              <a:buNone/>
            </a:pPr>
            <a:r>
              <a:rPr lang="en-US" sz="1050" b="1" dirty="0">
                <a:solidFill>
                  <a:srgbClr val="D6336C"/>
                </a:solidFill>
                <a:latin typeface="Calibri" pitchFamily="34" charset="0"/>
                <a:ea typeface="Calibri" pitchFamily="34" charset="-122"/>
                <a:cs typeface="Calibri" pitchFamily="34" charset="-120"/>
              </a:rPr>
              <a:t>The Great Gatsby</a:t>
            </a:r>
            <a:endParaRPr lang="en-US" sz="1050" dirty="0"/>
          </a:p>
        </p:txBody>
      </p:sp>
      <p:sp>
        <p:nvSpPr>
          <p:cNvPr id="54" name="Shape 51"/>
          <p:cNvSpPr/>
          <p:nvPr/>
        </p:nvSpPr>
        <p:spPr>
          <a:xfrm>
            <a:off x="8449056" y="3419856"/>
            <a:ext cx="201168" cy="310896"/>
          </a:xfrm>
          <a:prstGeom prst="roundRect">
            <a:avLst>
              <a:gd name="adj" fmla="val 13636"/>
            </a:avLst>
          </a:prstGeom>
          <a:solidFill>
            <a:srgbClr val="C9D0DA"/>
          </a:solidFill>
          <a:ln w="12700">
            <a:solidFill>
              <a:srgbClr val="15202B"/>
            </a:solidFill>
            <a:prstDash val="solid"/>
          </a:ln>
        </p:spPr>
      </p:sp>
      <p:sp>
        <p:nvSpPr>
          <p:cNvPr id="55" name="Text 52"/>
          <p:cNvSpPr/>
          <p:nvPr/>
        </p:nvSpPr>
        <p:spPr>
          <a:xfrm>
            <a:off x="8778240" y="3419856"/>
            <a:ext cx="2651760" cy="310896"/>
          </a:xfrm>
          <a:prstGeom prst="rect">
            <a:avLst/>
          </a:prstGeom>
          <a:noFill/>
          <a:ln/>
        </p:spPr>
        <p:txBody>
          <a:bodyPr wrap="square" lIns="0" tIns="0" rIns="0" bIns="0" rtlCol="0" anchor="ctr"/>
          <a:lstStyle/>
          <a:p>
            <a:pPr indent="0" marL="0">
              <a:buNone/>
            </a:pPr>
            <a:r>
              <a:rPr lang="en-US" sz="1050" dirty="0">
                <a:solidFill>
                  <a:srgbClr val="55616F"/>
                </a:solidFill>
                <a:latin typeface="Calibri" pitchFamily="34" charset="0"/>
                <a:ea typeface="Calibri" pitchFamily="34" charset="-122"/>
                <a:cs typeface="Calibri" pitchFamily="34" charset="-120"/>
              </a:rPr>
              <a:t>Harry Potter</a:t>
            </a:r>
            <a:endParaRPr lang="en-US" sz="1050" dirty="0"/>
          </a:p>
        </p:txBody>
      </p:sp>
      <p:sp>
        <p:nvSpPr>
          <p:cNvPr id="56" name="Shape 53"/>
          <p:cNvSpPr/>
          <p:nvPr/>
        </p:nvSpPr>
        <p:spPr>
          <a:xfrm>
            <a:off x="8449056" y="3877056"/>
            <a:ext cx="201168" cy="310896"/>
          </a:xfrm>
          <a:prstGeom prst="roundRect">
            <a:avLst>
              <a:gd name="adj" fmla="val 13636"/>
            </a:avLst>
          </a:prstGeom>
          <a:solidFill>
            <a:srgbClr val="C9D0DA"/>
          </a:solidFill>
          <a:ln w="12700">
            <a:solidFill>
              <a:srgbClr val="15202B"/>
            </a:solidFill>
            <a:prstDash val="solid"/>
          </a:ln>
        </p:spPr>
      </p:sp>
      <p:sp>
        <p:nvSpPr>
          <p:cNvPr id="57" name="Text 54"/>
          <p:cNvSpPr/>
          <p:nvPr/>
        </p:nvSpPr>
        <p:spPr>
          <a:xfrm>
            <a:off x="8778240" y="3877056"/>
            <a:ext cx="2651760" cy="310896"/>
          </a:xfrm>
          <a:prstGeom prst="rect">
            <a:avLst/>
          </a:prstGeom>
          <a:noFill/>
          <a:ln/>
        </p:spPr>
        <p:txBody>
          <a:bodyPr wrap="square" lIns="0" tIns="0" rIns="0" bIns="0" rtlCol="0" anchor="ctr"/>
          <a:lstStyle/>
          <a:p>
            <a:pPr indent="0" marL="0">
              <a:buNone/>
            </a:pPr>
            <a:r>
              <a:rPr lang="en-US" sz="1050" dirty="0">
                <a:solidFill>
                  <a:srgbClr val="55616F"/>
                </a:solidFill>
                <a:latin typeface="Calibri" pitchFamily="34" charset="0"/>
                <a:ea typeface="Calibri" pitchFamily="34" charset="-122"/>
                <a:cs typeface="Calibri" pitchFamily="34" charset="-120"/>
              </a:rPr>
              <a:t>A Tale of Two Cities</a:t>
            </a:r>
            <a:endParaRPr lang="en-US" sz="1050" dirty="0"/>
          </a:p>
        </p:txBody>
      </p:sp>
      <p:sp>
        <p:nvSpPr>
          <p:cNvPr id="58" name="Shape 55"/>
          <p:cNvSpPr/>
          <p:nvPr/>
        </p:nvSpPr>
        <p:spPr>
          <a:xfrm>
            <a:off x="8449056" y="4334256"/>
            <a:ext cx="201168" cy="310896"/>
          </a:xfrm>
          <a:prstGeom prst="roundRect">
            <a:avLst>
              <a:gd name="adj" fmla="val 13636"/>
            </a:avLst>
          </a:prstGeom>
          <a:solidFill>
            <a:srgbClr val="C9D0DA"/>
          </a:solidFill>
          <a:ln w="12700">
            <a:solidFill>
              <a:srgbClr val="15202B"/>
            </a:solidFill>
            <a:prstDash val="solid"/>
          </a:ln>
        </p:spPr>
      </p:sp>
      <p:sp>
        <p:nvSpPr>
          <p:cNvPr id="59" name="Text 56"/>
          <p:cNvSpPr/>
          <p:nvPr/>
        </p:nvSpPr>
        <p:spPr>
          <a:xfrm>
            <a:off x="8778240" y="4334256"/>
            <a:ext cx="2651760" cy="310896"/>
          </a:xfrm>
          <a:prstGeom prst="rect">
            <a:avLst/>
          </a:prstGeom>
          <a:noFill/>
          <a:ln/>
        </p:spPr>
        <p:txBody>
          <a:bodyPr wrap="square" lIns="0" tIns="0" rIns="0" bIns="0" rtlCol="0" anchor="ctr"/>
          <a:lstStyle/>
          <a:p>
            <a:pPr indent="0" marL="0">
              <a:buNone/>
            </a:pPr>
            <a:r>
              <a:rPr lang="en-US" sz="1050" dirty="0">
                <a:solidFill>
                  <a:srgbClr val="55616F"/>
                </a:solidFill>
                <a:latin typeface="Calibri" pitchFamily="34" charset="0"/>
                <a:ea typeface="Calibri" pitchFamily="34" charset="-122"/>
                <a:cs typeface="Calibri" pitchFamily="34" charset="-120"/>
              </a:rPr>
              <a:t>Fourth Wing</a:t>
            </a:r>
            <a:endParaRPr lang="en-US" sz="1050" dirty="0"/>
          </a:p>
        </p:txBody>
      </p:sp>
      <p:sp>
        <p:nvSpPr>
          <p:cNvPr id="60" name="Text 57"/>
          <p:cNvSpPr/>
          <p:nvPr/>
        </p:nvSpPr>
        <p:spPr>
          <a:xfrm>
            <a:off x="8357616" y="4791456"/>
            <a:ext cx="2944368" cy="457200"/>
          </a:xfrm>
          <a:prstGeom prst="rect">
            <a:avLst/>
          </a:prstGeom>
          <a:noFill/>
          <a:ln/>
        </p:spPr>
        <p:txBody>
          <a:bodyPr wrap="square" lIns="0" tIns="0" rIns="0" bIns="0" rtlCol="0" anchor="t"/>
          <a:lstStyle/>
          <a:p>
            <a:pPr algn="l" indent="0" marL="0">
              <a:lnSpc>
                <a:spcPts val="1450"/>
              </a:lnSpc>
              <a:buNone/>
            </a:pPr>
            <a:r>
              <a:rPr lang="en-US" sz="1100" dirty="0">
                <a:solidFill>
                  <a:srgbClr val="55616F"/>
                </a:solidFill>
                <a:latin typeface="Calibri" pitchFamily="34" charset="0"/>
                <a:ea typeface="Calibri" pitchFamily="34" charset="-122"/>
                <a:cs typeface="Calibri" pitchFamily="34" charset="-120"/>
              </a:rPr>
              <a:t>Unique on the page. If two elements share an id, you have a bug, not a feature.</a:t>
            </a:r>
            <a:endParaRPr lang="en-US" sz="1100" dirty="0"/>
          </a:p>
        </p:txBody>
      </p:sp>
      <p:sp>
        <p:nvSpPr>
          <p:cNvPr id="61" name="Shape 58"/>
          <p:cNvSpPr/>
          <p:nvPr/>
        </p:nvSpPr>
        <p:spPr>
          <a:xfrm>
            <a:off x="640080" y="5468112"/>
            <a:ext cx="10908792" cy="603504"/>
          </a:xfrm>
          <a:prstGeom prst="roundRect">
            <a:avLst>
              <a:gd name="adj" fmla="val 15152"/>
            </a:avLst>
          </a:prstGeom>
          <a:solidFill>
            <a:srgbClr val="E7EEFD"/>
          </a:solidFill>
          <a:ln w="12700">
            <a:solidFill>
              <a:srgbClr val="B6CDFA"/>
            </a:solidFill>
            <a:prstDash val="solid"/>
          </a:ln>
          <a:effectLst>
            <a:outerShdw sx="100000" sy="100000" kx="0" ky="0" algn="bl" rotWithShape="0" blurRad="177800" dist="38100" dir="5400000">
              <a:srgbClr val="000000">
                <a:alpha val="35000"/>
              </a:srgbClr>
            </a:outerShdw>
          </a:effectLst>
        </p:spPr>
      </p:sp>
      <p:sp>
        <p:nvSpPr>
          <p:cNvPr id="62" name="Text 59"/>
          <p:cNvSpPr/>
          <p:nvPr/>
        </p:nvSpPr>
        <p:spPr>
          <a:xfrm>
            <a:off x="914400" y="5468112"/>
            <a:ext cx="10360152" cy="603504"/>
          </a:xfrm>
          <a:prstGeom prst="rect">
            <a:avLst/>
          </a:prstGeom>
          <a:noFill/>
          <a:ln/>
        </p:spPr>
        <p:txBody>
          <a:bodyPr wrap="square" lIns="0" tIns="0" rIns="0" bIns="0" rtlCol="0" anchor="ctr"/>
          <a:lstStyle/>
          <a:p>
            <a:pPr algn="ctr" indent="0" marL="0">
              <a:buNone/>
            </a:pPr>
            <a:r>
              <a:rPr lang="en-US" sz="1550" b="1" dirty="0">
                <a:solidFill>
                  <a:srgbClr val="15202B"/>
                </a:solidFill>
                <a:latin typeface="Calibri" pitchFamily="34" charset="0"/>
                <a:ea typeface="Calibri" pitchFamily="34" charset="-122"/>
                <a:cs typeface="Calibri" pitchFamily="34" charset="-120"/>
              </a:rPr>
              <a:t>Tag name hits all of them. A class hits a group. An id hits exactly one.</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p:bgPr>
    </p:bg>
    <p:spTree>
      <p:nvGrpSpPr>
        <p:cNvPr id="1" name=""/>
        <p:cNvGrpSpPr/>
        <p:nvPr/>
      </p:nvGrpSpPr>
      <p:grpSpPr>
        <a:xfrm>
          <a:off x="0" y="0"/>
          <a:ext cx="0" cy="0"/>
          <a:chOff x="0" y="0"/>
          <a:chExt cx="0" cy="0"/>
        </a:xfrm>
      </p:grpSpPr>
      <p:sp>
        <p:nvSpPr>
          <p:cNvPr id="3" name="Text 0"/>
          <p:cNvSpPr/>
          <p:nvPr/>
        </p:nvSpPr>
        <p:spPr>
          <a:xfrm>
            <a:off x="640080" y="6364224"/>
            <a:ext cx="3657600" cy="256032"/>
          </a:xfrm>
          <a:prstGeom prst="rect">
            <a:avLst/>
          </a:prstGeom>
          <a:noFill/>
          <a:ln/>
        </p:spPr>
        <p:txBody>
          <a:bodyPr wrap="square" lIns="0" tIns="0" rIns="0" bIns="0" rtlCol="0" anchor="ctr"/>
          <a:lstStyle/>
          <a:p>
            <a:pPr indent="0" marL="0">
              <a:buNone/>
            </a:pPr>
            <a:r>
              <a:rPr lang="en-US" sz="900" dirty="0">
                <a:solidFill>
                  <a:srgbClr val="939DAB"/>
                </a:solidFill>
                <a:latin typeface="Courier New" pitchFamily="34" charset="0"/>
                <a:ea typeface="Courier New" pitchFamily="34" charset="-122"/>
                <a:cs typeface="Courier New" pitchFamily="34" charset="-120"/>
              </a:rPr>
              <a:t>CLASS 03  ·  CSS</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939DAB"/>
                </a:solidFill>
                <a:latin typeface="Courier New" pitchFamily="34" charset="0"/>
                <a:ea typeface="Courier New" pitchFamily="34" charset="-122"/>
                <a:cs typeface="Courier New" pitchFamily="34" charset="-120"/>
              </a:rPr>
              <a:t>08</a:t>
            </a:r>
            <a:endParaRPr lang="en-US" sz="900" dirty="0"/>
          </a:p>
        </p:txBody>
      </p:sp>
      <p:sp>
        <p:nvSpPr>
          <p:cNvPr id="5" name="Shape 2"/>
          <p:cNvSpPr/>
          <p:nvPr/>
        </p:nvSpPr>
        <p:spPr>
          <a:xfrm>
            <a:off x="640080" y="365760"/>
            <a:ext cx="1481328" cy="347472"/>
          </a:xfrm>
          <a:prstGeom prst="roundRect">
            <a:avLst>
              <a:gd name="adj" fmla="val 21053"/>
            </a:avLst>
          </a:prstGeom>
          <a:solidFill>
            <a:srgbClr val="D6336C"/>
          </a:solidFill>
          <a:ln w="15875">
            <a:solidFill>
              <a:srgbClr val="15202B"/>
            </a:solidFill>
            <a:prstDash val="solid"/>
          </a:ln>
        </p:spPr>
      </p:sp>
      <p:sp>
        <p:nvSpPr>
          <p:cNvPr id="6" name="Text 3"/>
          <p:cNvSpPr/>
          <p:nvPr/>
        </p:nvSpPr>
        <p:spPr>
          <a:xfrm>
            <a:off x="640080" y="365760"/>
            <a:ext cx="1481328" cy="347472"/>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QUIZ 01</a:t>
            </a:r>
            <a:endParaRPr lang="en-US" sz="1050" dirty="0"/>
          </a:p>
        </p:txBody>
      </p:sp>
      <p:sp>
        <p:nvSpPr>
          <p:cNvPr id="7" name="Text 4"/>
          <p:cNvSpPr/>
          <p:nvPr/>
        </p:nvSpPr>
        <p:spPr>
          <a:xfrm>
            <a:off x="640080" y="786384"/>
            <a:ext cx="10881360" cy="822960"/>
          </a:xfrm>
          <a:prstGeom prst="rect">
            <a:avLst/>
          </a:prstGeom>
          <a:noFill/>
          <a:ln/>
        </p:spPr>
        <p:txBody>
          <a:bodyPr wrap="square" lIns="0" tIns="0" rIns="0" bIns="0" rtlCol="0" anchor="ctr"/>
          <a:lstStyle/>
          <a:p>
            <a:pPr indent="0" marL="0">
              <a:buNone/>
            </a:pPr>
            <a:r>
              <a:rPr lang="en-US" sz="2600" b="1" dirty="0">
                <a:solidFill>
                  <a:srgbClr val="15202B"/>
                </a:solidFill>
                <a:latin typeface="Calibri" pitchFamily="34" charset="0"/>
                <a:ea typeface="Calibri" pitchFamily="34" charset="-122"/>
                <a:cs typeface="Calibri" pitchFamily="34" charset="-120"/>
              </a:rPr>
              <a:t>Which selector picks every element with class="highlight"?</a:t>
            </a:r>
            <a:endParaRPr lang="en-US" sz="2600" dirty="0"/>
          </a:p>
        </p:txBody>
      </p:sp>
      <p:sp>
        <p:nvSpPr>
          <p:cNvPr id="8" name="Shape 5"/>
          <p:cNvSpPr/>
          <p:nvPr/>
        </p:nvSpPr>
        <p:spPr>
          <a:xfrm>
            <a:off x="640080" y="2212848"/>
            <a:ext cx="5212080" cy="1170432"/>
          </a:xfrm>
          <a:prstGeom prst="roundRect">
            <a:avLst>
              <a:gd name="adj" fmla="val 7813"/>
            </a:avLst>
          </a:prstGeom>
          <a:solidFill>
            <a:srgbClr val="FFFFFF"/>
          </a:solidFill>
          <a:ln w="12700">
            <a:solidFill>
              <a:srgbClr val="D9DEE7"/>
            </a:solidFill>
            <a:prstDash val="solid"/>
          </a:ln>
          <a:effectLst>
            <a:outerShdw sx="100000" sy="100000" kx="0" ky="0" algn="bl" rotWithShape="0" blurRad="177800" dist="38100" dir="5400000">
              <a:srgbClr val="000000">
                <a:alpha val="35000"/>
              </a:srgbClr>
            </a:outerShdw>
          </a:effectLst>
        </p:spPr>
      </p:sp>
      <p:sp>
        <p:nvSpPr>
          <p:cNvPr id="9" name="Shape 6"/>
          <p:cNvSpPr/>
          <p:nvPr/>
        </p:nvSpPr>
        <p:spPr>
          <a:xfrm>
            <a:off x="914400" y="2569464"/>
            <a:ext cx="457200" cy="457200"/>
          </a:xfrm>
          <a:prstGeom prst="ellipse">
            <a:avLst/>
          </a:prstGeom>
          <a:solidFill>
            <a:srgbClr val="FCE7EF"/>
          </a:solidFill>
          <a:ln w="12700">
            <a:solidFill>
              <a:srgbClr val="D6336C"/>
            </a:solidFill>
            <a:prstDash val="solid"/>
          </a:ln>
        </p:spPr>
      </p:sp>
      <p:sp>
        <p:nvSpPr>
          <p:cNvPr id="10" name="Text 7"/>
          <p:cNvSpPr/>
          <p:nvPr/>
        </p:nvSpPr>
        <p:spPr>
          <a:xfrm>
            <a:off x="914400" y="2569464"/>
            <a:ext cx="457200" cy="457200"/>
          </a:xfrm>
          <a:prstGeom prst="rect">
            <a:avLst/>
          </a:prstGeom>
          <a:noFill/>
          <a:ln/>
        </p:spPr>
        <p:txBody>
          <a:bodyPr wrap="square" lIns="0" tIns="0" rIns="0" bIns="0" rtlCol="0" anchor="ctr"/>
          <a:lstStyle/>
          <a:p>
            <a:pPr algn="ctr" indent="0" marL="0">
              <a:buNone/>
            </a:pPr>
            <a:r>
              <a:rPr lang="en-US" sz="1500" b="1" dirty="0">
                <a:solidFill>
                  <a:srgbClr val="D6336C"/>
                </a:solidFill>
                <a:latin typeface="Calibri" pitchFamily="34" charset="0"/>
                <a:ea typeface="Calibri" pitchFamily="34" charset="-122"/>
                <a:cs typeface="Calibri" pitchFamily="34" charset="-120"/>
              </a:rPr>
              <a:t>A</a:t>
            </a:r>
            <a:endParaRPr lang="en-US" sz="1500" dirty="0"/>
          </a:p>
        </p:txBody>
      </p:sp>
      <p:sp>
        <p:nvSpPr>
          <p:cNvPr id="11" name="Text 8"/>
          <p:cNvSpPr/>
          <p:nvPr/>
        </p:nvSpPr>
        <p:spPr>
          <a:xfrm>
            <a:off x="1554480" y="2212848"/>
            <a:ext cx="4023360" cy="1170432"/>
          </a:xfrm>
          <a:prstGeom prst="rect">
            <a:avLst/>
          </a:prstGeom>
          <a:noFill/>
          <a:ln/>
        </p:spPr>
        <p:txBody>
          <a:bodyPr wrap="square" lIns="0" tIns="0" rIns="0" bIns="0" rtlCol="0" anchor="ctr"/>
          <a:lstStyle/>
          <a:p>
            <a:pPr indent="0" marL="0">
              <a:lnSpc>
                <a:spcPts val="1800"/>
              </a:lnSpc>
              <a:buNone/>
            </a:pPr>
            <a:r>
              <a:rPr lang="en-US" sz="1350" dirty="0">
                <a:solidFill>
                  <a:srgbClr val="15202B"/>
                </a:solidFill>
                <a:latin typeface="Calibri" pitchFamily="34" charset="0"/>
                <a:ea typeface="Calibri" pitchFamily="34" charset="-122"/>
                <a:cs typeface="Calibri" pitchFamily="34" charset="-120"/>
              </a:rPr>
              <a:t>#highlight</a:t>
            </a:r>
            <a:endParaRPr lang="en-US" sz="1350" dirty="0"/>
          </a:p>
        </p:txBody>
      </p:sp>
      <p:sp>
        <p:nvSpPr>
          <p:cNvPr id="12" name="Shape 9"/>
          <p:cNvSpPr/>
          <p:nvPr/>
        </p:nvSpPr>
        <p:spPr>
          <a:xfrm>
            <a:off x="6336792" y="2212848"/>
            <a:ext cx="5212080" cy="1170432"/>
          </a:xfrm>
          <a:prstGeom prst="roundRect">
            <a:avLst>
              <a:gd name="adj" fmla="val 7813"/>
            </a:avLst>
          </a:prstGeom>
          <a:solidFill>
            <a:srgbClr val="FFFFFF"/>
          </a:solidFill>
          <a:ln w="12700">
            <a:solidFill>
              <a:srgbClr val="D9DEE7"/>
            </a:solidFill>
            <a:prstDash val="solid"/>
          </a:ln>
          <a:effectLst>
            <a:outerShdw sx="100000" sy="100000" kx="0" ky="0" algn="bl" rotWithShape="0" blurRad="177800" dist="38100" dir="5400000">
              <a:srgbClr val="000000">
                <a:alpha val="35000"/>
              </a:srgbClr>
            </a:outerShdw>
          </a:effectLst>
        </p:spPr>
      </p:sp>
      <p:sp>
        <p:nvSpPr>
          <p:cNvPr id="13" name="Shape 10"/>
          <p:cNvSpPr/>
          <p:nvPr/>
        </p:nvSpPr>
        <p:spPr>
          <a:xfrm>
            <a:off x="6611112" y="2569464"/>
            <a:ext cx="457200" cy="457200"/>
          </a:xfrm>
          <a:prstGeom prst="ellipse">
            <a:avLst/>
          </a:prstGeom>
          <a:solidFill>
            <a:srgbClr val="FCE7EF"/>
          </a:solidFill>
          <a:ln w="12700">
            <a:solidFill>
              <a:srgbClr val="D6336C"/>
            </a:solidFill>
            <a:prstDash val="solid"/>
          </a:ln>
        </p:spPr>
      </p:sp>
      <p:sp>
        <p:nvSpPr>
          <p:cNvPr id="14" name="Text 11"/>
          <p:cNvSpPr/>
          <p:nvPr/>
        </p:nvSpPr>
        <p:spPr>
          <a:xfrm>
            <a:off x="6611112" y="2569464"/>
            <a:ext cx="457200" cy="457200"/>
          </a:xfrm>
          <a:prstGeom prst="rect">
            <a:avLst/>
          </a:prstGeom>
          <a:noFill/>
          <a:ln/>
        </p:spPr>
        <p:txBody>
          <a:bodyPr wrap="square" lIns="0" tIns="0" rIns="0" bIns="0" rtlCol="0" anchor="ctr"/>
          <a:lstStyle/>
          <a:p>
            <a:pPr algn="ctr" indent="0" marL="0">
              <a:buNone/>
            </a:pPr>
            <a:r>
              <a:rPr lang="en-US" sz="1500" b="1" dirty="0">
                <a:solidFill>
                  <a:srgbClr val="D6336C"/>
                </a:solidFill>
                <a:latin typeface="Calibri" pitchFamily="34" charset="0"/>
                <a:ea typeface="Calibri" pitchFamily="34" charset="-122"/>
                <a:cs typeface="Calibri" pitchFamily="34" charset="-120"/>
              </a:rPr>
              <a:t>B</a:t>
            </a:r>
            <a:endParaRPr lang="en-US" sz="1500" dirty="0"/>
          </a:p>
        </p:txBody>
      </p:sp>
      <p:sp>
        <p:nvSpPr>
          <p:cNvPr id="15" name="Text 12"/>
          <p:cNvSpPr/>
          <p:nvPr/>
        </p:nvSpPr>
        <p:spPr>
          <a:xfrm>
            <a:off x="7251192" y="2212848"/>
            <a:ext cx="4023360" cy="1170432"/>
          </a:xfrm>
          <a:prstGeom prst="rect">
            <a:avLst/>
          </a:prstGeom>
          <a:noFill/>
          <a:ln/>
        </p:spPr>
        <p:txBody>
          <a:bodyPr wrap="square" lIns="0" tIns="0" rIns="0" bIns="0" rtlCol="0" anchor="ctr"/>
          <a:lstStyle/>
          <a:p>
            <a:pPr indent="0" marL="0">
              <a:lnSpc>
                <a:spcPts val="1800"/>
              </a:lnSpc>
              <a:buNone/>
            </a:pPr>
            <a:r>
              <a:rPr lang="en-US" sz="1350" dirty="0">
                <a:solidFill>
                  <a:srgbClr val="15202B"/>
                </a:solidFill>
                <a:latin typeface="Calibri" pitchFamily="34" charset="0"/>
                <a:ea typeface="Calibri" pitchFamily="34" charset="-122"/>
                <a:cs typeface="Calibri" pitchFamily="34" charset="-120"/>
              </a:rPr>
              <a:t>highlight</a:t>
            </a:r>
            <a:endParaRPr lang="en-US" sz="1350" dirty="0"/>
          </a:p>
        </p:txBody>
      </p:sp>
      <p:sp>
        <p:nvSpPr>
          <p:cNvPr id="16" name="Shape 13"/>
          <p:cNvSpPr/>
          <p:nvPr/>
        </p:nvSpPr>
        <p:spPr>
          <a:xfrm>
            <a:off x="640080" y="3621024"/>
            <a:ext cx="5212080" cy="1170432"/>
          </a:xfrm>
          <a:prstGeom prst="roundRect">
            <a:avLst>
              <a:gd name="adj" fmla="val 7813"/>
            </a:avLst>
          </a:prstGeom>
          <a:solidFill>
            <a:srgbClr val="FFFFFF"/>
          </a:solidFill>
          <a:ln w="12700">
            <a:solidFill>
              <a:srgbClr val="D9DEE7"/>
            </a:solidFill>
            <a:prstDash val="solid"/>
          </a:ln>
          <a:effectLst>
            <a:outerShdw sx="100000" sy="100000" kx="0" ky="0" algn="bl" rotWithShape="0" blurRad="177800" dist="38100" dir="5400000">
              <a:srgbClr val="000000">
                <a:alpha val="35000"/>
              </a:srgbClr>
            </a:outerShdw>
          </a:effectLst>
        </p:spPr>
      </p:sp>
      <p:sp>
        <p:nvSpPr>
          <p:cNvPr id="17" name="Shape 14"/>
          <p:cNvSpPr/>
          <p:nvPr/>
        </p:nvSpPr>
        <p:spPr>
          <a:xfrm>
            <a:off x="914400" y="3977640"/>
            <a:ext cx="457200" cy="457200"/>
          </a:xfrm>
          <a:prstGeom prst="ellipse">
            <a:avLst/>
          </a:prstGeom>
          <a:solidFill>
            <a:srgbClr val="FCE7EF"/>
          </a:solidFill>
          <a:ln w="12700">
            <a:solidFill>
              <a:srgbClr val="D6336C"/>
            </a:solidFill>
            <a:prstDash val="solid"/>
          </a:ln>
        </p:spPr>
      </p:sp>
      <p:sp>
        <p:nvSpPr>
          <p:cNvPr id="18" name="Text 15"/>
          <p:cNvSpPr/>
          <p:nvPr/>
        </p:nvSpPr>
        <p:spPr>
          <a:xfrm>
            <a:off x="914400" y="3977640"/>
            <a:ext cx="457200" cy="457200"/>
          </a:xfrm>
          <a:prstGeom prst="rect">
            <a:avLst/>
          </a:prstGeom>
          <a:noFill/>
          <a:ln/>
        </p:spPr>
        <p:txBody>
          <a:bodyPr wrap="square" lIns="0" tIns="0" rIns="0" bIns="0" rtlCol="0" anchor="ctr"/>
          <a:lstStyle/>
          <a:p>
            <a:pPr algn="ctr" indent="0" marL="0">
              <a:buNone/>
            </a:pPr>
            <a:r>
              <a:rPr lang="en-US" sz="1500" b="1" dirty="0">
                <a:solidFill>
                  <a:srgbClr val="D6336C"/>
                </a:solidFill>
                <a:latin typeface="Calibri" pitchFamily="34" charset="0"/>
                <a:ea typeface="Calibri" pitchFamily="34" charset="-122"/>
                <a:cs typeface="Calibri" pitchFamily="34" charset="-120"/>
              </a:rPr>
              <a:t>C</a:t>
            </a:r>
            <a:endParaRPr lang="en-US" sz="1500" dirty="0"/>
          </a:p>
        </p:txBody>
      </p:sp>
      <p:sp>
        <p:nvSpPr>
          <p:cNvPr id="19" name="Text 16"/>
          <p:cNvSpPr/>
          <p:nvPr/>
        </p:nvSpPr>
        <p:spPr>
          <a:xfrm>
            <a:off x="1554480" y="3621024"/>
            <a:ext cx="4023360" cy="1170432"/>
          </a:xfrm>
          <a:prstGeom prst="rect">
            <a:avLst/>
          </a:prstGeom>
          <a:noFill/>
          <a:ln/>
        </p:spPr>
        <p:txBody>
          <a:bodyPr wrap="square" lIns="0" tIns="0" rIns="0" bIns="0" rtlCol="0" anchor="ctr"/>
          <a:lstStyle/>
          <a:p>
            <a:pPr indent="0" marL="0">
              <a:lnSpc>
                <a:spcPts val="1800"/>
              </a:lnSpc>
              <a:buNone/>
            </a:pPr>
            <a:r>
              <a:rPr lang="en-US" sz="1350" dirty="0">
                <a:solidFill>
                  <a:srgbClr val="15202B"/>
                </a:solidFill>
                <a:latin typeface="Calibri" pitchFamily="34" charset="0"/>
                <a:ea typeface="Calibri" pitchFamily="34" charset="-122"/>
                <a:cs typeface="Calibri" pitchFamily="34" charset="-120"/>
              </a:rPr>
              <a:t>*highlight*</a:t>
            </a:r>
            <a:endParaRPr lang="en-US" sz="1350" dirty="0"/>
          </a:p>
        </p:txBody>
      </p:sp>
      <p:sp>
        <p:nvSpPr>
          <p:cNvPr id="20" name="Shape 17"/>
          <p:cNvSpPr/>
          <p:nvPr/>
        </p:nvSpPr>
        <p:spPr>
          <a:xfrm>
            <a:off x="6336792" y="3621024"/>
            <a:ext cx="5212080" cy="1170432"/>
          </a:xfrm>
          <a:prstGeom prst="roundRect">
            <a:avLst>
              <a:gd name="adj" fmla="val 7813"/>
            </a:avLst>
          </a:prstGeom>
          <a:solidFill>
            <a:srgbClr val="FFFFFF"/>
          </a:solidFill>
          <a:ln w="12700">
            <a:solidFill>
              <a:srgbClr val="D9DEE7"/>
            </a:solidFill>
            <a:prstDash val="solid"/>
          </a:ln>
          <a:effectLst>
            <a:outerShdw sx="100000" sy="100000" kx="0" ky="0" algn="bl" rotWithShape="0" blurRad="177800" dist="38100" dir="5400000">
              <a:srgbClr val="000000">
                <a:alpha val="35000"/>
              </a:srgbClr>
            </a:outerShdw>
          </a:effectLst>
        </p:spPr>
      </p:sp>
      <p:sp>
        <p:nvSpPr>
          <p:cNvPr id="21" name="Shape 18"/>
          <p:cNvSpPr/>
          <p:nvPr/>
        </p:nvSpPr>
        <p:spPr>
          <a:xfrm>
            <a:off x="6611112" y="3977640"/>
            <a:ext cx="457200" cy="457200"/>
          </a:xfrm>
          <a:prstGeom prst="ellipse">
            <a:avLst/>
          </a:prstGeom>
          <a:solidFill>
            <a:srgbClr val="FCE7EF"/>
          </a:solidFill>
          <a:ln w="12700">
            <a:solidFill>
              <a:srgbClr val="D6336C"/>
            </a:solidFill>
            <a:prstDash val="solid"/>
          </a:ln>
        </p:spPr>
      </p:sp>
      <p:sp>
        <p:nvSpPr>
          <p:cNvPr id="22" name="Text 19"/>
          <p:cNvSpPr/>
          <p:nvPr/>
        </p:nvSpPr>
        <p:spPr>
          <a:xfrm>
            <a:off x="6611112" y="3977640"/>
            <a:ext cx="457200" cy="457200"/>
          </a:xfrm>
          <a:prstGeom prst="rect">
            <a:avLst/>
          </a:prstGeom>
          <a:noFill/>
          <a:ln/>
        </p:spPr>
        <p:txBody>
          <a:bodyPr wrap="square" lIns="0" tIns="0" rIns="0" bIns="0" rtlCol="0" anchor="ctr"/>
          <a:lstStyle/>
          <a:p>
            <a:pPr algn="ctr" indent="0" marL="0">
              <a:buNone/>
            </a:pPr>
            <a:r>
              <a:rPr lang="en-US" sz="1500" b="1" dirty="0">
                <a:solidFill>
                  <a:srgbClr val="D6336C"/>
                </a:solidFill>
                <a:latin typeface="Calibri" pitchFamily="34" charset="0"/>
                <a:ea typeface="Calibri" pitchFamily="34" charset="-122"/>
                <a:cs typeface="Calibri" pitchFamily="34" charset="-120"/>
              </a:rPr>
              <a:t>D</a:t>
            </a:r>
            <a:endParaRPr lang="en-US" sz="1500" dirty="0"/>
          </a:p>
        </p:txBody>
      </p:sp>
      <p:sp>
        <p:nvSpPr>
          <p:cNvPr id="23" name="Text 20"/>
          <p:cNvSpPr/>
          <p:nvPr/>
        </p:nvSpPr>
        <p:spPr>
          <a:xfrm>
            <a:off x="7251192" y="3621024"/>
            <a:ext cx="4023360" cy="1170432"/>
          </a:xfrm>
          <a:prstGeom prst="rect">
            <a:avLst/>
          </a:prstGeom>
          <a:noFill/>
          <a:ln/>
        </p:spPr>
        <p:txBody>
          <a:bodyPr wrap="square" lIns="0" tIns="0" rIns="0" bIns="0" rtlCol="0" anchor="ctr"/>
          <a:lstStyle/>
          <a:p>
            <a:pPr indent="0" marL="0">
              <a:lnSpc>
                <a:spcPts val="1800"/>
              </a:lnSpc>
              <a:buNone/>
            </a:pPr>
            <a:r>
              <a:rPr lang="en-US" sz="1350" dirty="0">
                <a:solidFill>
                  <a:srgbClr val="15202B"/>
                </a:solidFill>
                <a:latin typeface="Calibri" pitchFamily="34" charset="0"/>
                <a:ea typeface="Calibri" pitchFamily="34" charset="-122"/>
                <a:cs typeface="Calibri" pitchFamily="34" charset="-120"/>
              </a:rPr>
              <a:t>.highlight</a:t>
            </a:r>
            <a:endParaRPr lang="en-US" sz="1350" dirty="0"/>
          </a:p>
        </p:txBody>
      </p:sp>
      <p:sp>
        <p:nvSpPr>
          <p:cNvPr id="24" name="Shape 21"/>
          <p:cNvSpPr/>
          <p:nvPr/>
        </p:nvSpPr>
        <p:spPr>
          <a:xfrm>
            <a:off x="640080" y="5230368"/>
            <a:ext cx="10881360" cy="822960"/>
          </a:xfrm>
          <a:prstGeom prst="roundRect">
            <a:avLst>
              <a:gd name="adj" fmla="val 11111"/>
            </a:avLst>
          </a:prstGeom>
          <a:solidFill>
            <a:srgbClr val="FCE7EF"/>
          </a:solidFill>
          <a:ln w="12700">
            <a:solidFill>
              <a:srgbClr val="D6336C"/>
            </a:solidFill>
            <a:prstDash val="solid"/>
          </a:ln>
          <a:effectLst>
            <a:outerShdw sx="100000" sy="100000" kx="0" ky="0" algn="bl" rotWithShape="0" blurRad="177800" dist="38100" dir="5400000">
              <a:srgbClr val="000000">
                <a:alpha val="35000"/>
              </a:srgbClr>
            </a:outerShdw>
          </a:effectLst>
        </p:spPr>
      </p:sp>
      <p:sp>
        <p:nvSpPr>
          <p:cNvPr id="25" name="Text 22"/>
          <p:cNvSpPr/>
          <p:nvPr/>
        </p:nvSpPr>
        <p:spPr>
          <a:xfrm>
            <a:off x="640080" y="5230368"/>
            <a:ext cx="10881360" cy="822960"/>
          </a:xfrm>
          <a:prstGeom prst="rect">
            <a:avLst/>
          </a:prstGeom>
          <a:noFill/>
          <a:ln/>
        </p:spPr>
        <p:txBody>
          <a:bodyPr wrap="square" lIns="0" tIns="0" rIns="0" bIns="0" rtlCol="0" anchor="ctr"/>
          <a:lstStyle/>
          <a:p>
            <a:pPr algn="ctr" indent="0" marL="0">
              <a:buNone/>
            </a:pPr>
            <a:r>
              <a:rPr lang="en-US" sz="1300" i="1" dirty="0">
                <a:solidFill>
                  <a:srgbClr val="15202B"/>
                </a:solidFill>
                <a:latin typeface="Calibri" pitchFamily="34" charset="0"/>
                <a:ea typeface="Calibri" pitchFamily="34" charset="-122"/>
                <a:cs typeface="Calibri" pitchFamily="34" charset="-120"/>
              </a:rPr>
              <a:t>Hands up for A, then B, then C, then D.</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p:bgPr>
    </p:bg>
    <p:spTree>
      <p:nvGrpSpPr>
        <p:cNvPr id="1" name=""/>
        <p:cNvGrpSpPr/>
        <p:nvPr/>
      </p:nvGrpSpPr>
      <p:grpSpPr>
        <a:xfrm>
          <a:off x="0" y="0"/>
          <a:ext cx="0" cy="0"/>
          <a:chOff x="0" y="0"/>
          <a:chExt cx="0" cy="0"/>
        </a:xfrm>
      </p:grpSpPr>
      <p:sp>
        <p:nvSpPr>
          <p:cNvPr id="3" name="Text 0"/>
          <p:cNvSpPr/>
          <p:nvPr/>
        </p:nvSpPr>
        <p:spPr>
          <a:xfrm>
            <a:off x="640080" y="6364224"/>
            <a:ext cx="3657600" cy="256032"/>
          </a:xfrm>
          <a:prstGeom prst="rect">
            <a:avLst/>
          </a:prstGeom>
          <a:noFill/>
          <a:ln/>
        </p:spPr>
        <p:txBody>
          <a:bodyPr wrap="square" lIns="0" tIns="0" rIns="0" bIns="0" rtlCol="0" anchor="ctr"/>
          <a:lstStyle/>
          <a:p>
            <a:pPr indent="0" marL="0">
              <a:buNone/>
            </a:pPr>
            <a:r>
              <a:rPr lang="en-US" sz="900" dirty="0">
                <a:solidFill>
                  <a:srgbClr val="939DAB"/>
                </a:solidFill>
                <a:latin typeface="Courier New" pitchFamily="34" charset="0"/>
                <a:ea typeface="Courier New" pitchFamily="34" charset="-122"/>
                <a:cs typeface="Courier New" pitchFamily="34" charset="-120"/>
              </a:rPr>
              <a:t>CLASS 03  ·  CSS</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939DAB"/>
                </a:solidFill>
                <a:latin typeface="Courier New" pitchFamily="34" charset="0"/>
                <a:ea typeface="Courier New" pitchFamily="34" charset="-122"/>
                <a:cs typeface="Courier New" pitchFamily="34" charset="-120"/>
              </a:rPr>
              <a:t>09</a:t>
            </a:r>
            <a:endParaRPr lang="en-US" sz="900" dirty="0"/>
          </a:p>
        </p:txBody>
      </p:sp>
      <p:sp>
        <p:nvSpPr>
          <p:cNvPr id="5" name="Shape 2"/>
          <p:cNvSpPr/>
          <p:nvPr/>
        </p:nvSpPr>
        <p:spPr>
          <a:xfrm>
            <a:off x="640080" y="365760"/>
            <a:ext cx="1773936" cy="347472"/>
          </a:xfrm>
          <a:prstGeom prst="roundRect">
            <a:avLst>
              <a:gd name="adj" fmla="val 21053"/>
            </a:avLst>
          </a:prstGeom>
          <a:solidFill>
            <a:srgbClr val="2C6BED"/>
          </a:solidFill>
          <a:ln w="15875">
            <a:solidFill>
              <a:srgbClr val="15202B"/>
            </a:solidFill>
            <a:prstDash val="solid"/>
          </a:ln>
        </p:spPr>
      </p:sp>
      <p:sp>
        <p:nvSpPr>
          <p:cNvPr id="6" name="Text 3"/>
          <p:cNvSpPr/>
          <p:nvPr/>
        </p:nvSpPr>
        <p:spPr>
          <a:xfrm>
            <a:off x="640080" y="365760"/>
            <a:ext cx="1773936" cy="347472"/>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SELECTORS</a:t>
            </a:r>
            <a:endParaRPr lang="en-US" sz="1050" dirty="0"/>
          </a:p>
        </p:txBody>
      </p:sp>
      <p:sp>
        <p:nvSpPr>
          <p:cNvPr id="7" name="Text 4"/>
          <p:cNvSpPr/>
          <p:nvPr/>
        </p:nvSpPr>
        <p:spPr>
          <a:xfrm>
            <a:off x="640080" y="786384"/>
            <a:ext cx="10881360" cy="603504"/>
          </a:xfrm>
          <a:prstGeom prst="rect">
            <a:avLst/>
          </a:prstGeom>
          <a:noFill/>
          <a:ln/>
        </p:spPr>
        <p:txBody>
          <a:bodyPr wrap="square" lIns="0" tIns="0" rIns="0" bIns="0" rtlCol="0" anchor="ctr"/>
          <a:lstStyle/>
          <a:p>
            <a:pPr indent="0" marL="0">
              <a:buNone/>
            </a:pPr>
            <a:r>
              <a:rPr lang="en-US" sz="3200" b="1" dirty="0">
                <a:solidFill>
                  <a:srgbClr val="15202B"/>
                </a:solidFill>
                <a:latin typeface="Calibri" pitchFamily="34" charset="0"/>
                <a:ea typeface="Calibri" pitchFamily="34" charset="-122"/>
                <a:cs typeface="Calibri" pitchFamily="34" charset="-120"/>
              </a:rPr>
              <a:t>A space means anywhere inside. A &gt; means one level down.</a:t>
            </a:r>
            <a:endParaRPr lang="en-US" sz="3200" dirty="0"/>
          </a:p>
        </p:txBody>
      </p:sp>
      <p:sp>
        <p:nvSpPr>
          <p:cNvPr id="8" name="Shape 5"/>
          <p:cNvSpPr/>
          <p:nvPr/>
        </p:nvSpPr>
        <p:spPr>
          <a:xfrm>
            <a:off x="640080" y="1737360"/>
            <a:ext cx="5212080" cy="3383280"/>
          </a:xfrm>
          <a:prstGeom prst="roundRect">
            <a:avLst>
              <a:gd name="adj" fmla="val 2703"/>
            </a:avLst>
          </a:prstGeom>
          <a:solidFill>
            <a:srgbClr val="FFFFFF"/>
          </a:solidFill>
          <a:ln w="12700">
            <a:solidFill>
              <a:srgbClr val="2C6BED"/>
            </a:solidFill>
            <a:prstDash val="solid"/>
          </a:ln>
          <a:effectLst>
            <a:outerShdw sx="100000" sy="100000" kx="0" ky="0" algn="bl" rotWithShape="0" blurRad="177800" dist="38100" dir="5400000">
              <a:srgbClr val="000000">
                <a:alpha val="35000"/>
              </a:srgbClr>
            </a:outerShdw>
          </a:effectLst>
        </p:spPr>
      </p:sp>
      <p:sp>
        <p:nvSpPr>
          <p:cNvPr id="9" name="Shape 6"/>
          <p:cNvSpPr/>
          <p:nvPr/>
        </p:nvSpPr>
        <p:spPr>
          <a:xfrm>
            <a:off x="640080" y="1737360"/>
            <a:ext cx="5212080" cy="402336"/>
          </a:xfrm>
          <a:prstGeom prst="roundRect">
            <a:avLst>
              <a:gd name="adj" fmla="val 22727"/>
            </a:avLst>
          </a:prstGeom>
          <a:solidFill>
            <a:srgbClr val="E7EEFD"/>
          </a:solidFill>
          <a:ln w="15875">
            <a:solidFill>
              <a:srgbClr val="2C6BED"/>
            </a:solidFill>
            <a:prstDash val="solid"/>
          </a:ln>
        </p:spPr>
      </p:sp>
      <p:sp>
        <p:nvSpPr>
          <p:cNvPr id="10" name="Text 7"/>
          <p:cNvSpPr/>
          <p:nvPr/>
        </p:nvSpPr>
        <p:spPr>
          <a:xfrm>
            <a:off x="877824" y="1737360"/>
            <a:ext cx="2377440" cy="402336"/>
          </a:xfrm>
          <a:prstGeom prst="rect">
            <a:avLst/>
          </a:prstGeom>
          <a:noFill/>
          <a:ln/>
        </p:spPr>
        <p:txBody>
          <a:bodyPr wrap="square" lIns="0" tIns="0" rIns="0" bIns="0" rtlCol="0" anchor="ctr"/>
          <a:lstStyle/>
          <a:p>
            <a:pPr indent="0" marL="0">
              <a:buNone/>
            </a:pPr>
            <a:r>
              <a:rPr lang="en-US" sz="1450" b="1" dirty="0">
                <a:solidFill>
                  <a:srgbClr val="15202B"/>
                </a:solidFill>
                <a:latin typeface="Calibri" pitchFamily="34" charset="0"/>
                <a:ea typeface="Calibri" pitchFamily="34" charset="-122"/>
                <a:cs typeface="Calibri" pitchFamily="34" charset="-120"/>
              </a:rPr>
              <a:t>Descendant</a:t>
            </a:r>
            <a:endParaRPr lang="en-US" sz="1450" dirty="0"/>
          </a:p>
        </p:txBody>
      </p:sp>
      <p:sp>
        <p:nvSpPr>
          <p:cNvPr id="11" name="Text 8"/>
          <p:cNvSpPr/>
          <p:nvPr/>
        </p:nvSpPr>
        <p:spPr>
          <a:xfrm>
            <a:off x="3291840" y="1737360"/>
            <a:ext cx="2322576" cy="402336"/>
          </a:xfrm>
          <a:prstGeom prst="rect">
            <a:avLst/>
          </a:prstGeom>
          <a:noFill/>
          <a:ln/>
        </p:spPr>
        <p:txBody>
          <a:bodyPr wrap="square" lIns="0" tIns="0" rIns="0" bIns="0" rtlCol="0" anchor="ctr"/>
          <a:lstStyle/>
          <a:p>
            <a:pPr algn="r" indent="0" marL="0">
              <a:buNone/>
            </a:pPr>
            <a:r>
              <a:rPr lang="en-US" sz="1200" b="1" dirty="0">
                <a:solidFill>
                  <a:srgbClr val="2C6BED"/>
                </a:solidFill>
                <a:latin typeface="Courier New" pitchFamily="34" charset="0"/>
                <a:ea typeface="Courier New" pitchFamily="34" charset="-122"/>
                <a:cs typeface="Courier New" pitchFamily="34" charset="-120"/>
              </a:rPr>
              <a:t>div span</a:t>
            </a:r>
            <a:endParaRPr lang="en-US" sz="1200" dirty="0"/>
          </a:p>
        </p:txBody>
      </p:sp>
      <p:sp>
        <p:nvSpPr>
          <p:cNvPr id="12" name="Shape 9"/>
          <p:cNvSpPr/>
          <p:nvPr/>
        </p:nvSpPr>
        <p:spPr>
          <a:xfrm>
            <a:off x="914400" y="2286000"/>
            <a:ext cx="4663440" cy="2560320"/>
          </a:xfrm>
          <a:prstGeom prst="roundRect">
            <a:avLst>
              <a:gd name="adj" fmla="val 2143"/>
            </a:avLst>
          </a:prstGeom>
          <a:solidFill>
            <a:srgbClr val="F1F4F9"/>
          </a:solidFill>
          <a:ln w="12700">
            <a:solidFill>
              <a:srgbClr val="C3CBD8"/>
            </a:solidFill>
            <a:prstDash val="solid"/>
          </a:ln>
        </p:spPr>
      </p:sp>
      <p:sp>
        <p:nvSpPr>
          <p:cNvPr id="13" name="Text 10"/>
          <p:cNvSpPr/>
          <p:nvPr/>
        </p:nvSpPr>
        <p:spPr>
          <a:xfrm>
            <a:off x="1042416" y="2322576"/>
            <a:ext cx="4407408" cy="292608"/>
          </a:xfrm>
          <a:prstGeom prst="rect">
            <a:avLst/>
          </a:prstGeom>
          <a:noFill/>
          <a:ln/>
        </p:spPr>
        <p:txBody>
          <a:bodyPr wrap="square" lIns="0" tIns="0" rIns="0" bIns="0" rtlCol="0" anchor="ctr"/>
          <a:lstStyle/>
          <a:p>
            <a:pPr indent="0" marL="0">
              <a:buNone/>
            </a:pPr>
            <a:r>
              <a:rPr lang="en-US" sz="950" dirty="0">
                <a:solidFill>
                  <a:srgbClr val="55616F"/>
                </a:solidFill>
                <a:latin typeface="Courier New" pitchFamily="34" charset="0"/>
                <a:ea typeface="Courier New" pitchFamily="34" charset="-122"/>
                <a:cs typeface="Courier New" pitchFamily="34" charset="-120"/>
              </a:rPr>
              <a:t>div</a:t>
            </a:r>
            <a:endParaRPr lang="en-US" sz="950" dirty="0"/>
          </a:p>
        </p:txBody>
      </p:sp>
      <p:sp>
        <p:nvSpPr>
          <p:cNvPr id="14" name="Shape 11"/>
          <p:cNvSpPr/>
          <p:nvPr/>
        </p:nvSpPr>
        <p:spPr>
          <a:xfrm>
            <a:off x="1207008" y="2651760"/>
            <a:ext cx="4078224" cy="960120"/>
          </a:xfrm>
          <a:prstGeom prst="roundRect">
            <a:avLst>
              <a:gd name="adj" fmla="val 5714"/>
            </a:avLst>
          </a:prstGeom>
          <a:solidFill>
            <a:srgbClr val="E4E9F2"/>
          </a:solidFill>
          <a:ln w="12700">
            <a:solidFill>
              <a:srgbClr val="C3CBD8"/>
            </a:solidFill>
            <a:prstDash val="solid"/>
          </a:ln>
        </p:spPr>
      </p:sp>
      <p:sp>
        <p:nvSpPr>
          <p:cNvPr id="15" name="Text 12"/>
          <p:cNvSpPr/>
          <p:nvPr/>
        </p:nvSpPr>
        <p:spPr>
          <a:xfrm>
            <a:off x="1335024" y="2688336"/>
            <a:ext cx="3822192" cy="292608"/>
          </a:xfrm>
          <a:prstGeom prst="rect">
            <a:avLst/>
          </a:prstGeom>
          <a:noFill/>
          <a:ln/>
        </p:spPr>
        <p:txBody>
          <a:bodyPr wrap="square" lIns="0" tIns="0" rIns="0" bIns="0" rtlCol="0" anchor="ctr"/>
          <a:lstStyle/>
          <a:p>
            <a:pPr indent="0" marL="0">
              <a:buNone/>
            </a:pPr>
            <a:r>
              <a:rPr lang="en-US" sz="950" dirty="0">
                <a:solidFill>
                  <a:srgbClr val="55616F"/>
                </a:solidFill>
                <a:latin typeface="Courier New" pitchFamily="34" charset="0"/>
                <a:ea typeface="Courier New" pitchFamily="34" charset="-122"/>
                <a:cs typeface="Courier New" pitchFamily="34" charset="-120"/>
              </a:rPr>
              <a:t>h1</a:t>
            </a:r>
            <a:endParaRPr lang="en-US" sz="950" dirty="0"/>
          </a:p>
        </p:txBody>
      </p:sp>
      <p:sp>
        <p:nvSpPr>
          <p:cNvPr id="16" name="Shape 13"/>
          <p:cNvSpPr/>
          <p:nvPr/>
        </p:nvSpPr>
        <p:spPr>
          <a:xfrm>
            <a:off x="1499616" y="2962656"/>
            <a:ext cx="3493008" cy="457200"/>
          </a:xfrm>
          <a:prstGeom prst="roundRect">
            <a:avLst>
              <a:gd name="adj" fmla="val 12000"/>
            </a:avLst>
          </a:prstGeom>
          <a:solidFill>
            <a:srgbClr val="E7EEFD"/>
          </a:solidFill>
          <a:ln w="22225">
            <a:solidFill>
              <a:srgbClr val="2C6BED"/>
            </a:solidFill>
            <a:prstDash val="solid"/>
          </a:ln>
        </p:spPr>
      </p:sp>
      <p:sp>
        <p:nvSpPr>
          <p:cNvPr id="17" name="Text 14"/>
          <p:cNvSpPr/>
          <p:nvPr/>
        </p:nvSpPr>
        <p:spPr>
          <a:xfrm>
            <a:off x="1627632" y="2999232"/>
            <a:ext cx="3236976" cy="292608"/>
          </a:xfrm>
          <a:prstGeom prst="rect">
            <a:avLst/>
          </a:prstGeom>
          <a:noFill/>
          <a:ln/>
        </p:spPr>
        <p:txBody>
          <a:bodyPr wrap="square" lIns="0" tIns="0" rIns="0" bIns="0" rtlCol="0" anchor="ctr"/>
          <a:lstStyle/>
          <a:p>
            <a:pPr indent="0" marL="0">
              <a:buNone/>
            </a:pPr>
            <a:r>
              <a:rPr lang="en-US" sz="1050" b="1" dirty="0">
                <a:solidFill>
                  <a:srgbClr val="2C6BED"/>
                </a:solidFill>
                <a:latin typeface="Courier New" pitchFamily="34" charset="0"/>
                <a:ea typeface="Courier New" pitchFamily="34" charset="-122"/>
                <a:cs typeface="Courier New" pitchFamily="34" charset="-120"/>
              </a:rPr>
              <a:t>span  direct son</a:t>
            </a:r>
            <a:endParaRPr lang="en-US" sz="1050" dirty="0"/>
          </a:p>
        </p:txBody>
      </p:sp>
      <p:sp>
        <p:nvSpPr>
          <p:cNvPr id="18" name="Text 15"/>
          <p:cNvSpPr/>
          <p:nvPr/>
        </p:nvSpPr>
        <p:spPr>
          <a:xfrm>
            <a:off x="3986784" y="2962656"/>
            <a:ext cx="877824" cy="457200"/>
          </a:xfrm>
          <a:prstGeom prst="rect">
            <a:avLst/>
          </a:prstGeom>
          <a:noFill/>
          <a:ln/>
        </p:spPr>
        <p:txBody>
          <a:bodyPr wrap="square" lIns="0" tIns="0" rIns="0" bIns="0" rtlCol="0" anchor="ctr"/>
          <a:lstStyle/>
          <a:p>
            <a:pPr algn="r" indent="0" marL="0">
              <a:buNone/>
            </a:pPr>
            <a:r>
              <a:rPr lang="en-US" sz="850" b="1" dirty="0">
                <a:solidFill>
                  <a:srgbClr val="2C6BED"/>
                </a:solidFill>
                <a:latin typeface="Calibri" pitchFamily="34" charset="0"/>
                <a:ea typeface="Calibri" pitchFamily="34" charset="-122"/>
                <a:cs typeface="Calibri" pitchFamily="34" charset="-120"/>
              </a:rPr>
              <a:t>selected</a:t>
            </a:r>
            <a:endParaRPr lang="en-US" sz="850" dirty="0"/>
          </a:p>
        </p:txBody>
      </p:sp>
      <p:sp>
        <p:nvSpPr>
          <p:cNvPr id="19" name="Shape 16"/>
          <p:cNvSpPr/>
          <p:nvPr/>
        </p:nvSpPr>
        <p:spPr>
          <a:xfrm>
            <a:off x="1207008" y="3767328"/>
            <a:ext cx="4078224" cy="932688"/>
          </a:xfrm>
          <a:prstGeom prst="roundRect">
            <a:avLst>
              <a:gd name="adj" fmla="val 5882"/>
            </a:avLst>
          </a:prstGeom>
          <a:solidFill>
            <a:srgbClr val="E4E9F2"/>
          </a:solidFill>
          <a:ln w="12700">
            <a:solidFill>
              <a:srgbClr val="C3CBD8"/>
            </a:solidFill>
            <a:prstDash val="solid"/>
          </a:ln>
        </p:spPr>
      </p:sp>
      <p:sp>
        <p:nvSpPr>
          <p:cNvPr id="20" name="Text 17"/>
          <p:cNvSpPr/>
          <p:nvPr/>
        </p:nvSpPr>
        <p:spPr>
          <a:xfrm>
            <a:off x="1335024" y="3803904"/>
            <a:ext cx="3822192" cy="292608"/>
          </a:xfrm>
          <a:prstGeom prst="rect">
            <a:avLst/>
          </a:prstGeom>
          <a:noFill/>
          <a:ln/>
        </p:spPr>
        <p:txBody>
          <a:bodyPr wrap="square" lIns="0" tIns="0" rIns="0" bIns="0" rtlCol="0" anchor="ctr"/>
          <a:lstStyle/>
          <a:p>
            <a:pPr indent="0" marL="0">
              <a:buNone/>
            </a:pPr>
            <a:r>
              <a:rPr lang="en-US" sz="950" dirty="0">
                <a:solidFill>
                  <a:srgbClr val="55616F"/>
                </a:solidFill>
                <a:latin typeface="Courier New" pitchFamily="34" charset="0"/>
                <a:ea typeface="Courier New" pitchFamily="34" charset="-122"/>
                <a:cs typeface="Courier New" pitchFamily="34" charset="-120"/>
              </a:rPr>
              <a:t>p</a:t>
            </a:r>
            <a:endParaRPr lang="en-US" sz="950" dirty="0"/>
          </a:p>
        </p:txBody>
      </p:sp>
      <p:sp>
        <p:nvSpPr>
          <p:cNvPr id="21" name="Shape 18"/>
          <p:cNvSpPr/>
          <p:nvPr/>
        </p:nvSpPr>
        <p:spPr>
          <a:xfrm>
            <a:off x="1499616" y="4059936"/>
            <a:ext cx="3493008" cy="457200"/>
          </a:xfrm>
          <a:prstGeom prst="roundRect">
            <a:avLst>
              <a:gd name="adj" fmla="val 12000"/>
            </a:avLst>
          </a:prstGeom>
          <a:solidFill>
            <a:srgbClr val="E7EEFD"/>
          </a:solidFill>
          <a:ln w="22225">
            <a:solidFill>
              <a:srgbClr val="2C6BED"/>
            </a:solidFill>
            <a:prstDash val="solid"/>
          </a:ln>
        </p:spPr>
      </p:sp>
      <p:sp>
        <p:nvSpPr>
          <p:cNvPr id="22" name="Text 19"/>
          <p:cNvSpPr/>
          <p:nvPr/>
        </p:nvSpPr>
        <p:spPr>
          <a:xfrm>
            <a:off x="1627632" y="4096512"/>
            <a:ext cx="3236976" cy="292608"/>
          </a:xfrm>
          <a:prstGeom prst="rect">
            <a:avLst/>
          </a:prstGeom>
          <a:noFill/>
          <a:ln/>
        </p:spPr>
        <p:txBody>
          <a:bodyPr wrap="square" lIns="0" tIns="0" rIns="0" bIns="0" rtlCol="0" anchor="ctr"/>
          <a:lstStyle/>
          <a:p>
            <a:pPr indent="0" marL="0">
              <a:buNone/>
            </a:pPr>
            <a:r>
              <a:rPr lang="en-US" sz="1050" b="1" dirty="0">
                <a:solidFill>
                  <a:srgbClr val="2C6BED"/>
                </a:solidFill>
                <a:latin typeface="Courier New" pitchFamily="34" charset="0"/>
                <a:ea typeface="Courier New" pitchFamily="34" charset="-122"/>
                <a:cs typeface="Courier New" pitchFamily="34" charset="-120"/>
              </a:rPr>
              <a:t>span  grandson</a:t>
            </a:r>
            <a:endParaRPr lang="en-US" sz="1050" dirty="0"/>
          </a:p>
        </p:txBody>
      </p:sp>
      <p:sp>
        <p:nvSpPr>
          <p:cNvPr id="23" name="Text 20"/>
          <p:cNvSpPr/>
          <p:nvPr/>
        </p:nvSpPr>
        <p:spPr>
          <a:xfrm>
            <a:off x="3986784" y="4059936"/>
            <a:ext cx="877824" cy="457200"/>
          </a:xfrm>
          <a:prstGeom prst="rect">
            <a:avLst/>
          </a:prstGeom>
          <a:noFill/>
          <a:ln/>
        </p:spPr>
        <p:txBody>
          <a:bodyPr wrap="square" lIns="0" tIns="0" rIns="0" bIns="0" rtlCol="0" anchor="ctr"/>
          <a:lstStyle/>
          <a:p>
            <a:pPr algn="r" indent="0" marL="0">
              <a:buNone/>
            </a:pPr>
            <a:r>
              <a:rPr lang="en-US" sz="850" b="1" dirty="0">
                <a:solidFill>
                  <a:srgbClr val="2C6BED"/>
                </a:solidFill>
                <a:latin typeface="Calibri" pitchFamily="34" charset="0"/>
                <a:ea typeface="Calibri" pitchFamily="34" charset="-122"/>
                <a:cs typeface="Calibri" pitchFamily="34" charset="-120"/>
              </a:rPr>
              <a:t>selected</a:t>
            </a:r>
            <a:endParaRPr lang="en-US" sz="850" dirty="0"/>
          </a:p>
        </p:txBody>
      </p:sp>
      <p:sp>
        <p:nvSpPr>
          <p:cNvPr id="24" name="Shape 21"/>
          <p:cNvSpPr/>
          <p:nvPr/>
        </p:nvSpPr>
        <p:spPr>
          <a:xfrm>
            <a:off x="6336792" y="1737360"/>
            <a:ext cx="5212080" cy="3383280"/>
          </a:xfrm>
          <a:prstGeom prst="roundRect">
            <a:avLst>
              <a:gd name="adj" fmla="val 2703"/>
            </a:avLst>
          </a:prstGeom>
          <a:solidFill>
            <a:srgbClr val="FFFFFF"/>
          </a:solidFill>
          <a:ln w="12700">
            <a:solidFill>
              <a:srgbClr val="D6336C"/>
            </a:solidFill>
            <a:prstDash val="solid"/>
          </a:ln>
          <a:effectLst>
            <a:outerShdw sx="100000" sy="100000" kx="0" ky="0" algn="bl" rotWithShape="0" blurRad="177800" dist="38100" dir="5400000">
              <a:srgbClr val="000000">
                <a:alpha val="35000"/>
              </a:srgbClr>
            </a:outerShdw>
          </a:effectLst>
        </p:spPr>
      </p:sp>
      <p:sp>
        <p:nvSpPr>
          <p:cNvPr id="25" name="Shape 22"/>
          <p:cNvSpPr/>
          <p:nvPr/>
        </p:nvSpPr>
        <p:spPr>
          <a:xfrm>
            <a:off x="6336792" y="1737360"/>
            <a:ext cx="5212080" cy="402336"/>
          </a:xfrm>
          <a:prstGeom prst="roundRect">
            <a:avLst>
              <a:gd name="adj" fmla="val 22727"/>
            </a:avLst>
          </a:prstGeom>
          <a:solidFill>
            <a:srgbClr val="FCE7EF"/>
          </a:solidFill>
          <a:ln w="15875">
            <a:solidFill>
              <a:srgbClr val="D6336C"/>
            </a:solidFill>
            <a:prstDash val="solid"/>
          </a:ln>
        </p:spPr>
      </p:sp>
      <p:sp>
        <p:nvSpPr>
          <p:cNvPr id="26" name="Text 23"/>
          <p:cNvSpPr/>
          <p:nvPr/>
        </p:nvSpPr>
        <p:spPr>
          <a:xfrm>
            <a:off x="6574536" y="1737360"/>
            <a:ext cx="2377440" cy="402336"/>
          </a:xfrm>
          <a:prstGeom prst="rect">
            <a:avLst/>
          </a:prstGeom>
          <a:noFill/>
          <a:ln/>
        </p:spPr>
        <p:txBody>
          <a:bodyPr wrap="square" lIns="0" tIns="0" rIns="0" bIns="0" rtlCol="0" anchor="ctr"/>
          <a:lstStyle/>
          <a:p>
            <a:pPr indent="0" marL="0">
              <a:buNone/>
            </a:pPr>
            <a:r>
              <a:rPr lang="en-US" sz="1450" b="1" dirty="0">
                <a:solidFill>
                  <a:srgbClr val="15202B"/>
                </a:solidFill>
                <a:latin typeface="Calibri" pitchFamily="34" charset="0"/>
                <a:ea typeface="Calibri" pitchFamily="34" charset="-122"/>
                <a:cs typeface="Calibri" pitchFamily="34" charset="-120"/>
              </a:rPr>
              <a:t>Direct child</a:t>
            </a:r>
            <a:endParaRPr lang="en-US" sz="1450" dirty="0"/>
          </a:p>
        </p:txBody>
      </p:sp>
      <p:sp>
        <p:nvSpPr>
          <p:cNvPr id="27" name="Text 24"/>
          <p:cNvSpPr/>
          <p:nvPr/>
        </p:nvSpPr>
        <p:spPr>
          <a:xfrm>
            <a:off x="8988552" y="1737360"/>
            <a:ext cx="2322576" cy="402336"/>
          </a:xfrm>
          <a:prstGeom prst="rect">
            <a:avLst/>
          </a:prstGeom>
          <a:noFill/>
          <a:ln/>
        </p:spPr>
        <p:txBody>
          <a:bodyPr wrap="square" lIns="0" tIns="0" rIns="0" bIns="0" rtlCol="0" anchor="ctr"/>
          <a:lstStyle/>
          <a:p>
            <a:pPr algn="r" indent="0" marL="0">
              <a:buNone/>
            </a:pPr>
            <a:r>
              <a:rPr lang="en-US" sz="1200" b="1" dirty="0">
                <a:solidFill>
                  <a:srgbClr val="D6336C"/>
                </a:solidFill>
                <a:latin typeface="Courier New" pitchFamily="34" charset="0"/>
                <a:ea typeface="Courier New" pitchFamily="34" charset="-122"/>
                <a:cs typeface="Courier New" pitchFamily="34" charset="-120"/>
              </a:rPr>
              <a:t>div &gt; h1 &gt; span</a:t>
            </a:r>
            <a:endParaRPr lang="en-US" sz="1200" dirty="0"/>
          </a:p>
        </p:txBody>
      </p:sp>
      <p:sp>
        <p:nvSpPr>
          <p:cNvPr id="28" name="Shape 25"/>
          <p:cNvSpPr/>
          <p:nvPr/>
        </p:nvSpPr>
        <p:spPr>
          <a:xfrm>
            <a:off x="6611112" y="2286000"/>
            <a:ext cx="4663440" cy="2560320"/>
          </a:xfrm>
          <a:prstGeom prst="roundRect">
            <a:avLst>
              <a:gd name="adj" fmla="val 2143"/>
            </a:avLst>
          </a:prstGeom>
          <a:solidFill>
            <a:srgbClr val="F1F4F9"/>
          </a:solidFill>
          <a:ln w="12700">
            <a:solidFill>
              <a:srgbClr val="C3CBD8"/>
            </a:solidFill>
            <a:prstDash val="solid"/>
          </a:ln>
        </p:spPr>
      </p:sp>
      <p:sp>
        <p:nvSpPr>
          <p:cNvPr id="29" name="Text 26"/>
          <p:cNvSpPr/>
          <p:nvPr/>
        </p:nvSpPr>
        <p:spPr>
          <a:xfrm>
            <a:off x="6739128" y="2322576"/>
            <a:ext cx="4407408" cy="292608"/>
          </a:xfrm>
          <a:prstGeom prst="rect">
            <a:avLst/>
          </a:prstGeom>
          <a:noFill/>
          <a:ln/>
        </p:spPr>
        <p:txBody>
          <a:bodyPr wrap="square" lIns="0" tIns="0" rIns="0" bIns="0" rtlCol="0" anchor="ctr"/>
          <a:lstStyle/>
          <a:p>
            <a:pPr indent="0" marL="0">
              <a:buNone/>
            </a:pPr>
            <a:r>
              <a:rPr lang="en-US" sz="950" dirty="0">
                <a:solidFill>
                  <a:srgbClr val="55616F"/>
                </a:solidFill>
                <a:latin typeface="Courier New" pitchFamily="34" charset="0"/>
                <a:ea typeface="Courier New" pitchFamily="34" charset="-122"/>
                <a:cs typeface="Courier New" pitchFamily="34" charset="-120"/>
              </a:rPr>
              <a:t>div</a:t>
            </a:r>
            <a:endParaRPr lang="en-US" sz="950" dirty="0"/>
          </a:p>
        </p:txBody>
      </p:sp>
      <p:sp>
        <p:nvSpPr>
          <p:cNvPr id="30" name="Shape 27"/>
          <p:cNvSpPr/>
          <p:nvPr/>
        </p:nvSpPr>
        <p:spPr>
          <a:xfrm>
            <a:off x="6903720" y="2651760"/>
            <a:ext cx="4078224" cy="960120"/>
          </a:xfrm>
          <a:prstGeom prst="roundRect">
            <a:avLst>
              <a:gd name="adj" fmla="val 5714"/>
            </a:avLst>
          </a:prstGeom>
          <a:solidFill>
            <a:srgbClr val="E4E9F2"/>
          </a:solidFill>
          <a:ln w="12700">
            <a:solidFill>
              <a:srgbClr val="C3CBD8"/>
            </a:solidFill>
            <a:prstDash val="solid"/>
          </a:ln>
        </p:spPr>
      </p:sp>
      <p:sp>
        <p:nvSpPr>
          <p:cNvPr id="31" name="Text 28"/>
          <p:cNvSpPr/>
          <p:nvPr/>
        </p:nvSpPr>
        <p:spPr>
          <a:xfrm>
            <a:off x="7031736" y="2688336"/>
            <a:ext cx="3822192" cy="292608"/>
          </a:xfrm>
          <a:prstGeom prst="rect">
            <a:avLst/>
          </a:prstGeom>
          <a:noFill/>
          <a:ln/>
        </p:spPr>
        <p:txBody>
          <a:bodyPr wrap="square" lIns="0" tIns="0" rIns="0" bIns="0" rtlCol="0" anchor="ctr"/>
          <a:lstStyle/>
          <a:p>
            <a:pPr indent="0" marL="0">
              <a:buNone/>
            </a:pPr>
            <a:r>
              <a:rPr lang="en-US" sz="950" dirty="0">
                <a:solidFill>
                  <a:srgbClr val="55616F"/>
                </a:solidFill>
                <a:latin typeface="Courier New" pitchFamily="34" charset="0"/>
                <a:ea typeface="Courier New" pitchFamily="34" charset="-122"/>
                <a:cs typeface="Courier New" pitchFamily="34" charset="-120"/>
              </a:rPr>
              <a:t>h1</a:t>
            </a:r>
            <a:endParaRPr lang="en-US" sz="950" dirty="0"/>
          </a:p>
        </p:txBody>
      </p:sp>
      <p:sp>
        <p:nvSpPr>
          <p:cNvPr id="32" name="Shape 29"/>
          <p:cNvSpPr/>
          <p:nvPr/>
        </p:nvSpPr>
        <p:spPr>
          <a:xfrm>
            <a:off x="7196328" y="2962656"/>
            <a:ext cx="3493008" cy="457200"/>
          </a:xfrm>
          <a:prstGeom prst="roundRect">
            <a:avLst>
              <a:gd name="adj" fmla="val 12000"/>
            </a:avLst>
          </a:prstGeom>
          <a:solidFill>
            <a:srgbClr val="FCE7EF"/>
          </a:solidFill>
          <a:ln w="22225">
            <a:solidFill>
              <a:srgbClr val="D6336C"/>
            </a:solidFill>
            <a:prstDash val="solid"/>
          </a:ln>
        </p:spPr>
      </p:sp>
      <p:sp>
        <p:nvSpPr>
          <p:cNvPr id="33" name="Text 30"/>
          <p:cNvSpPr/>
          <p:nvPr/>
        </p:nvSpPr>
        <p:spPr>
          <a:xfrm>
            <a:off x="7324344" y="2999232"/>
            <a:ext cx="3236976" cy="292608"/>
          </a:xfrm>
          <a:prstGeom prst="rect">
            <a:avLst/>
          </a:prstGeom>
          <a:noFill/>
          <a:ln/>
        </p:spPr>
        <p:txBody>
          <a:bodyPr wrap="square" lIns="0" tIns="0" rIns="0" bIns="0" rtlCol="0" anchor="ctr"/>
          <a:lstStyle/>
          <a:p>
            <a:pPr indent="0" marL="0">
              <a:buNone/>
            </a:pPr>
            <a:r>
              <a:rPr lang="en-US" sz="1050" b="1" dirty="0">
                <a:solidFill>
                  <a:srgbClr val="D6336C"/>
                </a:solidFill>
                <a:latin typeface="Courier New" pitchFamily="34" charset="0"/>
                <a:ea typeface="Courier New" pitchFamily="34" charset="-122"/>
                <a:cs typeface="Courier New" pitchFamily="34" charset="-120"/>
              </a:rPr>
              <a:t>span  direct son</a:t>
            </a:r>
            <a:endParaRPr lang="en-US" sz="1050" dirty="0"/>
          </a:p>
        </p:txBody>
      </p:sp>
      <p:sp>
        <p:nvSpPr>
          <p:cNvPr id="34" name="Text 31"/>
          <p:cNvSpPr/>
          <p:nvPr/>
        </p:nvSpPr>
        <p:spPr>
          <a:xfrm>
            <a:off x="9683496" y="2962656"/>
            <a:ext cx="877824" cy="457200"/>
          </a:xfrm>
          <a:prstGeom prst="rect">
            <a:avLst/>
          </a:prstGeom>
          <a:noFill/>
          <a:ln/>
        </p:spPr>
        <p:txBody>
          <a:bodyPr wrap="square" lIns="0" tIns="0" rIns="0" bIns="0" rtlCol="0" anchor="ctr"/>
          <a:lstStyle/>
          <a:p>
            <a:pPr algn="r" indent="0" marL="0">
              <a:buNone/>
            </a:pPr>
            <a:r>
              <a:rPr lang="en-US" sz="850" b="1" dirty="0">
                <a:solidFill>
                  <a:srgbClr val="D6336C"/>
                </a:solidFill>
                <a:latin typeface="Calibri" pitchFamily="34" charset="0"/>
                <a:ea typeface="Calibri" pitchFamily="34" charset="-122"/>
                <a:cs typeface="Calibri" pitchFamily="34" charset="-120"/>
              </a:rPr>
              <a:t>selected</a:t>
            </a:r>
            <a:endParaRPr lang="en-US" sz="850" dirty="0"/>
          </a:p>
        </p:txBody>
      </p:sp>
      <p:sp>
        <p:nvSpPr>
          <p:cNvPr id="35" name="Shape 32"/>
          <p:cNvSpPr/>
          <p:nvPr/>
        </p:nvSpPr>
        <p:spPr>
          <a:xfrm>
            <a:off x="6903720" y="3767328"/>
            <a:ext cx="4078224" cy="932688"/>
          </a:xfrm>
          <a:prstGeom prst="roundRect">
            <a:avLst>
              <a:gd name="adj" fmla="val 5882"/>
            </a:avLst>
          </a:prstGeom>
          <a:solidFill>
            <a:srgbClr val="E4E9F2"/>
          </a:solidFill>
          <a:ln w="12700">
            <a:solidFill>
              <a:srgbClr val="C3CBD8"/>
            </a:solidFill>
            <a:prstDash val="solid"/>
          </a:ln>
        </p:spPr>
      </p:sp>
      <p:sp>
        <p:nvSpPr>
          <p:cNvPr id="36" name="Text 33"/>
          <p:cNvSpPr/>
          <p:nvPr/>
        </p:nvSpPr>
        <p:spPr>
          <a:xfrm>
            <a:off x="7031736" y="3803904"/>
            <a:ext cx="3822192" cy="292608"/>
          </a:xfrm>
          <a:prstGeom prst="rect">
            <a:avLst/>
          </a:prstGeom>
          <a:noFill/>
          <a:ln/>
        </p:spPr>
        <p:txBody>
          <a:bodyPr wrap="square" lIns="0" tIns="0" rIns="0" bIns="0" rtlCol="0" anchor="ctr"/>
          <a:lstStyle/>
          <a:p>
            <a:pPr indent="0" marL="0">
              <a:buNone/>
            </a:pPr>
            <a:r>
              <a:rPr lang="en-US" sz="950" dirty="0">
                <a:solidFill>
                  <a:srgbClr val="55616F"/>
                </a:solidFill>
                <a:latin typeface="Courier New" pitchFamily="34" charset="0"/>
                <a:ea typeface="Courier New" pitchFamily="34" charset="-122"/>
                <a:cs typeface="Courier New" pitchFamily="34" charset="-120"/>
              </a:rPr>
              <a:t>p</a:t>
            </a:r>
            <a:endParaRPr lang="en-US" sz="950" dirty="0"/>
          </a:p>
        </p:txBody>
      </p:sp>
      <p:sp>
        <p:nvSpPr>
          <p:cNvPr id="37" name="Shape 34"/>
          <p:cNvSpPr/>
          <p:nvPr/>
        </p:nvSpPr>
        <p:spPr>
          <a:xfrm>
            <a:off x="7196328" y="4059936"/>
            <a:ext cx="3493008" cy="457200"/>
          </a:xfrm>
          <a:prstGeom prst="roundRect">
            <a:avLst>
              <a:gd name="adj" fmla="val 12000"/>
            </a:avLst>
          </a:prstGeom>
          <a:solidFill>
            <a:srgbClr val="FFFFFF"/>
          </a:solidFill>
          <a:ln w="12700">
            <a:solidFill>
              <a:srgbClr val="C3CBD8"/>
            </a:solidFill>
            <a:prstDash val="solid"/>
          </a:ln>
        </p:spPr>
      </p:sp>
      <p:sp>
        <p:nvSpPr>
          <p:cNvPr id="38" name="Text 35"/>
          <p:cNvSpPr/>
          <p:nvPr/>
        </p:nvSpPr>
        <p:spPr>
          <a:xfrm>
            <a:off x="7324344" y="4096512"/>
            <a:ext cx="3236976" cy="292608"/>
          </a:xfrm>
          <a:prstGeom prst="rect">
            <a:avLst/>
          </a:prstGeom>
          <a:noFill/>
          <a:ln/>
        </p:spPr>
        <p:txBody>
          <a:bodyPr wrap="square" lIns="0" tIns="0" rIns="0" bIns="0" rtlCol="0" anchor="ctr"/>
          <a:lstStyle/>
          <a:p>
            <a:pPr indent="0" marL="0">
              <a:buNone/>
            </a:pPr>
            <a:r>
              <a:rPr lang="en-US" sz="1050" dirty="0">
                <a:solidFill>
                  <a:srgbClr val="55616F"/>
                </a:solidFill>
                <a:latin typeface="Courier New" pitchFamily="34" charset="0"/>
                <a:ea typeface="Courier New" pitchFamily="34" charset="-122"/>
                <a:cs typeface="Courier New" pitchFamily="34" charset="-120"/>
              </a:rPr>
              <a:t>span  grandson</a:t>
            </a:r>
            <a:endParaRPr lang="en-US" sz="1050" dirty="0"/>
          </a:p>
        </p:txBody>
      </p:sp>
      <p:sp>
        <p:nvSpPr>
          <p:cNvPr id="39" name="Shape 36"/>
          <p:cNvSpPr/>
          <p:nvPr/>
        </p:nvSpPr>
        <p:spPr>
          <a:xfrm>
            <a:off x="640080" y="5212080"/>
            <a:ext cx="5212080" cy="566928"/>
          </a:xfrm>
          <a:prstGeom prst="roundRect">
            <a:avLst>
              <a:gd name="adj" fmla="val 16129"/>
            </a:avLst>
          </a:prstGeom>
          <a:solidFill>
            <a:srgbClr val="E7EEFD"/>
          </a:solidFill>
          <a:ln w="12700">
            <a:solidFill>
              <a:srgbClr val="B6CDFA"/>
            </a:solidFill>
            <a:prstDash val="solid"/>
          </a:ln>
          <a:effectLst>
            <a:outerShdw sx="100000" sy="100000" kx="0" ky="0" algn="bl" rotWithShape="0" blurRad="177800" dist="38100" dir="5400000">
              <a:srgbClr val="000000">
                <a:alpha val="35000"/>
              </a:srgbClr>
            </a:outerShdw>
          </a:effectLst>
        </p:spPr>
      </p:sp>
      <p:sp>
        <p:nvSpPr>
          <p:cNvPr id="40" name="Text 37"/>
          <p:cNvSpPr/>
          <p:nvPr/>
        </p:nvSpPr>
        <p:spPr>
          <a:xfrm>
            <a:off x="640080" y="5212080"/>
            <a:ext cx="5212080" cy="566928"/>
          </a:xfrm>
          <a:prstGeom prst="rect">
            <a:avLst/>
          </a:prstGeom>
          <a:noFill/>
          <a:ln/>
        </p:spPr>
        <p:txBody>
          <a:bodyPr wrap="square" lIns="0" tIns="0" rIns="0" bIns="0" rtlCol="0" anchor="ctr"/>
          <a:lstStyle/>
          <a:p>
            <a:pPr algn="ctr" indent="0" marL="0">
              <a:buNone/>
            </a:pPr>
            <a:r>
              <a:rPr lang="en-US" sz="1250" b="1" dirty="0">
                <a:solidFill>
                  <a:srgbClr val="15202B"/>
                </a:solidFill>
                <a:latin typeface="Calibri" pitchFamily="34" charset="0"/>
                <a:ea typeface="Calibri" pitchFamily="34" charset="-122"/>
                <a:cs typeface="Calibri" pitchFamily="34" charset="-120"/>
              </a:rPr>
              <a:t>A space: any span inside the div, however deep.</a:t>
            </a:r>
            <a:endParaRPr lang="en-US" sz="1250" dirty="0"/>
          </a:p>
        </p:txBody>
      </p:sp>
      <p:sp>
        <p:nvSpPr>
          <p:cNvPr id="41" name="Shape 38"/>
          <p:cNvSpPr/>
          <p:nvPr/>
        </p:nvSpPr>
        <p:spPr>
          <a:xfrm>
            <a:off x="6336792" y="5212080"/>
            <a:ext cx="5212080" cy="566928"/>
          </a:xfrm>
          <a:prstGeom prst="roundRect">
            <a:avLst>
              <a:gd name="adj" fmla="val 16129"/>
            </a:avLst>
          </a:prstGeom>
          <a:solidFill>
            <a:srgbClr val="FCE7EF"/>
          </a:solidFill>
          <a:ln w="12700">
            <a:solidFill>
              <a:srgbClr val="F0B6CB"/>
            </a:solidFill>
            <a:prstDash val="solid"/>
          </a:ln>
          <a:effectLst>
            <a:outerShdw sx="100000" sy="100000" kx="0" ky="0" algn="bl" rotWithShape="0" blurRad="177800" dist="38100" dir="5400000">
              <a:srgbClr val="000000">
                <a:alpha val="35000"/>
              </a:srgbClr>
            </a:outerShdw>
          </a:effectLst>
        </p:spPr>
      </p:sp>
      <p:sp>
        <p:nvSpPr>
          <p:cNvPr id="42" name="Text 39"/>
          <p:cNvSpPr/>
          <p:nvPr/>
        </p:nvSpPr>
        <p:spPr>
          <a:xfrm>
            <a:off x="6336792" y="5212080"/>
            <a:ext cx="5212080" cy="566928"/>
          </a:xfrm>
          <a:prstGeom prst="rect">
            <a:avLst/>
          </a:prstGeom>
          <a:noFill/>
          <a:ln/>
        </p:spPr>
        <p:txBody>
          <a:bodyPr wrap="square" lIns="0" tIns="0" rIns="0" bIns="0" rtlCol="0" anchor="ctr"/>
          <a:lstStyle/>
          <a:p>
            <a:pPr algn="ctr" indent="0" marL="0">
              <a:buNone/>
            </a:pPr>
            <a:r>
              <a:rPr lang="en-US" sz="1250" b="1" dirty="0">
                <a:solidFill>
                  <a:srgbClr val="15202B"/>
                </a:solidFill>
                <a:latin typeface="Calibri" pitchFamily="34" charset="0"/>
                <a:ea typeface="Calibri" pitchFamily="34" charset="-122"/>
                <a:cs typeface="Calibri" pitchFamily="34" charset="-120"/>
              </a:rPr>
              <a:t>A greater than: only the direct son, never the grandson.</a:t>
            </a:r>
            <a:endParaRPr lang="en-US" sz="1250" dirty="0"/>
          </a:p>
        </p:txBody>
      </p:sp>
      <p:sp>
        <p:nvSpPr>
          <p:cNvPr id="43" name="Shape 40"/>
          <p:cNvSpPr/>
          <p:nvPr/>
        </p:nvSpPr>
        <p:spPr>
          <a:xfrm>
            <a:off x="640080" y="5943600"/>
            <a:ext cx="10908792" cy="457200"/>
          </a:xfrm>
          <a:prstGeom prst="roundRect">
            <a:avLst>
              <a:gd name="adj" fmla="val 20000"/>
            </a:avLst>
          </a:prstGeom>
          <a:solidFill>
            <a:srgbClr val="FFFFFF"/>
          </a:solidFill>
          <a:ln w="12700">
            <a:solidFill>
              <a:srgbClr val="D9DEE7"/>
            </a:solidFill>
            <a:prstDash val="solid"/>
          </a:ln>
          <a:effectLst>
            <a:outerShdw sx="100000" sy="100000" kx="0" ky="0" algn="bl" rotWithShape="0" blurRad="177800" dist="38100" dir="5400000">
              <a:srgbClr val="000000">
                <a:alpha val="35000"/>
              </a:srgbClr>
            </a:outerShdw>
          </a:effectLst>
        </p:spPr>
      </p:sp>
      <p:sp>
        <p:nvSpPr>
          <p:cNvPr id="44" name="Text 41"/>
          <p:cNvSpPr/>
          <p:nvPr/>
        </p:nvSpPr>
        <p:spPr>
          <a:xfrm>
            <a:off x="914400" y="5943600"/>
            <a:ext cx="10360152" cy="457200"/>
          </a:xfrm>
          <a:prstGeom prst="rect">
            <a:avLst/>
          </a:prstGeom>
          <a:noFill/>
          <a:ln/>
        </p:spPr>
        <p:txBody>
          <a:bodyPr wrap="square" lIns="0" tIns="0" rIns="0" bIns="0" rtlCol="0" anchor="ctr"/>
          <a:lstStyle/>
          <a:p>
            <a:pPr algn="ctr" indent="0" marL="0">
              <a:buNone/>
            </a:pPr>
            <a:r>
              <a:rPr lang="en-US" sz="1350" b="1" dirty="0">
                <a:solidFill>
                  <a:srgbClr val="15202B"/>
                </a:solidFill>
                <a:latin typeface="Calibri" pitchFamily="34" charset="0"/>
                <a:ea typeface="Calibri" pitchFamily="34" charset="-122"/>
                <a:cs typeface="Calibri" pitchFamily="34" charset="-120"/>
              </a:rPr>
              <a:t>Descendant is a family tree. Direct child is one generation only.</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A"/>
        </a:solidFill>
      </p:bgPr>
    </p:bg>
    <p:spTree>
      <p:nvGrpSpPr>
        <p:cNvPr id="1" name=""/>
        <p:cNvGrpSpPr/>
        <p:nvPr/>
      </p:nvGrpSpPr>
      <p:grpSpPr>
        <a:xfrm>
          <a:off x="0" y="0"/>
          <a:ext cx="0" cy="0"/>
          <a:chOff x="0" y="0"/>
          <a:chExt cx="0" cy="0"/>
        </a:xfrm>
      </p:grpSpPr>
      <p:sp>
        <p:nvSpPr>
          <p:cNvPr id="3" name="Text 0"/>
          <p:cNvSpPr/>
          <p:nvPr/>
        </p:nvSpPr>
        <p:spPr>
          <a:xfrm>
            <a:off x="640080" y="6364224"/>
            <a:ext cx="3657600" cy="256032"/>
          </a:xfrm>
          <a:prstGeom prst="rect">
            <a:avLst/>
          </a:prstGeom>
          <a:noFill/>
          <a:ln/>
        </p:spPr>
        <p:txBody>
          <a:bodyPr wrap="square" lIns="0" tIns="0" rIns="0" bIns="0" rtlCol="0" anchor="ctr"/>
          <a:lstStyle/>
          <a:p>
            <a:pPr indent="0" marL="0">
              <a:buNone/>
            </a:pPr>
            <a:r>
              <a:rPr lang="en-US" sz="900" dirty="0">
                <a:solidFill>
                  <a:srgbClr val="939DAB"/>
                </a:solidFill>
                <a:latin typeface="Courier New" pitchFamily="34" charset="0"/>
                <a:ea typeface="Courier New" pitchFamily="34" charset="-122"/>
                <a:cs typeface="Courier New" pitchFamily="34" charset="-120"/>
              </a:rPr>
              <a:t>CLASS 03  ·  CSS</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939DAB"/>
                </a:solidFill>
                <a:latin typeface="Courier New" pitchFamily="34" charset="0"/>
                <a:ea typeface="Courier New" pitchFamily="34" charset="-122"/>
                <a:cs typeface="Courier New" pitchFamily="34" charset="-120"/>
              </a:rPr>
              <a:t>10</a:t>
            </a:r>
            <a:endParaRPr lang="en-US" sz="900" dirty="0"/>
          </a:p>
        </p:txBody>
      </p:sp>
      <p:sp>
        <p:nvSpPr>
          <p:cNvPr id="5" name="Shape 2"/>
          <p:cNvSpPr/>
          <p:nvPr/>
        </p:nvSpPr>
        <p:spPr>
          <a:xfrm>
            <a:off x="640080" y="365760"/>
            <a:ext cx="1773936" cy="347472"/>
          </a:xfrm>
          <a:prstGeom prst="roundRect">
            <a:avLst>
              <a:gd name="adj" fmla="val 21053"/>
            </a:avLst>
          </a:prstGeom>
          <a:solidFill>
            <a:srgbClr val="2C6BED"/>
          </a:solidFill>
          <a:ln w="15875">
            <a:solidFill>
              <a:srgbClr val="15202B"/>
            </a:solidFill>
            <a:prstDash val="solid"/>
          </a:ln>
        </p:spPr>
      </p:sp>
      <p:sp>
        <p:nvSpPr>
          <p:cNvPr id="6" name="Text 3"/>
          <p:cNvSpPr/>
          <p:nvPr/>
        </p:nvSpPr>
        <p:spPr>
          <a:xfrm>
            <a:off x="640080" y="365760"/>
            <a:ext cx="1773936" cy="347472"/>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SELECTORS</a:t>
            </a:r>
            <a:endParaRPr lang="en-US" sz="1050" dirty="0"/>
          </a:p>
        </p:txBody>
      </p:sp>
      <p:sp>
        <p:nvSpPr>
          <p:cNvPr id="7" name="Text 4"/>
          <p:cNvSpPr/>
          <p:nvPr/>
        </p:nvSpPr>
        <p:spPr>
          <a:xfrm>
            <a:off x="640080" y="786384"/>
            <a:ext cx="10881360" cy="603504"/>
          </a:xfrm>
          <a:prstGeom prst="rect">
            <a:avLst/>
          </a:prstGeom>
          <a:noFill/>
          <a:ln/>
        </p:spPr>
        <p:txBody>
          <a:bodyPr wrap="square" lIns="0" tIns="0" rIns="0" bIns="0" rtlCol="0" anchor="ctr"/>
          <a:lstStyle/>
          <a:p>
            <a:pPr indent="0" marL="0">
              <a:buNone/>
            </a:pPr>
            <a:r>
              <a:rPr lang="en-US" sz="3200" b="1" dirty="0">
                <a:solidFill>
                  <a:srgbClr val="15202B"/>
                </a:solidFill>
                <a:latin typeface="Calibri" pitchFamily="34" charset="0"/>
                <a:ea typeface="Calibri" pitchFamily="34" charset="-122"/>
                <a:cs typeface="Calibri" pitchFamily="34" charset="-120"/>
              </a:rPr>
              <a:t>Four puzzles, four selectors</a:t>
            </a:r>
            <a:endParaRPr lang="en-US" sz="3200" dirty="0"/>
          </a:p>
        </p:txBody>
      </p:sp>
      <p:sp>
        <p:nvSpPr>
          <p:cNvPr id="8" name="Shape 5"/>
          <p:cNvSpPr/>
          <p:nvPr/>
        </p:nvSpPr>
        <p:spPr>
          <a:xfrm>
            <a:off x="640080" y="1627632"/>
            <a:ext cx="2542032" cy="3840480"/>
          </a:xfrm>
          <a:prstGeom prst="roundRect">
            <a:avLst>
              <a:gd name="adj" fmla="val 3597"/>
            </a:avLst>
          </a:prstGeom>
          <a:solidFill>
            <a:srgbClr val="FFFFFF"/>
          </a:solidFill>
          <a:ln w="12700">
            <a:solidFill>
              <a:srgbClr val="D9DEE7"/>
            </a:solidFill>
            <a:prstDash val="solid"/>
          </a:ln>
          <a:effectLst>
            <a:outerShdw sx="100000" sy="100000" kx="0" ky="0" algn="bl" rotWithShape="0" blurRad="177800" dist="38100" dir="5400000">
              <a:srgbClr val="000000">
                <a:alpha val="35000"/>
              </a:srgbClr>
            </a:outerShdw>
          </a:effectLst>
        </p:spPr>
      </p:sp>
      <p:sp>
        <p:nvSpPr>
          <p:cNvPr id="9" name="Shape 6"/>
          <p:cNvSpPr/>
          <p:nvPr/>
        </p:nvSpPr>
        <p:spPr>
          <a:xfrm>
            <a:off x="841248" y="1792224"/>
            <a:ext cx="384048" cy="384048"/>
          </a:xfrm>
          <a:prstGeom prst="ellipse">
            <a:avLst/>
          </a:prstGeom>
          <a:solidFill>
            <a:srgbClr val="E7EEFD"/>
          </a:solidFill>
          <a:ln w="12700">
            <a:solidFill>
              <a:srgbClr val="B6CDFA"/>
            </a:solidFill>
            <a:prstDash val="solid"/>
          </a:ln>
        </p:spPr>
      </p:sp>
      <p:sp>
        <p:nvSpPr>
          <p:cNvPr id="10" name="Text 7"/>
          <p:cNvSpPr/>
          <p:nvPr/>
        </p:nvSpPr>
        <p:spPr>
          <a:xfrm>
            <a:off x="841248" y="1792224"/>
            <a:ext cx="384048" cy="384048"/>
          </a:xfrm>
          <a:prstGeom prst="rect">
            <a:avLst/>
          </a:prstGeom>
          <a:noFill/>
          <a:ln/>
        </p:spPr>
        <p:txBody>
          <a:bodyPr wrap="square" lIns="0" tIns="0" rIns="0" bIns="0" rtlCol="0" anchor="ctr"/>
          <a:lstStyle/>
          <a:p>
            <a:pPr algn="ctr" indent="0" marL="0">
              <a:buNone/>
            </a:pPr>
            <a:r>
              <a:rPr lang="en-US" sz="1200" b="1" dirty="0">
                <a:solidFill>
                  <a:srgbClr val="2C6BED"/>
                </a:solidFill>
                <a:latin typeface="Calibri" pitchFamily="34" charset="0"/>
                <a:ea typeface="Calibri" pitchFamily="34" charset="-122"/>
                <a:cs typeface="Calibri" pitchFamily="34" charset="-120"/>
              </a:rPr>
              <a:t>1</a:t>
            </a:r>
            <a:endParaRPr lang="en-US" sz="1200" dirty="0"/>
          </a:p>
        </p:txBody>
      </p:sp>
      <p:sp>
        <p:nvSpPr>
          <p:cNvPr id="11" name="Text 8"/>
          <p:cNvSpPr/>
          <p:nvPr/>
        </p:nvSpPr>
        <p:spPr>
          <a:xfrm>
            <a:off x="1316736" y="1755648"/>
            <a:ext cx="1664208" cy="457200"/>
          </a:xfrm>
          <a:prstGeom prst="rect">
            <a:avLst/>
          </a:prstGeom>
          <a:noFill/>
          <a:ln/>
        </p:spPr>
        <p:txBody>
          <a:bodyPr wrap="square" lIns="0" tIns="0" rIns="0" bIns="0" rtlCol="0" anchor="ctr"/>
          <a:lstStyle/>
          <a:p>
            <a:pPr indent="0" marL="0">
              <a:lnSpc>
                <a:spcPts val="1400"/>
              </a:lnSpc>
              <a:buNone/>
            </a:pPr>
            <a:r>
              <a:rPr lang="en-US" sz="1100" dirty="0">
                <a:solidFill>
                  <a:srgbClr val="55616F"/>
                </a:solidFill>
                <a:latin typeface="Calibri" pitchFamily="34" charset="0"/>
                <a:ea typeface="Calibri" pitchFamily="34" charset="-122"/>
                <a:cs typeface="Calibri" pitchFamily="34" charset="-120"/>
              </a:rPr>
              <a:t>Hit the element wearing both badges</a:t>
            </a:r>
            <a:endParaRPr lang="en-US" sz="1100" dirty="0"/>
          </a:p>
        </p:txBody>
      </p:sp>
      <p:sp>
        <p:nvSpPr>
          <p:cNvPr id="12" name="Shape 9"/>
          <p:cNvSpPr/>
          <p:nvPr/>
        </p:nvSpPr>
        <p:spPr>
          <a:xfrm>
            <a:off x="859536" y="2377440"/>
            <a:ext cx="2103120" cy="384048"/>
          </a:xfrm>
          <a:prstGeom prst="roundRect">
            <a:avLst>
              <a:gd name="adj" fmla="val 14286"/>
            </a:avLst>
          </a:prstGeom>
          <a:solidFill>
            <a:srgbClr val="F1F4F9"/>
          </a:solidFill>
          <a:ln w="12700">
            <a:solidFill>
              <a:srgbClr val="C3CBD8"/>
            </a:solidFill>
            <a:prstDash val="solid"/>
          </a:ln>
        </p:spPr>
      </p:sp>
      <p:sp>
        <p:nvSpPr>
          <p:cNvPr id="13" name="Text 10"/>
          <p:cNvSpPr/>
          <p:nvPr/>
        </p:nvSpPr>
        <p:spPr>
          <a:xfrm>
            <a:off x="987552" y="2377440"/>
            <a:ext cx="1828800" cy="384048"/>
          </a:xfrm>
          <a:prstGeom prst="rect">
            <a:avLst/>
          </a:prstGeom>
          <a:noFill/>
          <a:ln/>
        </p:spPr>
        <p:txBody>
          <a:bodyPr wrap="square" lIns="0" tIns="0" rIns="0" bIns="0" rtlCol="0" anchor="ctr"/>
          <a:lstStyle/>
          <a:p>
            <a:pPr indent="0" marL="0">
              <a:buNone/>
            </a:pPr>
            <a:r>
              <a:rPr lang="en-US" sz="1000" dirty="0">
                <a:solidFill>
                  <a:srgbClr val="55616F"/>
                </a:solidFill>
                <a:latin typeface="Courier New" pitchFamily="34" charset="0"/>
                <a:ea typeface="Courier New" pitchFamily="34" charset="-122"/>
                <a:cs typeface="Courier New" pitchFamily="34" charset="-120"/>
              </a:rPr>
              <a:t>class="m1"</a:t>
            </a:r>
            <a:endParaRPr lang="en-US" sz="1000" dirty="0"/>
          </a:p>
        </p:txBody>
      </p:sp>
      <p:sp>
        <p:nvSpPr>
          <p:cNvPr id="14" name="Shape 11"/>
          <p:cNvSpPr/>
          <p:nvPr/>
        </p:nvSpPr>
        <p:spPr>
          <a:xfrm>
            <a:off x="859536" y="2852928"/>
            <a:ext cx="2103120" cy="384048"/>
          </a:xfrm>
          <a:prstGeom prst="roundRect">
            <a:avLst>
              <a:gd name="adj" fmla="val 14286"/>
            </a:avLst>
          </a:prstGeom>
          <a:solidFill>
            <a:srgbClr val="E7EEFD"/>
          </a:solidFill>
          <a:ln w="22225">
            <a:solidFill>
              <a:srgbClr val="2C6BED"/>
            </a:solidFill>
            <a:prstDash val="solid"/>
          </a:ln>
        </p:spPr>
      </p:sp>
      <p:sp>
        <p:nvSpPr>
          <p:cNvPr id="15" name="Text 12"/>
          <p:cNvSpPr/>
          <p:nvPr/>
        </p:nvSpPr>
        <p:spPr>
          <a:xfrm>
            <a:off x="987552" y="2852928"/>
            <a:ext cx="1828800" cy="384048"/>
          </a:xfrm>
          <a:prstGeom prst="rect">
            <a:avLst/>
          </a:prstGeom>
          <a:noFill/>
          <a:ln/>
        </p:spPr>
        <p:txBody>
          <a:bodyPr wrap="square" lIns="0" tIns="0" rIns="0" bIns="0" rtlCol="0" anchor="ctr"/>
          <a:lstStyle/>
          <a:p>
            <a:pPr indent="0" marL="0">
              <a:buNone/>
            </a:pPr>
            <a:r>
              <a:rPr lang="en-US" sz="1000" b="1" dirty="0">
                <a:solidFill>
                  <a:srgbClr val="2C6BED"/>
                </a:solidFill>
                <a:latin typeface="Courier New" pitchFamily="34" charset="0"/>
                <a:ea typeface="Courier New" pitchFamily="34" charset="-122"/>
                <a:cs typeface="Courier New" pitchFamily="34" charset="-120"/>
              </a:rPr>
              <a:t>class="m1 m2"</a:t>
            </a:r>
            <a:endParaRPr lang="en-US" sz="1000" dirty="0"/>
          </a:p>
        </p:txBody>
      </p:sp>
      <p:sp>
        <p:nvSpPr>
          <p:cNvPr id="16" name="Shape 13"/>
          <p:cNvSpPr/>
          <p:nvPr/>
        </p:nvSpPr>
        <p:spPr>
          <a:xfrm>
            <a:off x="859536" y="3328416"/>
            <a:ext cx="2103120" cy="384048"/>
          </a:xfrm>
          <a:prstGeom prst="roundRect">
            <a:avLst>
              <a:gd name="adj" fmla="val 14286"/>
            </a:avLst>
          </a:prstGeom>
          <a:solidFill>
            <a:srgbClr val="F1F4F9"/>
          </a:solidFill>
          <a:ln w="12700">
            <a:solidFill>
              <a:srgbClr val="C3CBD8"/>
            </a:solidFill>
            <a:prstDash val="solid"/>
          </a:ln>
        </p:spPr>
      </p:sp>
      <p:sp>
        <p:nvSpPr>
          <p:cNvPr id="17" name="Text 14"/>
          <p:cNvSpPr/>
          <p:nvPr/>
        </p:nvSpPr>
        <p:spPr>
          <a:xfrm>
            <a:off x="987552" y="3328416"/>
            <a:ext cx="1828800" cy="384048"/>
          </a:xfrm>
          <a:prstGeom prst="rect">
            <a:avLst/>
          </a:prstGeom>
          <a:noFill/>
          <a:ln/>
        </p:spPr>
        <p:txBody>
          <a:bodyPr wrap="square" lIns="0" tIns="0" rIns="0" bIns="0" rtlCol="0" anchor="ctr"/>
          <a:lstStyle/>
          <a:p>
            <a:pPr indent="0" marL="0">
              <a:buNone/>
            </a:pPr>
            <a:r>
              <a:rPr lang="en-US" sz="1000" dirty="0">
                <a:solidFill>
                  <a:srgbClr val="55616F"/>
                </a:solidFill>
                <a:latin typeface="Courier New" pitchFamily="34" charset="0"/>
                <a:ea typeface="Courier New" pitchFamily="34" charset="-122"/>
                <a:cs typeface="Courier New" pitchFamily="34" charset="-120"/>
              </a:rPr>
              <a:t>class="m2"</a:t>
            </a:r>
            <a:endParaRPr lang="en-US" sz="1000" dirty="0"/>
          </a:p>
        </p:txBody>
      </p:sp>
      <p:sp>
        <p:nvSpPr>
          <p:cNvPr id="18" name="Shape 15"/>
          <p:cNvSpPr/>
          <p:nvPr/>
        </p:nvSpPr>
        <p:spPr>
          <a:xfrm>
            <a:off x="859536" y="3913632"/>
            <a:ext cx="2103120" cy="658368"/>
          </a:xfrm>
          <a:prstGeom prst="roundRect">
            <a:avLst>
              <a:gd name="adj" fmla="val 13889"/>
            </a:avLst>
          </a:prstGeom>
          <a:solidFill>
            <a:srgbClr val="111826"/>
          </a:solidFill>
          <a:ln w="12700">
            <a:solidFill>
              <a:srgbClr val="1D2637"/>
            </a:solidFill>
            <a:prstDash val="solid"/>
          </a:ln>
        </p:spPr>
      </p:sp>
      <p:sp>
        <p:nvSpPr>
          <p:cNvPr id="19" name="Text 16"/>
          <p:cNvSpPr/>
          <p:nvPr/>
        </p:nvSpPr>
        <p:spPr>
          <a:xfrm>
            <a:off x="1133856" y="4151376"/>
            <a:ext cx="1554480" cy="182880"/>
          </a:xfrm>
          <a:prstGeom prst="rect">
            <a:avLst/>
          </a:prstGeom>
          <a:noFill/>
          <a:ln/>
        </p:spPr>
        <p:txBody>
          <a:bodyPr wrap="square" lIns="0" tIns="0" rIns="0" bIns="0" rtlCol="0" anchor="t"/>
          <a:lstStyle/>
          <a:p>
            <a:pPr indent="0" marL="0">
              <a:lnSpc>
                <a:spcPts val="1600"/>
              </a:lnSpc>
              <a:buNone/>
            </a:pPr>
            <a:r>
              <a:rPr lang="en-US" sz="1150" dirty="0">
                <a:solidFill>
                  <a:srgbClr val="E6EAF2"/>
                </a:solidFill>
                <a:latin typeface="Courier New" pitchFamily="34" charset="0"/>
                <a:ea typeface="Courier New" pitchFamily="34" charset="-122"/>
                <a:cs typeface="Courier New" pitchFamily="34" charset="-120"/>
              </a:rPr>
              <a:t>.m1.m2</a:t>
            </a:r>
            <a:endParaRPr lang="en-US" sz="1150" dirty="0"/>
          </a:p>
        </p:txBody>
      </p:sp>
      <p:sp>
        <p:nvSpPr>
          <p:cNvPr id="20" name="Text 17"/>
          <p:cNvSpPr/>
          <p:nvPr/>
        </p:nvSpPr>
        <p:spPr>
          <a:xfrm>
            <a:off x="859536" y="4681728"/>
            <a:ext cx="2103120" cy="566928"/>
          </a:xfrm>
          <a:prstGeom prst="rect">
            <a:avLst/>
          </a:prstGeom>
          <a:noFill/>
          <a:ln/>
        </p:spPr>
        <p:txBody>
          <a:bodyPr wrap="square" lIns="0" tIns="0" rIns="0" bIns="0" rtlCol="0" anchor="t"/>
          <a:lstStyle/>
          <a:p>
            <a:pPr algn="l" indent="0" marL="0">
              <a:lnSpc>
                <a:spcPts val="1400"/>
              </a:lnSpc>
              <a:buNone/>
            </a:pPr>
            <a:r>
              <a:rPr lang="en-US" sz="1050" dirty="0">
                <a:solidFill>
                  <a:srgbClr val="55616F"/>
                </a:solidFill>
                <a:latin typeface="Calibri" pitchFamily="34" charset="0"/>
                <a:ea typeface="Calibri" pitchFamily="34" charset="-122"/>
                <a:cs typeface="Calibri" pitchFamily="34" charset="-120"/>
              </a:rPr>
              <a:t>No space means one element with both classes.</a:t>
            </a:r>
            <a:endParaRPr lang="en-US" sz="1050" dirty="0"/>
          </a:p>
        </p:txBody>
      </p:sp>
      <p:sp>
        <p:nvSpPr>
          <p:cNvPr id="21" name="Shape 18"/>
          <p:cNvSpPr/>
          <p:nvPr/>
        </p:nvSpPr>
        <p:spPr>
          <a:xfrm>
            <a:off x="3483864" y="1627632"/>
            <a:ext cx="2542032" cy="3840480"/>
          </a:xfrm>
          <a:prstGeom prst="roundRect">
            <a:avLst>
              <a:gd name="adj" fmla="val 3597"/>
            </a:avLst>
          </a:prstGeom>
          <a:solidFill>
            <a:srgbClr val="FFFFFF"/>
          </a:solidFill>
          <a:ln w="12700">
            <a:solidFill>
              <a:srgbClr val="D9DEE7"/>
            </a:solidFill>
            <a:prstDash val="solid"/>
          </a:ln>
          <a:effectLst>
            <a:outerShdw sx="100000" sy="100000" kx="0" ky="0" algn="bl" rotWithShape="0" blurRad="177800" dist="38100" dir="5400000">
              <a:srgbClr val="000000">
                <a:alpha val="35000"/>
              </a:srgbClr>
            </a:outerShdw>
          </a:effectLst>
        </p:spPr>
      </p:sp>
      <p:sp>
        <p:nvSpPr>
          <p:cNvPr id="22" name="Shape 19"/>
          <p:cNvSpPr/>
          <p:nvPr/>
        </p:nvSpPr>
        <p:spPr>
          <a:xfrm>
            <a:off x="3685032" y="1792224"/>
            <a:ext cx="384048" cy="384048"/>
          </a:xfrm>
          <a:prstGeom prst="ellipse">
            <a:avLst/>
          </a:prstGeom>
          <a:solidFill>
            <a:srgbClr val="E7EEFD"/>
          </a:solidFill>
          <a:ln w="12700">
            <a:solidFill>
              <a:srgbClr val="B6CDFA"/>
            </a:solidFill>
            <a:prstDash val="solid"/>
          </a:ln>
        </p:spPr>
      </p:sp>
      <p:sp>
        <p:nvSpPr>
          <p:cNvPr id="23" name="Text 20"/>
          <p:cNvSpPr/>
          <p:nvPr/>
        </p:nvSpPr>
        <p:spPr>
          <a:xfrm>
            <a:off x="3685032" y="1792224"/>
            <a:ext cx="384048" cy="384048"/>
          </a:xfrm>
          <a:prstGeom prst="rect">
            <a:avLst/>
          </a:prstGeom>
          <a:noFill/>
          <a:ln/>
        </p:spPr>
        <p:txBody>
          <a:bodyPr wrap="square" lIns="0" tIns="0" rIns="0" bIns="0" rtlCol="0" anchor="ctr"/>
          <a:lstStyle/>
          <a:p>
            <a:pPr algn="ctr" indent="0" marL="0">
              <a:buNone/>
            </a:pPr>
            <a:r>
              <a:rPr lang="en-US" sz="1200" b="1" dirty="0">
                <a:solidFill>
                  <a:srgbClr val="2C6BED"/>
                </a:solidFill>
                <a:latin typeface="Calibri" pitchFamily="34" charset="0"/>
                <a:ea typeface="Calibri" pitchFamily="34" charset="-122"/>
                <a:cs typeface="Calibri" pitchFamily="34" charset="-120"/>
              </a:rPr>
              <a:t>2</a:t>
            </a:r>
            <a:endParaRPr lang="en-US" sz="1200" dirty="0"/>
          </a:p>
        </p:txBody>
      </p:sp>
      <p:sp>
        <p:nvSpPr>
          <p:cNvPr id="24" name="Text 21"/>
          <p:cNvSpPr/>
          <p:nvPr/>
        </p:nvSpPr>
        <p:spPr>
          <a:xfrm>
            <a:off x="4160520" y="1755648"/>
            <a:ext cx="1664208" cy="457200"/>
          </a:xfrm>
          <a:prstGeom prst="rect">
            <a:avLst/>
          </a:prstGeom>
          <a:noFill/>
          <a:ln/>
        </p:spPr>
        <p:txBody>
          <a:bodyPr wrap="square" lIns="0" tIns="0" rIns="0" bIns="0" rtlCol="0" anchor="ctr"/>
          <a:lstStyle/>
          <a:p>
            <a:pPr indent="0" marL="0">
              <a:lnSpc>
                <a:spcPts val="1400"/>
              </a:lnSpc>
              <a:buNone/>
            </a:pPr>
            <a:r>
              <a:rPr lang="en-US" sz="1100" dirty="0">
                <a:solidFill>
                  <a:srgbClr val="55616F"/>
                </a:solidFill>
                <a:latin typeface="Calibri" pitchFamily="34" charset="0"/>
                <a:ea typeface="Calibri" pitchFamily="34" charset="-122"/>
                <a:cs typeface="Calibri" pitchFamily="34" charset="-120"/>
              </a:rPr>
              <a:t>Hit the one nested inside</a:t>
            </a:r>
            <a:endParaRPr lang="en-US" sz="1100" dirty="0"/>
          </a:p>
        </p:txBody>
      </p:sp>
      <p:sp>
        <p:nvSpPr>
          <p:cNvPr id="25" name="Shape 22"/>
          <p:cNvSpPr/>
          <p:nvPr/>
        </p:nvSpPr>
        <p:spPr>
          <a:xfrm>
            <a:off x="3703320" y="2377440"/>
            <a:ext cx="2103120" cy="1298448"/>
          </a:xfrm>
          <a:prstGeom prst="roundRect">
            <a:avLst>
              <a:gd name="adj" fmla="val 4225"/>
            </a:avLst>
          </a:prstGeom>
          <a:solidFill>
            <a:srgbClr val="F1F4F9"/>
          </a:solidFill>
          <a:ln w="12700">
            <a:solidFill>
              <a:srgbClr val="C3CBD8"/>
            </a:solidFill>
            <a:prstDash val="solid"/>
          </a:ln>
        </p:spPr>
      </p:sp>
      <p:sp>
        <p:nvSpPr>
          <p:cNvPr id="26" name="Text 23"/>
          <p:cNvSpPr/>
          <p:nvPr/>
        </p:nvSpPr>
        <p:spPr>
          <a:xfrm>
            <a:off x="3831336" y="2414016"/>
            <a:ext cx="1828800" cy="274320"/>
          </a:xfrm>
          <a:prstGeom prst="rect">
            <a:avLst/>
          </a:prstGeom>
          <a:noFill/>
          <a:ln/>
        </p:spPr>
        <p:txBody>
          <a:bodyPr wrap="square" lIns="0" tIns="0" rIns="0" bIns="0" rtlCol="0" anchor="ctr"/>
          <a:lstStyle/>
          <a:p>
            <a:pPr indent="0" marL="0">
              <a:buNone/>
            </a:pPr>
            <a:r>
              <a:rPr lang="en-US" sz="950" dirty="0">
                <a:solidFill>
                  <a:srgbClr val="55616F"/>
                </a:solidFill>
                <a:latin typeface="Courier New" pitchFamily="34" charset="0"/>
                <a:ea typeface="Courier New" pitchFamily="34" charset="-122"/>
                <a:cs typeface="Courier New" pitchFamily="34" charset="-120"/>
              </a:rPr>
              <a:t>class="c1"</a:t>
            </a:r>
            <a:endParaRPr lang="en-US" sz="950" dirty="0"/>
          </a:p>
        </p:txBody>
      </p:sp>
      <p:sp>
        <p:nvSpPr>
          <p:cNvPr id="27" name="Shape 24"/>
          <p:cNvSpPr/>
          <p:nvPr/>
        </p:nvSpPr>
        <p:spPr>
          <a:xfrm>
            <a:off x="3977640" y="2743200"/>
            <a:ext cx="1691640" cy="402336"/>
          </a:xfrm>
          <a:prstGeom prst="roundRect">
            <a:avLst>
              <a:gd name="adj" fmla="val 13636"/>
            </a:avLst>
          </a:prstGeom>
          <a:solidFill>
            <a:srgbClr val="E7EEFD"/>
          </a:solidFill>
          <a:ln w="22225">
            <a:solidFill>
              <a:srgbClr val="2C6BED"/>
            </a:solidFill>
            <a:prstDash val="solid"/>
          </a:ln>
        </p:spPr>
      </p:sp>
      <p:sp>
        <p:nvSpPr>
          <p:cNvPr id="28" name="Text 25"/>
          <p:cNvSpPr/>
          <p:nvPr/>
        </p:nvSpPr>
        <p:spPr>
          <a:xfrm>
            <a:off x="4087368" y="2743200"/>
            <a:ext cx="1463040" cy="402336"/>
          </a:xfrm>
          <a:prstGeom prst="rect">
            <a:avLst/>
          </a:prstGeom>
          <a:noFill/>
          <a:ln/>
        </p:spPr>
        <p:txBody>
          <a:bodyPr wrap="square" lIns="0" tIns="0" rIns="0" bIns="0" rtlCol="0" anchor="ctr"/>
          <a:lstStyle/>
          <a:p>
            <a:pPr indent="0" marL="0">
              <a:buNone/>
            </a:pPr>
            <a:r>
              <a:rPr lang="en-US" sz="1000" b="1" dirty="0">
                <a:solidFill>
                  <a:srgbClr val="2C6BED"/>
                </a:solidFill>
                <a:latin typeface="Courier New" pitchFamily="34" charset="0"/>
                <a:ea typeface="Courier New" pitchFamily="34" charset="-122"/>
                <a:cs typeface="Courier New" pitchFamily="34" charset="-120"/>
              </a:rPr>
              <a:t>class="c2"</a:t>
            </a:r>
            <a:endParaRPr lang="en-US" sz="1000" dirty="0"/>
          </a:p>
        </p:txBody>
      </p:sp>
      <p:sp>
        <p:nvSpPr>
          <p:cNvPr id="29" name="Shape 26"/>
          <p:cNvSpPr/>
          <p:nvPr/>
        </p:nvSpPr>
        <p:spPr>
          <a:xfrm>
            <a:off x="3977640" y="3218688"/>
            <a:ext cx="1691640" cy="365760"/>
          </a:xfrm>
          <a:prstGeom prst="roundRect">
            <a:avLst>
              <a:gd name="adj" fmla="val 15000"/>
            </a:avLst>
          </a:prstGeom>
          <a:solidFill>
            <a:srgbClr val="FFFFFF"/>
          </a:solidFill>
          <a:ln w="12700">
            <a:solidFill>
              <a:srgbClr val="C3CBD8"/>
            </a:solidFill>
            <a:prstDash val="solid"/>
          </a:ln>
        </p:spPr>
      </p:sp>
      <p:sp>
        <p:nvSpPr>
          <p:cNvPr id="30" name="Text 27"/>
          <p:cNvSpPr/>
          <p:nvPr/>
        </p:nvSpPr>
        <p:spPr>
          <a:xfrm>
            <a:off x="4087368" y="3218688"/>
            <a:ext cx="1463040" cy="365760"/>
          </a:xfrm>
          <a:prstGeom prst="rect">
            <a:avLst/>
          </a:prstGeom>
          <a:noFill/>
          <a:ln/>
        </p:spPr>
        <p:txBody>
          <a:bodyPr wrap="square" lIns="0" tIns="0" rIns="0" bIns="0" rtlCol="0" anchor="ctr"/>
          <a:lstStyle/>
          <a:p>
            <a:pPr indent="0" marL="0">
              <a:buNone/>
            </a:pPr>
            <a:r>
              <a:rPr lang="en-US" sz="950" dirty="0">
                <a:solidFill>
                  <a:srgbClr val="939DAB"/>
                </a:solidFill>
                <a:latin typeface="Courier New" pitchFamily="34" charset="0"/>
                <a:ea typeface="Courier New" pitchFamily="34" charset="-122"/>
                <a:cs typeface="Courier New" pitchFamily="34" charset="-120"/>
              </a:rPr>
              <a:t>other stuff</a:t>
            </a:r>
            <a:endParaRPr lang="en-US" sz="950" dirty="0"/>
          </a:p>
        </p:txBody>
      </p:sp>
      <p:sp>
        <p:nvSpPr>
          <p:cNvPr id="31" name="Shape 28"/>
          <p:cNvSpPr/>
          <p:nvPr/>
        </p:nvSpPr>
        <p:spPr>
          <a:xfrm>
            <a:off x="3703320" y="3913632"/>
            <a:ext cx="2103120" cy="658368"/>
          </a:xfrm>
          <a:prstGeom prst="roundRect">
            <a:avLst>
              <a:gd name="adj" fmla="val 13889"/>
            </a:avLst>
          </a:prstGeom>
          <a:solidFill>
            <a:srgbClr val="111826"/>
          </a:solidFill>
          <a:ln w="12700">
            <a:solidFill>
              <a:srgbClr val="1D2637"/>
            </a:solidFill>
            <a:prstDash val="solid"/>
          </a:ln>
        </p:spPr>
      </p:sp>
      <p:sp>
        <p:nvSpPr>
          <p:cNvPr id="32" name="Text 29"/>
          <p:cNvSpPr/>
          <p:nvPr/>
        </p:nvSpPr>
        <p:spPr>
          <a:xfrm>
            <a:off x="3977640" y="4151376"/>
            <a:ext cx="1554480" cy="182880"/>
          </a:xfrm>
          <a:prstGeom prst="rect">
            <a:avLst/>
          </a:prstGeom>
          <a:noFill/>
          <a:ln/>
        </p:spPr>
        <p:txBody>
          <a:bodyPr wrap="square" lIns="0" tIns="0" rIns="0" bIns="0" rtlCol="0" anchor="t"/>
          <a:lstStyle/>
          <a:p>
            <a:pPr indent="0" marL="0">
              <a:lnSpc>
                <a:spcPts val="1600"/>
              </a:lnSpc>
              <a:buNone/>
            </a:pPr>
            <a:r>
              <a:rPr lang="en-US" sz="1150" dirty="0">
                <a:solidFill>
                  <a:srgbClr val="E6EAF2"/>
                </a:solidFill>
                <a:latin typeface="Courier New" pitchFamily="34" charset="0"/>
                <a:ea typeface="Courier New" pitchFamily="34" charset="-122"/>
                <a:cs typeface="Courier New" pitchFamily="34" charset="-120"/>
              </a:rPr>
              <a:t>.c1 .c2</a:t>
            </a:r>
            <a:endParaRPr lang="en-US" sz="1150" dirty="0"/>
          </a:p>
        </p:txBody>
      </p:sp>
      <p:sp>
        <p:nvSpPr>
          <p:cNvPr id="33" name="Text 30"/>
          <p:cNvSpPr/>
          <p:nvPr/>
        </p:nvSpPr>
        <p:spPr>
          <a:xfrm>
            <a:off x="3703320" y="4681728"/>
            <a:ext cx="2103120" cy="566928"/>
          </a:xfrm>
          <a:prstGeom prst="rect">
            <a:avLst/>
          </a:prstGeom>
          <a:noFill/>
          <a:ln/>
        </p:spPr>
        <p:txBody>
          <a:bodyPr wrap="square" lIns="0" tIns="0" rIns="0" bIns="0" rtlCol="0" anchor="t"/>
          <a:lstStyle/>
          <a:p>
            <a:pPr algn="l" indent="0" marL="0">
              <a:lnSpc>
                <a:spcPts val="1400"/>
              </a:lnSpc>
              <a:buNone/>
            </a:pPr>
            <a:r>
              <a:rPr lang="en-US" sz="1050" dirty="0">
                <a:solidFill>
                  <a:srgbClr val="55616F"/>
                </a:solidFill>
                <a:latin typeface="Calibri" pitchFamily="34" charset="0"/>
                <a:ea typeface="Calibri" pitchFamily="34" charset="-122"/>
                <a:cs typeface="Calibri" pitchFamily="34" charset="-120"/>
              </a:rPr>
              <a:t>A space means c2 lives somewhere inside c1.</a:t>
            </a:r>
            <a:endParaRPr lang="en-US" sz="1050" dirty="0"/>
          </a:p>
        </p:txBody>
      </p:sp>
      <p:sp>
        <p:nvSpPr>
          <p:cNvPr id="34" name="Shape 31"/>
          <p:cNvSpPr/>
          <p:nvPr/>
        </p:nvSpPr>
        <p:spPr>
          <a:xfrm>
            <a:off x="6327648" y="1627632"/>
            <a:ext cx="2542032" cy="3840480"/>
          </a:xfrm>
          <a:prstGeom prst="roundRect">
            <a:avLst>
              <a:gd name="adj" fmla="val 3597"/>
            </a:avLst>
          </a:prstGeom>
          <a:solidFill>
            <a:srgbClr val="FFFFFF"/>
          </a:solidFill>
          <a:ln w="12700">
            <a:solidFill>
              <a:srgbClr val="D9DEE7"/>
            </a:solidFill>
            <a:prstDash val="solid"/>
          </a:ln>
          <a:effectLst>
            <a:outerShdw sx="100000" sy="100000" kx="0" ky="0" algn="bl" rotWithShape="0" blurRad="177800" dist="38100" dir="5400000">
              <a:srgbClr val="000000">
                <a:alpha val="35000"/>
              </a:srgbClr>
            </a:outerShdw>
          </a:effectLst>
        </p:spPr>
      </p:sp>
      <p:sp>
        <p:nvSpPr>
          <p:cNvPr id="35" name="Shape 32"/>
          <p:cNvSpPr/>
          <p:nvPr/>
        </p:nvSpPr>
        <p:spPr>
          <a:xfrm>
            <a:off x="6528816" y="1792224"/>
            <a:ext cx="384048" cy="384048"/>
          </a:xfrm>
          <a:prstGeom prst="ellipse">
            <a:avLst/>
          </a:prstGeom>
          <a:solidFill>
            <a:srgbClr val="E7EEFD"/>
          </a:solidFill>
          <a:ln w="12700">
            <a:solidFill>
              <a:srgbClr val="B6CDFA"/>
            </a:solidFill>
            <a:prstDash val="solid"/>
          </a:ln>
        </p:spPr>
      </p:sp>
      <p:sp>
        <p:nvSpPr>
          <p:cNvPr id="36" name="Text 33"/>
          <p:cNvSpPr/>
          <p:nvPr/>
        </p:nvSpPr>
        <p:spPr>
          <a:xfrm>
            <a:off x="6528816" y="1792224"/>
            <a:ext cx="384048" cy="384048"/>
          </a:xfrm>
          <a:prstGeom prst="rect">
            <a:avLst/>
          </a:prstGeom>
          <a:noFill/>
          <a:ln/>
        </p:spPr>
        <p:txBody>
          <a:bodyPr wrap="square" lIns="0" tIns="0" rIns="0" bIns="0" rtlCol="0" anchor="ctr"/>
          <a:lstStyle/>
          <a:p>
            <a:pPr algn="ctr" indent="0" marL="0">
              <a:buNone/>
            </a:pPr>
            <a:r>
              <a:rPr lang="en-US" sz="1200" b="1" dirty="0">
                <a:solidFill>
                  <a:srgbClr val="2C6BED"/>
                </a:solidFill>
                <a:latin typeface="Calibri" pitchFamily="34" charset="0"/>
                <a:ea typeface="Calibri" pitchFamily="34" charset="-122"/>
                <a:cs typeface="Calibri" pitchFamily="34" charset="-120"/>
              </a:rPr>
              <a:t>3</a:t>
            </a:r>
            <a:endParaRPr lang="en-US" sz="1200" dirty="0"/>
          </a:p>
        </p:txBody>
      </p:sp>
      <p:sp>
        <p:nvSpPr>
          <p:cNvPr id="37" name="Text 34"/>
          <p:cNvSpPr/>
          <p:nvPr/>
        </p:nvSpPr>
        <p:spPr>
          <a:xfrm>
            <a:off x="7004304" y="1755648"/>
            <a:ext cx="1664208" cy="457200"/>
          </a:xfrm>
          <a:prstGeom prst="rect">
            <a:avLst/>
          </a:prstGeom>
          <a:noFill/>
          <a:ln/>
        </p:spPr>
        <p:txBody>
          <a:bodyPr wrap="square" lIns="0" tIns="0" rIns="0" bIns="0" rtlCol="0" anchor="ctr"/>
          <a:lstStyle/>
          <a:p>
            <a:pPr indent="0" marL="0">
              <a:lnSpc>
                <a:spcPts val="1400"/>
              </a:lnSpc>
              <a:buNone/>
            </a:pPr>
            <a:r>
              <a:rPr lang="en-US" sz="1100" dirty="0">
                <a:solidFill>
                  <a:srgbClr val="55616F"/>
                </a:solidFill>
                <a:latin typeface="Calibri" pitchFamily="34" charset="0"/>
                <a:ea typeface="Calibri" pitchFamily="34" charset="-122"/>
                <a:cs typeface="Calibri" pitchFamily="34" charset="-120"/>
              </a:rPr>
              <a:t>Hit only the direct son</a:t>
            </a:r>
            <a:endParaRPr lang="en-US" sz="1100" dirty="0"/>
          </a:p>
        </p:txBody>
      </p:sp>
      <p:sp>
        <p:nvSpPr>
          <p:cNvPr id="38" name="Shape 35"/>
          <p:cNvSpPr/>
          <p:nvPr/>
        </p:nvSpPr>
        <p:spPr>
          <a:xfrm>
            <a:off x="6547104" y="2377440"/>
            <a:ext cx="2103120" cy="1298448"/>
          </a:xfrm>
          <a:prstGeom prst="roundRect">
            <a:avLst>
              <a:gd name="adj" fmla="val 4225"/>
            </a:avLst>
          </a:prstGeom>
          <a:solidFill>
            <a:srgbClr val="F1F4F9"/>
          </a:solidFill>
          <a:ln w="12700">
            <a:solidFill>
              <a:srgbClr val="C3CBD8"/>
            </a:solidFill>
            <a:prstDash val="solid"/>
          </a:ln>
        </p:spPr>
      </p:sp>
      <p:sp>
        <p:nvSpPr>
          <p:cNvPr id="39" name="Text 36"/>
          <p:cNvSpPr/>
          <p:nvPr/>
        </p:nvSpPr>
        <p:spPr>
          <a:xfrm>
            <a:off x="6675120" y="2414016"/>
            <a:ext cx="1828800" cy="274320"/>
          </a:xfrm>
          <a:prstGeom prst="rect">
            <a:avLst/>
          </a:prstGeom>
          <a:noFill/>
          <a:ln/>
        </p:spPr>
        <p:txBody>
          <a:bodyPr wrap="square" lIns="0" tIns="0" rIns="0" bIns="0" rtlCol="0" anchor="ctr"/>
          <a:lstStyle/>
          <a:p>
            <a:pPr indent="0" marL="0">
              <a:buNone/>
            </a:pPr>
            <a:r>
              <a:rPr lang="en-US" sz="950" dirty="0">
                <a:solidFill>
                  <a:srgbClr val="55616F"/>
                </a:solidFill>
                <a:latin typeface="Courier New" pitchFamily="34" charset="0"/>
                <a:ea typeface="Courier New" pitchFamily="34" charset="-122"/>
                <a:cs typeface="Courier New" pitchFamily="34" charset="-120"/>
              </a:rPr>
              <a:t>class="c1"</a:t>
            </a:r>
            <a:endParaRPr lang="en-US" sz="950" dirty="0"/>
          </a:p>
        </p:txBody>
      </p:sp>
      <p:sp>
        <p:nvSpPr>
          <p:cNvPr id="40" name="Shape 37"/>
          <p:cNvSpPr/>
          <p:nvPr/>
        </p:nvSpPr>
        <p:spPr>
          <a:xfrm>
            <a:off x="6821424" y="2724912"/>
            <a:ext cx="1691640" cy="365760"/>
          </a:xfrm>
          <a:prstGeom prst="roundRect">
            <a:avLst>
              <a:gd name="adj" fmla="val 15000"/>
            </a:avLst>
          </a:prstGeom>
          <a:solidFill>
            <a:srgbClr val="E7EEFD"/>
          </a:solidFill>
          <a:ln w="22225">
            <a:solidFill>
              <a:srgbClr val="2C6BED"/>
            </a:solidFill>
            <a:prstDash val="solid"/>
          </a:ln>
        </p:spPr>
      </p:sp>
      <p:sp>
        <p:nvSpPr>
          <p:cNvPr id="41" name="Text 38"/>
          <p:cNvSpPr/>
          <p:nvPr/>
        </p:nvSpPr>
        <p:spPr>
          <a:xfrm>
            <a:off x="6931152" y="2724912"/>
            <a:ext cx="1463040" cy="365760"/>
          </a:xfrm>
          <a:prstGeom prst="rect">
            <a:avLst/>
          </a:prstGeom>
          <a:noFill/>
          <a:ln/>
        </p:spPr>
        <p:txBody>
          <a:bodyPr wrap="square" lIns="0" tIns="0" rIns="0" bIns="0" rtlCol="0" anchor="ctr"/>
          <a:lstStyle/>
          <a:p>
            <a:pPr indent="0" marL="0">
              <a:buNone/>
            </a:pPr>
            <a:r>
              <a:rPr lang="en-US" sz="1000" b="1" dirty="0">
                <a:solidFill>
                  <a:srgbClr val="2C6BED"/>
                </a:solidFill>
                <a:latin typeface="Courier New" pitchFamily="34" charset="0"/>
                <a:ea typeface="Courier New" pitchFamily="34" charset="-122"/>
                <a:cs typeface="Courier New" pitchFamily="34" charset="-120"/>
              </a:rPr>
              <a:t>p   direct son</a:t>
            </a:r>
            <a:endParaRPr lang="en-US" sz="1000" dirty="0"/>
          </a:p>
        </p:txBody>
      </p:sp>
      <p:sp>
        <p:nvSpPr>
          <p:cNvPr id="42" name="Shape 39"/>
          <p:cNvSpPr/>
          <p:nvPr/>
        </p:nvSpPr>
        <p:spPr>
          <a:xfrm>
            <a:off x="6931152" y="3163824"/>
            <a:ext cx="1572768" cy="402336"/>
          </a:xfrm>
          <a:prstGeom prst="roundRect">
            <a:avLst>
              <a:gd name="adj" fmla="val 13636"/>
            </a:avLst>
          </a:prstGeom>
          <a:solidFill>
            <a:srgbClr val="FFFFFF"/>
          </a:solidFill>
          <a:ln w="12700">
            <a:solidFill>
              <a:srgbClr val="C3CBD8"/>
            </a:solidFill>
            <a:prstDash val="solid"/>
          </a:ln>
        </p:spPr>
      </p:sp>
      <p:sp>
        <p:nvSpPr>
          <p:cNvPr id="43" name="Text 40"/>
          <p:cNvSpPr/>
          <p:nvPr/>
        </p:nvSpPr>
        <p:spPr>
          <a:xfrm>
            <a:off x="7022592" y="3163824"/>
            <a:ext cx="1371600" cy="402336"/>
          </a:xfrm>
          <a:prstGeom prst="rect">
            <a:avLst/>
          </a:prstGeom>
          <a:noFill/>
          <a:ln/>
        </p:spPr>
        <p:txBody>
          <a:bodyPr wrap="square" lIns="0" tIns="0" rIns="0" bIns="0" rtlCol="0" anchor="ctr"/>
          <a:lstStyle/>
          <a:p>
            <a:pPr indent="0" marL="0">
              <a:buNone/>
            </a:pPr>
            <a:r>
              <a:rPr lang="en-US" sz="900" dirty="0">
                <a:solidFill>
                  <a:srgbClr val="939DAB"/>
                </a:solidFill>
                <a:latin typeface="Courier New" pitchFamily="34" charset="0"/>
                <a:ea typeface="Courier New" pitchFamily="34" charset="-122"/>
                <a:cs typeface="Courier New" pitchFamily="34" charset="-120"/>
              </a:rPr>
              <a:t>div &gt; p  grandson</a:t>
            </a:r>
            <a:endParaRPr lang="en-US" sz="900" dirty="0"/>
          </a:p>
        </p:txBody>
      </p:sp>
      <p:sp>
        <p:nvSpPr>
          <p:cNvPr id="44" name="Shape 41"/>
          <p:cNvSpPr/>
          <p:nvPr/>
        </p:nvSpPr>
        <p:spPr>
          <a:xfrm>
            <a:off x="6547104" y="3913632"/>
            <a:ext cx="2103120" cy="658368"/>
          </a:xfrm>
          <a:prstGeom prst="roundRect">
            <a:avLst>
              <a:gd name="adj" fmla="val 13889"/>
            </a:avLst>
          </a:prstGeom>
          <a:solidFill>
            <a:srgbClr val="111826"/>
          </a:solidFill>
          <a:ln w="12700">
            <a:solidFill>
              <a:srgbClr val="1D2637"/>
            </a:solidFill>
            <a:prstDash val="solid"/>
          </a:ln>
        </p:spPr>
      </p:sp>
      <p:sp>
        <p:nvSpPr>
          <p:cNvPr id="45" name="Text 42"/>
          <p:cNvSpPr/>
          <p:nvPr/>
        </p:nvSpPr>
        <p:spPr>
          <a:xfrm>
            <a:off x="6821424" y="4151376"/>
            <a:ext cx="1554480" cy="182880"/>
          </a:xfrm>
          <a:prstGeom prst="rect">
            <a:avLst/>
          </a:prstGeom>
          <a:noFill/>
          <a:ln/>
        </p:spPr>
        <p:txBody>
          <a:bodyPr wrap="square" lIns="0" tIns="0" rIns="0" bIns="0" rtlCol="0" anchor="t"/>
          <a:lstStyle/>
          <a:p>
            <a:pPr indent="0" marL="0">
              <a:lnSpc>
                <a:spcPts val="1600"/>
              </a:lnSpc>
              <a:buNone/>
            </a:pPr>
            <a:r>
              <a:rPr lang="en-US" sz="1150" dirty="0">
                <a:solidFill>
                  <a:srgbClr val="E6EAF2"/>
                </a:solidFill>
                <a:latin typeface="Courier New" pitchFamily="34" charset="0"/>
                <a:ea typeface="Courier New" pitchFamily="34" charset="-122"/>
                <a:cs typeface="Courier New" pitchFamily="34" charset="-120"/>
              </a:rPr>
              <a:t>.c1 &gt; p</a:t>
            </a:r>
            <a:endParaRPr lang="en-US" sz="1150" dirty="0"/>
          </a:p>
        </p:txBody>
      </p:sp>
      <p:sp>
        <p:nvSpPr>
          <p:cNvPr id="46" name="Text 43"/>
          <p:cNvSpPr/>
          <p:nvPr/>
        </p:nvSpPr>
        <p:spPr>
          <a:xfrm>
            <a:off x="6547104" y="4681728"/>
            <a:ext cx="2103120" cy="566928"/>
          </a:xfrm>
          <a:prstGeom prst="rect">
            <a:avLst/>
          </a:prstGeom>
          <a:noFill/>
          <a:ln/>
        </p:spPr>
        <p:txBody>
          <a:bodyPr wrap="square" lIns="0" tIns="0" rIns="0" bIns="0" rtlCol="0" anchor="t"/>
          <a:lstStyle/>
          <a:p>
            <a:pPr algn="l" indent="0" marL="0">
              <a:lnSpc>
                <a:spcPts val="1400"/>
              </a:lnSpc>
              <a:buNone/>
            </a:pPr>
            <a:r>
              <a:rPr lang="en-US" sz="1050" dirty="0">
                <a:solidFill>
                  <a:srgbClr val="55616F"/>
                </a:solidFill>
                <a:latin typeface="Calibri" pitchFamily="34" charset="0"/>
                <a:ea typeface="Calibri" pitchFamily="34" charset="-122"/>
                <a:cs typeface="Calibri" pitchFamily="34" charset="-120"/>
              </a:rPr>
              <a:t>The grandson is skipped, even though it is also a p.</a:t>
            </a:r>
            <a:endParaRPr lang="en-US" sz="1050" dirty="0"/>
          </a:p>
        </p:txBody>
      </p:sp>
      <p:sp>
        <p:nvSpPr>
          <p:cNvPr id="47" name="Shape 44"/>
          <p:cNvSpPr/>
          <p:nvPr/>
        </p:nvSpPr>
        <p:spPr>
          <a:xfrm>
            <a:off x="9171432" y="1627632"/>
            <a:ext cx="2542032" cy="3840480"/>
          </a:xfrm>
          <a:prstGeom prst="roundRect">
            <a:avLst>
              <a:gd name="adj" fmla="val 3597"/>
            </a:avLst>
          </a:prstGeom>
          <a:solidFill>
            <a:srgbClr val="FFFFFF"/>
          </a:solidFill>
          <a:ln w="12700">
            <a:solidFill>
              <a:srgbClr val="D9DEE7"/>
            </a:solidFill>
            <a:prstDash val="solid"/>
          </a:ln>
          <a:effectLst>
            <a:outerShdw sx="100000" sy="100000" kx="0" ky="0" algn="bl" rotWithShape="0" blurRad="177800" dist="38100" dir="5400000">
              <a:srgbClr val="000000">
                <a:alpha val="35000"/>
              </a:srgbClr>
            </a:outerShdw>
          </a:effectLst>
        </p:spPr>
      </p:sp>
      <p:sp>
        <p:nvSpPr>
          <p:cNvPr id="48" name="Shape 45"/>
          <p:cNvSpPr/>
          <p:nvPr/>
        </p:nvSpPr>
        <p:spPr>
          <a:xfrm>
            <a:off x="9372600" y="1792224"/>
            <a:ext cx="384048" cy="384048"/>
          </a:xfrm>
          <a:prstGeom prst="ellipse">
            <a:avLst/>
          </a:prstGeom>
          <a:solidFill>
            <a:srgbClr val="E7EEFD"/>
          </a:solidFill>
          <a:ln w="12700">
            <a:solidFill>
              <a:srgbClr val="B6CDFA"/>
            </a:solidFill>
            <a:prstDash val="solid"/>
          </a:ln>
        </p:spPr>
      </p:sp>
      <p:sp>
        <p:nvSpPr>
          <p:cNvPr id="49" name="Text 46"/>
          <p:cNvSpPr/>
          <p:nvPr/>
        </p:nvSpPr>
        <p:spPr>
          <a:xfrm>
            <a:off x="9372600" y="1792224"/>
            <a:ext cx="384048" cy="384048"/>
          </a:xfrm>
          <a:prstGeom prst="rect">
            <a:avLst/>
          </a:prstGeom>
          <a:noFill/>
          <a:ln/>
        </p:spPr>
        <p:txBody>
          <a:bodyPr wrap="square" lIns="0" tIns="0" rIns="0" bIns="0" rtlCol="0" anchor="ctr"/>
          <a:lstStyle/>
          <a:p>
            <a:pPr algn="ctr" indent="0" marL="0">
              <a:buNone/>
            </a:pPr>
            <a:r>
              <a:rPr lang="en-US" sz="1200" b="1" dirty="0">
                <a:solidFill>
                  <a:srgbClr val="2C6BED"/>
                </a:solidFill>
                <a:latin typeface="Calibri" pitchFamily="34" charset="0"/>
                <a:ea typeface="Calibri" pitchFamily="34" charset="-122"/>
                <a:cs typeface="Calibri" pitchFamily="34" charset="-120"/>
              </a:rPr>
              <a:t>4</a:t>
            </a:r>
            <a:endParaRPr lang="en-US" sz="1200" dirty="0"/>
          </a:p>
        </p:txBody>
      </p:sp>
      <p:sp>
        <p:nvSpPr>
          <p:cNvPr id="50" name="Text 47"/>
          <p:cNvSpPr/>
          <p:nvPr/>
        </p:nvSpPr>
        <p:spPr>
          <a:xfrm>
            <a:off x="9848088" y="1755648"/>
            <a:ext cx="1664208" cy="457200"/>
          </a:xfrm>
          <a:prstGeom prst="rect">
            <a:avLst/>
          </a:prstGeom>
          <a:noFill/>
          <a:ln/>
        </p:spPr>
        <p:txBody>
          <a:bodyPr wrap="square" lIns="0" tIns="0" rIns="0" bIns="0" rtlCol="0" anchor="ctr"/>
          <a:lstStyle/>
          <a:p>
            <a:pPr indent="0" marL="0">
              <a:lnSpc>
                <a:spcPts val="1400"/>
              </a:lnSpc>
              <a:buNone/>
            </a:pPr>
            <a:r>
              <a:rPr lang="en-US" sz="1100" dirty="0">
                <a:solidFill>
                  <a:srgbClr val="55616F"/>
                </a:solidFill>
                <a:latin typeface="Calibri" pitchFamily="34" charset="0"/>
                <a:ea typeface="Calibri" pitchFamily="34" charset="-122"/>
                <a:cs typeface="Calibri" pitchFamily="34" charset="-120"/>
              </a:rPr>
              <a:t>Hit it by its attribute</a:t>
            </a:r>
            <a:endParaRPr lang="en-US" sz="1100" dirty="0"/>
          </a:p>
        </p:txBody>
      </p:sp>
      <p:sp>
        <p:nvSpPr>
          <p:cNvPr id="51" name="Shape 48"/>
          <p:cNvSpPr/>
          <p:nvPr/>
        </p:nvSpPr>
        <p:spPr>
          <a:xfrm>
            <a:off x="9390888" y="2377440"/>
            <a:ext cx="1097280" cy="384048"/>
          </a:xfrm>
          <a:prstGeom prst="roundRect">
            <a:avLst>
              <a:gd name="adj" fmla="val 11905"/>
            </a:avLst>
          </a:prstGeom>
          <a:solidFill>
            <a:srgbClr val="E7EEFD"/>
          </a:solidFill>
          <a:ln w="22225">
            <a:solidFill>
              <a:srgbClr val="2C6BED"/>
            </a:solidFill>
            <a:prstDash val="solid"/>
          </a:ln>
        </p:spPr>
      </p:sp>
      <p:sp>
        <p:nvSpPr>
          <p:cNvPr id="52" name="Text 49"/>
          <p:cNvSpPr/>
          <p:nvPr/>
        </p:nvSpPr>
        <p:spPr>
          <a:xfrm>
            <a:off x="9390888" y="2377440"/>
            <a:ext cx="1097280" cy="384048"/>
          </a:xfrm>
          <a:prstGeom prst="rect">
            <a:avLst/>
          </a:prstGeom>
          <a:noFill/>
          <a:ln/>
        </p:spPr>
        <p:txBody>
          <a:bodyPr wrap="square" lIns="0" tIns="0" rIns="0" bIns="0" rtlCol="0" anchor="ctr"/>
          <a:lstStyle/>
          <a:p>
            <a:pPr algn="ctr" indent="0" marL="0">
              <a:buNone/>
            </a:pPr>
            <a:r>
              <a:rPr lang="en-US" sz="1000" b="1" dirty="0">
                <a:solidFill>
                  <a:srgbClr val="2C6BED"/>
                </a:solidFill>
                <a:latin typeface="Calibri" pitchFamily="34" charset="0"/>
                <a:ea typeface="Calibri" pitchFamily="34" charset="-122"/>
                <a:cs typeface="Calibri" pitchFamily="34" charset="-120"/>
              </a:rPr>
              <a:t>Select me</a:t>
            </a:r>
            <a:endParaRPr lang="en-US" sz="1000" dirty="0"/>
          </a:p>
        </p:txBody>
      </p:sp>
      <p:sp>
        <p:nvSpPr>
          <p:cNvPr id="53" name="Text 50"/>
          <p:cNvSpPr/>
          <p:nvPr/>
        </p:nvSpPr>
        <p:spPr>
          <a:xfrm>
            <a:off x="10579608" y="2377440"/>
            <a:ext cx="914400" cy="384048"/>
          </a:xfrm>
          <a:prstGeom prst="rect">
            <a:avLst/>
          </a:prstGeom>
          <a:noFill/>
          <a:ln/>
        </p:spPr>
        <p:txBody>
          <a:bodyPr wrap="square" lIns="0" tIns="0" rIns="0" bIns="0" rtlCol="0" anchor="ctr"/>
          <a:lstStyle/>
          <a:p>
            <a:pPr indent="0" marL="0">
              <a:buNone/>
            </a:pPr>
            <a:r>
              <a:rPr lang="en-US" sz="650" dirty="0">
                <a:solidFill>
                  <a:srgbClr val="2C6BED"/>
                </a:solidFill>
                <a:latin typeface="Courier New" pitchFamily="34" charset="0"/>
                <a:ea typeface="Courier New" pitchFamily="34" charset="-122"/>
                <a:cs typeface="Courier New" pitchFamily="34" charset="-120"/>
              </a:rPr>
              <a:t>value="Select me"</a:t>
            </a:r>
            <a:endParaRPr lang="en-US" sz="650" dirty="0"/>
          </a:p>
        </p:txBody>
      </p:sp>
      <p:sp>
        <p:nvSpPr>
          <p:cNvPr id="54" name="Shape 51"/>
          <p:cNvSpPr/>
          <p:nvPr/>
        </p:nvSpPr>
        <p:spPr>
          <a:xfrm>
            <a:off x="9390888" y="2852928"/>
            <a:ext cx="1097280" cy="384048"/>
          </a:xfrm>
          <a:prstGeom prst="roundRect">
            <a:avLst>
              <a:gd name="adj" fmla="val 11905"/>
            </a:avLst>
          </a:prstGeom>
          <a:solidFill>
            <a:srgbClr val="EFEFEF"/>
          </a:solidFill>
          <a:ln w="12700">
            <a:solidFill>
              <a:srgbClr val="8F8F8F"/>
            </a:solidFill>
            <a:prstDash val="solid"/>
          </a:ln>
        </p:spPr>
      </p:sp>
      <p:sp>
        <p:nvSpPr>
          <p:cNvPr id="55" name="Text 52"/>
          <p:cNvSpPr/>
          <p:nvPr/>
        </p:nvSpPr>
        <p:spPr>
          <a:xfrm>
            <a:off x="9390888" y="2852928"/>
            <a:ext cx="1097280" cy="384048"/>
          </a:xfrm>
          <a:prstGeom prst="rect">
            <a:avLst/>
          </a:prstGeom>
          <a:noFill/>
          <a:ln/>
        </p:spPr>
        <p:txBody>
          <a:bodyPr wrap="square" lIns="0" tIns="0" rIns="0" bIns="0" rtlCol="0" anchor="ctr"/>
          <a:lstStyle/>
          <a:p>
            <a:pPr algn="ctr" indent="0" marL="0">
              <a:buNone/>
            </a:pPr>
            <a:r>
              <a:rPr lang="en-US" sz="1000" dirty="0">
                <a:solidFill>
                  <a:srgbClr val="444444"/>
                </a:solidFill>
                <a:latin typeface="Calibri" pitchFamily="34" charset="0"/>
                <a:ea typeface="Calibri" pitchFamily="34" charset="-122"/>
                <a:cs typeface="Calibri" pitchFamily="34" charset="-120"/>
              </a:rPr>
              <a:t>Cancel</a:t>
            </a:r>
            <a:endParaRPr lang="en-US" sz="1000" dirty="0"/>
          </a:p>
        </p:txBody>
      </p:sp>
      <p:sp>
        <p:nvSpPr>
          <p:cNvPr id="56" name="Text 53"/>
          <p:cNvSpPr/>
          <p:nvPr/>
        </p:nvSpPr>
        <p:spPr>
          <a:xfrm>
            <a:off x="10579608" y="2852928"/>
            <a:ext cx="914400" cy="384048"/>
          </a:xfrm>
          <a:prstGeom prst="rect">
            <a:avLst/>
          </a:prstGeom>
          <a:noFill/>
          <a:ln/>
        </p:spPr>
        <p:txBody>
          <a:bodyPr wrap="square" lIns="0" tIns="0" rIns="0" bIns="0" rtlCol="0" anchor="ctr"/>
          <a:lstStyle/>
          <a:p>
            <a:pPr indent="0" marL="0">
              <a:buNone/>
            </a:pPr>
            <a:r>
              <a:rPr lang="en-US" sz="650" dirty="0">
                <a:solidFill>
                  <a:srgbClr val="939DAB"/>
                </a:solidFill>
                <a:latin typeface="Courier New" pitchFamily="34" charset="0"/>
                <a:ea typeface="Courier New" pitchFamily="34" charset="-122"/>
                <a:cs typeface="Courier New" pitchFamily="34" charset="-120"/>
              </a:rPr>
              <a:t>value="Cancel"</a:t>
            </a:r>
            <a:endParaRPr lang="en-US" sz="650" dirty="0"/>
          </a:p>
        </p:txBody>
      </p:sp>
      <p:sp>
        <p:nvSpPr>
          <p:cNvPr id="57" name="Shape 54"/>
          <p:cNvSpPr/>
          <p:nvPr/>
        </p:nvSpPr>
        <p:spPr>
          <a:xfrm>
            <a:off x="9390888" y="3328416"/>
            <a:ext cx="1097280" cy="384048"/>
          </a:xfrm>
          <a:prstGeom prst="roundRect">
            <a:avLst>
              <a:gd name="adj" fmla="val 11905"/>
            </a:avLst>
          </a:prstGeom>
          <a:solidFill>
            <a:srgbClr val="EFEFEF"/>
          </a:solidFill>
          <a:ln w="12700">
            <a:solidFill>
              <a:srgbClr val="8F8F8F"/>
            </a:solidFill>
            <a:prstDash val="solid"/>
          </a:ln>
        </p:spPr>
      </p:sp>
      <p:sp>
        <p:nvSpPr>
          <p:cNvPr id="58" name="Text 55"/>
          <p:cNvSpPr/>
          <p:nvPr/>
        </p:nvSpPr>
        <p:spPr>
          <a:xfrm>
            <a:off x="9390888" y="3328416"/>
            <a:ext cx="1097280" cy="384048"/>
          </a:xfrm>
          <a:prstGeom prst="rect">
            <a:avLst/>
          </a:prstGeom>
          <a:noFill/>
          <a:ln/>
        </p:spPr>
        <p:txBody>
          <a:bodyPr wrap="square" lIns="0" tIns="0" rIns="0" bIns="0" rtlCol="0" anchor="ctr"/>
          <a:lstStyle/>
          <a:p>
            <a:pPr algn="ctr" indent="0" marL="0">
              <a:buNone/>
            </a:pPr>
            <a:r>
              <a:rPr lang="en-US" sz="1000" dirty="0">
                <a:solidFill>
                  <a:srgbClr val="444444"/>
                </a:solidFill>
                <a:latin typeface="Calibri" pitchFamily="34" charset="0"/>
                <a:ea typeface="Calibri" pitchFamily="34" charset="-122"/>
                <a:cs typeface="Calibri" pitchFamily="34" charset="-120"/>
              </a:rPr>
              <a:t>Reset</a:t>
            </a:r>
            <a:endParaRPr lang="en-US" sz="1000" dirty="0"/>
          </a:p>
        </p:txBody>
      </p:sp>
      <p:sp>
        <p:nvSpPr>
          <p:cNvPr id="59" name="Text 56"/>
          <p:cNvSpPr/>
          <p:nvPr/>
        </p:nvSpPr>
        <p:spPr>
          <a:xfrm>
            <a:off x="10579608" y="3328416"/>
            <a:ext cx="914400" cy="384048"/>
          </a:xfrm>
          <a:prstGeom prst="rect">
            <a:avLst/>
          </a:prstGeom>
          <a:noFill/>
          <a:ln/>
        </p:spPr>
        <p:txBody>
          <a:bodyPr wrap="square" lIns="0" tIns="0" rIns="0" bIns="0" rtlCol="0" anchor="ctr"/>
          <a:lstStyle/>
          <a:p>
            <a:pPr indent="0" marL="0">
              <a:buNone/>
            </a:pPr>
            <a:r>
              <a:rPr lang="en-US" sz="650" dirty="0">
                <a:solidFill>
                  <a:srgbClr val="939DAB"/>
                </a:solidFill>
                <a:latin typeface="Courier New" pitchFamily="34" charset="0"/>
                <a:ea typeface="Courier New" pitchFamily="34" charset="-122"/>
                <a:cs typeface="Courier New" pitchFamily="34" charset="-120"/>
              </a:rPr>
              <a:t>value="Reset"</a:t>
            </a:r>
            <a:endParaRPr lang="en-US" sz="650" dirty="0"/>
          </a:p>
        </p:txBody>
      </p:sp>
      <p:sp>
        <p:nvSpPr>
          <p:cNvPr id="60" name="Shape 57"/>
          <p:cNvSpPr/>
          <p:nvPr/>
        </p:nvSpPr>
        <p:spPr>
          <a:xfrm>
            <a:off x="9390888" y="3913632"/>
            <a:ext cx="2103120" cy="658368"/>
          </a:xfrm>
          <a:prstGeom prst="roundRect">
            <a:avLst>
              <a:gd name="adj" fmla="val 13889"/>
            </a:avLst>
          </a:prstGeom>
          <a:solidFill>
            <a:srgbClr val="111826"/>
          </a:solidFill>
          <a:ln w="12700">
            <a:solidFill>
              <a:srgbClr val="1D2637"/>
            </a:solidFill>
            <a:prstDash val="solid"/>
          </a:ln>
        </p:spPr>
      </p:sp>
      <p:sp>
        <p:nvSpPr>
          <p:cNvPr id="61" name="Text 58"/>
          <p:cNvSpPr/>
          <p:nvPr/>
        </p:nvSpPr>
        <p:spPr>
          <a:xfrm>
            <a:off x="9665208" y="4151376"/>
            <a:ext cx="1554480" cy="182880"/>
          </a:xfrm>
          <a:prstGeom prst="rect">
            <a:avLst/>
          </a:prstGeom>
          <a:noFill/>
          <a:ln/>
        </p:spPr>
        <p:txBody>
          <a:bodyPr wrap="square" lIns="0" tIns="0" rIns="0" bIns="0" rtlCol="0" anchor="t"/>
          <a:lstStyle/>
          <a:p>
            <a:pPr indent="0" marL="0">
              <a:lnSpc>
                <a:spcPts val="1600"/>
              </a:lnSpc>
              <a:buNone/>
            </a:pPr>
            <a:r>
              <a:rPr lang="en-US" sz="850" dirty="0">
                <a:solidFill>
                  <a:srgbClr val="E6EAF2"/>
                </a:solidFill>
                <a:latin typeface="Courier New" pitchFamily="34" charset="0"/>
                <a:ea typeface="Courier New" pitchFamily="34" charset="-122"/>
                <a:cs typeface="Courier New" pitchFamily="34" charset="-120"/>
              </a:rPr>
              <a:t>input[value="Select me"]</a:t>
            </a:r>
            <a:endParaRPr lang="en-US" sz="850" dirty="0"/>
          </a:p>
        </p:txBody>
      </p:sp>
      <p:sp>
        <p:nvSpPr>
          <p:cNvPr id="62" name="Text 59"/>
          <p:cNvSpPr/>
          <p:nvPr/>
        </p:nvSpPr>
        <p:spPr>
          <a:xfrm>
            <a:off x="9390888" y="4681728"/>
            <a:ext cx="2103120" cy="566928"/>
          </a:xfrm>
          <a:prstGeom prst="rect">
            <a:avLst/>
          </a:prstGeom>
          <a:noFill/>
          <a:ln/>
        </p:spPr>
        <p:txBody>
          <a:bodyPr wrap="square" lIns="0" tIns="0" rIns="0" bIns="0" rtlCol="0" anchor="t"/>
          <a:lstStyle/>
          <a:p>
            <a:pPr algn="l" indent="0" marL="0">
              <a:lnSpc>
                <a:spcPts val="1400"/>
              </a:lnSpc>
              <a:buNone/>
            </a:pPr>
            <a:r>
              <a:rPr lang="en-US" sz="1050" dirty="0">
                <a:solidFill>
                  <a:srgbClr val="55616F"/>
                </a:solidFill>
                <a:latin typeface="Calibri" pitchFamily="34" charset="0"/>
                <a:ea typeface="Calibri" pitchFamily="34" charset="-122"/>
                <a:cs typeface="Calibri" pitchFamily="34" charset="-120"/>
              </a:rPr>
              <a:t>Square brackets select on any attribute and its value.</a:t>
            </a:r>
            <a:endParaRPr lang="en-US" sz="1050" dirty="0"/>
          </a:p>
        </p:txBody>
      </p:sp>
      <p:sp>
        <p:nvSpPr>
          <p:cNvPr id="63" name="Shape 60"/>
          <p:cNvSpPr/>
          <p:nvPr/>
        </p:nvSpPr>
        <p:spPr>
          <a:xfrm>
            <a:off x="640080" y="5632704"/>
            <a:ext cx="10908792" cy="603504"/>
          </a:xfrm>
          <a:prstGeom prst="roundRect">
            <a:avLst>
              <a:gd name="adj" fmla="val 15152"/>
            </a:avLst>
          </a:prstGeom>
          <a:solidFill>
            <a:srgbClr val="E7EEFD"/>
          </a:solidFill>
          <a:ln w="12700">
            <a:solidFill>
              <a:srgbClr val="B6CDFA"/>
            </a:solidFill>
            <a:prstDash val="solid"/>
          </a:ln>
          <a:effectLst>
            <a:outerShdw sx="100000" sy="100000" kx="0" ky="0" algn="bl" rotWithShape="0" blurRad="177800" dist="38100" dir="5400000">
              <a:srgbClr val="000000">
                <a:alpha val="35000"/>
              </a:srgbClr>
            </a:outerShdw>
          </a:effectLst>
        </p:spPr>
      </p:sp>
      <p:sp>
        <p:nvSpPr>
          <p:cNvPr id="64" name="Text 61"/>
          <p:cNvSpPr/>
          <p:nvPr/>
        </p:nvSpPr>
        <p:spPr>
          <a:xfrm>
            <a:off x="914400" y="5632704"/>
            <a:ext cx="10360152" cy="603504"/>
          </a:xfrm>
          <a:prstGeom prst="rect">
            <a:avLst/>
          </a:prstGeom>
          <a:noFill/>
          <a:ln/>
        </p:spPr>
        <p:txBody>
          <a:bodyPr wrap="square" lIns="0" tIns="0" rIns="0" bIns="0" rtlCol="0" anchor="ctr"/>
          <a:lstStyle/>
          <a:p>
            <a:pPr algn="ctr" indent="0" marL="0">
              <a:buNone/>
            </a:pPr>
            <a:r>
              <a:rPr lang="en-US" sz="1550" b="1" dirty="0">
                <a:solidFill>
                  <a:srgbClr val="15202B"/>
                </a:solidFill>
                <a:latin typeface="Calibri" pitchFamily="34" charset="0"/>
                <a:ea typeface="Calibri" pitchFamily="34" charset="-122"/>
                <a:cs typeface="Calibri" pitchFamily="34" charset="-120"/>
              </a:rPr>
              <a:t>A dot touching a dot means one element. A dot with a space means one inside another.</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A"/>
        </a:solidFill>
      </p:bgPr>
    </p:bg>
    <p:spTree>
      <p:nvGrpSpPr>
        <p:cNvPr id="1" name=""/>
        <p:cNvGrpSpPr/>
        <p:nvPr/>
      </p:nvGrpSpPr>
      <p:grpSpPr>
        <a:xfrm>
          <a:off x="0" y="0"/>
          <a:ext cx="0" cy="0"/>
          <a:chOff x="0" y="0"/>
          <a:chExt cx="0" cy="0"/>
        </a:xfrm>
      </p:grpSpPr>
      <p:sp>
        <p:nvSpPr>
          <p:cNvPr id="3" name="Text 0"/>
          <p:cNvSpPr/>
          <p:nvPr/>
        </p:nvSpPr>
        <p:spPr>
          <a:xfrm>
            <a:off x="640080" y="6364224"/>
            <a:ext cx="3657600" cy="256032"/>
          </a:xfrm>
          <a:prstGeom prst="rect">
            <a:avLst/>
          </a:prstGeom>
          <a:noFill/>
          <a:ln/>
        </p:spPr>
        <p:txBody>
          <a:bodyPr wrap="square" lIns="0" tIns="0" rIns="0" bIns="0" rtlCol="0" anchor="ctr"/>
          <a:lstStyle/>
          <a:p>
            <a:pPr indent="0" marL="0">
              <a:buNone/>
            </a:pPr>
            <a:r>
              <a:rPr lang="en-US" sz="900" dirty="0">
                <a:solidFill>
                  <a:srgbClr val="939DAB"/>
                </a:solidFill>
                <a:latin typeface="Courier New" pitchFamily="34" charset="0"/>
                <a:ea typeface="Courier New" pitchFamily="34" charset="-122"/>
                <a:cs typeface="Courier New" pitchFamily="34" charset="-120"/>
              </a:rPr>
              <a:t>CLASS 03  ·  CSS</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939DAB"/>
                </a:solidFill>
                <a:latin typeface="Courier New" pitchFamily="34" charset="0"/>
                <a:ea typeface="Courier New" pitchFamily="34" charset="-122"/>
                <a:cs typeface="Courier New" pitchFamily="34" charset="-120"/>
              </a:rPr>
              <a:t>11</a:t>
            </a:r>
            <a:endParaRPr lang="en-US" sz="900" dirty="0"/>
          </a:p>
        </p:txBody>
      </p:sp>
      <p:sp>
        <p:nvSpPr>
          <p:cNvPr id="5" name="Shape 2"/>
          <p:cNvSpPr/>
          <p:nvPr/>
        </p:nvSpPr>
        <p:spPr>
          <a:xfrm>
            <a:off x="640080" y="365760"/>
            <a:ext cx="1773936" cy="347472"/>
          </a:xfrm>
          <a:prstGeom prst="roundRect">
            <a:avLst>
              <a:gd name="adj" fmla="val 21053"/>
            </a:avLst>
          </a:prstGeom>
          <a:solidFill>
            <a:srgbClr val="2C6BED"/>
          </a:solidFill>
          <a:ln w="15875">
            <a:solidFill>
              <a:srgbClr val="15202B"/>
            </a:solidFill>
            <a:prstDash val="solid"/>
          </a:ln>
        </p:spPr>
      </p:sp>
      <p:sp>
        <p:nvSpPr>
          <p:cNvPr id="6" name="Text 3"/>
          <p:cNvSpPr/>
          <p:nvPr/>
        </p:nvSpPr>
        <p:spPr>
          <a:xfrm>
            <a:off x="640080" y="365760"/>
            <a:ext cx="1773936" cy="347472"/>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SELECTORS</a:t>
            </a:r>
            <a:endParaRPr lang="en-US" sz="1050" dirty="0"/>
          </a:p>
        </p:txBody>
      </p:sp>
      <p:sp>
        <p:nvSpPr>
          <p:cNvPr id="7" name="Text 4"/>
          <p:cNvSpPr/>
          <p:nvPr/>
        </p:nvSpPr>
        <p:spPr>
          <a:xfrm>
            <a:off x="640080" y="786384"/>
            <a:ext cx="10881360" cy="603504"/>
          </a:xfrm>
          <a:prstGeom prst="rect">
            <a:avLst/>
          </a:prstGeom>
          <a:noFill/>
          <a:ln/>
        </p:spPr>
        <p:txBody>
          <a:bodyPr wrap="square" lIns="0" tIns="0" rIns="0" bIns="0" rtlCol="0" anchor="ctr"/>
          <a:lstStyle/>
          <a:p>
            <a:pPr indent="0" marL="0">
              <a:buNone/>
            </a:pPr>
            <a:r>
              <a:rPr lang="en-US" sz="3200" b="1" dirty="0">
                <a:solidFill>
                  <a:srgbClr val="15202B"/>
                </a:solidFill>
                <a:latin typeface="Calibri" pitchFamily="34" charset="0"/>
                <a:ea typeface="Calibri" pitchFamily="34" charset="-122"/>
                <a:cs typeface="Calibri" pitchFamily="34" charset="-120"/>
              </a:rPr>
              <a:t>A state, not a place: :hover</a:t>
            </a:r>
            <a:endParaRPr lang="en-US" sz="3200" dirty="0"/>
          </a:p>
        </p:txBody>
      </p:sp>
      <p:sp>
        <p:nvSpPr>
          <p:cNvPr id="8" name="Shape 5"/>
          <p:cNvSpPr/>
          <p:nvPr/>
        </p:nvSpPr>
        <p:spPr>
          <a:xfrm>
            <a:off x="640080" y="1737360"/>
            <a:ext cx="5212080" cy="2286000"/>
          </a:xfrm>
          <a:prstGeom prst="roundRect">
            <a:avLst>
              <a:gd name="adj" fmla="val 4000"/>
            </a:avLst>
          </a:prstGeom>
          <a:solidFill>
            <a:srgbClr val="FFFFFF"/>
          </a:solidFill>
          <a:ln w="15875">
            <a:solidFill>
              <a:srgbClr val="D9DEE7"/>
            </a:solidFill>
            <a:prstDash val="solid"/>
          </a:ln>
          <a:effectLst>
            <a:outerShdw sx="100000" sy="100000" kx="0" ky="0" algn="bl" rotWithShape="0" blurRad="127000" dist="25400" dir="5400000">
              <a:srgbClr val="8B95A6">
                <a:alpha val="25000"/>
              </a:srgbClr>
            </a:outerShdw>
          </a:effectLst>
        </p:spPr>
      </p:sp>
      <p:sp>
        <p:nvSpPr>
          <p:cNvPr id="9" name="Shape 6"/>
          <p:cNvSpPr/>
          <p:nvPr/>
        </p:nvSpPr>
        <p:spPr>
          <a:xfrm>
            <a:off x="640080" y="1737360"/>
            <a:ext cx="5212080" cy="292608"/>
          </a:xfrm>
          <a:prstGeom prst="roundRect">
            <a:avLst>
              <a:gd name="adj" fmla="val 31250"/>
            </a:avLst>
          </a:prstGeom>
          <a:solidFill>
            <a:srgbClr val="EFF2F7"/>
          </a:solidFill>
          <a:ln w="15875">
            <a:solidFill>
              <a:srgbClr val="D9DEE7"/>
            </a:solidFill>
            <a:prstDash val="solid"/>
          </a:ln>
        </p:spPr>
      </p:sp>
      <p:sp>
        <p:nvSpPr>
          <p:cNvPr id="10" name="Shape 7"/>
          <p:cNvSpPr/>
          <p:nvPr/>
        </p:nvSpPr>
        <p:spPr>
          <a:xfrm>
            <a:off x="786384" y="1837944"/>
            <a:ext cx="91440" cy="91440"/>
          </a:xfrm>
          <a:prstGeom prst="ellipse">
            <a:avLst/>
          </a:prstGeom>
          <a:solidFill>
            <a:srgbClr val="E06C61"/>
          </a:solidFill>
          <a:ln w="6350">
            <a:solidFill>
              <a:srgbClr val="E06C61"/>
            </a:solidFill>
            <a:prstDash val="solid"/>
          </a:ln>
        </p:spPr>
      </p:sp>
      <p:sp>
        <p:nvSpPr>
          <p:cNvPr id="11" name="Shape 8"/>
          <p:cNvSpPr/>
          <p:nvPr/>
        </p:nvSpPr>
        <p:spPr>
          <a:xfrm>
            <a:off x="941832" y="1837944"/>
            <a:ext cx="91440" cy="91440"/>
          </a:xfrm>
          <a:prstGeom prst="ellipse">
            <a:avLst/>
          </a:prstGeom>
          <a:solidFill>
            <a:srgbClr val="E8B44A"/>
          </a:solidFill>
          <a:ln w="6350">
            <a:solidFill>
              <a:srgbClr val="E8B44A"/>
            </a:solidFill>
            <a:prstDash val="solid"/>
          </a:ln>
        </p:spPr>
      </p:sp>
      <p:sp>
        <p:nvSpPr>
          <p:cNvPr id="12" name="Shape 9"/>
          <p:cNvSpPr/>
          <p:nvPr/>
        </p:nvSpPr>
        <p:spPr>
          <a:xfrm>
            <a:off x="1097280" y="1837944"/>
            <a:ext cx="91440" cy="91440"/>
          </a:xfrm>
          <a:prstGeom prst="ellipse">
            <a:avLst/>
          </a:prstGeom>
          <a:solidFill>
            <a:srgbClr val="62BD6B"/>
          </a:solidFill>
          <a:ln w="6350">
            <a:solidFill>
              <a:srgbClr val="62BD6B"/>
            </a:solidFill>
            <a:prstDash val="solid"/>
          </a:ln>
        </p:spPr>
      </p:sp>
      <p:sp>
        <p:nvSpPr>
          <p:cNvPr id="13" name="Text 10"/>
          <p:cNvSpPr/>
          <p:nvPr/>
        </p:nvSpPr>
        <p:spPr>
          <a:xfrm>
            <a:off x="1298448" y="1737360"/>
            <a:ext cx="4389120" cy="292608"/>
          </a:xfrm>
          <a:prstGeom prst="rect">
            <a:avLst/>
          </a:prstGeom>
          <a:noFill/>
          <a:ln/>
        </p:spPr>
        <p:txBody>
          <a:bodyPr wrap="square" lIns="0" tIns="0" rIns="0" bIns="0" rtlCol="0" anchor="ctr"/>
          <a:lstStyle/>
          <a:p>
            <a:pPr indent="0" marL="0">
              <a:buNone/>
            </a:pPr>
            <a:r>
              <a:rPr lang="en-US" sz="850" dirty="0">
                <a:solidFill>
                  <a:srgbClr val="939DAB"/>
                </a:solidFill>
                <a:latin typeface="Courier New" pitchFamily="34" charset="0"/>
                <a:ea typeface="Courier New" pitchFamily="34" charset="-122"/>
                <a:cs typeface="Courier New" pitchFamily="34" charset="-120"/>
              </a:rPr>
              <a:t>resting</a:t>
            </a:r>
            <a:endParaRPr lang="en-US" sz="850" dirty="0"/>
          </a:p>
        </p:txBody>
      </p:sp>
      <p:sp>
        <p:nvSpPr>
          <p:cNvPr id="14" name="Shape 11"/>
          <p:cNvSpPr/>
          <p:nvPr/>
        </p:nvSpPr>
        <p:spPr>
          <a:xfrm>
            <a:off x="2331720" y="2487168"/>
            <a:ext cx="1828800" cy="603504"/>
          </a:xfrm>
          <a:prstGeom prst="roundRect">
            <a:avLst>
              <a:gd name="adj" fmla="val 15152"/>
            </a:avLst>
          </a:prstGeom>
          <a:solidFill>
            <a:srgbClr val="2C6BED"/>
          </a:solidFill>
          <a:ln w="12700">
            <a:solidFill>
              <a:srgbClr val="2C6BED"/>
            </a:solidFill>
            <a:prstDash val="solid"/>
          </a:ln>
          <a:effectLst>
            <a:outerShdw sx="100000" sy="100000" kx="0" ky="0" algn="bl" rotWithShape="0" blurRad="50800" dist="12700" dir="5400000">
              <a:srgbClr val="55616F">
                <a:alpha val="20000"/>
              </a:srgbClr>
            </a:outerShdw>
          </a:effectLst>
        </p:spPr>
      </p:sp>
      <p:sp>
        <p:nvSpPr>
          <p:cNvPr id="15" name="Text 12"/>
          <p:cNvSpPr/>
          <p:nvPr/>
        </p:nvSpPr>
        <p:spPr>
          <a:xfrm>
            <a:off x="2331720" y="2487168"/>
            <a:ext cx="1828800" cy="60350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Sign in</a:t>
            </a:r>
            <a:endParaRPr lang="en-US" sz="1300" dirty="0"/>
          </a:p>
        </p:txBody>
      </p:sp>
      <p:sp>
        <p:nvSpPr>
          <p:cNvPr id="16" name="Shape 13"/>
          <p:cNvSpPr/>
          <p:nvPr/>
        </p:nvSpPr>
        <p:spPr>
          <a:xfrm>
            <a:off x="6336792" y="1737360"/>
            <a:ext cx="5212080" cy="2286000"/>
          </a:xfrm>
          <a:prstGeom prst="roundRect">
            <a:avLst>
              <a:gd name="adj" fmla="val 4000"/>
            </a:avLst>
          </a:prstGeom>
          <a:solidFill>
            <a:srgbClr val="FFFFFF"/>
          </a:solidFill>
          <a:ln w="15875">
            <a:solidFill>
              <a:srgbClr val="D9DEE7"/>
            </a:solidFill>
            <a:prstDash val="solid"/>
          </a:ln>
          <a:effectLst>
            <a:outerShdw sx="100000" sy="100000" kx="0" ky="0" algn="bl" rotWithShape="0" blurRad="127000" dist="25400" dir="5400000">
              <a:srgbClr val="8B95A6">
                <a:alpha val="25000"/>
              </a:srgbClr>
            </a:outerShdw>
          </a:effectLst>
        </p:spPr>
      </p:sp>
      <p:sp>
        <p:nvSpPr>
          <p:cNvPr id="17" name="Shape 14"/>
          <p:cNvSpPr/>
          <p:nvPr/>
        </p:nvSpPr>
        <p:spPr>
          <a:xfrm>
            <a:off x="6336792" y="1737360"/>
            <a:ext cx="5212080" cy="292608"/>
          </a:xfrm>
          <a:prstGeom prst="roundRect">
            <a:avLst>
              <a:gd name="adj" fmla="val 31250"/>
            </a:avLst>
          </a:prstGeom>
          <a:solidFill>
            <a:srgbClr val="EFF2F7"/>
          </a:solidFill>
          <a:ln w="15875">
            <a:solidFill>
              <a:srgbClr val="D9DEE7"/>
            </a:solidFill>
            <a:prstDash val="solid"/>
          </a:ln>
        </p:spPr>
      </p:sp>
      <p:sp>
        <p:nvSpPr>
          <p:cNvPr id="18" name="Shape 15"/>
          <p:cNvSpPr/>
          <p:nvPr/>
        </p:nvSpPr>
        <p:spPr>
          <a:xfrm>
            <a:off x="6483096" y="1837944"/>
            <a:ext cx="91440" cy="91440"/>
          </a:xfrm>
          <a:prstGeom prst="ellipse">
            <a:avLst/>
          </a:prstGeom>
          <a:solidFill>
            <a:srgbClr val="E06C61"/>
          </a:solidFill>
          <a:ln w="6350">
            <a:solidFill>
              <a:srgbClr val="E06C61"/>
            </a:solidFill>
            <a:prstDash val="solid"/>
          </a:ln>
        </p:spPr>
      </p:sp>
      <p:sp>
        <p:nvSpPr>
          <p:cNvPr id="19" name="Shape 16"/>
          <p:cNvSpPr/>
          <p:nvPr/>
        </p:nvSpPr>
        <p:spPr>
          <a:xfrm>
            <a:off x="6638544" y="1837944"/>
            <a:ext cx="91440" cy="91440"/>
          </a:xfrm>
          <a:prstGeom prst="ellipse">
            <a:avLst/>
          </a:prstGeom>
          <a:solidFill>
            <a:srgbClr val="E8B44A"/>
          </a:solidFill>
          <a:ln w="6350">
            <a:solidFill>
              <a:srgbClr val="E8B44A"/>
            </a:solidFill>
            <a:prstDash val="solid"/>
          </a:ln>
        </p:spPr>
      </p:sp>
      <p:sp>
        <p:nvSpPr>
          <p:cNvPr id="20" name="Shape 17"/>
          <p:cNvSpPr/>
          <p:nvPr/>
        </p:nvSpPr>
        <p:spPr>
          <a:xfrm>
            <a:off x="6793992" y="1837944"/>
            <a:ext cx="91440" cy="91440"/>
          </a:xfrm>
          <a:prstGeom prst="ellipse">
            <a:avLst/>
          </a:prstGeom>
          <a:solidFill>
            <a:srgbClr val="62BD6B"/>
          </a:solidFill>
          <a:ln w="6350">
            <a:solidFill>
              <a:srgbClr val="62BD6B"/>
            </a:solidFill>
            <a:prstDash val="solid"/>
          </a:ln>
        </p:spPr>
      </p:sp>
      <p:sp>
        <p:nvSpPr>
          <p:cNvPr id="21" name="Text 18"/>
          <p:cNvSpPr/>
          <p:nvPr/>
        </p:nvSpPr>
        <p:spPr>
          <a:xfrm>
            <a:off x="6995160" y="1737360"/>
            <a:ext cx="4389120" cy="292608"/>
          </a:xfrm>
          <a:prstGeom prst="rect">
            <a:avLst/>
          </a:prstGeom>
          <a:noFill/>
          <a:ln/>
        </p:spPr>
        <p:txBody>
          <a:bodyPr wrap="square" lIns="0" tIns="0" rIns="0" bIns="0" rtlCol="0" anchor="ctr"/>
          <a:lstStyle/>
          <a:p>
            <a:pPr indent="0" marL="0">
              <a:buNone/>
            </a:pPr>
            <a:r>
              <a:rPr lang="en-US" sz="850" dirty="0">
                <a:solidFill>
                  <a:srgbClr val="939DAB"/>
                </a:solidFill>
                <a:latin typeface="Courier New" pitchFamily="34" charset="0"/>
                <a:ea typeface="Courier New" pitchFamily="34" charset="-122"/>
                <a:cs typeface="Courier New" pitchFamily="34" charset="-120"/>
              </a:rPr>
              <a:t>mouse is over it</a:t>
            </a:r>
            <a:endParaRPr lang="en-US" sz="850" dirty="0"/>
          </a:p>
        </p:txBody>
      </p:sp>
      <p:sp>
        <p:nvSpPr>
          <p:cNvPr id="22" name="Shape 19"/>
          <p:cNvSpPr/>
          <p:nvPr/>
        </p:nvSpPr>
        <p:spPr>
          <a:xfrm>
            <a:off x="8028432" y="2414016"/>
            <a:ext cx="1828800" cy="603504"/>
          </a:xfrm>
          <a:prstGeom prst="roundRect">
            <a:avLst>
              <a:gd name="adj" fmla="val 15152"/>
            </a:avLst>
          </a:prstGeom>
          <a:solidFill>
            <a:srgbClr val="1B4FBF"/>
          </a:solidFill>
          <a:ln w="12700">
            <a:solidFill>
              <a:srgbClr val="1B4FBF"/>
            </a:solidFill>
            <a:prstDash val="solid"/>
          </a:ln>
          <a:effectLst>
            <a:outerShdw sx="100000" sy="100000" kx="0" ky="0" algn="bl" rotWithShape="0" blurRad="127000" dist="50800" dir="5400000">
              <a:srgbClr val="55616F">
                <a:alpha val="45000"/>
              </a:srgbClr>
            </a:outerShdw>
          </a:effectLst>
        </p:spPr>
      </p:sp>
      <p:sp>
        <p:nvSpPr>
          <p:cNvPr id="23" name="Text 20"/>
          <p:cNvSpPr/>
          <p:nvPr/>
        </p:nvSpPr>
        <p:spPr>
          <a:xfrm>
            <a:off x="8028432" y="2414016"/>
            <a:ext cx="1828800" cy="60350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Sign in</a:t>
            </a:r>
            <a:endParaRPr lang="en-US" sz="1300" dirty="0"/>
          </a:p>
        </p:txBody>
      </p:sp>
      <p:sp>
        <p:nvSpPr>
          <p:cNvPr id="24" name="Shape 21"/>
          <p:cNvSpPr/>
          <p:nvPr/>
        </p:nvSpPr>
        <p:spPr>
          <a:xfrm rot="12000000">
            <a:off x="9537192" y="2889504"/>
            <a:ext cx="201168" cy="274320"/>
          </a:xfrm>
          <a:prstGeom prst="triangle">
            <a:avLst/>
          </a:prstGeom>
          <a:solidFill>
            <a:srgbClr val="15202B"/>
          </a:solidFill>
          <a:ln w="12700">
            <a:solidFill>
              <a:srgbClr val="FFFFFF"/>
            </a:solidFill>
            <a:prstDash val="solid"/>
          </a:ln>
        </p:spPr>
      </p:sp>
      <p:sp>
        <p:nvSpPr>
          <p:cNvPr id="25" name="Shape 22"/>
          <p:cNvSpPr/>
          <p:nvPr/>
        </p:nvSpPr>
        <p:spPr>
          <a:xfrm>
            <a:off x="640080" y="4206240"/>
            <a:ext cx="5212080" cy="1234440"/>
          </a:xfrm>
          <a:prstGeom prst="roundRect">
            <a:avLst>
              <a:gd name="adj" fmla="val 7407"/>
            </a:avLst>
          </a:prstGeom>
          <a:solidFill>
            <a:srgbClr val="111826"/>
          </a:solidFill>
          <a:ln w="12700">
            <a:solidFill>
              <a:srgbClr val="1D2637"/>
            </a:solidFill>
            <a:prstDash val="solid"/>
          </a:ln>
          <a:effectLst>
            <a:outerShdw sx="100000" sy="100000" kx="0" ky="0" algn="bl" rotWithShape="0" blurRad="177800" dist="38100" dir="5400000">
              <a:srgbClr val="000000">
                <a:alpha val="35000"/>
              </a:srgbClr>
            </a:outerShdw>
          </a:effectLst>
        </p:spPr>
      </p:sp>
      <p:sp>
        <p:nvSpPr>
          <p:cNvPr id="26" name="Text 23"/>
          <p:cNvSpPr/>
          <p:nvPr/>
        </p:nvSpPr>
        <p:spPr>
          <a:xfrm>
            <a:off x="914400" y="4443984"/>
            <a:ext cx="4663440" cy="758952"/>
          </a:xfrm>
          <a:prstGeom prst="rect">
            <a:avLst/>
          </a:prstGeom>
          <a:noFill/>
          <a:ln/>
        </p:spPr>
        <p:txBody>
          <a:bodyPr wrap="square" lIns="0" tIns="0" rIns="0" bIns="0" rtlCol="0" anchor="t"/>
          <a:lstStyle/>
          <a:p>
            <a:pPr indent="0" marL="0">
              <a:lnSpc>
                <a:spcPts val="1900"/>
              </a:lnSpc>
              <a:buNone/>
            </a:pPr>
            <a:r>
              <a:rPr lang="en-US" sz="1200" dirty="0">
                <a:solidFill>
                  <a:srgbClr val="E6EAF2"/>
                </a:solidFill>
                <a:latin typeface="Courier New" pitchFamily="34" charset="0"/>
                <a:ea typeface="Courier New" pitchFamily="34" charset="-122"/>
                <a:cs typeface="Courier New" pitchFamily="34" charset="-120"/>
              </a:rPr>
              <a:t>a </a:t>
            </a:r>
            <a:pPr indent="0" marL="0">
              <a:lnSpc>
                <a:spcPts val="1900"/>
              </a:lnSpc>
              <a:buNone/>
            </a:pPr>
            <a:r>
              <a:rPr lang="en-US" sz="1200" dirty="0">
                <a:solidFill>
                  <a:srgbClr val="9AA4B5"/>
                </a:solidFill>
                <a:latin typeface="Courier New" pitchFamily="34" charset="0"/>
                <a:ea typeface="Courier New" pitchFamily="34" charset="-122"/>
                <a:cs typeface="Courier New" pitchFamily="34" charset="-120"/>
              </a:rPr>
              <a:t>{</a:t>
            </a:r>
            <a:pPr indent="0" marL="0">
              <a:lnSpc>
                <a:spcPts val="1900"/>
              </a:lnSpc>
              <a:buNone/>
            </a:pPr>
            <a:endParaRPr lang="en-US" sz="1200" dirty="0"/>
          </a:p>
          <a:p>
            <a:pPr indent="0" marL="0">
              <a:lnSpc>
                <a:spcPts val="1900"/>
              </a:lnSpc>
              <a:buNone/>
            </a:pPr>
            <a:r>
              <a:rPr lang="en-US" sz="1200" dirty="0">
                <a:solidFill>
                  <a:srgbClr val="E6EAF2"/>
                </a:solidFill>
                <a:latin typeface="Courier New" pitchFamily="34" charset="0"/>
                <a:ea typeface="Courier New" pitchFamily="34" charset="-122"/>
                <a:cs typeface="Courier New" pitchFamily="34" charset="-120"/>
              </a:rPr>
              <a:t>  </a:t>
            </a:r>
            <a:pPr indent="0" marL="0">
              <a:lnSpc>
                <a:spcPts val="1900"/>
              </a:lnSpc>
              <a:buNone/>
            </a:pPr>
            <a:r>
              <a:rPr lang="en-US" sz="1200" dirty="0">
                <a:solidFill>
                  <a:srgbClr val="FFD08A"/>
                </a:solidFill>
                <a:latin typeface="Courier New" pitchFamily="34" charset="0"/>
                <a:ea typeface="Courier New" pitchFamily="34" charset="-122"/>
                <a:cs typeface="Courier New" pitchFamily="34" charset="-120"/>
              </a:rPr>
              <a:t>color</a:t>
            </a:r>
            <a:pPr indent="0" marL="0">
              <a:lnSpc>
                <a:spcPts val="1900"/>
              </a:lnSpc>
              <a:buNone/>
            </a:pPr>
            <a:r>
              <a:rPr lang="en-US" sz="1200" dirty="0">
                <a:solidFill>
                  <a:srgbClr val="9AA4B5"/>
                </a:solidFill>
                <a:latin typeface="Courier New" pitchFamily="34" charset="0"/>
                <a:ea typeface="Courier New" pitchFamily="34" charset="-122"/>
                <a:cs typeface="Courier New" pitchFamily="34" charset="-120"/>
              </a:rPr>
              <a:t>: </a:t>
            </a:r>
            <a:pPr indent="0" marL="0">
              <a:lnSpc>
                <a:spcPts val="1900"/>
              </a:lnSpc>
              <a:buNone/>
            </a:pPr>
            <a:r>
              <a:rPr lang="en-US" sz="1200" dirty="0">
                <a:solidFill>
                  <a:srgbClr val="9BD5FF"/>
                </a:solidFill>
                <a:latin typeface="Courier New" pitchFamily="34" charset="0"/>
                <a:ea typeface="Courier New" pitchFamily="34" charset="-122"/>
                <a:cs typeface="Courier New" pitchFamily="34" charset="-120"/>
              </a:rPr>
              <a:t>#2C6BED</a:t>
            </a:r>
            <a:pPr indent="0" marL="0">
              <a:lnSpc>
                <a:spcPts val="1900"/>
              </a:lnSpc>
              <a:buNone/>
            </a:pPr>
            <a:r>
              <a:rPr lang="en-US" sz="1200" dirty="0">
                <a:solidFill>
                  <a:srgbClr val="9AA4B5"/>
                </a:solidFill>
                <a:latin typeface="Courier New" pitchFamily="34" charset="0"/>
                <a:ea typeface="Courier New" pitchFamily="34" charset="-122"/>
                <a:cs typeface="Courier New" pitchFamily="34" charset="-120"/>
              </a:rPr>
              <a:t>;</a:t>
            </a:r>
            <a:pPr indent="0" marL="0">
              <a:lnSpc>
                <a:spcPts val="1900"/>
              </a:lnSpc>
              <a:buNone/>
            </a:pPr>
            <a:endParaRPr lang="en-US" sz="1200" dirty="0"/>
          </a:p>
          <a:p>
            <a:pPr indent="0" marL="0">
              <a:lnSpc>
                <a:spcPts val="1900"/>
              </a:lnSpc>
              <a:buNone/>
            </a:pPr>
            <a:r>
              <a:rPr lang="en-US" sz="1200" dirty="0">
                <a:solidFill>
                  <a:srgbClr val="9AA4B5"/>
                </a:solidFill>
                <a:latin typeface="Courier New" pitchFamily="34" charset="0"/>
                <a:ea typeface="Courier New" pitchFamily="34" charset="-122"/>
                <a:cs typeface="Courier New" pitchFamily="34" charset="-120"/>
              </a:rPr>
              <a:t>}</a:t>
            </a:r>
            <a:endParaRPr lang="en-US" sz="1200" dirty="0"/>
          </a:p>
        </p:txBody>
      </p:sp>
      <p:sp>
        <p:nvSpPr>
          <p:cNvPr id="27" name="Shape 24"/>
          <p:cNvSpPr/>
          <p:nvPr/>
        </p:nvSpPr>
        <p:spPr>
          <a:xfrm>
            <a:off x="6336792" y="4206240"/>
            <a:ext cx="5212080" cy="1234440"/>
          </a:xfrm>
          <a:prstGeom prst="roundRect">
            <a:avLst>
              <a:gd name="adj" fmla="val 7407"/>
            </a:avLst>
          </a:prstGeom>
          <a:solidFill>
            <a:srgbClr val="111826"/>
          </a:solidFill>
          <a:ln w="12700">
            <a:solidFill>
              <a:srgbClr val="1D2637"/>
            </a:solidFill>
            <a:prstDash val="solid"/>
          </a:ln>
          <a:effectLst>
            <a:outerShdw sx="100000" sy="100000" kx="0" ky="0" algn="bl" rotWithShape="0" blurRad="177800" dist="38100" dir="5400000">
              <a:srgbClr val="000000">
                <a:alpha val="35000"/>
              </a:srgbClr>
            </a:outerShdw>
          </a:effectLst>
        </p:spPr>
      </p:sp>
      <p:sp>
        <p:nvSpPr>
          <p:cNvPr id="28" name="Text 25"/>
          <p:cNvSpPr/>
          <p:nvPr/>
        </p:nvSpPr>
        <p:spPr>
          <a:xfrm>
            <a:off x="6611112" y="4443984"/>
            <a:ext cx="4663440" cy="758952"/>
          </a:xfrm>
          <a:prstGeom prst="rect">
            <a:avLst/>
          </a:prstGeom>
          <a:noFill/>
          <a:ln/>
        </p:spPr>
        <p:txBody>
          <a:bodyPr wrap="square" lIns="0" tIns="0" rIns="0" bIns="0" rtlCol="0" anchor="t"/>
          <a:lstStyle/>
          <a:p>
            <a:pPr indent="0" marL="0">
              <a:lnSpc>
                <a:spcPts val="1900"/>
              </a:lnSpc>
              <a:buNone/>
            </a:pPr>
            <a:r>
              <a:rPr lang="en-US" sz="1200" dirty="0">
                <a:solidFill>
                  <a:srgbClr val="E6EAF2"/>
                </a:solidFill>
                <a:latin typeface="Courier New" pitchFamily="34" charset="0"/>
                <a:ea typeface="Courier New" pitchFamily="34" charset="-122"/>
                <a:cs typeface="Courier New" pitchFamily="34" charset="-120"/>
              </a:rPr>
              <a:t>a</a:t>
            </a:r>
            <a:pPr indent="0" marL="0">
              <a:lnSpc>
                <a:spcPts val="1900"/>
              </a:lnSpc>
              <a:buNone/>
            </a:pPr>
            <a:r>
              <a:rPr lang="en-US" sz="1200" dirty="0">
                <a:solidFill>
                  <a:srgbClr val="FF9E86"/>
                </a:solidFill>
                <a:latin typeface="Courier New" pitchFamily="34" charset="0"/>
                <a:ea typeface="Courier New" pitchFamily="34" charset="-122"/>
                <a:cs typeface="Courier New" pitchFamily="34" charset="-120"/>
              </a:rPr>
              <a:t>:hover</a:t>
            </a:r>
            <a:pPr indent="0" marL="0">
              <a:lnSpc>
                <a:spcPts val="1900"/>
              </a:lnSpc>
              <a:buNone/>
            </a:pPr>
            <a:r>
              <a:rPr lang="en-US" sz="1200" dirty="0">
                <a:solidFill>
                  <a:srgbClr val="E6EAF2"/>
                </a:solidFill>
                <a:latin typeface="Courier New" pitchFamily="34" charset="0"/>
                <a:ea typeface="Courier New" pitchFamily="34" charset="-122"/>
                <a:cs typeface="Courier New" pitchFamily="34" charset="-120"/>
              </a:rPr>
              <a:t> </a:t>
            </a:r>
            <a:pPr indent="0" marL="0">
              <a:lnSpc>
                <a:spcPts val="1900"/>
              </a:lnSpc>
              <a:buNone/>
            </a:pPr>
            <a:r>
              <a:rPr lang="en-US" sz="1200" dirty="0">
                <a:solidFill>
                  <a:srgbClr val="9AA4B5"/>
                </a:solidFill>
                <a:latin typeface="Courier New" pitchFamily="34" charset="0"/>
                <a:ea typeface="Courier New" pitchFamily="34" charset="-122"/>
                <a:cs typeface="Courier New" pitchFamily="34" charset="-120"/>
              </a:rPr>
              <a:t>{</a:t>
            </a:r>
            <a:pPr indent="0" marL="0">
              <a:lnSpc>
                <a:spcPts val="1900"/>
              </a:lnSpc>
              <a:buNone/>
            </a:pPr>
            <a:endParaRPr lang="en-US" sz="1200" dirty="0"/>
          </a:p>
          <a:p>
            <a:pPr indent="0" marL="0">
              <a:lnSpc>
                <a:spcPts val="1900"/>
              </a:lnSpc>
              <a:buNone/>
            </a:pPr>
            <a:r>
              <a:rPr lang="en-US" sz="1200" dirty="0">
                <a:solidFill>
                  <a:srgbClr val="E6EAF2"/>
                </a:solidFill>
                <a:latin typeface="Courier New" pitchFamily="34" charset="0"/>
                <a:ea typeface="Courier New" pitchFamily="34" charset="-122"/>
                <a:cs typeface="Courier New" pitchFamily="34" charset="-120"/>
              </a:rPr>
              <a:t>  </a:t>
            </a:r>
            <a:pPr indent="0" marL="0">
              <a:lnSpc>
                <a:spcPts val="1900"/>
              </a:lnSpc>
              <a:buNone/>
            </a:pPr>
            <a:r>
              <a:rPr lang="en-US" sz="1200" dirty="0">
                <a:solidFill>
                  <a:srgbClr val="FFD08A"/>
                </a:solidFill>
                <a:latin typeface="Courier New" pitchFamily="34" charset="0"/>
                <a:ea typeface="Courier New" pitchFamily="34" charset="-122"/>
                <a:cs typeface="Courier New" pitchFamily="34" charset="-120"/>
              </a:rPr>
              <a:t>color</a:t>
            </a:r>
            <a:pPr indent="0" marL="0">
              <a:lnSpc>
                <a:spcPts val="1900"/>
              </a:lnSpc>
              <a:buNone/>
            </a:pPr>
            <a:r>
              <a:rPr lang="en-US" sz="1200" dirty="0">
                <a:solidFill>
                  <a:srgbClr val="9AA4B5"/>
                </a:solidFill>
                <a:latin typeface="Courier New" pitchFamily="34" charset="0"/>
                <a:ea typeface="Courier New" pitchFamily="34" charset="-122"/>
                <a:cs typeface="Courier New" pitchFamily="34" charset="-120"/>
              </a:rPr>
              <a:t>: </a:t>
            </a:r>
            <a:pPr indent="0" marL="0">
              <a:lnSpc>
                <a:spcPts val="1900"/>
              </a:lnSpc>
              <a:buNone/>
            </a:pPr>
            <a:r>
              <a:rPr lang="en-US" sz="1200" dirty="0">
                <a:solidFill>
                  <a:srgbClr val="9BD5FF"/>
                </a:solidFill>
                <a:latin typeface="Courier New" pitchFamily="34" charset="0"/>
                <a:ea typeface="Courier New" pitchFamily="34" charset="-122"/>
                <a:cs typeface="Courier New" pitchFamily="34" charset="-120"/>
              </a:rPr>
              <a:t>#1B4FBF</a:t>
            </a:r>
            <a:pPr indent="0" marL="0">
              <a:lnSpc>
                <a:spcPts val="1900"/>
              </a:lnSpc>
              <a:buNone/>
            </a:pPr>
            <a:r>
              <a:rPr lang="en-US" sz="1200" dirty="0">
                <a:solidFill>
                  <a:srgbClr val="9AA4B5"/>
                </a:solidFill>
                <a:latin typeface="Courier New" pitchFamily="34" charset="0"/>
                <a:ea typeface="Courier New" pitchFamily="34" charset="-122"/>
                <a:cs typeface="Courier New" pitchFamily="34" charset="-120"/>
              </a:rPr>
              <a:t>;</a:t>
            </a:r>
            <a:pPr indent="0" marL="0">
              <a:lnSpc>
                <a:spcPts val="1900"/>
              </a:lnSpc>
              <a:buNone/>
            </a:pPr>
            <a:endParaRPr lang="en-US" sz="1200" dirty="0"/>
          </a:p>
          <a:p>
            <a:pPr indent="0" marL="0">
              <a:lnSpc>
                <a:spcPts val="1900"/>
              </a:lnSpc>
              <a:buNone/>
            </a:pPr>
            <a:r>
              <a:rPr lang="en-US" sz="1200" dirty="0">
                <a:solidFill>
                  <a:srgbClr val="9AA4B5"/>
                </a:solidFill>
                <a:latin typeface="Courier New" pitchFamily="34" charset="0"/>
                <a:ea typeface="Courier New" pitchFamily="34" charset="-122"/>
                <a:cs typeface="Courier New" pitchFamily="34" charset="-120"/>
              </a:rPr>
              <a:t>}</a:t>
            </a:r>
            <a:endParaRPr lang="en-US" sz="1200" dirty="0"/>
          </a:p>
        </p:txBody>
      </p:sp>
      <p:sp>
        <p:nvSpPr>
          <p:cNvPr id="29" name="Shape 26"/>
          <p:cNvSpPr/>
          <p:nvPr/>
        </p:nvSpPr>
        <p:spPr>
          <a:xfrm>
            <a:off x="5852160" y="4828032"/>
            <a:ext cx="457200" cy="0"/>
          </a:xfrm>
          <a:prstGeom prst="line">
            <a:avLst/>
          </a:prstGeom>
          <a:noFill/>
          <a:ln w="19050">
            <a:solidFill>
              <a:srgbClr val="2C6BED"/>
            </a:solidFill>
            <a:prstDash val="dash"/>
            <a:tailEnd type="triangle"/>
          </a:ln>
        </p:spPr>
      </p:sp>
      <p:sp>
        <p:nvSpPr>
          <p:cNvPr id="30" name="Shape 27"/>
          <p:cNvSpPr/>
          <p:nvPr/>
        </p:nvSpPr>
        <p:spPr>
          <a:xfrm>
            <a:off x="640080" y="5614416"/>
            <a:ext cx="10908792" cy="603504"/>
          </a:xfrm>
          <a:prstGeom prst="roundRect">
            <a:avLst>
              <a:gd name="adj" fmla="val 15152"/>
            </a:avLst>
          </a:prstGeom>
          <a:solidFill>
            <a:srgbClr val="E7EEFD"/>
          </a:solidFill>
          <a:ln w="12700">
            <a:solidFill>
              <a:srgbClr val="B6CDFA"/>
            </a:solidFill>
            <a:prstDash val="solid"/>
          </a:ln>
          <a:effectLst>
            <a:outerShdw sx="100000" sy="100000" kx="0" ky="0" algn="bl" rotWithShape="0" blurRad="177800" dist="38100" dir="5400000">
              <a:srgbClr val="000000">
                <a:alpha val="35000"/>
              </a:srgbClr>
            </a:outerShdw>
          </a:effectLst>
        </p:spPr>
      </p:sp>
      <p:sp>
        <p:nvSpPr>
          <p:cNvPr id="31" name="Text 28"/>
          <p:cNvSpPr/>
          <p:nvPr/>
        </p:nvSpPr>
        <p:spPr>
          <a:xfrm>
            <a:off x="914400" y="5614416"/>
            <a:ext cx="10360152" cy="603504"/>
          </a:xfrm>
          <a:prstGeom prst="rect">
            <a:avLst/>
          </a:prstGeom>
          <a:noFill/>
          <a:ln/>
        </p:spPr>
        <p:txBody>
          <a:bodyPr wrap="square" lIns="0" tIns="0" rIns="0" bIns="0" rtlCol="0" anchor="ctr"/>
          <a:lstStyle/>
          <a:p>
            <a:pPr algn="ctr" indent="0" marL="0">
              <a:buNone/>
            </a:pPr>
            <a:r>
              <a:rPr lang="en-US" sz="1550" b="1" dirty="0">
                <a:solidFill>
                  <a:srgbClr val="15202B"/>
                </a:solidFill>
                <a:latin typeface="Calibri" pitchFamily="34" charset="0"/>
                <a:ea typeface="Calibri" pitchFamily="34" charset="-122"/>
                <a:cs typeface="Calibri" pitchFamily="34" charset="-120"/>
              </a:rPr>
              <a:t>The colon selects a state. Same element, different moment.</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826"/>
        </a:solidFill>
      </p:bgPr>
    </p:bg>
    <p:spTree>
      <p:nvGrpSpPr>
        <p:cNvPr id="1" name=""/>
        <p:cNvGrpSpPr/>
        <p:nvPr/>
      </p:nvGrpSpPr>
      <p:grpSpPr>
        <a:xfrm>
          <a:off x="0" y="0"/>
          <a:ext cx="0" cy="0"/>
          <a:chOff x="0" y="0"/>
          <a:chExt cx="0" cy="0"/>
        </a:xfrm>
      </p:grpSpPr>
      <p:sp>
        <p:nvSpPr>
          <p:cNvPr id="3" name="Text 0"/>
          <p:cNvSpPr/>
          <p:nvPr/>
        </p:nvSpPr>
        <p:spPr>
          <a:xfrm>
            <a:off x="640080" y="6364224"/>
            <a:ext cx="3657600" cy="256032"/>
          </a:xfrm>
          <a:prstGeom prst="rect">
            <a:avLst/>
          </a:prstGeom>
          <a:noFill/>
          <a:ln/>
        </p:spPr>
        <p:txBody>
          <a:bodyPr wrap="square" lIns="0" tIns="0" rIns="0" bIns="0" rtlCol="0" anchor="ctr"/>
          <a:lstStyle/>
          <a:p>
            <a:pPr indent="0" marL="0">
              <a:buNone/>
            </a:pPr>
            <a:r>
              <a:rPr lang="en-US" sz="900" dirty="0">
                <a:solidFill>
                  <a:srgbClr val="5C6478"/>
                </a:solidFill>
                <a:latin typeface="Courier New" pitchFamily="34" charset="0"/>
                <a:ea typeface="Courier New" pitchFamily="34" charset="-122"/>
                <a:cs typeface="Courier New" pitchFamily="34" charset="-120"/>
              </a:rPr>
              <a:t>CLASS 03  ·  CSS</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5C6478"/>
                </a:solidFill>
                <a:latin typeface="Courier New" pitchFamily="34" charset="0"/>
                <a:ea typeface="Courier New" pitchFamily="34" charset="-122"/>
                <a:cs typeface="Courier New" pitchFamily="34" charset="-120"/>
              </a:rPr>
              <a:t>12</a:t>
            </a:r>
            <a:endParaRPr lang="en-US" sz="900" dirty="0"/>
          </a:p>
        </p:txBody>
      </p:sp>
      <p:sp>
        <p:nvSpPr>
          <p:cNvPr id="5" name="Shape 2"/>
          <p:cNvSpPr/>
          <p:nvPr/>
        </p:nvSpPr>
        <p:spPr>
          <a:xfrm>
            <a:off x="640080" y="384048"/>
            <a:ext cx="1508760" cy="329184"/>
          </a:xfrm>
          <a:prstGeom prst="roundRect">
            <a:avLst>
              <a:gd name="adj" fmla="val 22222"/>
            </a:avLst>
          </a:prstGeom>
          <a:solidFill>
            <a:srgbClr val="2C6BED"/>
          </a:solidFill>
          <a:ln w="12700">
            <a:solidFill>
              <a:srgbClr val="2C6BED"/>
            </a:solidFill>
            <a:prstDash val="solid"/>
          </a:ln>
        </p:spPr>
      </p:sp>
      <p:sp>
        <p:nvSpPr>
          <p:cNvPr id="6" name="Text 3"/>
          <p:cNvSpPr/>
          <p:nvPr/>
        </p:nvSpPr>
        <p:spPr>
          <a:xfrm>
            <a:off x="640080" y="384048"/>
            <a:ext cx="1508760" cy="329184"/>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LIVE CODE</a:t>
            </a:r>
            <a:endParaRPr lang="en-US" sz="1050" dirty="0"/>
          </a:p>
        </p:txBody>
      </p:sp>
      <p:sp>
        <p:nvSpPr>
          <p:cNvPr id="7" name="Text 4"/>
          <p:cNvSpPr/>
          <p:nvPr/>
        </p:nvSpPr>
        <p:spPr>
          <a:xfrm>
            <a:off x="2331720" y="384048"/>
            <a:ext cx="5486400" cy="329184"/>
          </a:xfrm>
          <a:prstGeom prst="rect">
            <a:avLst/>
          </a:prstGeom>
          <a:noFill/>
          <a:ln/>
        </p:spPr>
        <p:txBody>
          <a:bodyPr wrap="square" lIns="0" tIns="0" rIns="0" bIns="0" rtlCol="0" anchor="ctr"/>
          <a:lstStyle/>
          <a:p>
            <a:pPr indent="0" marL="0">
              <a:buNone/>
            </a:pPr>
            <a:r>
              <a:rPr lang="en-US" sz="1200" dirty="0">
                <a:solidFill>
                  <a:srgbClr val="FFD08A"/>
                </a:solidFill>
                <a:latin typeface="Courier New" pitchFamily="34" charset="0"/>
                <a:ea typeface="Courier New" pitchFamily="34" charset="-122"/>
                <a:cs typeface="Courier New" pitchFamily="34" charset="-120"/>
              </a:rPr>
              <a:t>selectors.html</a:t>
            </a:r>
            <a:endParaRPr lang="en-US" sz="1200" dirty="0"/>
          </a:p>
        </p:txBody>
      </p:sp>
      <p:sp>
        <p:nvSpPr>
          <p:cNvPr id="8" name="Text 5"/>
          <p:cNvSpPr/>
          <p:nvPr/>
        </p:nvSpPr>
        <p:spPr>
          <a:xfrm>
            <a:off x="640080" y="822960"/>
            <a:ext cx="10881360" cy="548640"/>
          </a:xfrm>
          <a:prstGeom prst="rect">
            <a:avLst/>
          </a:prstGeom>
          <a:noFill/>
          <a:ln/>
        </p:spPr>
        <p:txBody>
          <a:bodyPr wrap="square" lIns="0" tIns="0" rIns="0" bIns="0" rtlCol="0" anchor="ctr"/>
          <a:lstStyle/>
          <a:p>
            <a:pPr indent="0" marL="0">
              <a:buNone/>
            </a:pPr>
            <a:r>
              <a:rPr lang="en-US" sz="2900" b="1" dirty="0">
                <a:solidFill>
                  <a:srgbClr val="FFFFFF"/>
                </a:solidFill>
                <a:latin typeface="Calibri" pitchFamily="34" charset="0"/>
                <a:ea typeface="Calibri" pitchFamily="34" charset="-122"/>
                <a:cs typeface="Calibri" pitchFamily="34" charset="-120"/>
              </a:rPr>
              <a:t>Six selectors, one page</a:t>
            </a:r>
            <a:endParaRPr lang="en-US" sz="2900" dirty="0"/>
          </a:p>
        </p:txBody>
      </p:sp>
      <p:sp>
        <p:nvSpPr>
          <p:cNvPr id="9" name="Shape 6"/>
          <p:cNvSpPr/>
          <p:nvPr/>
        </p:nvSpPr>
        <p:spPr>
          <a:xfrm>
            <a:off x="640080" y="1517904"/>
            <a:ext cx="6858000" cy="4023360"/>
          </a:xfrm>
          <a:prstGeom prst="roundRect">
            <a:avLst>
              <a:gd name="adj" fmla="val 2273"/>
            </a:avLst>
          </a:prstGeom>
          <a:solidFill>
            <a:srgbClr val="0C121D"/>
          </a:solidFill>
          <a:ln w="12700">
            <a:solidFill>
              <a:srgbClr val="1D2637"/>
            </a:solidFill>
            <a:prstDash val="solid"/>
          </a:ln>
        </p:spPr>
      </p:sp>
      <p:sp>
        <p:nvSpPr>
          <p:cNvPr id="10" name="Text 7"/>
          <p:cNvSpPr/>
          <p:nvPr/>
        </p:nvSpPr>
        <p:spPr>
          <a:xfrm>
            <a:off x="914400" y="1755648"/>
            <a:ext cx="6309360" cy="3547872"/>
          </a:xfrm>
          <a:prstGeom prst="rect">
            <a:avLst/>
          </a:prstGeom>
          <a:noFill/>
          <a:ln/>
        </p:spPr>
        <p:txBody>
          <a:bodyPr wrap="square" lIns="0" tIns="0" rIns="0" bIns="0" rtlCol="0" anchor="t"/>
          <a:lstStyle/>
          <a:p>
            <a:pPr indent="0" marL="0">
              <a:lnSpc>
                <a:spcPts val="2000"/>
              </a:lnSpc>
              <a:buNone/>
            </a:pPr>
            <a:r>
              <a:rPr lang="en-US" sz="1150" dirty="0">
                <a:solidFill>
                  <a:srgbClr val="E6EAF2"/>
                </a:solidFill>
                <a:latin typeface="Courier New" pitchFamily="34" charset="0"/>
                <a:ea typeface="Courier New" pitchFamily="34" charset="-122"/>
                <a:cs typeface="Courier New" pitchFamily="34" charset="-120"/>
              </a:rPr>
              <a:t>h1        </a:t>
            </a:r>
            <a:pPr indent="0" marL="0">
              <a:lnSpc>
                <a:spcPts val="2000"/>
              </a:lnSpc>
              <a:buNone/>
            </a:pPr>
            <a:r>
              <a:rPr lang="en-US" sz="1150" dirty="0">
                <a:solidFill>
                  <a:srgbClr val="9AA4B5"/>
                </a:solidFill>
                <a:latin typeface="Courier New" pitchFamily="34" charset="0"/>
                <a:ea typeface="Courier New" pitchFamily="34" charset="-122"/>
                <a:cs typeface="Courier New" pitchFamily="34" charset="-120"/>
              </a:rPr>
              <a:t>{ </a:t>
            </a:r>
            <a:pPr indent="0" marL="0">
              <a:lnSpc>
                <a:spcPts val="2000"/>
              </a:lnSpc>
              <a:buNone/>
            </a:pPr>
            <a:r>
              <a:rPr lang="en-US" sz="1150" dirty="0">
                <a:solidFill>
                  <a:srgbClr val="FFD08A"/>
                </a:solidFill>
                <a:latin typeface="Courier New" pitchFamily="34" charset="0"/>
                <a:ea typeface="Courier New" pitchFamily="34" charset="-122"/>
                <a:cs typeface="Courier New" pitchFamily="34" charset="-120"/>
              </a:rPr>
              <a:t>color</a:t>
            </a:r>
            <a:pPr indent="0" marL="0">
              <a:lnSpc>
                <a:spcPts val="2000"/>
              </a:lnSpc>
              <a:buNone/>
            </a:pPr>
            <a:r>
              <a:rPr lang="en-US" sz="1150" dirty="0">
                <a:solidFill>
                  <a:srgbClr val="9AA4B5"/>
                </a:solidFill>
                <a:latin typeface="Courier New" pitchFamily="34" charset="0"/>
                <a:ea typeface="Courier New" pitchFamily="34" charset="-122"/>
                <a:cs typeface="Courier New" pitchFamily="34" charset="-120"/>
              </a:rPr>
              <a:t>: </a:t>
            </a:r>
            <a:pPr indent="0" marL="0">
              <a:lnSpc>
                <a:spcPts val="2000"/>
              </a:lnSpc>
              <a:buNone/>
            </a:pPr>
            <a:r>
              <a:rPr lang="en-US" sz="1150" dirty="0">
                <a:solidFill>
                  <a:srgbClr val="9BD5FF"/>
                </a:solidFill>
                <a:latin typeface="Courier New" pitchFamily="34" charset="0"/>
                <a:ea typeface="Courier New" pitchFamily="34" charset="-122"/>
                <a:cs typeface="Courier New" pitchFamily="34" charset="-120"/>
              </a:rPr>
              <a:t>grey</a:t>
            </a:r>
            <a:pPr indent="0" marL="0">
              <a:lnSpc>
                <a:spcPts val="2000"/>
              </a:lnSpc>
              <a:buNone/>
            </a:pPr>
            <a:r>
              <a:rPr lang="en-US" sz="1150" dirty="0">
                <a:solidFill>
                  <a:srgbClr val="9AA4B5"/>
                </a:solidFill>
                <a:latin typeface="Courier New" pitchFamily="34" charset="0"/>
                <a:ea typeface="Courier New" pitchFamily="34" charset="-122"/>
                <a:cs typeface="Courier New" pitchFamily="34" charset="-120"/>
              </a:rPr>
              <a:t>; }</a:t>
            </a:r>
            <a:pPr indent="0" marL="0">
              <a:lnSpc>
                <a:spcPts val="2000"/>
              </a:lnSpc>
              <a:buNone/>
            </a:pPr>
            <a:endParaRPr lang="en-US" sz="1150" dirty="0"/>
          </a:p>
          <a:p>
            <a:pPr indent="0" marL="0">
              <a:lnSpc>
                <a:spcPts val="2000"/>
              </a:lnSpc>
              <a:buNone/>
            </a:pPr>
            <a:endParaRPr lang="en-US" sz="1150" dirty="0"/>
          </a:p>
          <a:p>
            <a:pPr indent="0" marL="0">
              <a:lnSpc>
                <a:spcPts val="2000"/>
              </a:lnSpc>
              <a:buNone/>
            </a:pPr>
            <a:r>
              <a:rPr lang="en-US" sz="1150" dirty="0">
                <a:solidFill>
                  <a:srgbClr val="E6EAF2"/>
                </a:solidFill>
                <a:latin typeface="Courier New" pitchFamily="34" charset="0"/>
                <a:ea typeface="Courier New" pitchFamily="34" charset="-122"/>
                <a:cs typeface="Courier New" pitchFamily="34" charset="-120"/>
              </a:rPr>
              <a:t>.science  </a:t>
            </a:r>
            <a:pPr indent="0" marL="0">
              <a:lnSpc>
                <a:spcPts val="2000"/>
              </a:lnSpc>
              <a:buNone/>
            </a:pPr>
            <a:r>
              <a:rPr lang="en-US" sz="1150" dirty="0">
                <a:solidFill>
                  <a:srgbClr val="9AA4B5"/>
                </a:solidFill>
                <a:latin typeface="Courier New" pitchFamily="34" charset="0"/>
                <a:ea typeface="Courier New" pitchFamily="34" charset="-122"/>
                <a:cs typeface="Courier New" pitchFamily="34" charset="-120"/>
              </a:rPr>
              <a:t>{ </a:t>
            </a:r>
            <a:pPr indent="0" marL="0">
              <a:lnSpc>
                <a:spcPts val="2000"/>
              </a:lnSpc>
              <a:buNone/>
            </a:pPr>
            <a:r>
              <a:rPr lang="en-US" sz="1150" dirty="0">
                <a:solidFill>
                  <a:srgbClr val="FFD08A"/>
                </a:solidFill>
                <a:latin typeface="Courier New" pitchFamily="34" charset="0"/>
                <a:ea typeface="Courier New" pitchFamily="34" charset="-122"/>
                <a:cs typeface="Courier New" pitchFamily="34" charset="-120"/>
              </a:rPr>
              <a:t>color</a:t>
            </a:r>
            <a:pPr indent="0" marL="0">
              <a:lnSpc>
                <a:spcPts val="2000"/>
              </a:lnSpc>
              <a:buNone/>
            </a:pPr>
            <a:r>
              <a:rPr lang="en-US" sz="1150" dirty="0">
                <a:solidFill>
                  <a:srgbClr val="9AA4B5"/>
                </a:solidFill>
                <a:latin typeface="Courier New" pitchFamily="34" charset="0"/>
                <a:ea typeface="Courier New" pitchFamily="34" charset="-122"/>
                <a:cs typeface="Courier New" pitchFamily="34" charset="-120"/>
              </a:rPr>
              <a:t>: </a:t>
            </a:r>
            <a:pPr indent="0" marL="0">
              <a:lnSpc>
                <a:spcPts val="2000"/>
              </a:lnSpc>
              <a:buNone/>
            </a:pPr>
            <a:r>
              <a:rPr lang="en-US" sz="1150" dirty="0">
                <a:solidFill>
                  <a:srgbClr val="9BD5FF"/>
                </a:solidFill>
                <a:latin typeface="Courier New" pitchFamily="34" charset="0"/>
                <a:ea typeface="Courier New" pitchFamily="34" charset="-122"/>
                <a:cs typeface="Courier New" pitchFamily="34" charset="-120"/>
              </a:rPr>
              <a:t>blue</a:t>
            </a:r>
            <a:pPr indent="0" marL="0">
              <a:lnSpc>
                <a:spcPts val="2000"/>
              </a:lnSpc>
              <a:buNone/>
            </a:pPr>
            <a:r>
              <a:rPr lang="en-US" sz="1150" dirty="0">
                <a:solidFill>
                  <a:srgbClr val="9AA4B5"/>
                </a:solidFill>
                <a:latin typeface="Courier New" pitchFamily="34" charset="0"/>
                <a:ea typeface="Courier New" pitchFamily="34" charset="-122"/>
                <a:cs typeface="Courier New" pitchFamily="34" charset="-120"/>
              </a:rPr>
              <a:t>; }</a:t>
            </a:r>
            <a:pPr indent="0" marL="0">
              <a:lnSpc>
                <a:spcPts val="2000"/>
              </a:lnSpc>
              <a:buNone/>
            </a:pPr>
            <a:endParaRPr lang="en-US" sz="1150" dirty="0"/>
          </a:p>
          <a:p>
            <a:pPr indent="0" marL="0">
              <a:lnSpc>
                <a:spcPts val="2000"/>
              </a:lnSpc>
              <a:buNone/>
            </a:pPr>
            <a:r>
              <a:rPr lang="en-US" sz="1150" dirty="0">
                <a:solidFill>
                  <a:srgbClr val="E6EAF2"/>
                </a:solidFill>
                <a:latin typeface="Courier New" pitchFamily="34" charset="0"/>
                <a:ea typeface="Courier New" pitchFamily="34" charset="-122"/>
                <a:cs typeface="Courier New" pitchFamily="34" charset="-120"/>
              </a:rPr>
              <a:t>.literature </a:t>
            </a:r>
            <a:pPr indent="0" marL="0">
              <a:lnSpc>
                <a:spcPts val="2000"/>
              </a:lnSpc>
              <a:buNone/>
            </a:pPr>
            <a:r>
              <a:rPr lang="en-US" sz="1150" dirty="0">
                <a:solidFill>
                  <a:srgbClr val="9AA4B5"/>
                </a:solidFill>
                <a:latin typeface="Courier New" pitchFamily="34" charset="0"/>
                <a:ea typeface="Courier New" pitchFamily="34" charset="-122"/>
                <a:cs typeface="Courier New" pitchFamily="34" charset="-120"/>
              </a:rPr>
              <a:t>{ </a:t>
            </a:r>
            <a:pPr indent="0" marL="0">
              <a:lnSpc>
                <a:spcPts val="2000"/>
              </a:lnSpc>
              <a:buNone/>
            </a:pPr>
            <a:r>
              <a:rPr lang="en-US" sz="1150" dirty="0">
                <a:solidFill>
                  <a:srgbClr val="FFD08A"/>
                </a:solidFill>
                <a:latin typeface="Courier New" pitchFamily="34" charset="0"/>
                <a:ea typeface="Courier New" pitchFamily="34" charset="-122"/>
                <a:cs typeface="Courier New" pitchFamily="34" charset="-120"/>
              </a:rPr>
              <a:t>color</a:t>
            </a:r>
            <a:pPr indent="0" marL="0">
              <a:lnSpc>
                <a:spcPts val="2000"/>
              </a:lnSpc>
              <a:buNone/>
            </a:pPr>
            <a:r>
              <a:rPr lang="en-US" sz="1150" dirty="0">
                <a:solidFill>
                  <a:srgbClr val="9AA4B5"/>
                </a:solidFill>
                <a:latin typeface="Courier New" pitchFamily="34" charset="0"/>
                <a:ea typeface="Courier New" pitchFamily="34" charset="-122"/>
                <a:cs typeface="Courier New" pitchFamily="34" charset="-120"/>
              </a:rPr>
              <a:t>: </a:t>
            </a:r>
            <a:pPr indent="0" marL="0">
              <a:lnSpc>
                <a:spcPts val="2000"/>
              </a:lnSpc>
              <a:buNone/>
            </a:pPr>
            <a:r>
              <a:rPr lang="en-US" sz="1150" dirty="0">
                <a:solidFill>
                  <a:srgbClr val="9BD5FF"/>
                </a:solidFill>
                <a:latin typeface="Courier New" pitchFamily="34" charset="0"/>
                <a:ea typeface="Courier New" pitchFamily="34" charset="-122"/>
                <a:cs typeface="Courier New" pitchFamily="34" charset="-120"/>
              </a:rPr>
              <a:t>red</a:t>
            </a:r>
            <a:pPr indent="0" marL="0">
              <a:lnSpc>
                <a:spcPts val="2000"/>
              </a:lnSpc>
              <a:buNone/>
            </a:pPr>
            <a:r>
              <a:rPr lang="en-US" sz="1150" dirty="0">
                <a:solidFill>
                  <a:srgbClr val="9AA4B5"/>
                </a:solidFill>
                <a:latin typeface="Courier New" pitchFamily="34" charset="0"/>
                <a:ea typeface="Courier New" pitchFamily="34" charset="-122"/>
                <a:cs typeface="Courier New" pitchFamily="34" charset="-120"/>
              </a:rPr>
              <a:t>; }</a:t>
            </a:r>
            <a:pPr indent="0" marL="0">
              <a:lnSpc>
                <a:spcPts val="2000"/>
              </a:lnSpc>
              <a:buNone/>
            </a:pPr>
            <a:endParaRPr lang="en-US" sz="1150" dirty="0"/>
          </a:p>
          <a:p>
            <a:pPr indent="0" marL="0">
              <a:lnSpc>
                <a:spcPts val="2000"/>
              </a:lnSpc>
              <a:buNone/>
            </a:pPr>
            <a:endParaRPr lang="en-US" sz="1150" dirty="0"/>
          </a:p>
          <a:p>
            <a:pPr indent="0" marL="0">
              <a:lnSpc>
                <a:spcPts val="2000"/>
              </a:lnSpc>
              <a:buNone/>
            </a:pPr>
            <a:r>
              <a:rPr lang="en-US" sz="1150" dirty="0">
                <a:solidFill>
                  <a:srgbClr val="E6EAF2"/>
                </a:solidFill>
                <a:latin typeface="Courier New" pitchFamily="34" charset="0"/>
                <a:ea typeface="Courier New" pitchFamily="34" charset="-122"/>
                <a:cs typeface="Courier New" pitchFamily="34" charset="-120"/>
              </a:rPr>
              <a:t>#the-one  </a:t>
            </a:r>
            <a:pPr indent="0" marL="0">
              <a:lnSpc>
                <a:spcPts val="2000"/>
              </a:lnSpc>
              <a:buNone/>
            </a:pPr>
            <a:r>
              <a:rPr lang="en-US" sz="1150" dirty="0">
                <a:solidFill>
                  <a:srgbClr val="9AA4B5"/>
                </a:solidFill>
                <a:latin typeface="Courier New" pitchFamily="34" charset="0"/>
                <a:ea typeface="Courier New" pitchFamily="34" charset="-122"/>
                <a:cs typeface="Courier New" pitchFamily="34" charset="-120"/>
              </a:rPr>
              <a:t>{ </a:t>
            </a:r>
            <a:pPr indent="0" marL="0">
              <a:lnSpc>
                <a:spcPts val="2000"/>
              </a:lnSpc>
              <a:buNone/>
            </a:pPr>
            <a:r>
              <a:rPr lang="en-US" sz="1150" dirty="0">
                <a:solidFill>
                  <a:srgbClr val="FFD08A"/>
                </a:solidFill>
                <a:latin typeface="Courier New" pitchFamily="34" charset="0"/>
                <a:ea typeface="Courier New" pitchFamily="34" charset="-122"/>
                <a:cs typeface="Courier New" pitchFamily="34" charset="-120"/>
              </a:rPr>
              <a:t>color</a:t>
            </a:r>
            <a:pPr indent="0" marL="0">
              <a:lnSpc>
                <a:spcPts val="2000"/>
              </a:lnSpc>
              <a:buNone/>
            </a:pPr>
            <a:r>
              <a:rPr lang="en-US" sz="1150" dirty="0">
                <a:solidFill>
                  <a:srgbClr val="9AA4B5"/>
                </a:solidFill>
                <a:latin typeface="Courier New" pitchFamily="34" charset="0"/>
                <a:ea typeface="Courier New" pitchFamily="34" charset="-122"/>
                <a:cs typeface="Courier New" pitchFamily="34" charset="-120"/>
              </a:rPr>
              <a:t>: </a:t>
            </a:r>
            <a:pPr indent="0" marL="0">
              <a:lnSpc>
                <a:spcPts val="2000"/>
              </a:lnSpc>
              <a:buNone/>
            </a:pPr>
            <a:r>
              <a:rPr lang="en-US" sz="1150" dirty="0">
                <a:solidFill>
                  <a:srgbClr val="9BD5FF"/>
                </a:solidFill>
                <a:latin typeface="Courier New" pitchFamily="34" charset="0"/>
                <a:ea typeface="Courier New" pitchFamily="34" charset="-122"/>
                <a:cs typeface="Courier New" pitchFamily="34" charset="-120"/>
              </a:rPr>
              <a:t>green</a:t>
            </a:r>
            <a:pPr indent="0" marL="0">
              <a:lnSpc>
                <a:spcPts val="2000"/>
              </a:lnSpc>
              <a:buNone/>
            </a:pPr>
            <a:r>
              <a:rPr lang="en-US" sz="1150" dirty="0">
                <a:solidFill>
                  <a:srgbClr val="9AA4B5"/>
                </a:solidFill>
                <a:latin typeface="Courier New" pitchFamily="34" charset="0"/>
                <a:ea typeface="Courier New" pitchFamily="34" charset="-122"/>
                <a:cs typeface="Courier New" pitchFamily="34" charset="-120"/>
              </a:rPr>
              <a:t>; }</a:t>
            </a:r>
            <a:pPr indent="0" marL="0">
              <a:lnSpc>
                <a:spcPts val="2000"/>
              </a:lnSpc>
              <a:buNone/>
            </a:pPr>
            <a:endParaRPr lang="en-US" sz="1150" dirty="0"/>
          </a:p>
          <a:p>
            <a:pPr indent="0" marL="0">
              <a:lnSpc>
                <a:spcPts val="2000"/>
              </a:lnSpc>
              <a:buNone/>
            </a:pPr>
            <a:endParaRPr lang="en-US" sz="1150" dirty="0"/>
          </a:p>
          <a:p>
            <a:pPr indent="0" marL="0">
              <a:lnSpc>
                <a:spcPts val="2000"/>
              </a:lnSpc>
              <a:buNone/>
            </a:pPr>
            <a:r>
              <a:rPr lang="en-US" sz="1150" dirty="0">
                <a:solidFill>
                  <a:srgbClr val="E6EAF2"/>
                </a:solidFill>
                <a:latin typeface="Courier New" pitchFamily="34" charset="0"/>
                <a:ea typeface="Courier New" pitchFamily="34" charset="-122"/>
                <a:cs typeface="Courier New" pitchFamily="34" charset="-120"/>
              </a:rPr>
              <a:t>div li    </a:t>
            </a:r>
            <a:pPr indent="0" marL="0">
              <a:lnSpc>
                <a:spcPts val="2000"/>
              </a:lnSpc>
              <a:buNone/>
            </a:pPr>
            <a:r>
              <a:rPr lang="en-US" sz="1150" dirty="0">
                <a:solidFill>
                  <a:srgbClr val="9AA4B5"/>
                </a:solidFill>
                <a:latin typeface="Courier New" pitchFamily="34" charset="0"/>
                <a:ea typeface="Courier New" pitchFamily="34" charset="-122"/>
                <a:cs typeface="Courier New" pitchFamily="34" charset="-120"/>
              </a:rPr>
              <a:t>{ </a:t>
            </a:r>
            <a:pPr indent="0" marL="0">
              <a:lnSpc>
                <a:spcPts val="2000"/>
              </a:lnSpc>
              <a:buNone/>
            </a:pPr>
            <a:r>
              <a:rPr lang="en-US" sz="1150" dirty="0">
                <a:solidFill>
                  <a:srgbClr val="FFD08A"/>
                </a:solidFill>
                <a:latin typeface="Courier New" pitchFamily="34" charset="0"/>
                <a:ea typeface="Courier New" pitchFamily="34" charset="-122"/>
                <a:cs typeface="Courier New" pitchFamily="34" charset="-120"/>
              </a:rPr>
              <a:t>color</a:t>
            </a:r>
            <a:pPr indent="0" marL="0">
              <a:lnSpc>
                <a:spcPts val="2000"/>
              </a:lnSpc>
              <a:buNone/>
            </a:pPr>
            <a:r>
              <a:rPr lang="en-US" sz="1150" dirty="0">
                <a:solidFill>
                  <a:srgbClr val="9AA4B5"/>
                </a:solidFill>
                <a:latin typeface="Courier New" pitchFamily="34" charset="0"/>
                <a:ea typeface="Courier New" pitchFamily="34" charset="-122"/>
                <a:cs typeface="Courier New" pitchFamily="34" charset="-120"/>
              </a:rPr>
              <a:t>: </a:t>
            </a:r>
            <a:pPr indent="0" marL="0">
              <a:lnSpc>
                <a:spcPts val="2000"/>
              </a:lnSpc>
              <a:buNone/>
            </a:pPr>
            <a:r>
              <a:rPr lang="en-US" sz="1150" dirty="0">
                <a:solidFill>
                  <a:srgbClr val="9BD5FF"/>
                </a:solidFill>
                <a:latin typeface="Courier New" pitchFamily="34" charset="0"/>
                <a:ea typeface="Courier New" pitchFamily="34" charset="-122"/>
                <a:cs typeface="Courier New" pitchFamily="34" charset="-120"/>
              </a:rPr>
              <a:t>blue</a:t>
            </a:r>
            <a:pPr indent="0" marL="0">
              <a:lnSpc>
                <a:spcPts val="2000"/>
              </a:lnSpc>
              <a:buNone/>
            </a:pPr>
            <a:r>
              <a:rPr lang="en-US" sz="1150" dirty="0">
                <a:solidFill>
                  <a:srgbClr val="9AA4B5"/>
                </a:solidFill>
                <a:latin typeface="Courier New" pitchFamily="34" charset="0"/>
                <a:ea typeface="Courier New" pitchFamily="34" charset="-122"/>
                <a:cs typeface="Courier New" pitchFamily="34" charset="-120"/>
              </a:rPr>
              <a:t>; }</a:t>
            </a:r>
            <a:pPr indent="0" marL="0">
              <a:lnSpc>
                <a:spcPts val="2000"/>
              </a:lnSpc>
              <a:buNone/>
            </a:pPr>
            <a:endParaRPr lang="en-US" sz="1150" dirty="0"/>
          </a:p>
          <a:p>
            <a:pPr indent="0" marL="0">
              <a:lnSpc>
                <a:spcPts val="2000"/>
              </a:lnSpc>
              <a:buNone/>
            </a:pPr>
            <a:r>
              <a:rPr lang="en-US" sz="1150" dirty="0">
                <a:solidFill>
                  <a:srgbClr val="E6EAF2"/>
                </a:solidFill>
                <a:latin typeface="Courier New" pitchFamily="34" charset="0"/>
                <a:ea typeface="Courier New" pitchFamily="34" charset="-122"/>
                <a:cs typeface="Courier New" pitchFamily="34" charset="-120"/>
              </a:rPr>
              <a:t>div &gt; h1 &gt; span </a:t>
            </a:r>
            <a:pPr indent="0" marL="0">
              <a:lnSpc>
                <a:spcPts val="2000"/>
              </a:lnSpc>
              <a:buNone/>
            </a:pPr>
            <a:r>
              <a:rPr lang="en-US" sz="1150" dirty="0">
                <a:solidFill>
                  <a:srgbClr val="9AA4B5"/>
                </a:solidFill>
                <a:latin typeface="Courier New" pitchFamily="34" charset="0"/>
                <a:ea typeface="Courier New" pitchFamily="34" charset="-122"/>
                <a:cs typeface="Courier New" pitchFamily="34" charset="-120"/>
              </a:rPr>
              <a:t>{ </a:t>
            </a:r>
            <a:pPr indent="0" marL="0">
              <a:lnSpc>
                <a:spcPts val="2000"/>
              </a:lnSpc>
              <a:buNone/>
            </a:pPr>
            <a:r>
              <a:rPr lang="en-US" sz="1150" dirty="0">
                <a:solidFill>
                  <a:srgbClr val="FFD08A"/>
                </a:solidFill>
                <a:latin typeface="Courier New" pitchFamily="34" charset="0"/>
                <a:ea typeface="Courier New" pitchFamily="34" charset="-122"/>
                <a:cs typeface="Courier New" pitchFamily="34" charset="-120"/>
              </a:rPr>
              <a:t>color</a:t>
            </a:r>
            <a:pPr indent="0" marL="0">
              <a:lnSpc>
                <a:spcPts val="2000"/>
              </a:lnSpc>
              <a:buNone/>
            </a:pPr>
            <a:r>
              <a:rPr lang="en-US" sz="1150" dirty="0">
                <a:solidFill>
                  <a:srgbClr val="9AA4B5"/>
                </a:solidFill>
                <a:latin typeface="Courier New" pitchFamily="34" charset="0"/>
                <a:ea typeface="Courier New" pitchFamily="34" charset="-122"/>
                <a:cs typeface="Courier New" pitchFamily="34" charset="-120"/>
              </a:rPr>
              <a:t>: </a:t>
            </a:r>
            <a:pPr indent="0" marL="0">
              <a:lnSpc>
                <a:spcPts val="2000"/>
              </a:lnSpc>
              <a:buNone/>
            </a:pPr>
            <a:r>
              <a:rPr lang="en-US" sz="1150" dirty="0">
                <a:solidFill>
                  <a:srgbClr val="9BD5FF"/>
                </a:solidFill>
                <a:latin typeface="Courier New" pitchFamily="34" charset="0"/>
                <a:ea typeface="Courier New" pitchFamily="34" charset="-122"/>
                <a:cs typeface="Courier New" pitchFamily="34" charset="-120"/>
              </a:rPr>
              <a:t>blue</a:t>
            </a:r>
            <a:pPr indent="0" marL="0">
              <a:lnSpc>
                <a:spcPts val="2000"/>
              </a:lnSpc>
              <a:buNone/>
            </a:pPr>
            <a:r>
              <a:rPr lang="en-US" sz="1150" dirty="0">
                <a:solidFill>
                  <a:srgbClr val="9AA4B5"/>
                </a:solidFill>
                <a:latin typeface="Courier New" pitchFamily="34" charset="0"/>
                <a:ea typeface="Courier New" pitchFamily="34" charset="-122"/>
                <a:cs typeface="Courier New" pitchFamily="34" charset="-120"/>
              </a:rPr>
              <a:t>; }</a:t>
            </a:r>
            <a:pPr indent="0" marL="0">
              <a:lnSpc>
                <a:spcPts val="2000"/>
              </a:lnSpc>
              <a:buNone/>
            </a:pPr>
            <a:endParaRPr lang="en-US" sz="1150" dirty="0"/>
          </a:p>
          <a:p>
            <a:pPr indent="0" marL="0">
              <a:lnSpc>
                <a:spcPts val="2000"/>
              </a:lnSpc>
              <a:buNone/>
            </a:pPr>
            <a:endParaRPr lang="en-US" sz="1150" dirty="0"/>
          </a:p>
          <a:p>
            <a:pPr indent="0" marL="0">
              <a:lnSpc>
                <a:spcPts val="2000"/>
              </a:lnSpc>
              <a:buNone/>
            </a:pPr>
            <a:r>
              <a:rPr lang="en-US" sz="1150" dirty="0">
                <a:solidFill>
                  <a:srgbClr val="E6EAF2"/>
                </a:solidFill>
                <a:latin typeface="Courier New" pitchFamily="34" charset="0"/>
                <a:ea typeface="Courier New" pitchFamily="34" charset="-122"/>
                <a:cs typeface="Courier New" pitchFamily="34" charset="-120"/>
              </a:rPr>
              <a:t>.m1.m2    </a:t>
            </a:r>
            <a:pPr indent="0" marL="0">
              <a:lnSpc>
                <a:spcPts val="2000"/>
              </a:lnSpc>
              <a:buNone/>
            </a:pPr>
            <a:r>
              <a:rPr lang="en-US" sz="1150" dirty="0">
                <a:solidFill>
                  <a:srgbClr val="9AA4B5"/>
                </a:solidFill>
                <a:latin typeface="Courier New" pitchFamily="34" charset="0"/>
                <a:ea typeface="Courier New" pitchFamily="34" charset="-122"/>
                <a:cs typeface="Courier New" pitchFamily="34" charset="-120"/>
              </a:rPr>
              <a:t>{ </a:t>
            </a:r>
            <a:pPr indent="0" marL="0">
              <a:lnSpc>
                <a:spcPts val="2000"/>
              </a:lnSpc>
              <a:buNone/>
            </a:pPr>
            <a:r>
              <a:rPr lang="en-US" sz="1150" dirty="0">
                <a:solidFill>
                  <a:srgbClr val="FFD08A"/>
                </a:solidFill>
                <a:latin typeface="Courier New" pitchFamily="34" charset="0"/>
                <a:ea typeface="Courier New" pitchFamily="34" charset="-122"/>
                <a:cs typeface="Courier New" pitchFamily="34" charset="-120"/>
              </a:rPr>
              <a:t>color</a:t>
            </a:r>
            <a:pPr indent="0" marL="0">
              <a:lnSpc>
                <a:spcPts val="2000"/>
              </a:lnSpc>
              <a:buNone/>
            </a:pPr>
            <a:r>
              <a:rPr lang="en-US" sz="1150" dirty="0">
                <a:solidFill>
                  <a:srgbClr val="9AA4B5"/>
                </a:solidFill>
                <a:latin typeface="Courier New" pitchFamily="34" charset="0"/>
                <a:ea typeface="Courier New" pitchFamily="34" charset="-122"/>
                <a:cs typeface="Courier New" pitchFamily="34" charset="-120"/>
              </a:rPr>
              <a:t>: </a:t>
            </a:r>
            <a:pPr indent="0" marL="0">
              <a:lnSpc>
                <a:spcPts val="2000"/>
              </a:lnSpc>
              <a:buNone/>
            </a:pPr>
            <a:r>
              <a:rPr lang="en-US" sz="1150" dirty="0">
                <a:solidFill>
                  <a:srgbClr val="9BD5FF"/>
                </a:solidFill>
                <a:latin typeface="Courier New" pitchFamily="34" charset="0"/>
                <a:ea typeface="Courier New" pitchFamily="34" charset="-122"/>
                <a:cs typeface="Courier New" pitchFamily="34" charset="-120"/>
              </a:rPr>
              <a:t>blue</a:t>
            </a:r>
            <a:pPr indent="0" marL="0">
              <a:lnSpc>
                <a:spcPts val="2000"/>
              </a:lnSpc>
              <a:buNone/>
            </a:pPr>
            <a:r>
              <a:rPr lang="en-US" sz="1150" dirty="0">
                <a:solidFill>
                  <a:srgbClr val="9AA4B5"/>
                </a:solidFill>
                <a:latin typeface="Courier New" pitchFamily="34" charset="0"/>
                <a:ea typeface="Courier New" pitchFamily="34" charset="-122"/>
                <a:cs typeface="Courier New" pitchFamily="34" charset="-120"/>
              </a:rPr>
              <a:t>; }</a:t>
            </a:r>
            <a:pPr indent="0" marL="0">
              <a:lnSpc>
                <a:spcPts val="2000"/>
              </a:lnSpc>
              <a:buNone/>
            </a:pPr>
            <a:endParaRPr lang="en-US" sz="1150" dirty="0"/>
          </a:p>
          <a:p>
            <a:pPr indent="0" marL="0">
              <a:lnSpc>
                <a:spcPts val="2000"/>
              </a:lnSpc>
              <a:buNone/>
            </a:pPr>
            <a:r>
              <a:rPr lang="en-US" sz="1150" dirty="0">
                <a:solidFill>
                  <a:srgbClr val="E6EAF2"/>
                </a:solidFill>
                <a:latin typeface="Courier New" pitchFamily="34" charset="0"/>
                <a:ea typeface="Courier New" pitchFamily="34" charset="-122"/>
                <a:cs typeface="Courier New" pitchFamily="34" charset="-120"/>
              </a:rPr>
              <a:t>a</a:t>
            </a:r>
            <a:pPr indent="0" marL="0">
              <a:lnSpc>
                <a:spcPts val="2000"/>
              </a:lnSpc>
              <a:buNone/>
            </a:pPr>
            <a:r>
              <a:rPr lang="en-US" sz="1150" dirty="0">
                <a:solidFill>
                  <a:srgbClr val="FF9E86"/>
                </a:solidFill>
                <a:latin typeface="Courier New" pitchFamily="34" charset="0"/>
                <a:ea typeface="Courier New" pitchFamily="34" charset="-122"/>
                <a:cs typeface="Courier New" pitchFamily="34" charset="-120"/>
              </a:rPr>
              <a:t>:hover</a:t>
            </a:r>
            <a:pPr indent="0" marL="0">
              <a:lnSpc>
                <a:spcPts val="2000"/>
              </a:lnSpc>
              <a:buNone/>
            </a:pPr>
            <a:r>
              <a:rPr lang="en-US" sz="1150" dirty="0">
                <a:solidFill>
                  <a:srgbClr val="E6EAF2"/>
                </a:solidFill>
                <a:latin typeface="Courier New" pitchFamily="34" charset="0"/>
                <a:ea typeface="Courier New" pitchFamily="34" charset="-122"/>
                <a:cs typeface="Courier New" pitchFamily="34" charset="-120"/>
              </a:rPr>
              <a:t>   </a:t>
            </a:r>
            <a:pPr indent="0" marL="0">
              <a:lnSpc>
                <a:spcPts val="2000"/>
              </a:lnSpc>
              <a:buNone/>
            </a:pPr>
            <a:r>
              <a:rPr lang="en-US" sz="1150" dirty="0">
                <a:solidFill>
                  <a:srgbClr val="9AA4B5"/>
                </a:solidFill>
                <a:latin typeface="Courier New" pitchFamily="34" charset="0"/>
                <a:ea typeface="Courier New" pitchFamily="34" charset="-122"/>
                <a:cs typeface="Courier New" pitchFamily="34" charset="-120"/>
              </a:rPr>
              <a:t>{ </a:t>
            </a:r>
            <a:pPr indent="0" marL="0">
              <a:lnSpc>
                <a:spcPts val="2000"/>
              </a:lnSpc>
              <a:buNone/>
            </a:pPr>
            <a:r>
              <a:rPr lang="en-US" sz="1150" dirty="0">
                <a:solidFill>
                  <a:srgbClr val="FFD08A"/>
                </a:solidFill>
                <a:latin typeface="Courier New" pitchFamily="34" charset="0"/>
                <a:ea typeface="Courier New" pitchFamily="34" charset="-122"/>
                <a:cs typeface="Courier New" pitchFamily="34" charset="-120"/>
              </a:rPr>
              <a:t>color</a:t>
            </a:r>
            <a:pPr indent="0" marL="0">
              <a:lnSpc>
                <a:spcPts val="2000"/>
              </a:lnSpc>
              <a:buNone/>
            </a:pPr>
            <a:r>
              <a:rPr lang="en-US" sz="1150" dirty="0">
                <a:solidFill>
                  <a:srgbClr val="9AA4B5"/>
                </a:solidFill>
                <a:latin typeface="Courier New" pitchFamily="34" charset="0"/>
                <a:ea typeface="Courier New" pitchFamily="34" charset="-122"/>
                <a:cs typeface="Courier New" pitchFamily="34" charset="-120"/>
              </a:rPr>
              <a:t>: </a:t>
            </a:r>
            <a:pPr indent="0" marL="0">
              <a:lnSpc>
                <a:spcPts val="2000"/>
              </a:lnSpc>
              <a:buNone/>
            </a:pPr>
            <a:r>
              <a:rPr lang="en-US" sz="1150" dirty="0">
                <a:solidFill>
                  <a:srgbClr val="9BD5FF"/>
                </a:solidFill>
                <a:latin typeface="Courier New" pitchFamily="34" charset="0"/>
                <a:ea typeface="Courier New" pitchFamily="34" charset="-122"/>
                <a:cs typeface="Courier New" pitchFamily="34" charset="-120"/>
              </a:rPr>
              <a:t>darkblue</a:t>
            </a:r>
            <a:pPr indent="0" marL="0">
              <a:lnSpc>
                <a:spcPts val="2000"/>
              </a:lnSpc>
              <a:buNone/>
            </a:pPr>
            <a:r>
              <a:rPr lang="en-US" sz="1150" dirty="0">
                <a:solidFill>
                  <a:srgbClr val="9AA4B5"/>
                </a:solidFill>
                <a:latin typeface="Courier New" pitchFamily="34" charset="0"/>
                <a:ea typeface="Courier New" pitchFamily="34" charset="-122"/>
                <a:cs typeface="Courier New" pitchFamily="34" charset="-120"/>
              </a:rPr>
              <a:t>; }</a:t>
            </a:r>
            <a:endParaRPr lang="en-US" sz="1150" dirty="0"/>
          </a:p>
        </p:txBody>
      </p:sp>
      <p:sp>
        <p:nvSpPr>
          <p:cNvPr id="11" name="Text 8"/>
          <p:cNvSpPr/>
          <p:nvPr/>
        </p:nvSpPr>
        <p:spPr>
          <a:xfrm>
            <a:off x="7863840" y="1517904"/>
            <a:ext cx="3685032" cy="292608"/>
          </a:xfrm>
          <a:prstGeom prst="rect">
            <a:avLst/>
          </a:prstGeom>
          <a:noFill/>
          <a:ln/>
        </p:spPr>
        <p:txBody>
          <a:bodyPr wrap="square" lIns="0" tIns="0" rIns="0" bIns="0" rtlCol="0" anchor="ctr"/>
          <a:lstStyle/>
          <a:p>
            <a:pPr indent="0" marL="0">
              <a:buNone/>
            </a:pPr>
            <a:r>
              <a:rPr lang="en-US" sz="1050" b="1" spc="200" kern="0" dirty="0">
                <a:solidFill>
                  <a:srgbClr val="FF9E86"/>
                </a:solidFill>
                <a:latin typeface="Calibri" pitchFamily="34" charset="0"/>
                <a:ea typeface="Calibri" pitchFamily="34" charset="-122"/>
                <a:cs typeface="Calibri" pitchFamily="34" charset="-120"/>
              </a:rPr>
              <a:t>SAY THIS WHILE YOU TYPE</a:t>
            </a:r>
            <a:endParaRPr lang="en-US" sz="1050" dirty="0"/>
          </a:p>
        </p:txBody>
      </p:sp>
      <p:sp>
        <p:nvSpPr>
          <p:cNvPr id="12" name="Shape 9"/>
          <p:cNvSpPr/>
          <p:nvPr/>
        </p:nvSpPr>
        <p:spPr>
          <a:xfrm>
            <a:off x="7863840" y="1901952"/>
            <a:ext cx="3685032" cy="658368"/>
          </a:xfrm>
          <a:prstGeom prst="roundRect">
            <a:avLst>
              <a:gd name="adj" fmla="val 11111"/>
            </a:avLst>
          </a:prstGeom>
          <a:solidFill>
            <a:srgbClr val="1D2637"/>
          </a:solidFill>
          <a:ln w="12700">
            <a:solidFill>
              <a:srgbClr val="2A3446"/>
            </a:solidFill>
            <a:prstDash val="solid"/>
          </a:ln>
        </p:spPr>
      </p:sp>
      <p:sp>
        <p:nvSpPr>
          <p:cNvPr id="13" name="Text 10"/>
          <p:cNvSpPr/>
          <p:nvPr/>
        </p:nvSpPr>
        <p:spPr>
          <a:xfrm>
            <a:off x="8065008" y="1901952"/>
            <a:ext cx="3282696" cy="658368"/>
          </a:xfrm>
          <a:prstGeom prst="rect">
            <a:avLst/>
          </a:prstGeom>
          <a:noFill/>
          <a:ln/>
        </p:spPr>
        <p:txBody>
          <a:bodyPr wrap="square" lIns="0" tIns="0" rIns="0" bIns="0" rtlCol="0" anchor="ctr"/>
          <a:lstStyle/>
          <a:p>
            <a:pPr algn="l" indent="0" marL="0">
              <a:lnSpc>
                <a:spcPts val="1550"/>
              </a:lnSpc>
              <a:buNone/>
            </a:pPr>
            <a:r>
              <a:rPr lang="en-US" sz="1150" dirty="0">
                <a:solidFill>
                  <a:srgbClr val="C9C4E6"/>
                </a:solidFill>
                <a:latin typeface="Calibri" pitchFamily="34" charset="0"/>
                <a:ea typeface="Calibri" pitchFamily="34" charset="-122"/>
                <a:cs typeface="Calibri" pitchFamily="34" charset="-120"/>
              </a:rPr>
              <a:t>Start with h1 so everything goes grey. Now every later rule is visibly an override.</a:t>
            </a:r>
            <a:endParaRPr lang="en-US" sz="1150" dirty="0"/>
          </a:p>
        </p:txBody>
      </p:sp>
      <p:sp>
        <p:nvSpPr>
          <p:cNvPr id="14" name="Shape 11"/>
          <p:cNvSpPr/>
          <p:nvPr/>
        </p:nvSpPr>
        <p:spPr>
          <a:xfrm>
            <a:off x="7863840" y="2651760"/>
            <a:ext cx="3685032" cy="658368"/>
          </a:xfrm>
          <a:prstGeom prst="roundRect">
            <a:avLst>
              <a:gd name="adj" fmla="val 11111"/>
            </a:avLst>
          </a:prstGeom>
          <a:solidFill>
            <a:srgbClr val="1D2637"/>
          </a:solidFill>
          <a:ln w="12700">
            <a:solidFill>
              <a:srgbClr val="2A3446"/>
            </a:solidFill>
            <a:prstDash val="solid"/>
          </a:ln>
        </p:spPr>
      </p:sp>
      <p:sp>
        <p:nvSpPr>
          <p:cNvPr id="15" name="Text 12"/>
          <p:cNvSpPr/>
          <p:nvPr/>
        </p:nvSpPr>
        <p:spPr>
          <a:xfrm>
            <a:off x="8065008" y="2651760"/>
            <a:ext cx="3282696" cy="658368"/>
          </a:xfrm>
          <a:prstGeom prst="rect">
            <a:avLst/>
          </a:prstGeom>
          <a:noFill/>
          <a:ln/>
        </p:spPr>
        <p:txBody>
          <a:bodyPr wrap="square" lIns="0" tIns="0" rIns="0" bIns="0" rtlCol="0" anchor="ctr"/>
          <a:lstStyle/>
          <a:p>
            <a:pPr algn="l" indent="0" marL="0">
              <a:lnSpc>
                <a:spcPts val="1550"/>
              </a:lnSpc>
              <a:buNone/>
            </a:pPr>
            <a:r>
              <a:rPr lang="en-US" sz="1150" dirty="0">
                <a:solidFill>
                  <a:srgbClr val="C9C4E6"/>
                </a:solidFill>
                <a:latin typeface="Calibri" pitchFamily="34" charset="0"/>
                <a:ea typeface="Calibri" pitchFamily="34" charset="-122"/>
                <a:cs typeface="Calibri" pitchFamily="34" charset="-120"/>
              </a:rPr>
              <a:t>Add the class rules and watch the groups split by colour. This is the badge analogy, live.</a:t>
            </a:r>
            <a:endParaRPr lang="en-US" sz="1150" dirty="0"/>
          </a:p>
        </p:txBody>
      </p:sp>
      <p:sp>
        <p:nvSpPr>
          <p:cNvPr id="16" name="Shape 13"/>
          <p:cNvSpPr/>
          <p:nvPr/>
        </p:nvSpPr>
        <p:spPr>
          <a:xfrm>
            <a:off x="7863840" y="3401568"/>
            <a:ext cx="3685032" cy="658368"/>
          </a:xfrm>
          <a:prstGeom prst="roundRect">
            <a:avLst>
              <a:gd name="adj" fmla="val 11111"/>
            </a:avLst>
          </a:prstGeom>
          <a:solidFill>
            <a:srgbClr val="1D2637"/>
          </a:solidFill>
          <a:ln w="12700">
            <a:solidFill>
              <a:srgbClr val="2A3446"/>
            </a:solidFill>
            <a:prstDash val="solid"/>
          </a:ln>
        </p:spPr>
      </p:sp>
      <p:sp>
        <p:nvSpPr>
          <p:cNvPr id="17" name="Text 14"/>
          <p:cNvSpPr/>
          <p:nvPr/>
        </p:nvSpPr>
        <p:spPr>
          <a:xfrm>
            <a:off x="8065008" y="3401568"/>
            <a:ext cx="3282696" cy="658368"/>
          </a:xfrm>
          <a:prstGeom prst="rect">
            <a:avLst/>
          </a:prstGeom>
          <a:noFill/>
          <a:ln/>
        </p:spPr>
        <p:txBody>
          <a:bodyPr wrap="square" lIns="0" tIns="0" rIns="0" bIns="0" rtlCol="0" anchor="ctr"/>
          <a:lstStyle/>
          <a:p>
            <a:pPr algn="l" indent="0" marL="0">
              <a:lnSpc>
                <a:spcPts val="1550"/>
              </a:lnSpc>
              <a:buNone/>
            </a:pPr>
            <a:r>
              <a:rPr lang="en-US" sz="1150" dirty="0">
                <a:solidFill>
                  <a:srgbClr val="C9C4E6"/>
                </a:solidFill>
                <a:latin typeface="Calibri" pitchFamily="34" charset="0"/>
                <a:ea typeface="Calibri" pitchFamily="34" charset="-122"/>
                <a:cs typeface="Calibri" pitchFamily="34" charset="-120"/>
              </a:rPr>
              <a:t>Add the id rule. One element changes. Try putting the same id on two elements and show it is a bug.</a:t>
            </a:r>
            <a:endParaRPr lang="en-US" sz="1150" dirty="0"/>
          </a:p>
        </p:txBody>
      </p:sp>
      <p:sp>
        <p:nvSpPr>
          <p:cNvPr id="18" name="Shape 15"/>
          <p:cNvSpPr/>
          <p:nvPr/>
        </p:nvSpPr>
        <p:spPr>
          <a:xfrm>
            <a:off x="7863840" y="4151376"/>
            <a:ext cx="3685032" cy="658368"/>
          </a:xfrm>
          <a:prstGeom prst="roundRect">
            <a:avLst>
              <a:gd name="adj" fmla="val 11111"/>
            </a:avLst>
          </a:prstGeom>
          <a:solidFill>
            <a:srgbClr val="1D2637"/>
          </a:solidFill>
          <a:ln w="12700">
            <a:solidFill>
              <a:srgbClr val="2A3446"/>
            </a:solidFill>
            <a:prstDash val="solid"/>
          </a:ln>
        </p:spPr>
      </p:sp>
      <p:sp>
        <p:nvSpPr>
          <p:cNvPr id="19" name="Text 16"/>
          <p:cNvSpPr/>
          <p:nvPr/>
        </p:nvSpPr>
        <p:spPr>
          <a:xfrm>
            <a:off x="8065008" y="4151376"/>
            <a:ext cx="3282696" cy="658368"/>
          </a:xfrm>
          <a:prstGeom prst="rect">
            <a:avLst/>
          </a:prstGeom>
          <a:noFill/>
          <a:ln/>
        </p:spPr>
        <p:txBody>
          <a:bodyPr wrap="square" lIns="0" tIns="0" rIns="0" bIns="0" rtlCol="0" anchor="ctr"/>
          <a:lstStyle/>
          <a:p>
            <a:pPr algn="l" indent="0" marL="0">
              <a:lnSpc>
                <a:spcPts val="1550"/>
              </a:lnSpc>
              <a:buNone/>
            </a:pPr>
            <a:r>
              <a:rPr lang="en-US" sz="1150" dirty="0">
                <a:solidFill>
                  <a:srgbClr val="C9C4E6"/>
                </a:solidFill>
                <a:latin typeface="Calibri" pitchFamily="34" charset="0"/>
                <a:ea typeface="Calibri" pitchFamily="34" charset="-122"/>
                <a:cs typeface="Calibri" pitchFamily="34" charset="-120"/>
              </a:rPr>
              <a:t>Then the combinators, one at a time. Add the space, then swap it for a greater than, and let them see the grandson drop out.</a:t>
            </a:r>
            <a:endParaRPr lang="en-US" sz="1150" dirty="0"/>
          </a:p>
        </p:txBody>
      </p:sp>
      <p:sp>
        <p:nvSpPr>
          <p:cNvPr id="20" name="Shape 17"/>
          <p:cNvSpPr/>
          <p:nvPr/>
        </p:nvSpPr>
        <p:spPr>
          <a:xfrm>
            <a:off x="7863840" y="4901184"/>
            <a:ext cx="3685032" cy="658368"/>
          </a:xfrm>
          <a:prstGeom prst="roundRect">
            <a:avLst>
              <a:gd name="adj" fmla="val 11111"/>
            </a:avLst>
          </a:prstGeom>
          <a:solidFill>
            <a:srgbClr val="1D2637"/>
          </a:solidFill>
          <a:ln w="12700">
            <a:solidFill>
              <a:srgbClr val="2A3446"/>
            </a:solidFill>
            <a:prstDash val="solid"/>
          </a:ln>
        </p:spPr>
      </p:sp>
      <p:sp>
        <p:nvSpPr>
          <p:cNvPr id="21" name="Text 18"/>
          <p:cNvSpPr/>
          <p:nvPr/>
        </p:nvSpPr>
        <p:spPr>
          <a:xfrm>
            <a:off x="8065008" y="4901184"/>
            <a:ext cx="3282696" cy="658368"/>
          </a:xfrm>
          <a:prstGeom prst="rect">
            <a:avLst/>
          </a:prstGeom>
          <a:noFill/>
          <a:ln/>
        </p:spPr>
        <p:txBody>
          <a:bodyPr wrap="square" lIns="0" tIns="0" rIns="0" bIns="0" rtlCol="0" anchor="ctr"/>
          <a:lstStyle/>
          <a:p>
            <a:pPr algn="l" indent="0" marL="0">
              <a:lnSpc>
                <a:spcPts val="1550"/>
              </a:lnSpc>
              <a:buNone/>
            </a:pPr>
            <a:r>
              <a:rPr lang="en-US" sz="1150" dirty="0">
                <a:solidFill>
                  <a:srgbClr val="C9C4E6"/>
                </a:solidFill>
                <a:latin typeface="Calibri" pitchFamily="34" charset="0"/>
                <a:ea typeface="Calibri" pitchFamily="34" charset="-122"/>
                <a:cs typeface="Calibri" pitchFamily="34" charset="-120"/>
              </a:rPr>
              <a:t>Finish with hover so they leave with something that reacts to the mouse.</a:t>
            </a:r>
            <a:endParaRPr lang="en-US" sz="1150" dirty="0"/>
          </a:p>
        </p:txBody>
      </p:sp>
      <p:sp>
        <p:nvSpPr>
          <p:cNvPr id="22" name="Shape 19"/>
          <p:cNvSpPr/>
          <p:nvPr/>
        </p:nvSpPr>
        <p:spPr>
          <a:xfrm>
            <a:off x="7863840" y="5486400"/>
            <a:ext cx="3685032" cy="658368"/>
          </a:xfrm>
          <a:prstGeom prst="roundRect">
            <a:avLst>
              <a:gd name="adj" fmla="val 11111"/>
            </a:avLst>
          </a:prstGeom>
          <a:solidFill>
            <a:srgbClr val="1D2637"/>
          </a:solidFill>
          <a:ln w="12700">
            <a:solidFill>
              <a:srgbClr val="2A3446"/>
            </a:solidFill>
            <a:prstDash val="solid"/>
          </a:ln>
        </p:spPr>
      </p:sp>
      <p:sp>
        <p:nvSpPr>
          <p:cNvPr id="23" name="Text 20"/>
          <p:cNvSpPr/>
          <p:nvPr/>
        </p:nvSpPr>
        <p:spPr>
          <a:xfrm>
            <a:off x="8065008" y="5486400"/>
            <a:ext cx="3282696" cy="658368"/>
          </a:xfrm>
          <a:prstGeom prst="rect">
            <a:avLst/>
          </a:prstGeom>
          <a:noFill/>
          <a:ln/>
        </p:spPr>
        <p:txBody>
          <a:bodyPr wrap="square" lIns="0" tIns="0" rIns="0" bIns="0" rtlCol="0" anchor="ctr"/>
          <a:lstStyle/>
          <a:p>
            <a:pPr indent="0" marL="0">
              <a:lnSpc>
                <a:spcPts val="1400"/>
              </a:lnSpc>
              <a:buNone/>
            </a:pPr>
            <a:r>
              <a:rPr lang="en-US" sz="1000" dirty="0">
                <a:solidFill>
                  <a:srgbClr val="7C8CA5"/>
                </a:solidFill>
                <a:latin typeface="Courier New" pitchFamily="34" charset="0"/>
                <a:ea typeface="Courier New" pitchFamily="34" charset="-122"/>
                <a:cs typeface="Courier New" pitchFamily="34" charset="-120"/>
              </a:rPr>
              <a:t>add rules one at a time and save between each, or nobody sees which rule did what</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826"/>
        </a:solidFill>
      </p:bgPr>
    </p:bg>
    <p:spTree>
      <p:nvGrpSpPr>
        <p:cNvPr id="1" name=""/>
        <p:cNvGrpSpPr/>
        <p:nvPr/>
      </p:nvGrpSpPr>
      <p:grpSpPr>
        <a:xfrm>
          <a:off x="0" y="0"/>
          <a:ext cx="0" cy="0"/>
          <a:chOff x="0" y="0"/>
          <a:chExt cx="0" cy="0"/>
        </a:xfrm>
      </p:grpSpPr>
      <p:sp>
        <p:nvSpPr>
          <p:cNvPr id="3" name="Text 0"/>
          <p:cNvSpPr/>
          <p:nvPr/>
        </p:nvSpPr>
        <p:spPr>
          <a:xfrm>
            <a:off x="0" y="1417320"/>
            <a:ext cx="12188952" cy="2194560"/>
          </a:xfrm>
          <a:prstGeom prst="rect">
            <a:avLst/>
          </a:prstGeom>
          <a:noFill/>
          <a:ln/>
        </p:spPr>
        <p:txBody>
          <a:bodyPr wrap="square" lIns="0" tIns="0" rIns="0" bIns="0" rtlCol="0" anchor="ctr"/>
          <a:lstStyle/>
          <a:p>
            <a:pPr algn="ctr" indent="0" marL="0">
              <a:buNone/>
            </a:pPr>
            <a:r>
              <a:rPr lang="en-US" sz="15000" b="1" dirty="0">
                <a:solidFill>
                  <a:srgbClr val="E8A33D"/>
                </a:solidFill>
                <a:latin typeface="Calibri" pitchFamily="34" charset="0"/>
                <a:ea typeface="Calibri" pitchFamily="34" charset="-122"/>
                <a:cs typeface="Calibri" pitchFamily="34" charset="-120"/>
              </a:rPr>
              <a:t>5</a:t>
            </a:r>
            <a:endParaRPr lang="en-US" sz="15000" dirty="0"/>
          </a:p>
        </p:txBody>
      </p:sp>
      <p:sp>
        <p:nvSpPr>
          <p:cNvPr id="4" name="Text 1"/>
          <p:cNvSpPr/>
          <p:nvPr/>
        </p:nvSpPr>
        <p:spPr>
          <a:xfrm>
            <a:off x="0" y="3429000"/>
            <a:ext cx="12188952" cy="457200"/>
          </a:xfrm>
          <a:prstGeom prst="rect">
            <a:avLst/>
          </a:prstGeom>
          <a:noFill/>
          <a:ln/>
        </p:spPr>
        <p:txBody>
          <a:bodyPr wrap="square" lIns="0" tIns="0" rIns="0" bIns="0" rtlCol="0" anchor="ctr"/>
          <a:lstStyle/>
          <a:p>
            <a:pPr algn="ctr" indent="0" marL="0">
              <a:buNone/>
            </a:pPr>
            <a:r>
              <a:rPr lang="en-US" sz="2600" b="1" spc="600" kern="0" dirty="0">
                <a:solidFill>
                  <a:srgbClr val="FFFFFF"/>
                </a:solidFill>
                <a:latin typeface="Calibri" pitchFamily="34" charset="0"/>
                <a:ea typeface="Calibri" pitchFamily="34" charset="-122"/>
                <a:cs typeface="Calibri" pitchFamily="34" charset="-120"/>
              </a:rPr>
              <a:t>MINUTE BREAK</a:t>
            </a:r>
            <a:endParaRPr lang="en-US" sz="2600" dirty="0"/>
          </a:p>
        </p:txBody>
      </p:sp>
      <p:sp>
        <p:nvSpPr>
          <p:cNvPr id="5" name="Text 2"/>
          <p:cNvSpPr/>
          <p:nvPr/>
        </p:nvSpPr>
        <p:spPr>
          <a:xfrm>
            <a:off x="0" y="3977640"/>
            <a:ext cx="12188952" cy="365760"/>
          </a:xfrm>
          <a:prstGeom prst="rect">
            <a:avLst/>
          </a:prstGeom>
          <a:noFill/>
          <a:ln/>
        </p:spPr>
        <p:txBody>
          <a:bodyPr wrap="square" lIns="0" tIns="0" rIns="0" bIns="0" rtlCol="0" anchor="ctr"/>
          <a:lstStyle/>
          <a:p>
            <a:pPr algn="ctr" indent="0" marL="0">
              <a:buNone/>
            </a:pPr>
            <a:r>
              <a:rPr lang="en-US" sz="1400" dirty="0">
                <a:solidFill>
                  <a:srgbClr val="C3BEE4"/>
                </a:solidFill>
                <a:latin typeface="Courier New" pitchFamily="34" charset="0"/>
                <a:ea typeface="Courier New" pitchFamily="34" charset="-122"/>
                <a:cs typeface="Courier New" pitchFamily="34" charset="-120"/>
              </a:rPr>
              <a:t>back at  __ : __     (say the actual clock time)</a:t>
            </a:r>
            <a:endParaRPr lang="en-US" sz="1400" dirty="0"/>
          </a:p>
        </p:txBody>
      </p:sp>
      <p:sp>
        <p:nvSpPr>
          <p:cNvPr id="6" name="Shape 3"/>
          <p:cNvSpPr/>
          <p:nvPr/>
        </p:nvSpPr>
        <p:spPr>
          <a:xfrm>
            <a:off x="2153412" y="4526280"/>
            <a:ext cx="2468880" cy="502920"/>
          </a:xfrm>
          <a:prstGeom prst="roundRect">
            <a:avLst>
              <a:gd name="adj" fmla="val 18182"/>
            </a:avLst>
          </a:prstGeom>
          <a:solidFill>
            <a:srgbClr val="1D2637"/>
          </a:solidFill>
          <a:ln w="12700">
            <a:solidFill>
              <a:srgbClr val="3B3470"/>
            </a:solidFill>
            <a:prstDash val="solid"/>
          </a:ln>
        </p:spPr>
      </p:sp>
      <p:sp>
        <p:nvSpPr>
          <p:cNvPr id="7" name="Text 4"/>
          <p:cNvSpPr/>
          <p:nvPr/>
        </p:nvSpPr>
        <p:spPr>
          <a:xfrm>
            <a:off x="2153412" y="4526280"/>
            <a:ext cx="2468880" cy="502920"/>
          </a:xfrm>
          <a:prstGeom prst="rect">
            <a:avLst/>
          </a:prstGeom>
          <a:noFill/>
          <a:ln/>
        </p:spPr>
        <p:txBody>
          <a:bodyPr wrap="square" lIns="0" tIns="0" rIns="0" bIns="0" rtlCol="0" anchor="ctr"/>
          <a:lstStyle/>
          <a:p>
            <a:pPr algn="ctr" indent="0" marL="0">
              <a:buNone/>
            </a:pPr>
            <a:r>
              <a:rPr lang="en-US" sz="1150" b="1" dirty="0">
                <a:solidFill>
                  <a:srgbClr val="DDD8F5"/>
                </a:solidFill>
                <a:latin typeface="Calibri" pitchFamily="34" charset="0"/>
                <a:ea typeface="Calibri" pitchFamily="34" charset="-122"/>
                <a:cs typeface="Calibri" pitchFamily="34" charset="-120"/>
              </a:rPr>
              <a:t>Stretch</a:t>
            </a:r>
            <a:endParaRPr lang="en-US" sz="1150" dirty="0"/>
          </a:p>
        </p:txBody>
      </p:sp>
      <p:sp>
        <p:nvSpPr>
          <p:cNvPr id="8" name="Shape 5"/>
          <p:cNvSpPr/>
          <p:nvPr/>
        </p:nvSpPr>
        <p:spPr>
          <a:xfrm>
            <a:off x="4860036" y="4526280"/>
            <a:ext cx="2468880" cy="502920"/>
          </a:xfrm>
          <a:prstGeom prst="roundRect">
            <a:avLst>
              <a:gd name="adj" fmla="val 18182"/>
            </a:avLst>
          </a:prstGeom>
          <a:solidFill>
            <a:srgbClr val="1D2637"/>
          </a:solidFill>
          <a:ln w="12700">
            <a:solidFill>
              <a:srgbClr val="3B3470"/>
            </a:solidFill>
            <a:prstDash val="solid"/>
          </a:ln>
        </p:spPr>
      </p:sp>
      <p:sp>
        <p:nvSpPr>
          <p:cNvPr id="9" name="Text 6"/>
          <p:cNvSpPr/>
          <p:nvPr/>
        </p:nvSpPr>
        <p:spPr>
          <a:xfrm>
            <a:off x="4860036" y="4526280"/>
            <a:ext cx="2468880" cy="502920"/>
          </a:xfrm>
          <a:prstGeom prst="rect">
            <a:avLst/>
          </a:prstGeom>
          <a:noFill/>
          <a:ln/>
        </p:spPr>
        <p:txBody>
          <a:bodyPr wrap="square" lIns="0" tIns="0" rIns="0" bIns="0" rtlCol="0" anchor="ctr"/>
          <a:lstStyle/>
          <a:p>
            <a:pPr algn="ctr" indent="0" marL="0">
              <a:buNone/>
            </a:pPr>
            <a:r>
              <a:rPr lang="en-US" sz="1150" b="1" dirty="0">
                <a:solidFill>
                  <a:srgbClr val="DDD8F5"/>
                </a:solidFill>
                <a:latin typeface="Calibri" pitchFamily="34" charset="0"/>
                <a:ea typeface="Calibri" pitchFamily="34" charset="-122"/>
                <a:cs typeface="Calibri" pitchFamily="34" charset="-120"/>
              </a:rPr>
              <a:t>Water</a:t>
            </a:r>
            <a:endParaRPr lang="en-US" sz="1150" dirty="0"/>
          </a:p>
        </p:txBody>
      </p:sp>
      <p:sp>
        <p:nvSpPr>
          <p:cNvPr id="10" name="Shape 7"/>
          <p:cNvSpPr/>
          <p:nvPr/>
        </p:nvSpPr>
        <p:spPr>
          <a:xfrm>
            <a:off x="7566660" y="4526280"/>
            <a:ext cx="2468880" cy="502920"/>
          </a:xfrm>
          <a:prstGeom prst="roundRect">
            <a:avLst>
              <a:gd name="adj" fmla="val 18182"/>
            </a:avLst>
          </a:prstGeom>
          <a:solidFill>
            <a:srgbClr val="1D2637"/>
          </a:solidFill>
          <a:ln w="12700">
            <a:solidFill>
              <a:srgbClr val="3B3470"/>
            </a:solidFill>
            <a:prstDash val="solid"/>
          </a:ln>
        </p:spPr>
      </p:sp>
      <p:sp>
        <p:nvSpPr>
          <p:cNvPr id="11" name="Text 8"/>
          <p:cNvSpPr/>
          <p:nvPr/>
        </p:nvSpPr>
        <p:spPr>
          <a:xfrm>
            <a:off x="7566660" y="4526280"/>
            <a:ext cx="2468880" cy="502920"/>
          </a:xfrm>
          <a:prstGeom prst="rect">
            <a:avLst/>
          </a:prstGeom>
          <a:noFill/>
          <a:ln/>
        </p:spPr>
        <p:txBody>
          <a:bodyPr wrap="square" lIns="0" tIns="0" rIns="0" bIns="0" rtlCol="0" anchor="ctr"/>
          <a:lstStyle/>
          <a:p>
            <a:pPr algn="ctr" indent="0" marL="0">
              <a:buNone/>
            </a:pPr>
            <a:r>
              <a:rPr lang="en-US" sz="1150" b="1" dirty="0">
                <a:solidFill>
                  <a:srgbClr val="DDD8F5"/>
                </a:solidFill>
                <a:latin typeface="Calibri" pitchFamily="34" charset="0"/>
                <a:ea typeface="Calibri" pitchFamily="34" charset="-122"/>
                <a:cs typeface="Calibri" pitchFamily="34" charset="-120"/>
              </a:rPr>
              <a:t>Rest your eyes</a:t>
            </a:r>
            <a:endParaRPr lang="en-US" sz="1150" dirty="0"/>
          </a:p>
        </p:txBody>
      </p:sp>
      <p:sp>
        <p:nvSpPr>
          <p:cNvPr id="12" name="Text 9"/>
          <p:cNvSpPr/>
          <p:nvPr/>
        </p:nvSpPr>
        <p:spPr>
          <a:xfrm>
            <a:off x="0" y="5303520"/>
            <a:ext cx="12188952" cy="365760"/>
          </a:xfrm>
          <a:prstGeom prst="rect">
            <a:avLst/>
          </a:prstGeom>
          <a:noFill/>
          <a:ln/>
        </p:spPr>
        <p:txBody>
          <a:bodyPr wrap="square" lIns="0" tIns="0" rIns="0" bIns="0" rtlCol="0" anchor="ctr"/>
          <a:lstStyle/>
          <a:p>
            <a:pPr algn="ctr" indent="0" marL="0">
              <a:buNone/>
            </a:pPr>
            <a:r>
              <a:rPr lang="en-US" sz="1200" b="1" spc="300" kern="0" dirty="0">
                <a:solidFill>
                  <a:srgbClr val="E8A33D"/>
                </a:solidFill>
                <a:latin typeface="Calibri" pitchFamily="34" charset="0"/>
                <a:ea typeface="Calibri" pitchFamily="34" charset="-122"/>
                <a:cs typeface="Calibri" pitchFamily="34" charset="-120"/>
              </a:rPr>
              <a:t>UP NEXT:  COLOUR, FONTS AND TEXT</a:t>
            </a:r>
            <a:endParaRPr lang="en-US" sz="1200" dirty="0"/>
          </a:p>
        </p:txBody>
      </p:sp>
      <p:sp>
        <p:nvSpPr>
          <p:cNvPr id="13" name="Text 10"/>
          <p:cNvSpPr/>
          <p:nvPr/>
        </p:nvSpPr>
        <p:spPr>
          <a:xfrm>
            <a:off x="1828800" y="5760720"/>
            <a:ext cx="8531352" cy="365760"/>
          </a:xfrm>
          <a:prstGeom prst="rect">
            <a:avLst/>
          </a:prstGeom>
          <a:noFill/>
          <a:ln/>
        </p:spPr>
        <p:txBody>
          <a:bodyPr wrap="square" lIns="0" tIns="0" rIns="0" bIns="0" rtlCol="0" anchor="ctr"/>
          <a:lstStyle/>
          <a:p>
            <a:pPr algn="ctr" indent="0" marL="0">
              <a:buNone/>
            </a:pPr>
            <a:r>
              <a:rPr lang="en-US" sz="1200" i="1" dirty="0">
                <a:solidFill>
                  <a:srgbClr val="8981B8"/>
                </a:solidFill>
                <a:latin typeface="Calibri" pitchFamily="34" charset="0"/>
                <a:ea typeface="Calibri" pitchFamily="34" charset="-122"/>
                <a:cs typeface="Calibri" pitchFamily="34" charset="-120"/>
              </a:rPr>
              <a:t>the last stretch is the part that makes your portfolio look like a real site.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826"/>
        </a:solidFill>
      </p:bgPr>
    </p:bg>
    <p:spTree>
      <p:nvGrpSpPr>
        <p:cNvPr id="1" name=""/>
        <p:cNvGrpSpPr/>
        <p:nvPr/>
      </p:nvGrpSpPr>
      <p:grpSpPr>
        <a:xfrm>
          <a:off x="0" y="0"/>
          <a:ext cx="0" cy="0"/>
          <a:chOff x="0" y="0"/>
          <a:chExt cx="0" cy="0"/>
        </a:xfrm>
      </p:grpSpPr>
      <p:sp>
        <p:nvSpPr>
          <p:cNvPr id="3" name="Text 0"/>
          <p:cNvSpPr/>
          <p:nvPr/>
        </p:nvSpPr>
        <p:spPr>
          <a:xfrm>
            <a:off x="0" y="1737360"/>
            <a:ext cx="12188952" cy="1371600"/>
          </a:xfrm>
          <a:prstGeom prst="rect">
            <a:avLst/>
          </a:prstGeom>
          <a:noFill/>
          <a:ln/>
        </p:spPr>
        <p:txBody>
          <a:bodyPr wrap="square" lIns="0" tIns="0" rIns="0" bIns="0" rtlCol="0" anchor="ctr"/>
          <a:lstStyle/>
          <a:p>
            <a:pPr algn="ctr" indent="0" marL="0">
              <a:buNone/>
            </a:pPr>
            <a:r>
              <a:rPr lang="en-US" sz="10400" b="1" dirty="0">
                <a:solidFill>
                  <a:srgbClr val="1F2A3D"/>
                </a:solidFill>
                <a:latin typeface="Calibri" pitchFamily="34" charset="0"/>
                <a:ea typeface="Calibri" pitchFamily="34" charset="-122"/>
                <a:cs typeface="Calibri" pitchFamily="34" charset="-120"/>
              </a:rPr>
              <a:t>04</a:t>
            </a:r>
            <a:endParaRPr lang="en-US" sz="10400" dirty="0"/>
          </a:p>
        </p:txBody>
      </p:sp>
      <p:sp>
        <p:nvSpPr>
          <p:cNvPr id="4" name="Text 1"/>
          <p:cNvSpPr/>
          <p:nvPr/>
        </p:nvSpPr>
        <p:spPr>
          <a:xfrm>
            <a:off x="1097280" y="3072384"/>
            <a:ext cx="9994392" cy="82296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Colour, fonts and text</a:t>
            </a:r>
            <a:endParaRPr lang="en-US" sz="4000" dirty="0"/>
          </a:p>
        </p:txBody>
      </p:sp>
      <p:sp>
        <p:nvSpPr>
          <p:cNvPr id="5" name="Shape 2"/>
          <p:cNvSpPr/>
          <p:nvPr/>
        </p:nvSpPr>
        <p:spPr>
          <a:xfrm>
            <a:off x="5545836" y="4059936"/>
            <a:ext cx="1097280" cy="45720"/>
          </a:xfrm>
          <a:prstGeom prst="rect">
            <a:avLst/>
          </a:prstGeom>
          <a:solidFill>
            <a:srgbClr val="1F8A54"/>
          </a:solidFill>
          <a:ln w="12700">
            <a:solidFill>
              <a:srgbClr val="1F8A54"/>
            </a:solidFill>
            <a:prstDash val="solid"/>
          </a:ln>
        </p:spPr>
      </p:sp>
      <p:sp>
        <p:nvSpPr>
          <p:cNvPr id="6" name="Text 3"/>
          <p:cNvSpPr/>
          <p:nvPr/>
        </p:nvSpPr>
        <p:spPr>
          <a:xfrm>
            <a:off x="1828800" y="4297680"/>
            <a:ext cx="8531352" cy="457200"/>
          </a:xfrm>
          <a:prstGeom prst="rect">
            <a:avLst/>
          </a:prstGeom>
          <a:noFill/>
          <a:ln/>
        </p:spPr>
        <p:txBody>
          <a:bodyPr wrap="square" lIns="0" tIns="0" rIns="0" bIns="0" rtlCol="0" anchor="ctr"/>
          <a:lstStyle/>
          <a:p>
            <a:pPr algn="ctr" indent="0" marL="0">
              <a:buNone/>
            </a:pPr>
            <a:r>
              <a:rPr lang="en-US" sz="1600" dirty="0">
                <a:solidFill>
                  <a:srgbClr val="C3BEE4"/>
                </a:solidFill>
                <a:latin typeface="Calibri" pitchFamily="34" charset="0"/>
                <a:ea typeface="Calibri" pitchFamily="34" charset="-122"/>
                <a:cs typeface="Calibri" pitchFamily="34" charset="-120"/>
              </a:rPr>
              <a:t>The properties that make a page look like somebody built it on purpose.</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A"/>
        </a:solidFill>
      </p:bgPr>
    </p:bg>
    <p:spTree>
      <p:nvGrpSpPr>
        <p:cNvPr id="1" name=""/>
        <p:cNvGrpSpPr/>
        <p:nvPr/>
      </p:nvGrpSpPr>
      <p:grpSpPr>
        <a:xfrm>
          <a:off x="0" y="0"/>
          <a:ext cx="0" cy="0"/>
          <a:chOff x="0" y="0"/>
          <a:chExt cx="0" cy="0"/>
        </a:xfrm>
      </p:grpSpPr>
      <p:sp>
        <p:nvSpPr>
          <p:cNvPr id="3" name="Text 0"/>
          <p:cNvSpPr/>
          <p:nvPr/>
        </p:nvSpPr>
        <p:spPr>
          <a:xfrm>
            <a:off x="640080" y="6364224"/>
            <a:ext cx="3657600" cy="256032"/>
          </a:xfrm>
          <a:prstGeom prst="rect">
            <a:avLst/>
          </a:prstGeom>
          <a:noFill/>
          <a:ln/>
        </p:spPr>
        <p:txBody>
          <a:bodyPr wrap="square" lIns="0" tIns="0" rIns="0" bIns="0" rtlCol="0" anchor="ctr"/>
          <a:lstStyle/>
          <a:p>
            <a:pPr indent="0" marL="0">
              <a:buNone/>
            </a:pPr>
            <a:r>
              <a:rPr lang="en-US" sz="900" dirty="0">
                <a:solidFill>
                  <a:srgbClr val="939DAB"/>
                </a:solidFill>
                <a:latin typeface="Courier New" pitchFamily="34" charset="0"/>
                <a:ea typeface="Courier New" pitchFamily="34" charset="-122"/>
                <a:cs typeface="Courier New" pitchFamily="34" charset="-120"/>
              </a:rPr>
              <a:t>CLASS 03  ·  CSS</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939DAB"/>
                </a:solidFill>
                <a:latin typeface="Courier New" pitchFamily="34" charset="0"/>
                <a:ea typeface="Courier New" pitchFamily="34" charset="-122"/>
                <a:cs typeface="Courier New" pitchFamily="34" charset="-120"/>
              </a:rPr>
              <a:t>13</a:t>
            </a:r>
            <a:endParaRPr lang="en-US" sz="900" dirty="0"/>
          </a:p>
        </p:txBody>
      </p:sp>
      <p:sp>
        <p:nvSpPr>
          <p:cNvPr id="5" name="Shape 2"/>
          <p:cNvSpPr/>
          <p:nvPr/>
        </p:nvSpPr>
        <p:spPr>
          <a:xfrm>
            <a:off x="640080" y="365760"/>
            <a:ext cx="1920240" cy="347472"/>
          </a:xfrm>
          <a:prstGeom prst="roundRect">
            <a:avLst>
              <a:gd name="adj" fmla="val 21053"/>
            </a:avLst>
          </a:prstGeom>
          <a:solidFill>
            <a:srgbClr val="2C6BED"/>
          </a:solidFill>
          <a:ln w="15875">
            <a:solidFill>
              <a:srgbClr val="15202B"/>
            </a:solidFill>
            <a:prstDash val="solid"/>
          </a:ln>
        </p:spPr>
      </p:sp>
      <p:sp>
        <p:nvSpPr>
          <p:cNvPr id="6" name="Text 3"/>
          <p:cNvSpPr/>
          <p:nvPr/>
        </p:nvSpPr>
        <p:spPr>
          <a:xfrm>
            <a:off x="640080" y="365760"/>
            <a:ext cx="1920240" cy="347472"/>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PROPERTIES</a:t>
            </a:r>
            <a:endParaRPr lang="en-US" sz="1050" dirty="0"/>
          </a:p>
        </p:txBody>
      </p:sp>
      <p:sp>
        <p:nvSpPr>
          <p:cNvPr id="7" name="Text 4"/>
          <p:cNvSpPr/>
          <p:nvPr/>
        </p:nvSpPr>
        <p:spPr>
          <a:xfrm>
            <a:off x="640080" y="786384"/>
            <a:ext cx="10881360" cy="603504"/>
          </a:xfrm>
          <a:prstGeom prst="rect">
            <a:avLst/>
          </a:prstGeom>
          <a:noFill/>
          <a:ln/>
        </p:spPr>
        <p:txBody>
          <a:bodyPr wrap="square" lIns="0" tIns="0" rIns="0" bIns="0" rtlCol="0" anchor="ctr"/>
          <a:lstStyle/>
          <a:p>
            <a:pPr indent="0" marL="0">
              <a:buNone/>
            </a:pPr>
            <a:r>
              <a:rPr lang="en-US" sz="3200" b="1" dirty="0">
                <a:solidFill>
                  <a:srgbClr val="15202B"/>
                </a:solidFill>
                <a:latin typeface="Calibri" pitchFamily="34" charset="0"/>
                <a:ea typeface="Calibri" pitchFamily="34" charset="-122"/>
                <a:cs typeface="Calibri" pitchFamily="34" charset="-120"/>
              </a:rPr>
              <a:t>color paints the letters. background-color paints behind them.</a:t>
            </a:r>
            <a:endParaRPr lang="en-US" sz="3200" dirty="0"/>
          </a:p>
        </p:txBody>
      </p:sp>
      <p:sp>
        <p:nvSpPr>
          <p:cNvPr id="8" name="Shape 5"/>
          <p:cNvSpPr/>
          <p:nvPr/>
        </p:nvSpPr>
        <p:spPr>
          <a:xfrm>
            <a:off x="640080" y="1737360"/>
            <a:ext cx="5212080" cy="1965960"/>
          </a:xfrm>
          <a:prstGeom prst="roundRect">
            <a:avLst>
              <a:gd name="adj" fmla="val 4651"/>
            </a:avLst>
          </a:prstGeom>
          <a:solidFill>
            <a:srgbClr val="FFFFFF"/>
          </a:solidFill>
          <a:ln w="15875">
            <a:solidFill>
              <a:srgbClr val="D9DEE7"/>
            </a:solidFill>
            <a:prstDash val="solid"/>
          </a:ln>
          <a:effectLst>
            <a:outerShdw sx="100000" sy="100000" kx="0" ky="0" algn="bl" rotWithShape="0" blurRad="127000" dist="25400" dir="5400000">
              <a:srgbClr val="8B95A6">
                <a:alpha val="25000"/>
              </a:srgbClr>
            </a:outerShdw>
          </a:effectLst>
        </p:spPr>
      </p:sp>
      <p:sp>
        <p:nvSpPr>
          <p:cNvPr id="9" name="Shape 6"/>
          <p:cNvSpPr/>
          <p:nvPr/>
        </p:nvSpPr>
        <p:spPr>
          <a:xfrm>
            <a:off x="640080" y="1737360"/>
            <a:ext cx="5212080" cy="292608"/>
          </a:xfrm>
          <a:prstGeom prst="roundRect">
            <a:avLst>
              <a:gd name="adj" fmla="val 31250"/>
            </a:avLst>
          </a:prstGeom>
          <a:solidFill>
            <a:srgbClr val="EFF2F7"/>
          </a:solidFill>
          <a:ln w="15875">
            <a:solidFill>
              <a:srgbClr val="D9DEE7"/>
            </a:solidFill>
            <a:prstDash val="solid"/>
          </a:ln>
        </p:spPr>
      </p:sp>
      <p:sp>
        <p:nvSpPr>
          <p:cNvPr id="10" name="Shape 7"/>
          <p:cNvSpPr/>
          <p:nvPr/>
        </p:nvSpPr>
        <p:spPr>
          <a:xfrm>
            <a:off x="786384" y="1837944"/>
            <a:ext cx="91440" cy="91440"/>
          </a:xfrm>
          <a:prstGeom prst="ellipse">
            <a:avLst/>
          </a:prstGeom>
          <a:solidFill>
            <a:srgbClr val="E06C61"/>
          </a:solidFill>
          <a:ln w="6350">
            <a:solidFill>
              <a:srgbClr val="E06C61"/>
            </a:solidFill>
            <a:prstDash val="solid"/>
          </a:ln>
        </p:spPr>
      </p:sp>
      <p:sp>
        <p:nvSpPr>
          <p:cNvPr id="11" name="Shape 8"/>
          <p:cNvSpPr/>
          <p:nvPr/>
        </p:nvSpPr>
        <p:spPr>
          <a:xfrm>
            <a:off x="941832" y="1837944"/>
            <a:ext cx="91440" cy="91440"/>
          </a:xfrm>
          <a:prstGeom prst="ellipse">
            <a:avLst/>
          </a:prstGeom>
          <a:solidFill>
            <a:srgbClr val="E8B44A"/>
          </a:solidFill>
          <a:ln w="6350">
            <a:solidFill>
              <a:srgbClr val="E8B44A"/>
            </a:solidFill>
            <a:prstDash val="solid"/>
          </a:ln>
        </p:spPr>
      </p:sp>
      <p:sp>
        <p:nvSpPr>
          <p:cNvPr id="12" name="Shape 9"/>
          <p:cNvSpPr/>
          <p:nvPr/>
        </p:nvSpPr>
        <p:spPr>
          <a:xfrm>
            <a:off x="1097280" y="1837944"/>
            <a:ext cx="91440" cy="91440"/>
          </a:xfrm>
          <a:prstGeom prst="ellipse">
            <a:avLst/>
          </a:prstGeom>
          <a:solidFill>
            <a:srgbClr val="62BD6B"/>
          </a:solidFill>
          <a:ln w="6350">
            <a:solidFill>
              <a:srgbClr val="62BD6B"/>
            </a:solidFill>
            <a:prstDash val="solid"/>
          </a:ln>
        </p:spPr>
      </p:sp>
      <p:sp>
        <p:nvSpPr>
          <p:cNvPr id="13" name="Text 10"/>
          <p:cNvSpPr/>
          <p:nvPr/>
        </p:nvSpPr>
        <p:spPr>
          <a:xfrm>
            <a:off x="1298448" y="1737360"/>
            <a:ext cx="4389120" cy="292608"/>
          </a:xfrm>
          <a:prstGeom prst="rect">
            <a:avLst/>
          </a:prstGeom>
          <a:noFill/>
          <a:ln/>
        </p:spPr>
        <p:txBody>
          <a:bodyPr wrap="square" lIns="0" tIns="0" rIns="0" bIns="0" rtlCol="0" anchor="ctr"/>
          <a:lstStyle/>
          <a:p>
            <a:pPr indent="0" marL="0">
              <a:buNone/>
            </a:pPr>
            <a:r>
              <a:rPr lang="en-US" sz="850" dirty="0">
                <a:solidFill>
                  <a:srgbClr val="939DAB"/>
                </a:solidFill>
                <a:latin typeface="Courier New" pitchFamily="34" charset="0"/>
                <a:ea typeface="Courier New" pitchFamily="34" charset="-122"/>
                <a:cs typeface="Courier New" pitchFamily="34" charset="-120"/>
              </a:rPr>
              <a:t>the letters change</a:t>
            </a:r>
            <a:endParaRPr lang="en-US" sz="850" dirty="0"/>
          </a:p>
        </p:txBody>
      </p:sp>
      <p:sp>
        <p:nvSpPr>
          <p:cNvPr id="14" name="Shape 11"/>
          <p:cNvSpPr/>
          <p:nvPr/>
        </p:nvSpPr>
        <p:spPr>
          <a:xfrm>
            <a:off x="1005840" y="2212848"/>
            <a:ext cx="4480560" cy="960120"/>
          </a:xfrm>
          <a:prstGeom prst="rect">
            <a:avLst/>
          </a:prstGeom>
          <a:solidFill>
            <a:srgbClr val="FFFFFF"/>
          </a:solidFill>
          <a:ln w="12700">
            <a:solidFill>
              <a:srgbClr val="D9DEE7"/>
            </a:solidFill>
            <a:prstDash val="solid"/>
          </a:ln>
        </p:spPr>
      </p:sp>
      <p:sp>
        <p:nvSpPr>
          <p:cNvPr id="15" name="Text 12"/>
          <p:cNvSpPr/>
          <p:nvPr/>
        </p:nvSpPr>
        <p:spPr>
          <a:xfrm>
            <a:off x="1005840" y="2212848"/>
            <a:ext cx="4480560" cy="960120"/>
          </a:xfrm>
          <a:prstGeom prst="rect">
            <a:avLst/>
          </a:prstGeom>
          <a:noFill/>
          <a:ln/>
        </p:spPr>
        <p:txBody>
          <a:bodyPr wrap="square" lIns="0" tIns="0" rIns="0" bIns="0" rtlCol="0" anchor="ctr"/>
          <a:lstStyle/>
          <a:p>
            <a:pPr algn="ctr" indent="0" marL="0">
              <a:buNone/>
            </a:pPr>
            <a:r>
              <a:rPr lang="en-US" sz="2600" b="1" dirty="0">
                <a:solidFill>
                  <a:srgbClr val="2C6BED"/>
                </a:solidFill>
                <a:latin typeface="Calibri" pitchFamily="34" charset="0"/>
                <a:ea typeface="Calibri" pitchFamily="34" charset="-122"/>
                <a:cs typeface="Calibri" pitchFamily="34" charset="-120"/>
              </a:rPr>
              <a:t>Welcome to Scaler</a:t>
            </a:r>
            <a:endParaRPr lang="en-US" sz="2600" dirty="0"/>
          </a:p>
        </p:txBody>
      </p:sp>
      <p:sp>
        <p:nvSpPr>
          <p:cNvPr id="16" name="Shape 13"/>
          <p:cNvSpPr/>
          <p:nvPr/>
        </p:nvSpPr>
        <p:spPr>
          <a:xfrm>
            <a:off x="640080" y="3840480"/>
            <a:ext cx="5212080" cy="1005840"/>
          </a:xfrm>
          <a:prstGeom prst="roundRect">
            <a:avLst>
              <a:gd name="adj" fmla="val 9091"/>
            </a:avLst>
          </a:prstGeom>
          <a:solidFill>
            <a:srgbClr val="111826"/>
          </a:solidFill>
          <a:ln w="12700">
            <a:solidFill>
              <a:srgbClr val="1D2637"/>
            </a:solidFill>
            <a:prstDash val="solid"/>
          </a:ln>
          <a:effectLst>
            <a:outerShdw sx="100000" sy="100000" kx="0" ky="0" algn="bl" rotWithShape="0" blurRad="177800" dist="38100" dir="5400000">
              <a:srgbClr val="000000">
                <a:alpha val="35000"/>
              </a:srgbClr>
            </a:outerShdw>
          </a:effectLst>
        </p:spPr>
      </p:sp>
      <p:sp>
        <p:nvSpPr>
          <p:cNvPr id="17" name="Text 14"/>
          <p:cNvSpPr/>
          <p:nvPr/>
        </p:nvSpPr>
        <p:spPr>
          <a:xfrm>
            <a:off x="914400" y="4078224"/>
            <a:ext cx="4663440" cy="530352"/>
          </a:xfrm>
          <a:prstGeom prst="rect">
            <a:avLst/>
          </a:prstGeom>
          <a:noFill/>
          <a:ln/>
        </p:spPr>
        <p:txBody>
          <a:bodyPr wrap="square" lIns="0" tIns="0" rIns="0" bIns="0" rtlCol="0" anchor="t"/>
          <a:lstStyle/>
          <a:p>
            <a:pPr indent="0" marL="0">
              <a:lnSpc>
                <a:spcPts val="1900"/>
              </a:lnSpc>
              <a:buNone/>
            </a:pPr>
            <a:r>
              <a:rPr lang="en-US" sz="1300" dirty="0">
                <a:solidFill>
                  <a:srgbClr val="E6EAF2"/>
                </a:solidFill>
                <a:latin typeface="Courier New" pitchFamily="34" charset="0"/>
                <a:ea typeface="Courier New" pitchFamily="34" charset="-122"/>
                <a:cs typeface="Courier New" pitchFamily="34" charset="-120"/>
              </a:rPr>
              <a:t>h1 </a:t>
            </a:r>
            <a:pPr indent="0" marL="0">
              <a:lnSpc>
                <a:spcPts val="1900"/>
              </a:lnSpc>
              <a:buNone/>
            </a:pPr>
            <a:r>
              <a:rPr lang="en-US" sz="1300" dirty="0">
                <a:solidFill>
                  <a:srgbClr val="9AA4B5"/>
                </a:solidFill>
                <a:latin typeface="Courier New" pitchFamily="34" charset="0"/>
                <a:ea typeface="Courier New" pitchFamily="34" charset="-122"/>
                <a:cs typeface="Courier New" pitchFamily="34" charset="-120"/>
              </a:rPr>
              <a:t>{ </a:t>
            </a:r>
            <a:pPr indent="0" marL="0">
              <a:lnSpc>
                <a:spcPts val="1900"/>
              </a:lnSpc>
              <a:buNone/>
            </a:pPr>
            <a:r>
              <a:rPr lang="en-US" sz="1300" dirty="0">
                <a:solidFill>
                  <a:srgbClr val="FFD08A"/>
                </a:solidFill>
                <a:latin typeface="Courier New" pitchFamily="34" charset="0"/>
                <a:ea typeface="Courier New" pitchFamily="34" charset="-122"/>
                <a:cs typeface="Courier New" pitchFamily="34" charset="-120"/>
              </a:rPr>
              <a:t>color</a:t>
            </a:r>
            <a:pPr indent="0" marL="0">
              <a:lnSpc>
                <a:spcPts val="1900"/>
              </a:lnSpc>
              <a:buNone/>
            </a:pPr>
            <a:r>
              <a:rPr lang="en-US" sz="1300" dirty="0">
                <a:solidFill>
                  <a:srgbClr val="9AA4B5"/>
                </a:solidFill>
                <a:latin typeface="Courier New" pitchFamily="34" charset="0"/>
                <a:ea typeface="Courier New" pitchFamily="34" charset="-122"/>
                <a:cs typeface="Courier New" pitchFamily="34" charset="-120"/>
              </a:rPr>
              <a:t>: </a:t>
            </a:r>
            <a:pPr indent="0" marL="0">
              <a:lnSpc>
                <a:spcPts val="1900"/>
              </a:lnSpc>
              <a:buNone/>
            </a:pPr>
            <a:r>
              <a:rPr lang="en-US" sz="1300" dirty="0">
                <a:solidFill>
                  <a:srgbClr val="9BD5FF"/>
                </a:solidFill>
                <a:latin typeface="Courier New" pitchFamily="34" charset="0"/>
                <a:ea typeface="Courier New" pitchFamily="34" charset="-122"/>
                <a:cs typeface="Courier New" pitchFamily="34" charset="-120"/>
              </a:rPr>
              <a:t>blue</a:t>
            </a:r>
            <a:pPr indent="0" marL="0">
              <a:lnSpc>
                <a:spcPts val="1900"/>
              </a:lnSpc>
              <a:buNone/>
            </a:pPr>
            <a:r>
              <a:rPr lang="en-US" sz="1300" dirty="0">
                <a:solidFill>
                  <a:srgbClr val="9AA4B5"/>
                </a:solidFill>
                <a:latin typeface="Courier New" pitchFamily="34" charset="0"/>
                <a:ea typeface="Courier New" pitchFamily="34" charset="-122"/>
                <a:cs typeface="Courier New" pitchFamily="34" charset="-120"/>
              </a:rPr>
              <a:t>; }</a:t>
            </a:r>
            <a:endParaRPr lang="en-US" sz="1300" dirty="0"/>
          </a:p>
        </p:txBody>
      </p:sp>
      <p:sp>
        <p:nvSpPr>
          <p:cNvPr id="18" name="Shape 15"/>
          <p:cNvSpPr/>
          <p:nvPr/>
        </p:nvSpPr>
        <p:spPr>
          <a:xfrm>
            <a:off x="6336792" y="1737360"/>
            <a:ext cx="5212080" cy="1965960"/>
          </a:xfrm>
          <a:prstGeom prst="roundRect">
            <a:avLst>
              <a:gd name="adj" fmla="val 4651"/>
            </a:avLst>
          </a:prstGeom>
          <a:solidFill>
            <a:srgbClr val="FFFFFF"/>
          </a:solidFill>
          <a:ln w="15875">
            <a:solidFill>
              <a:srgbClr val="D9DEE7"/>
            </a:solidFill>
            <a:prstDash val="solid"/>
          </a:ln>
          <a:effectLst>
            <a:outerShdw sx="100000" sy="100000" kx="0" ky="0" algn="bl" rotWithShape="0" blurRad="127000" dist="25400" dir="5400000">
              <a:srgbClr val="8B95A6">
                <a:alpha val="25000"/>
              </a:srgbClr>
            </a:outerShdw>
          </a:effectLst>
        </p:spPr>
      </p:sp>
      <p:sp>
        <p:nvSpPr>
          <p:cNvPr id="19" name="Shape 16"/>
          <p:cNvSpPr/>
          <p:nvPr/>
        </p:nvSpPr>
        <p:spPr>
          <a:xfrm>
            <a:off x="6336792" y="1737360"/>
            <a:ext cx="5212080" cy="292608"/>
          </a:xfrm>
          <a:prstGeom prst="roundRect">
            <a:avLst>
              <a:gd name="adj" fmla="val 31250"/>
            </a:avLst>
          </a:prstGeom>
          <a:solidFill>
            <a:srgbClr val="EFF2F7"/>
          </a:solidFill>
          <a:ln w="15875">
            <a:solidFill>
              <a:srgbClr val="D9DEE7"/>
            </a:solidFill>
            <a:prstDash val="solid"/>
          </a:ln>
        </p:spPr>
      </p:sp>
      <p:sp>
        <p:nvSpPr>
          <p:cNvPr id="20" name="Shape 17"/>
          <p:cNvSpPr/>
          <p:nvPr/>
        </p:nvSpPr>
        <p:spPr>
          <a:xfrm>
            <a:off x="6483096" y="1837944"/>
            <a:ext cx="91440" cy="91440"/>
          </a:xfrm>
          <a:prstGeom prst="ellipse">
            <a:avLst/>
          </a:prstGeom>
          <a:solidFill>
            <a:srgbClr val="E06C61"/>
          </a:solidFill>
          <a:ln w="6350">
            <a:solidFill>
              <a:srgbClr val="E06C61"/>
            </a:solidFill>
            <a:prstDash val="solid"/>
          </a:ln>
        </p:spPr>
      </p:sp>
      <p:sp>
        <p:nvSpPr>
          <p:cNvPr id="21" name="Shape 18"/>
          <p:cNvSpPr/>
          <p:nvPr/>
        </p:nvSpPr>
        <p:spPr>
          <a:xfrm>
            <a:off x="6638544" y="1837944"/>
            <a:ext cx="91440" cy="91440"/>
          </a:xfrm>
          <a:prstGeom prst="ellipse">
            <a:avLst/>
          </a:prstGeom>
          <a:solidFill>
            <a:srgbClr val="E8B44A"/>
          </a:solidFill>
          <a:ln w="6350">
            <a:solidFill>
              <a:srgbClr val="E8B44A"/>
            </a:solidFill>
            <a:prstDash val="solid"/>
          </a:ln>
        </p:spPr>
      </p:sp>
      <p:sp>
        <p:nvSpPr>
          <p:cNvPr id="22" name="Shape 19"/>
          <p:cNvSpPr/>
          <p:nvPr/>
        </p:nvSpPr>
        <p:spPr>
          <a:xfrm>
            <a:off x="6793992" y="1837944"/>
            <a:ext cx="91440" cy="91440"/>
          </a:xfrm>
          <a:prstGeom prst="ellipse">
            <a:avLst/>
          </a:prstGeom>
          <a:solidFill>
            <a:srgbClr val="62BD6B"/>
          </a:solidFill>
          <a:ln w="6350">
            <a:solidFill>
              <a:srgbClr val="62BD6B"/>
            </a:solidFill>
            <a:prstDash val="solid"/>
          </a:ln>
        </p:spPr>
      </p:sp>
      <p:sp>
        <p:nvSpPr>
          <p:cNvPr id="23" name="Text 20"/>
          <p:cNvSpPr/>
          <p:nvPr/>
        </p:nvSpPr>
        <p:spPr>
          <a:xfrm>
            <a:off x="6995160" y="1737360"/>
            <a:ext cx="4389120" cy="292608"/>
          </a:xfrm>
          <a:prstGeom prst="rect">
            <a:avLst/>
          </a:prstGeom>
          <a:noFill/>
          <a:ln/>
        </p:spPr>
        <p:txBody>
          <a:bodyPr wrap="square" lIns="0" tIns="0" rIns="0" bIns="0" rtlCol="0" anchor="ctr"/>
          <a:lstStyle/>
          <a:p>
            <a:pPr indent="0" marL="0">
              <a:buNone/>
            </a:pPr>
            <a:r>
              <a:rPr lang="en-US" sz="850" dirty="0">
                <a:solidFill>
                  <a:srgbClr val="939DAB"/>
                </a:solidFill>
                <a:latin typeface="Courier New" pitchFamily="34" charset="0"/>
                <a:ea typeface="Courier New" pitchFamily="34" charset="-122"/>
                <a:cs typeface="Courier New" pitchFamily="34" charset="-120"/>
              </a:rPr>
              <a:t>the box behind them changes</a:t>
            </a:r>
            <a:endParaRPr lang="en-US" sz="850" dirty="0"/>
          </a:p>
        </p:txBody>
      </p:sp>
      <p:sp>
        <p:nvSpPr>
          <p:cNvPr id="24" name="Shape 21"/>
          <p:cNvSpPr/>
          <p:nvPr/>
        </p:nvSpPr>
        <p:spPr>
          <a:xfrm>
            <a:off x="6702552" y="2212848"/>
            <a:ext cx="4480560" cy="960120"/>
          </a:xfrm>
          <a:prstGeom prst="rect">
            <a:avLst/>
          </a:prstGeom>
          <a:solidFill>
            <a:srgbClr val="2C6BED"/>
          </a:solidFill>
          <a:ln w="12700">
            <a:solidFill>
              <a:srgbClr val="2C6BED"/>
            </a:solidFill>
            <a:prstDash val="solid"/>
          </a:ln>
        </p:spPr>
      </p:sp>
      <p:sp>
        <p:nvSpPr>
          <p:cNvPr id="25" name="Text 22"/>
          <p:cNvSpPr/>
          <p:nvPr/>
        </p:nvSpPr>
        <p:spPr>
          <a:xfrm>
            <a:off x="6702552" y="2212848"/>
            <a:ext cx="4480560" cy="960120"/>
          </a:xfrm>
          <a:prstGeom prst="rect">
            <a:avLst/>
          </a:prstGeom>
          <a:noFill/>
          <a:ln/>
        </p:spPr>
        <p:txBody>
          <a:bodyPr wrap="square" lIns="0" tIns="0" rIns="0" bIns="0" rtlCol="0" anchor="ctr"/>
          <a:lstStyle/>
          <a:p>
            <a:pPr algn="ctr" indent="0" marL="0">
              <a:buNone/>
            </a:pPr>
            <a:r>
              <a:rPr lang="en-US" sz="2600" b="1" dirty="0">
                <a:solidFill>
                  <a:srgbClr val="15202B"/>
                </a:solidFill>
                <a:latin typeface="Calibri" pitchFamily="34" charset="0"/>
                <a:ea typeface="Calibri" pitchFamily="34" charset="-122"/>
                <a:cs typeface="Calibri" pitchFamily="34" charset="-120"/>
              </a:rPr>
              <a:t>Welcome to Scaler</a:t>
            </a:r>
            <a:endParaRPr lang="en-US" sz="2600" dirty="0"/>
          </a:p>
        </p:txBody>
      </p:sp>
      <p:sp>
        <p:nvSpPr>
          <p:cNvPr id="26" name="Shape 23"/>
          <p:cNvSpPr/>
          <p:nvPr/>
        </p:nvSpPr>
        <p:spPr>
          <a:xfrm>
            <a:off x="6336792" y="3840480"/>
            <a:ext cx="5212080" cy="1005840"/>
          </a:xfrm>
          <a:prstGeom prst="roundRect">
            <a:avLst>
              <a:gd name="adj" fmla="val 9091"/>
            </a:avLst>
          </a:prstGeom>
          <a:solidFill>
            <a:srgbClr val="111826"/>
          </a:solidFill>
          <a:ln w="12700">
            <a:solidFill>
              <a:srgbClr val="1D2637"/>
            </a:solidFill>
            <a:prstDash val="solid"/>
          </a:ln>
          <a:effectLst>
            <a:outerShdw sx="100000" sy="100000" kx="0" ky="0" algn="bl" rotWithShape="0" blurRad="177800" dist="38100" dir="5400000">
              <a:srgbClr val="000000">
                <a:alpha val="35000"/>
              </a:srgbClr>
            </a:outerShdw>
          </a:effectLst>
        </p:spPr>
      </p:sp>
      <p:sp>
        <p:nvSpPr>
          <p:cNvPr id="27" name="Text 24"/>
          <p:cNvSpPr/>
          <p:nvPr/>
        </p:nvSpPr>
        <p:spPr>
          <a:xfrm>
            <a:off x="6611112" y="4078224"/>
            <a:ext cx="4663440" cy="530352"/>
          </a:xfrm>
          <a:prstGeom prst="rect">
            <a:avLst/>
          </a:prstGeom>
          <a:noFill/>
          <a:ln/>
        </p:spPr>
        <p:txBody>
          <a:bodyPr wrap="square" lIns="0" tIns="0" rIns="0" bIns="0" rtlCol="0" anchor="t"/>
          <a:lstStyle/>
          <a:p>
            <a:pPr indent="0" marL="0">
              <a:lnSpc>
                <a:spcPts val="1900"/>
              </a:lnSpc>
              <a:buNone/>
            </a:pPr>
            <a:r>
              <a:rPr lang="en-US" sz="1300" dirty="0">
                <a:solidFill>
                  <a:srgbClr val="E6EAF2"/>
                </a:solidFill>
                <a:latin typeface="Courier New" pitchFamily="34" charset="0"/>
                <a:ea typeface="Courier New" pitchFamily="34" charset="-122"/>
                <a:cs typeface="Courier New" pitchFamily="34" charset="-120"/>
              </a:rPr>
              <a:t>h1 </a:t>
            </a:r>
            <a:pPr indent="0" marL="0">
              <a:lnSpc>
                <a:spcPts val="1900"/>
              </a:lnSpc>
              <a:buNone/>
            </a:pPr>
            <a:r>
              <a:rPr lang="en-US" sz="1300" dirty="0">
                <a:solidFill>
                  <a:srgbClr val="9AA4B5"/>
                </a:solidFill>
                <a:latin typeface="Courier New" pitchFamily="34" charset="0"/>
                <a:ea typeface="Courier New" pitchFamily="34" charset="-122"/>
                <a:cs typeface="Courier New" pitchFamily="34" charset="-120"/>
              </a:rPr>
              <a:t>{ </a:t>
            </a:r>
            <a:pPr indent="0" marL="0">
              <a:lnSpc>
                <a:spcPts val="1900"/>
              </a:lnSpc>
              <a:buNone/>
            </a:pPr>
            <a:r>
              <a:rPr lang="en-US" sz="1300" dirty="0">
                <a:solidFill>
                  <a:srgbClr val="FFD08A"/>
                </a:solidFill>
                <a:latin typeface="Courier New" pitchFamily="34" charset="0"/>
                <a:ea typeface="Courier New" pitchFamily="34" charset="-122"/>
                <a:cs typeface="Courier New" pitchFamily="34" charset="-120"/>
              </a:rPr>
              <a:t>background-color</a:t>
            </a:r>
            <a:pPr indent="0" marL="0">
              <a:lnSpc>
                <a:spcPts val="1900"/>
              </a:lnSpc>
              <a:buNone/>
            </a:pPr>
            <a:r>
              <a:rPr lang="en-US" sz="1300" dirty="0">
                <a:solidFill>
                  <a:srgbClr val="9AA4B5"/>
                </a:solidFill>
                <a:latin typeface="Courier New" pitchFamily="34" charset="0"/>
                <a:ea typeface="Courier New" pitchFamily="34" charset="-122"/>
                <a:cs typeface="Courier New" pitchFamily="34" charset="-120"/>
              </a:rPr>
              <a:t>: </a:t>
            </a:r>
            <a:pPr indent="0" marL="0">
              <a:lnSpc>
                <a:spcPts val="1900"/>
              </a:lnSpc>
              <a:buNone/>
            </a:pPr>
            <a:r>
              <a:rPr lang="en-US" sz="1300" dirty="0">
                <a:solidFill>
                  <a:srgbClr val="9BD5FF"/>
                </a:solidFill>
                <a:latin typeface="Courier New" pitchFamily="34" charset="0"/>
                <a:ea typeface="Courier New" pitchFamily="34" charset="-122"/>
                <a:cs typeface="Courier New" pitchFamily="34" charset="-120"/>
              </a:rPr>
              <a:t>blue</a:t>
            </a:r>
            <a:pPr indent="0" marL="0">
              <a:lnSpc>
                <a:spcPts val="1900"/>
              </a:lnSpc>
              <a:buNone/>
            </a:pPr>
            <a:r>
              <a:rPr lang="en-US" sz="1300" dirty="0">
                <a:solidFill>
                  <a:srgbClr val="9AA4B5"/>
                </a:solidFill>
                <a:latin typeface="Courier New" pitchFamily="34" charset="0"/>
                <a:ea typeface="Courier New" pitchFamily="34" charset="-122"/>
                <a:cs typeface="Courier New" pitchFamily="34" charset="-120"/>
              </a:rPr>
              <a:t>; }</a:t>
            </a:r>
            <a:endParaRPr lang="en-US" sz="1300" dirty="0"/>
          </a:p>
        </p:txBody>
      </p:sp>
      <p:sp>
        <p:nvSpPr>
          <p:cNvPr id="28" name="Shape 25"/>
          <p:cNvSpPr/>
          <p:nvPr/>
        </p:nvSpPr>
        <p:spPr>
          <a:xfrm>
            <a:off x="640080" y="4974336"/>
            <a:ext cx="10908792" cy="731520"/>
          </a:xfrm>
          <a:prstGeom prst="roundRect">
            <a:avLst>
              <a:gd name="adj" fmla="val 12500"/>
            </a:avLst>
          </a:prstGeom>
          <a:solidFill>
            <a:srgbClr val="FFFFFF"/>
          </a:solidFill>
          <a:ln w="12700">
            <a:solidFill>
              <a:srgbClr val="D9DEE7"/>
            </a:solidFill>
            <a:prstDash val="solid"/>
          </a:ln>
          <a:effectLst>
            <a:outerShdw sx="100000" sy="100000" kx="0" ky="0" algn="bl" rotWithShape="0" blurRad="177800" dist="38100" dir="5400000">
              <a:srgbClr val="000000">
                <a:alpha val="35000"/>
              </a:srgbClr>
            </a:outerShdw>
          </a:effectLst>
        </p:spPr>
      </p:sp>
      <p:sp>
        <p:nvSpPr>
          <p:cNvPr id="29" name="Text 26"/>
          <p:cNvSpPr/>
          <p:nvPr/>
        </p:nvSpPr>
        <p:spPr>
          <a:xfrm>
            <a:off x="914400" y="4974336"/>
            <a:ext cx="3108960" cy="731520"/>
          </a:xfrm>
          <a:prstGeom prst="rect">
            <a:avLst/>
          </a:prstGeom>
          <a:noFill/>
          <a:ln/>
        </p:spPr>
        <p:txBody>
          <a:bodyPr wrap="square" lIns="0" tIns="0" rIns="0" bIns="0" rtlCol="0" anchor="ctr"/>
          <a:lstStyle/>
          <a:p>
            <a:pPr indent="0" marL="0">
              <a:buNone/>
            </a:pPr>
            <a:r>
              <a:rPr lang="en-US" sz="1350" b="1" dirty="0">
                <a:solidFill>
                  <a:srgbClr val="15202B"/>
                </a:solidFill>
                <a:latin typeface="Calibri" pitchFamily="34" charset="0"/>
                <a:ea typeface="Calibri" pitchFamily="34" charset="-122"/>
                <a:cs typeface="Calibri" pitchFamily="34" charset="-120"/>
              </a:rPr>
              <a:t>Three ways to say the same blue</a:t>
            </a:r>
            <a:endParaRPr lang="en-US" sz="1350" dirty="0"/>
          </a:p>
        </p:txBody>
      </p:sp>
      <p:sp>
        <p:nvSpPr>
          <p:cNvPr id="30" name="Shape 27"/>
          <p:cNvSpPr/>
          <p:nvPr/>
        </p:nvSpPr>
        <p:spPr>
          <a:xfrm>
            <a:off x="4297680" y="5084064"/>
            <a:ext cx="365760" cy="365760"/>
          </a:xfrm>
          <a:prstGeom prst="roundRect">
            <a:avLst>
              <a:gd name="adj" fmla="val 20000"/>
            </a:avLst>
          </a:prstGeom>
          <a:solidFill>
            <a:srgbClr val="2C6BED"/>
          </a:solidFill>
          <a:ln w="12700">
            <a:solidFill>
              <a:srgbClr val="15202B"/>
            </a:solidFill>
            <a:prstDash val="solid"/>
          </a:ln>
        </p:spPr>
      </p:sp>
      <p:sp>
        <p:nvSpPr>
          <p:cNvPr id="31" name="Text 28"/>
          <p:cNvSpPr/>
          <p:nvPr/>
        </p:nvSpPr>
        <p:spPr>
          <a:xfrm>
            <a:off x="4791456" y="5029200"/>
            <a:ext cx="1737360" cy="274320"/>
          </a:xfrm>
          <a:prstGeom prst="rect">
            <a:avLst/>
          </a:prstGeom>
          <a:noFill/>
          <a:ln/>
        </p:spPr>
        <p:txBody>
          <a:bodyPr wrap="square" lIns="0" tIns="0" rIns="0" bIns="0" rtlCol="0" anchor="ctr"/>
          <a:lstStyle/>
          <a:p>
            <a:pPr indent="0" marL="0">
              <a:buNone/>
            </a:pPr>
            <a:r>
              <a:rPr lang="en-US" sz="1100" dirty="0">
                <a:solidFill>
                  <a:srgbClr val="15202B"/>
                </a:solidFill>
                <a:latin typeface="Courier New" pitchFamily="34" charset="0"/>
                <a:ea typeface="Courier New" pitchFamily="34" charset="-122"/>
                <a:cs typeface="Courier New" pitchFamily="34" charset="-120"/>
              </a:rPr>
              <a:t>blue</a:t>
            </a:r>
            <a:endParaRPr lang="en-US" sz="1100" dirty="0"/>
          </a:p>
        </p:txBody>
      </p:sp>
      <p:sp>
        <p:nvSpPr>
          <p:cNvPr id="32" name="Text 29"/>
          <p:cNvSpPr/>
          <p:nvPr/>
        </p:nvSpPr>
        <p:spPr>
          <a:xfrm>
            <a:off x="4791456" y="5285232"/>
            <a:ext cx="1737360" cy="237744"/>
          </a:xfrm>
          <a:prstGeom prst="rect">
            <a:avLst/>
          </a:prstGeom>
          <a:noFill/>
          <a:ln/>
        </p:spPr>
        <p:txBody>
          <a:bodyPr wrap="square" lIns="0" tIns="0" rIns="0" bIns="0" rtlCol="0" anchor="ctr"/>
          <a:lstStyle/>
          <a:p>
            <a:pPr indent="0" marL="0">
              <a:buNone/>
            </a:pPr>
            <a:r>
              <a:rPr lang="en-US" sz="950" dirty="0">
                <a:solidFill>
                  <a:srgbClr val="939DAB"/>
                </a:solidFill>
                <a:latin typeface="Calibri" pitchFamily="34" charset="0"/>
                <a:ea typeface="Calibri" pitchFamily="34" charset="-122"/>
                <a:cs typeface="Calibri" pitchFamily="34" charset="-120"/>
              </a:rPr>
              <a:t>named</a:t>
            </a:r>
            <a:endParaRPr lang="en-US" sz="950" dirty="0"/>
          </a:p>
        </p:txBody>
      </p:sp>
      <p:sp>
        <p:nvSpPr>
          <p:cNvPr id="33" name="Shape 30"/>
          <p:cNvSpPr/>
          <p:nvPr/>
        </p:nvSpPr>
        <p:spPr>
          <a:xfrm>
            <a:off x="6675120" y="5084064"/>
            <a:ext cx="365760" cy="365760"/>
          </a:xfrm>
          <a:prstGeom prst="roundRect">
            <a:avLst>
              <a:gd name="adj" fmla="val 20000"/>
            </a:avLst>
          </a:prstGeom>
          <a:solidFill>
            <a:srgbClr val="2C6BED"/>
          </a:solidFill>
          <a:ln w="12700">
            <a:solidFill>
              <a:srgbClr val="15202B"/>
            </a:solidFill>
            <a:prstDash val="solid"/>
          </a:ln>
        </p:spPr>
      </p:sp>
      <p:sp>
        <p:nvSpPr>
          <p:cNvPr id="34" name="Text 31"/>
          <p:cNvSpPr/>
          <p:nvPr/>
        </p:nvSpPr>
        <p:spPr>
          <a:xfrm>
            <a:off x="7168896" y="5029200"/>
            <a:ext cx="1737360" cy="274320"/>
          </a:xfrm>
          <a:prstGeom prst="rect">
            <a:avLst/>
          </a:prstGeom>
          <a:noFill/>
          <a:ln/>
        </p:spPr>
        <p:txBody>
          <a:bodyPr wrap="square" lIns="0" tIns="0" rIns="0" bIns="0" rtlCol="0" anchor="ctr"/>
          <a:lstStyle/>
          <a:p>
            <a:pPr indent="0" marL="0">
              <a:buNone/>
            </a:pPr>
            <a:r>
              <a:rPr lang="en-US" sz="1100" dirty="0">
                <a:solidFill>
                  <a:srgbClr val="15202B"/>
                </a:solidFill>
                <a:latin typeface="Courier New" pitchFamily="34" charset="0"/>
                <a:ea typeface="Courier New" pitchFamily="34" charset="-122"/>
                <a:cs typeface="Courier New" pitchFamily="34" charset="-120"/>
              </a:rPr>
              <a:t>#2C6BED</a:t>
            </a:r>
            <a:endParaRPr lang="en-US" sz="1100" dirty="0"/>
          </a:p>
        </p:txBody>
      </p:sp>
      <p:sp>
        <p:nvSpPr>
          <p:cNvPr id="35" name="Text 32"/>
          <p:cNvSpPr/>
          <p:nvPr/>
        </p:nvSpPr>
        <p:spPr>
          <a:xfrm>
            <a:off x="7168896" y="5285232"/>
            <a:ext cx="1737360" cy="237744"/>
          </a:xfrm>
          <a:prstGeom prst="rect">
            <a:avLst/>
          </a:prstGeom>
          <a:noFill/>
          <a:ln/>
        </p:spPr>
        <p:txBody>
          <a:bodyPr wrap="square" lIns="0" tIns="0" rIns="0" bIns="0" rtlCol="0" anchor="ctr"/>
          <a:lstStyle/>
          <a:p>
            <a:pPr indent="0" marL="0">
              <a:buNone/>
            </a:pPr>
            <a:r>
              <a:rPr lang="en-US" sz="950" dirty="0">
                <a:solidFill>
                  <a:srgbClr val="939DAB"/>
                </a:solidFill>
                <a:latin typeface="Calibri" pitchFamily="34" charset="0"/>
                <a:ea typeface="Calibri" pitchFamily="34" charset="-122"/>
                <a:cs typeface="Calibri" pitchFamily="34" charset="-120"/>
              </a:rPr>
              <a:t>hex</a:t>
            </a:r>
            <a:endParaRPr lang="en-US" sz="950" dirty="0"/>
          </a:p>
        </p:txBody>
      </p:sp>
      <p:sp>
        <p:nvSpPr>
          <p:cNvPr id="36" name="Shape 33"/>
          <p:cNvSpPr/>
          <p:nvPr/>
        </p:nvSpPr>
        <p:spPr>
          <a:xfrm>
            <a:off x="9052560" y="5084064"/>
            <a:ext cx="365760" cy="365760"/>
          </a:xfrm>
          <a:prstGeom prst="roundRect">
            <a:avLst>
              <a:gd name="adj" fmla="val 20000"/>
            </a:avLst>
          </a:prstGeom>
          <a:solidFill>
            <a:srgbClr val="2C6BED"/>
          </a:solidFill>
          <a:ln w="12700">
            <a:solidFill>
              <a:srgbClr val="15202B"/>
            </a:solidFill>
            <a:prstDash val="solid"/>
          </a:ln>
        </p:spPr>
      </p:sp>
      <p:sp>
        <p:nvSpPr>
          <p:cNvPr id="37" name="Text 34"/>
          <p:cNvSpPr/>
          <p:nvPr/>
        </p:nvSpPr>
        <p:spPr>
          <a:xfrm>
            <a:off x="9546336" y="5029200"/>
            <a:ext cx="1737360" cy="274320"/>
          </a:xfrm>
          <a:prstGeom prst="rect">
            <a:avLst/>
          </a:prstGeom>
          <a:noFill/>
          <a:ln/>
        </p:spPr>
        <p:txBody>
          <a:bodyPr wrap="square" lIns="0" tIns="0" rIns="0" bIns="0" rtlCol="0" anchor="ctr"/>
          <a:lstStyle/>
          <a:p>
            <a:pPr indent="0" marL="0">
              <a:buNone/>
            </a:pPr>
            <a:r>
              <a:rPr lang="en-US" sz="1100" dirty="0">
                <a:solidFill>
                  <a:srgbClr val="15202B"/>
                </a:solidFill>
                <a:latin typeface="Courier New" pitchFamily="34" charset="0"/>
                <a:ea typeface="Courier New" pitchFamily="34" charset="-122"/>
                <a:cs typeface="Courier New" pitchFamily="34" charset="-120"/>
              </a:rPr>
              <a:t>rgb(44,107,237)</a:t>
            </a:r>
            <a:endParaRPr lang="en-US" sz="1100" dirty="0"/>
          </a:p>
        </p:txBody>
      </p:sp>
      <p:sp>
        <p:nvSpPr>
          <p:cNvPr id="38" name="Text 35"/>
          <p:cNvSpPr/>
          <p:nvPr/>
        </p:nvSpPr>
        <p:spPr>
          <a:xfrm>
            <a:off x="9546336" y="5285232"/>
            <a:ext cx="1737360" cy="237744"/>
          </a:xfrm>
          <a:prstGeom prst="rect">
            <a:avLst/>
          </a:prstGeom>
          <a:noFill/>
          <a:ln/>
        </p:spPr>
        <p:txBody>
          <a:bodyPr wrap="square" lIns="0" tIns="0" rIns="0" bIns="0" rtlCol="0" anchor="ctr"/>
          <a:lstStyle/>
          <a:p>
            <a:pPr indent="0" marL="0">
              <a:buNone/>
            </a:pPr>
            <a:r>
              <a:rPr lang="en-US" sz="950" dirty="0">
                <a:solidFill>
                  <a:srgbClr val="939DAB"/>
                </a:solidFill>
                <a:latin typeface="Calibri" pitchFamily="34" charset="0"/>
                <a:ea typeface="Calibri" pitchFamily="34" charset="-122"/>
                <a:cs typeface="Calibri" pitchFamily="34" charset="-120"/>
              </a:rPr>
              <a:t>rgb</a:t>
            </a:r>
            <a:endParaRPr lang="en-US" sz="950" dirty="0"/>
          </a:p>
        </p:txBody>
      </p:sp>
      <p:sp>
        <p:nvSpPr>
          <p:cNvPr id="39" name="Shape 36"/>
          <p:cNvSpPr/>
          <p:nvPr/>
        </p:nvSpPr>
        <p:spPr>
          <a:xfrm>
            <a:off x="640080" y="5833872"/>
            <a:ext cx="10908792" cy="457200"/>
          </a:xfrm>
          <a:prstGeom prst="roundRect">
            <a:avLst>
              <a:gd name="adj" fmla="val 20000"/>
            </a:avLst>
          </a:prstGeom>
          <a:solidFill>
            <a:srgbClr val="FFFFFF"/>
          </a:solidFill>
          <a:ln w="12700">
            <a:solidFill>
              <a:srgbClr val="D9DEE7"/>
            </a:solidFill>
            <a:prstDash val="solid"/>
          </a:ln>
          <a:effectLst>
            <a:outerShdw sx="100000" sy="100000" kx="0" ky="0" algn="bl" rotWithShape="0" blurRad="177800" dist="38100" dir="5400000">
              <a:srgbClr val="000000">
                <a:alpha val="35000"/>
              </a:srgbClr>
            </a:outerShdw>
          </a:effectLst>
        </p:spPr>
      </p:sp>
      <p:sp>
        <p:nvSpPr>
          <p:cNvPr id="40" name="Text 37"/>
          <p:cNvSpPr/>
          <p:nvPr/>
        </p:nvSpPr>
        <p:spPr>
          <a:xfrm>
            <a:off x="914400" y="5833872"/>
            <a:ext cx="10360152" cy="457200"/>
          </a:xfrm>
          <a:prstGeom prst="rect">
            <a:avLst/>
          </a:prstGeom>
          <a:noFill/>
          <a:ln/>
        </p:spPr>
        <p:txBody>
          <a:bodyPr wrap="square" lIns="0" tIns="0" rIns="0" bIns="0" rtlCol="0" anchor="ctr"/>
          <a:lstStyle/>
          <a:p>
            <a:pPr algn="ctr" indent="0" marL="0">
              <a:buNone/>
            </a:pPr>
            <a:r>
              <a:rPr lang="en-US" sz="1350" b="1" dirty="0">
                <a:solidFill>
                  <a:srgbClr val="15202B"/>
                </a:solidFill>
                <a:latin typeface="Calibri" pitchFamily="34" charset="0"/>
                <a:ea typeface="Calibri" pitchFamily="34" charset="-122"/>
                <a:cs typeface="Calibri" pitchFamily="34" charset="-120"/>
              </a:rPr>
              <a:t>Same value, two properties, two entirely different pictures.</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7FA"/>
        </a:solidFill>
      </p:bgPr>
    </p:bg>
    <p:spTree>
      <p:nvGrpSpPr>
        <p:cNvPr id="1" name=""/>
        <p:cNvGrpSpPr/>
        <p:nvPr/>
      </p:nvGrpSpPr>
      <p:grpSpPr>
        <a:xfrm>
          <a:off x="0" y="0"/>
          <a:ext cx="0" cy="0"/>
          <a:chOff x="0" y="0"/>
          <a:chExt cx="0" cy="0"/>
        </a:xfrm>
      </p:grpSpPr>
      <p:sp>
        <p:nvSpPr>
          <p:cNvPr id="3" name="Text 0"/>
          <p:cNvSpPr/>
          <p:nvPr/>
        </p:nvSpPr>
        <p:spPr>
          <a:xfrm>
            <a:off x="640080" y="6364224"/>
            <a:ext cx="3657600" cy="256032"/>
          </a:xfrm>
          <a:prstGeom prst="rect">
            <a:avLst/>
          </a:prstGeom>
          <a:noFill/>
          <a:ln/>
        </p:spPr>
        <p:txBody>
          <a:bodyPr wrap="square" lIns="0" tIns="0" rIns="0" bIns="0" rtlCol="0" anchor="ctr"/>
          <a:lstStyle/>
          <a:p>
            <a:pPr indent="0" marL="0">
              <a:buNone/>
            </a:pPr>
            <a:r>
              <a:rPr lang="en-US" sz="900" dirty="0">
                <a:solidFill>
                  <a:srgbClr val="939DAB"/>
                </a:solidFill>
                <a:latin typeface="Courier New" pitchFamily="34" charset="0"/>
                <a:ea typeface="Courier New" pitchFamily="34" charset="-122"/>
                <a:cs typeface="Courier New" pitchFamily="34" charset="-120"/>
              </a:rPr>
              <a:t>CLASS 03  ·  CSS</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939DAB"/>
                </a:solidFill>
                <a:latin typeface="Courier New" pitchFamily="34" charset="0"/>
                <a:ea typeface="Courier New" pitchFamily="34" charset="-122"/>
                <a:cs typeface="Courier New" pitchFamily="34" charset="-120"/>
              </a:rPr>
              <a:t>14</a:t>
            </a:r>
            <a:endParaRPr lang="en-US" sz="900" dirty="0"/>
          </a:p>
        </p:txBody>
      </p:sp>
      <p:sp>
        <p:nvSpPr>
          <p:cNvPr id="5" name="Shape 2"/>
          <p:cNvSpPr/>
          <p:nvPr/>
        </p:nvSpPr>
        <p:spPr>
          <a:xfrm>
            <a:off x="640080" y="365760"/>
            <a:ext cx="1920240" cy="347472"/>
          </a:xfrm>
          <a:prstGeom prst="roundRect">
            <a:avLst>
              <a:gd name="adj" fmla="val 21053"/>
            </a:avLst>
          </a:prstGeom>
          <a:solidFill>
            <a:srgbClr val="2C6BED"/>
          </a:solidFill>
          <a:ln w="15875">
            <a:solidFill>
              <a:srgbClr val="15202B"/>
            </a:solidFill>
            <a:prstDash val="solid"/>
          </a:ln>
        </p:spPr>
      </p:sp>
      <p:sp>
        <p:nvSpPr>
          <p:cNvPr id="6" name="Text 3"/>
          <p:cNvSpPr/>
          <p:nvPr/>
        </p:nvSpPr>
        <p:spPr>
          <a:xfrm>
            <a:off x="640080" y="365760"/>
            <a:ext cx="1920240" cy="347472"/>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PROPERTIES</a:t>
            </a:r>
            <a:endParaRPr lang="en-US" sz="1050" dirty="0"/>
          </a:p>
        </p:txBody>
      </p:sp>
      <p:sp>
        <p:nvSpPr>
          <p:cNvPr id="7" name="Text 4"/>
          <p:cNvSpPr/>
          <p:nvPr/>
        </p:nvSpPr>
        <p:spPr>
          <a:xfrm>
            <a:off x="640080" y="786384"/>
            <a:ext cx="10881360" cy="603504"/>
          </a:xfrm>
          <a:prstGeom prst="rect">
            <a:avLst/>
          </a:prstGeom>
          <a:noFill/>
          <a:ln/>
        </p:spPr>
        <p:txBody>
          <a:bodyPr wrap="square" lIns="0" tIns="0" rIns="0" bIns="0" rtlCol="0" anchor="ctr"/>
          <a:lstStyle/>
          <a:p>
            <a:pPr indent="0" marL="0">
              <a:buNone/>
            </a:pPr>
            <a:r>
              <a:rPr lang="en-US" sz="3200" b="1" dirty="0">
                <a:solidFill>
                  <a:srgbClr val="15202B"/>
                </a:solidFill>
                <a:latin typeface="Calibri" pitchFamily="34" charset="0"/>
                <a:ea typeface="Calibri" pitchFamily="34" charset="-122"/>
                <a:cs typeface="Calibri" pitchFamily="34" charset="-120"/>
              </a:rPr>
              <a:t>A background image tiles until you tell it not to</a:t>
            </a:r>
            <a:endParaRPr lang="en-US" sz="3200" dirty="0"/>
          </a:p>
        </p:txBody>
      </p:sp>
      <p:sp>
        <p:nvSpPr>
          <p:cNvPr id="8" name="Shape 5"/>
          <p:cNvSpPr/>
          <p:nvPr/>
        </p:nvSpPr>
        <p:spPr>
          <a:xfrm>
            <a:off x="640080" y="1664208"/>
            <a:ext cx="3419856" cy="3383280"/>
          </a:xfrm>
          <a:prstGeom prst="roundRect">
            <a:avLst>
              <a:gd name="adj" fmla="val 2703"/>
            </a:avLst>
          </a:prstGeom>
          <a:solidFill>
            <a:srgbClr val="FFFFFF"/>
          </a:solidFill>
          <a:ln w="12700">
            <a:solidFill>
              <a:srgbClr val="D9DEE7"/>
            </a:solidFill>
            <a:prstDash val="solid"/>
          </a:ln>
          <a:effectLst>
            <a:outerShdw sx="100000" sy="100000" kx="0" ky="0" algn="bl" rotWithShape="0" blurRad="177800" dist="38100" dir="5400000">
              <a:srgbClr val="000000">
                <a:alpha val="35000"/>
              </a:srgbClr>
            </a:outerShdw>
          </a:effectLst>
        </p:spPr>
      </p:sp>
      <p:sp>
        <p:nvSpPr>
          <p:cNvPr id="9" name="Shape 6"/>
          <p:cNvSpPr/>
          <p:nvPr/>
        </p:nvSpPr>
        <p:spPr>
          <a:xfrm>
            <a:off x="640080" y="1664208"/>
            <a:ext cx="3419856" cy="384048"/>
          </a:xfrm>
          <a:prstGeom prst="roundRect">
            <a:avLst>
              <a:gd name="adj" fmla="val 23810"/>
            </a:avLst>
          </a:prstGeom>
          <a:solidFill>
            <a:srgbClr val="E7EEFD"/>
          </a:solidFill>
          <a:ln w="15875">
            <a:solidFill>
              <a:srgbClr val="B6CDFA"/>
            </a:solidFill>
            <a:prstDash val="solid"/>
          </a:ln>
        </p:spPr>
      </p:sp>
      <p:sp>
        <p:nvSpPr>
          <p:cNvPr id="10" name="Text 7"/>
          <p:cNvSpPr/>
          <p:nvPr/>
        </p:nvSpPr>
        <p:spPr>
          <a:xfrm>
            <a:off x="859536" y="1664208"/>
            <a:ext cx="2980944" cy="384048"/>
          </a:xfrm>
          <a:prstGeom prst="rect">
            <a:avLst/>
          </a:prstGeom>
          <a:noFill/>
          <a:ln/>
        </p:spPr>
        <p:txBody>
          <a:bodyPr wrap="square" lIns="0" tIns="0" rIns="0" bIns="0" rtlCol="0" anchor="ctr"/>
          <a:lstStyle/>
          <a:p>
            <a:pPr indent="0" marL="0">
              <a:buNone/>
            </a:pPr>
            <a:r>
              <a:rPr lang="en-US" sz="1300" b="1" dirty="0">
                <a:solidFill>
                  <a:srgbClr val="15202B"/>
                </a:solidFill>
                <a:latin typeface="Calibri" pitchFamily="34" charset="0"/>
                <a:ea typeface="Calibri" pitchFamily="34" charset="-122"/>
                <a:cs typeface="Calibri" pitchFamily="34" charset="-120"/>
              </a:rPr>
              <a:t>By default it repeats</a:t>
            </a:r>
            <a:endParaRPr lang="en-US" sz="1300" dirty="0"/>
          </a:p>
        </p:txBody>
      </p:sp>
      <p:sp>
        <p:nvSpPr>
          <p:cNvPr id="11" name="Shape 8"/>
          <p:cNvSpPr/>
          <p:nvPr/>
        </p:nvSpPr>
        <p:spPr>
          <a:xfrm>
            <a:off x="859536" y="2212848"/>
            <a:ext cx="2980944" cy="1691640"/>
          </a:xfrm>
          <a:prstGeom prst="rect">
            <a:avLst/>
          </a:prstGeom>
          <a:solidFill>
            <a:srgbClr val="FFFFFF"/>
          </a:solidFill>
          <a:ln w="15875">
            <a:solidFill>
              <a:srgbClr val="D9DEE7"/>
            </a:solidFill>
            <a:prstDash val="solid"/>
          </a:ln>
        </p:spPr>
      </p:sp>
      <p:sp>
        <p:nvSpPr>
          <p:cNvPr id="12" name="Shape 9"/>
          <p:cNvSpPr/>
          <p:nvPr/>
        </p:nvSpPr>
        <p:spPr>
          <a:xfrm>
            <a:off x="859536" y="2212848"/>
            <a:ext cx="745236" cy="563880"/>
          </a:xfrm>
          <a:prstGeom prst="rect">
            <a:avLst/>
          </a:prstGeom>
          <a:solidFill>
            <a:srgbClr val="BFE0F5"/>
          </a:solidFill>
          <a:ln w="9525">
            <a:solidFill>
              <a:srgbClr val="8FBEDD"/>
            </a:solidFill>
            <a:prstDash val="solid"/>
          </a:ln>
        </p:spPr>
      </p:sp>
      <p:sp>
        <p:nvSpPr>
          <p:cNvPr id="13" name="Shape 10"/>
          <p:cNvSpPr/>
          <p:nvPr/>
        </p:nvSpPr>
        <p:spPr>
          <a:xfrm>
            <a:off x="1366296" y="2291791"/>
            <a:ext cx="149047" cy="112776"/>
          </a:xfrm>
          <a:prstGeom prst="ellipse">
            <a:avLst/>
          </a:prstGeom>
          <a:solidFill>
            <a:srgbClr val="F7C948"/>
          </a:solidFill>
          <a:ln w="12700">
            <a:solidFill>
              <a:srgbClr val="F7C948"/>
            </a:solidFill>
            <a:prstDash val="solid"/>
          </a:ln>
        </p:spPr>
      </p:sp>
      <p:sp>
        <p:nvSpPr>
          <p:cNvPr id="14" name="Shape 11"/>
          <p:cNvSpPr/>
          <p:nvPr/>
        </p:nvSpPr>
        <p:spPr>
          <a:xfrm>
            <a:off x="919155" y="2449678"/>
            <a:ext cx="372618" cy="281940"/>
          </a:xfrm>
          <a:prstGeom prst="triangle">
            <a:avLst/>
          </a:prstGeom>
          <a:solidFill>
            <a:srgbClr val="7FB069"/>
          </a:solidFill>
          <a:ln w="6350">
            <a:solidFill>
              <a:srgbClr val="5E9150"/>
            </a:solidFill>
            <a:prstDash val="solid"/>
          </a:ln>
        </p:spPr>
      </p:sp>
      <p:sp>
        <p:nvSpPr>
          <p:cNvPr id="15" name="Shape 12"/>
          <p:cNvSpPr/>
          <p:nvPr/>
        </p:nvSpPr>
        <p:spPr>
          <a:xfrm>
            <a:off x="1194892" y="2494788"/>
            <a:ext cx="335356" cy="236830"/>
          </a:xfrm>
          <a:prstGeom prst="triangle">
            <a:avLst/>
          </a:prstGeom>
          <a:solidFill>
            <a:srgbClr val="5E9150"/>
          </a:solidFill>
          <a:ln w="6350">
            <a:solidFill>
              <a:srgbClr val="4B7741"/>
            </a:solidFill>
            <a:prstDash val="solid"/>
          </a:ln>
        </p:spPr>
      </p:sp>
      <p:sp>
        <p:nvSpPr>
          <p:cNvPr id="16" name="Shape 13"/>
          <p:cNvSpPr/>
          <p:nvPr/>
        </p:nvSpPr>
        <p:spPr>
          <a:xfrm>
            <a:off x="1604772" y="2212848"/>
            <a:ext cx="745236" cy="563880"/>
          </a:xfrm>
          <a:prstGeom prst="rect">
            <a:avLst/>
          </a:prstGeom>
          <a:solidFill>
            <a:srgbClr val="BFE0F5"/>
          </a:solidFill>
          <a:ln w="9525">
            <a:solidFill>
              <a:srgbClr val="8FBEDD"/>
            </a:solidFill>
            <a:prstDash val="solid"/>
          </a:ln>
        </p:spPr>
      </p:sp>
      <p:sp>
        <p:nvSpPr>
          <p:cNvPr id="17" name="Shape 14"/>
          <p:cNvSpPr/>
          <p:nvPr/>
        </p:nvSpPr>
        <p:spPr>
          <a:xfrm>
            <a:off x="2111532" y="2291791"/>
            <a:ext cx="149047" cy="112776"/>
          </a:xfrm>
          <a:prstGeom prst="ellipse">
            <a:avLst/>
          </a:prstGeom>
          <a:solidFill>
            <a:srgbClr val="F7C948"/>
          </a:solidFill>
          <a:ln w="12700">
            <a:solidFill>
              <a:srgbClr val="F7C948"/>
            </a:solidFill>
            <a:prstDash val="solid"/>
          </a:ln>
        </p:spPr>
      </p:sp>
      <p:sp>
        <p:nvSpPr>
          <p:cNvPr id="18" name="Shape 15"/>
          <p:cNvSpPr/>
          <p:nvPr/>
        </p:nvSpPr>
        <p:spPr>
          <a:xfrm>
            <a:off x="1664391" y="2449678"/>
            <a:ext cx="372618" cy="281940"/>
          </a:xfrm>
          <a:prstGeom prst="triangle">
            <a:avLst/>
          </a:prstGeom>
          <a:solidFill>
            <a:srgbClr val="7FB069"/>
          </a:solidFill>
          <a:ln w="6350">
            <a:solidFill>
              <a:srgbClr val="5E9150"/>
            </a:solidFill>
            <a:prstDash val="solid"/>
          </a:ln>
        </p:spPr>
      </p:sp>
      <p:sp>
        <p:nvSpPr>
          <p:cNvPr id="19" name="Shape 16"/>
          <p:cNvSpPr/>
          <p:nvPr/>
        </p:nvSpPr>
        <p:spPr>
          <a:xfrm>
            <a:off x="1940128" y="2494788"/>
            <a:ext cx="335356" cy="236830"/>
          </a:xfrm>
          <a:prstGeom prst="triangle">
            <a:avLst/>
          </a:prstGeom>
          <a:solidFill>
            <a:srgbClr val="5E9150"/>
          </a:solidFill>
          <a:ln w="6350">
            <a:solidFill>
              <a:srgbClr val="4B7741"/>
            </a:solidFill>
            <a:prstDash val="solid"/>
          </a:ln>
        </p:spPr>
      </p:sp>
      <p:sp>
        <p:nvSpPr>
          <p:cNvPr id="20" name="Shape 17"/>
          <p:cNvSpPr/>
          <p:nvPr/>
        </p:nvSpPr>
        <p:spPr>
          <a:xfrm>
            <a:off x="2350008" y="2212848"/>
            <a:ext cx="745236" cy="563880"/>
          </a:xfrm>
          <a:prstGeom prst="rect">
            <a:avLst/>
          </a:prstGeom>
          <a:solidFill>
            <a:srgbClr val="BFE0F5"/>
          </a:solidFill>
          <a:ln w="9525">
            <a:solidFill>
              <a:srgbClr val="8FBEDD"/>
            </a:solidFill>
            <a:prstDash val="solid"/>
          </a:ln>
        </p:spPr>
      </p:sp>
      <p:sp>
        <p:nvSpPr>
          <p:cNvPr id="21" name="Shape 18"/>
          <p:cNvSpPr/>
          <p:nvPr/>
        </p:nvSpPr>
        <p:spPr>
          <a:xfrm>
            <a:off x="2856768" y="2291791"/>
            <a:ext cx="149047" cy="112776"/>
          </a:xfrm>
          <a:prstGeom prst="ellipse">
            <a:avLst/>
          </a:prstGeom>
          <a:solidFill>
            <a:srgbClr val="F7C948"/>
          </a:solidFill>
          <a:ln w="12700">
            <a:solidFill>
              <a:srgbClr val="F7C948"/>
            </a:solidFill>
            <a:prstDash val="solid"/>
          </a:ln>
        </p:spPr>
      </p:sp>
      <p:sp>
        <p:nvSpPr>
          <p:cNvPr id="22" name="Shape 19"/>
          <p:cNvSpPr/>
          <p:nvPr/>
        </p:nvSpPr>
        <p:spPr>
          <a:xfrm>
            <a:off x="2409627" y="2449678"/>
            <a:ext cx="372618" cy="281940"/>
          </a:xfrm>
          <a:prstGeom prst="triangle">
            <a:avLst/>
          </a:prstGeom>
          <a:solidFill>
            <a:srgbClr val="7FB069"/>
          </a:solidFill>
          <a:ln w="6350">
            <a:solidFill>
              <a:srgbClr val="5E9150"/>
            </a:solidFill>
            <a:prstDash val="solid"/>
          </a:ln>
        </p:spPr>
      </p:sp>
      <p:sp>
        <p:nvSpPr>
          <p:cNvPr id="23" name="Shape 20"/>
          <p:cNvSpPr/>
          <p:nvPr/>
        </p:nvSpPr>
        <p:spPr>
          <a:xfrm>
            <a:off x="2685364" y="2494788"/>
            <a:ext cx="335356" cy="236830"/>
          </a:xfrm>
          <a:prstGeom prst="triangle">
            <a:avLst/>
          </a:prstGeom>
          <a:solidFill>
            <a:srgbClr val="5E9150"/>
          </a:solidFill>
          <a:ln w="6350">
            <a:solidFill>
              <a:srgbClr val="4B7741"/>
            </a:solidFill>
            <a:prstDash val="solid"/>
          </a:ln>
        </p:spPr>
      </p:sp>
      <p:sp>
        <p:nvSpPr>
          <p:cNvPr id="24" name="Shape 21"/>
          <p:cNvSpPr/>
          <p:nvPr/>
        </p:nvSpPr>
        <p:spPr>
          <a:xfrm>
            <a:off x="3095244" y="2212848"/>
            <a:ext cx="745236" cy="563880"/>
          </a:xfrm>
          <a:prstGeom prst="rect">
            <a:avLst/>
          </a:prstGeom>
          <a:solidFill>
            <a:srgbClr val="BFE0F5"/>
          </a:solidFill>
          <a:ln w="9525">
            <a:solidFill>
              <a:srgbClr val="8FBEDD"/>
            </a:solidFill>
            <a:prstDash val="solid"/>
          </a:ln>
        </p:spPr>
      </p:sp>
      <p:sp>
        <p:nvSpPr>
          <p:cNvPr id="25" name="Shape 22"/>
          <p:cNvSpPr/>
          <p:nvPr/>
        </p:nvSpPr>
        <p:spPr>
          <a:xfrm>
            <a:off x="3602004" y="2291791"/>
            <a:ext cx="149047" cy="112776"/>
          </a:xfrm>
          <a:prstGeom prst="ellipse">
            <a:avLst/>
          </a:prstGeom>
          <a:solidFill>
            <a:srgbClr val="F7C948"/>
          </a:solidFill>
          <a:ln w="12700">
            <a:solidFill>
              <a:srgbClr val="F7C948"/>
            </a:solidFill>
            <a:prstDash val="solid"/>
          </a:ln>
        </p:spPr>
      </p:sp>
      <p:sp>
        <p:nvSpPr>
          <p:cNvPr id="26" name="Shape 23"/>
          <p:cNvSpPr/>
          <p:nvPr/>
        </p:nvSpPr>
        <p:spPr>
          <a:xfrm>
            <a:off x="3154863" y="2449678"/>
            <a:ext cx="372618" cy="281940"/>
          </a:xfrm>
          <a:prstGeom prst="triangle">
            <a:avLst/>
          </a:prstGeom>
          <a:solidFill>
            <a:srgbClr val="7FB069"/>
          </a:solidFill>
          <a:ln w="6350">
            <a:solidFill>
              <a:srgbClr val="5E9150"/>
            </a:solidFill>
            <a:prstDash val="solid"/>
          </a:ln>
        </p:spPr>
      </p:sp>
      <p:sp>
        <p:nvSpPr>
          <p:cNvPr id="27" name="Shape 24"/>
          <p:cNvSpPr/>
          <p:nvPr/>
        </p:nvSpPr>
        <p:spPr>
          <a:xfrm>
            <a:off x="3430600" y="2494788"/>
            <a:ext cx="335356" cy="236830"/>
          </a:xfrm>
          <a:prstGeom prst="triangle">
            <a:avLst/>
          </a:prstGeom>
          <a:solidFill>
            <a:srgbClr val="5E9150"/>
          </a:solidFill>
          <a:ln w="6350">
            <a:solidFill>
              <a:srgbClr val="4B7741"/>
            </a:solidFill>
            <a:prstDash val="solid"/>
          </a:ln>
        </p:spPr>
      </p:sp>
      <p:sp>
        <p:nvSpPr>
          <p:cNvPr id="28" name="Shape 25"/>
          <p:cNvSpPr/>
          <p:nvPr/>
        </p:nvSpPr>
        <p:spPr>
          <a:xfrm>
            <a:off x="859536" y="2776728"/>
            <a:ext cx="745236" cy="563880"/>
          </a:xfrm>
          <a:prstGeom prst="rect">
            <a:avLst/>
          </a:prstGeom>
          <a:solidFill>
            <a:srgbClr val="BFE0F5"/>
          </a:solidFill>
          <a:ln w="9525">
            <a:solidFill>
              <a:srgbClr val="8FBEDD"/>
            </a:solidFill>
            <a:prstDash val="solid"/>
          </a:ln>
        </p:spPr>
      </p:sp>
      <p:sp>
        <p:nvSpPr>
          <p:cNvPr id="29" name="Shape 26"/>
          <p:cNvSpPr/>
          <p:nvPr/>
        </p:nvSpPr>
        <p:spPr>
          <a:xfrm>
            <a:off x="1366296" y="2855671"/>
            <a:ext cx="149047" cy="112776"/>
          </a:xfrm>
          <a:prstGeom prst="ellipse">
            <a:avLst/>
          </a:prstGeom>
          <a:solidFill>
            <a:srgbClr val="F7C948"/>
          </a:solidFill>
          <a:ln w="12700">
            <a:solidFill>
              <a:srgbClr val="F7C948"/>
            </a:solidFill>
            <a:prstDash val="solid"/>
          </a:ln>
        </p:spPr>
      </p:sp>
      <p:sp>
        <p:nvSpPr>
          <p:cNvPr id="30" name="Shape 27"/>
          <p:cNvSpPr/>
          <p:nvPr/>
        </p:nvSpPr>
        <p:spPr>
          <a:xfrm>
            <a:off x="919155" y="3013558"/>
            <a:ext cx="372618" cy="281940"/>
          </a:xfrm>
          <a:prstGeom prst="triangle">
            <a:avLst/>
          </a:prstGeom>
          <a:solidFill>
            <a:srgbClr val="7FB069"/>
          </a:solidFill>
          <a:ln w="6350">
            <a:solidFill>
              <a:srgbClr val="5E9150"/>
            </a:solidFill>
            <a:prstDash val="solid"/>
          </a:ln>
        </p:spPr>
      </p:sp>
      <p:sp>
        <p:nvSpPr>
          <p:cNvPr id="31" name="Shape 28"/>
          <p:cNvSpPr/>
          <p:nvPr/>
        </p:nvSpPr>
        <p:spPr>
          <a:xfrm>
            <a:off x="1194892" y="3058668"/>
            <a:ext cx="335356" cy="236830"/>
          </a:xfrm>
          <a:prstGeom prst="triangle">
            <a:avLst/>
          </a:prstGeom>
          <a:solidFill>
            <a:srgbClr val="5E9150"/>
          </a:solidFill>
          <a:ln w="6350">
            <a:solidFill>
              <a:srgbClr val="4B7741"/>
            </a:solidFill>
            <a:prstDash val="solid"/>
          </a:ln>
        </p:spPr>
      </p:sp>
      <p:sp>
        <p:nvSpPr>
          <p:cNvPr id="32" name="Shape 29"/>
          <p:cNvSpPr/>
          <p:nvPr/>
        </p:nvSpPr>
        <p:spPr>
          <a:xfrm>
            <a:off x="1604772" y="2776728"/>
            <a:ext cx="745236" cy="563880"/>
          </a:xfrm>
          <a:prstGeom prst="rect">
            <a:avLst/>
          </a:prstGeom>
          <a:solidFill>
            <a:srgbClr val="BFE0F5"/>
          </a:solidFill>
          <a:ln w="9525">
            <a:solidFill>
              <a:srgbClr val="8FBEDD"/>
            </a:solidFill>
            <a:prstDash val="solid"/>
          </a:ln>
        </p:spPr>
      </p:sp>
      <p:sp>
        <p:nvSpPr>
          <p:cNvPr id="33" name="Shape 30"/>
          <p:cNvSpPr/>
          <p:nvPr/>
        </p:nvSpPr>
        <p:spPr>
          <a:xfrm>
            <a:off x="2111532" y="2855671"/>
            <a:ext cx="149047" cy="112776"/>
          </a:xfrm>
          <a:prstGeom prst="ellipse">
            <a:avLst/>
          </a:prstGeom>
          <a:solidFill>
            <a:srgbClr val="F7C948"/>
          </a:solidFill>
          <a:ln w="12700">
            <a:solidFill>
              <a:srgbClr val="F7C948"/>
            </a:solidFill>
            <a:prstDash val="solid"/>
          </a:ln>
        </p:spPr>
      </p:sp>
      <p:sp>
        <p:nvSpPr>
          <p:cNvPr id="34" name="Shape 31"/>
          <p:cNvSpPr/>
          <p:nvPr/>
        </p:nvSpPr>
        <p:spPr>
          <a:xfrm>
            <a:off x="1664391" y="3013558"/>
            <a:ext cx="372618" cy="281940"/>
          </a:xfrm>
          <a:prstGeom prst="triangle">
            <a:avLst/>
          </a:prstGeom>
          <a:solidFill>
            <a:srgbClr val="7FB069"/>
          </a:solidFill>
          <a:ln w="6350">
            <a:solidFill>
              <a:srgbClr val="5E9150"/>
            </a:solidFill>
            <a:prstDash val="solid"/>
          </a:ln>
        </p:spPr>
      </p:sp>
      <p:sp>
        <p:nvSpPr>
          <p:cNvPr id="35" name="Shape 32"/>
          <p:cNvSpPr/>
          <p:nvPr/>
        </p:nvSpPr>
        <p:spPr>
          <a:xfrm>
            <a:off x="1940128" y="3058668"/>
            <a:ext cx="335356" cy="236830"/>
          </a:xfrm>
          <a:prstGeom prst="triangle">
            <a:avLst/>
          </a:prstGeom>
          <a:solidFill>
            <a:srgbClr val="5E9150"/>
          </a:solidFill>
          <a:ln w="6350">
            <a:solidFill>
              <a:srgbClr val="4B7741"/>
            </a:solidFill>
            <a:prstDash val="solid"/>
          </a:ln>
        </p:spPr>
      </p:sp>
      <p:sp>
        <p:nvSpPr>
          <p:cNvPr id="36" name="Shape 33"/>
          <p:cNvSpPr/>
          <p:nvPr/>
        </p:nvSpPr>
        <p:spPr>
          <a:xfrm>
            <a:off x="2350008" y="2776728"/>
            <a:ext cx="745236" cy="563880"/>
          </a:xfrm>
          <a:prstGeom prst="rect">
            <a:avLst/>
          </a:prstGeom>
          <a:solidFill>
            <a:srgbClr val="BFE0F5"/>
          </a:solidFill>
          <a:ln w="9525">
            <a:solidFill>
              <a:srgbClr val="8FBEDD"/>
            </a:solidFill>
            <a:prstDash val="solid"/>
          </a:ln>
        </p:spPr>
      </p:sp>
      <p:sp>
        <p:nvSpPr>
          <p:cNvPr id="37" name="Shape 34"/>
          <p:cNvSpPr/>
          <p:nvPr/>
        </p:nvSpPr>
        <p:spPr>
          <a:xfrm>
            <a:off x="2856768" y="2855671"/>
            <a:ext cx="149047" cy="112776"/>
          </a:xfrm>
          <a:prstGeom prst="ellipse">
            <a:avLst/>
          </a:prstGeom>
          <a:solidFill>
            <a:srgbClr val="F7C948"/>
          </a:solidFill>
          <a:ln w="12700">
            <a:solidFill>
              <a:srgbClr val="F7C948"/>
            </a:solidFill>
            <a:prstDash val="solid"/>
          </a:ln>
        </p:spPr>
      </p:sp>
      <p:sp>
        <p:nvSpPr>
          <p:cNvPr id="38" name="Shape 35"/>
          <p:cNvSpPr/>
          <p:nvPr/>
        </p:nvSpPr>
        <p:spPr>
          <a:xfrm>
            <a:off x="2409627" y="3013558"/>
            <a:ext cx="372618" cy="281940"/>
          </a:xfrm>
          <a:prstGeom prst="triangle">
            <a:avLst/>
          </a:prstGeom>
          <a:solidFill>
            <a:srgbClr val="7FB069"/>
          </a:solidFill>
          <a:ln w="6350">
            <a:solidFill>
              <a:srgbClr val="5E9150"/>
            </a:solidFill>
            <a:prstDash val="solid"/>
          </a:ln>
        </p:spPr>
      </p:sp>
      <p:sp>
        <p:nvSpPr>
          <p:cNvPr id="39" name="Shape 36"/>
          <p:cNvSpPr/>
          <p:nvPr/>
        </p:nvSpPr>
        <p:spPr>
          <a:xfrm>
            <a:off x="2685364" y="3058668"/>
            <a:ext cx="335356" cy="236830"/>
          </a:xfrm>
          <a:prstGeom prst="triangle">
            <a:avLst/>
          </a:prstGeom>
          <a:solidFill>
            <a:srgbClr val="5E9150"/>
          </a:solidFill>
          <a:ln w="6350">
            <a:solidFill>
              <a:srgbClr val="4B7741"/>
            </a:solidFill>
            <a:prstDash val="solid"/>
          </a:ln>
        </p:spPr>
      </p:sp>
      <p:sp>
        <p:nvSpPr>
          <p:cNvPr id="40" name="Shape 37"/>
          <p:cNvSpPr/>
          <p:nvPr/>
        </p:nvSpPr>
        <p:spPr>
          <a:xfrm>
            <a:off x="3095244" y="2776728"/>
            <a:ext cx="745236" cy="563880"/>
          </a:xfrm>
          <a:prstGeom prst="rect">
            <a:avLst/>
          </a:prstGeom>
          <a:solidFill>
            <a:srgbClr val="BFE0F5"/>
          </a:solidFill>
          <a:ln w="9525">
            <a:solidFill>
              <a:srgbClr val="8FBEDD"/>
            </a:solidFill>
            <a:prstDash val="solid"/>
          </a:ln>
        </p:spPr>
      </p:sp>
      <p:sp>
        <p:nvSpPr>
          <p:cNvPr id="41" name="Shape 38"/>
          <p:cNvSpPr/>
          <p:nvPr/>
        </p:nvSpPr>
        <p:spPr>
          <a:xfrm>
            <a:off x="3602004" y="2855671"/>
            <a:ext cx="149047" cy="112776"/>
          </a:xfrm>
          <a:prstGeom prst="ellipse">
            <a:avLst/>
          </a:prstGeom>
          <a:solidFill>
            <a:srgbClr val="F7C948"/>
          </a:solidFill>
          <a:ln w="12700">
            <a:solidFill>
              <a:srgbClr val="F7C948"/>
            </a:solidFill>
            <a:prstDash val="solid"/>
          </a:ln>
        </p:spPr>
      </p:sp>
      <p:sp>
        <p:nvSpPr>
          <p:cNvPr id="42" name="Shape 39"/>
          <p:cNvSpPr/>
          <p:nvPr/>
        </p:nvSpPr>
        <p:spPr>
          <a:xfrm>
            <a:off x="3154863" y="3013558"/>
            <a:ext cx="372618" cy="281940"/>
          </a:xfrm>
          <a:prstGeom prst="triangle">
            <a:avLst/>
          </a:prstGeom>
          <a:solidFill>
            <a:srgbClr val="7FB069"/>
          </a:solidFill>
          <a:ln w="6350">
            <a:solidFill>
              <a:srgbClr val="5E9150"/>
            </a:solidFill>
            <a:prstDash val="solid"/>
          </a:ln>
        </p:spPr>
      </p:sp>
      <p:sp>
        <p:nvSpPr>
          <p:cNvPr id="43" name="Shape 40"/>
          <p:cNvSpPr/>
          <p:nvPr/>
        </p:nvSpPr>
        <p:spPr>
          <a:xfrm>
            <a:off x="3430600" y="3058668"/>
            <a:ext cx="335356" cy="236830"/>
          </a:xfrm>
          <a:prstGeom prst="triangle">
            <a:avLst/>
          </a:prstGeom>
          <a:solidFill>
            <a:srgbClr val="5E9150"/>
          </a:solidFill>
          <a:ln w="6350">
            <a:solidFill>
              <a:srgbClr val="4B7741"/>
            </a:solidFill>
            <a:prstDash val="solid"/>
          </a:ln>
        </p:spPr>
      </p:sp>
      <p:sp>
        <p:nvSpPr>
          <p:cNvPr id="44" name="Shape 41"/>
          <p:cNvSpPr/>
          <p:nvPr/>
        </p:nvSpPr>
        <p:spPr>
          <a:xfrm>
            <a:off x="859536" y="3340608"/>
            <a:ext cx="745236" cy="563880"/>
          </a:xfrm>
          <a:prstGeom prst="rect">
            <a:avLst/>
          </a:prstGeom>
          <a:solidFill>
            <a:srgbClr val="BFE0F5"/>
          </a:solidFill>
          <a:ln w="9525">
            <a:solidFill>
              <a:srgbClr val="8FBEDD"/>
            </a:solidFill>
            <a:prstDash val="solid"/>
          </a:ln>
        </p:spPr>
      </p:sp>
      <p:sp>
        <p:nvSpPr>
          <p:cNvPr id="45" name="Shape 42"/>
          <p:cNvSpPr/>
          <p:nvPr/>
        </p:nvSpPr>
        <p:spPr>
          <a:xfrm>
            <a:off x="1366296" y="3419551"/>
            <a:ext cx="149047" cy="112776"/>
          </a:xfrm>
          <a:prstGeom prst="ellipse">
            <a:avLst/>
          </a:prstGeom>
          <a:solidFill>
            <a:srgbClr val="F7C948"/>
          </a:solidFill>
          <a:ln w="12700">
            <a:solidFill>
              <a:srgbClr val="F7C948"/>
            </a:solidFill>
            <a:prstDash val="solid"/>
          </a:ln>
        </p:spPr>
      </p:sp>
      <p:sp>
        <p:nvSpPr>
          <p:cNvPr id="46" name="Shape 43"/>
          <p:cNvSpPr/>
          <p:nvPr/>
        </p:nvSpPr>
        <p:spPr>
          <a:xfrm>
            <a:off x="919155" y="3577438"/>
            <a:ext cx="372618" cy="281940"/>
          </a:xfrm>
          <a:prstGeom prst="triangle">
            <a:avLst/>
          </a:prstGeom>
          <a:solidFill>
            <a:srgbClr val="7FB069"/>
          </a:solidFill>
          <a:ln w="6350">
            <a:solidFill>
              <a:srgbClr val="5E9150"/>
            </a:solidFill>
            <a:prstDash val="solid"/>
          </a:ln>
        </p:spPr>
      </p:sp>
      <p:sp>
        <p:nvSpPr>
          <p:cNvPr id="47" name="Shape 44"/>
          <p:cNvSpPr/>
          <p:nvPr/>
        </p:nvSpPr>
        <p:spPr>
          <a:xfrm>
            <a:off x="1194892" y="3622548"/>
            <a:ext cx="335356" cy="236830"/>
          </a:xfrm>
          <a:prstGeom prst="triangle">
            <a:avLst/>
          </a:prstGeom>
          <a:solidFill>
            <a:srgbClr val="5E9150"/>
          </a:solidFill>
          <a:ln w="6350">
            <a:solidFill>
              <a:srgbClr val="4B7741"/>
            </a:solidFill>
            <a:prstDash val="solid"/>
          </a:ln>
        </p:spPr>
      </p:sp>
      <p:sp>
        <p:nvSpPr>
          <p:cNvPr id="48" name="Shape 45"/>
          <p:cNvSpPr/>
          <p:nvPr/>
        </p:nvSpPr>
        <p:spPr>
          <a:xfrm>
            <a:off x="1604772" y="3340608"/>
            <a:ext cx="745236" cy="563880"/>
          </a:xfrm>
          <a:prstGeom prst="rect">
            <a:avLst/>
          </a:prstGeom>
          <a:solidFill>
            <a:srgbClr val="BFE0F5"/>
          </a:solidFill>
          <a:ln w="9525">
            <a:solidFill>
              <a:srgbClr val="8FBEDD"/>
            </a:solidFill>
            <a:prstDash val="solid"/>
          </a:ln>
        </p:spPr>
      </p:sp>
      <p:sp>
        <p:nvSpPr>
          <p:cNvPr id="49" name="Shape 46"/>
          <p:cNvSpPr/>
          <p:nvPr/>
        </p:nvSpPr>
        <p:spPr>
          <a:xfrm>
            <a:off x="2111532" y="3419551"/>
            <a:ext cx="149047" cy="112776"/>
          </a:xfrm>
          <a:prstGeom prst="ellipse">
            <a:avLst/>
          </a:prstGeom>
          <a:solidFill>
            <a:srgbClr val="F7C948"/>
          </a:solidFill>
          <a:ln w="12700">
            <a:solidFill>
              <a:srgbClr val="F7C948"/>
            </a:solidFill>
            <a:prstDash val="solid"/>
          </a:ln>
        </p:spPr>
      </p:sp>
      <p:sp>
        <p:nvSpPr>
          <p:cNvPr id="50" name="Shape 47"/>
          <p:cNvSpPr/>
          <p:nvPr/>
        </p:nvSpPr>
        <p:spPr>
          <a:xfrm>
            <a:off x="1664391" y="3577438"/>
            <a:ext cx="372618" cy="281940"/>
          </a:xfrm>
          <a:prstGeom prst="triangle">
            <a:avLst/>
          </a:prstGeom>
          <a:solidFill>
            <a:srgbClr val="7FB069"/>
          </a:solidFill>
          <a:ln w="6350">
            <a:solidFill>
              <a:srgbClr val="5E9150"/>
            </a:solidFill>
            <a:prstDash val="solid"/>
          </a:ln>
        </p:spPr>
      </p:sp>
      <p:sp>
        <p:nvSpPr>
          <p:cNvPr id="51" name="Shape 48"/>
          <p:cNvSpPr/>
          <p:nvPr/>
        </p:nvSpPr>
        <p:spPr>
          <a:xfrm>
            <a:off x="1940128" y="3622548"/>
            <a:ext cx="335356" cy="236830"/>
          </a:xfrm>
          <a:prstGeom prst="triangle">
            <a:avLst/>
          </a:prstGeom>
          <a:solidFill>
            <a:srgbClr val="5E9150"/>
          </a:solidFill>
          <a:ln w="6350">
            <a:solidFill>
              <a:srgbClr val="4B7741"/>
            </a:solidFill>
            <a:prstDash val="solid"/>
          </a:ln>
        </p:spPr>
      </p:sp>
      <p:sp>
        <p:nvSpPr>
          <p:cNvPr id="52" name="Shape 49"/>
          <p:cNvSpPr/>
          <p:nvPr/>
        </p:nvSpPr>
        <p:spPr>
          <a:xfrm>
            <a:off x="2350008" y="3340608"/>
            <a:ext cx="745236" cy="563880"/>
          </a:xfrm>
          <a:prstGeom prst="rect">
            <a:avLst/>
          </a:prstGeom>
          <a:solidFill>
            <a:srgbClr val="BFE0F5"/>
          </a:solidFill>
          <a:ln w="9525">
            <a:solidFill>
              <a:srgbClr val="8FBEDD"/>
            </a:solidFill>
            <a:prstDash val="solid"/>
          </a:ln>
        </p:spPr>
      </p:sp>
      <p:sp>
        <p:nvSpPr>
          <p:cNvPr id="53" name="Shape 50"/>
          <p:cNvSpPr/>
          <p:nvPr/>
        </p:nvSpPr>
        <p:spPr>
          <a:xfrm>
            <a:off x="2856768" y="3419551"/>
            <a:ext cx="149047" cy="112776"/>
          </a:xfrm>
          <a:prstGeom prst="ellipse">
            <a:avLst/>
          </a:prstGeom>
          <a:solidFill>
            <a:srgbClr val="F7C948"/>
          </a:solidFill>
          <a:ln w="12700">
            <a:solidFill>
              <a:srgbClr val="F7C948"/>
            </a:solidFill>
            <a:prstDash val="solid"/>
          </a:ln>
        </p:spPr>
      </p:sp>
      <p:sp>
        <p:nvSpPr>
          <p:cNvPr id="54" name="Shape 51"/>
          <p:cNvSpPr/>
          <p:nvPr/>
        </p:nvSpPr>
        <p:spPr>
          <a:xfrm>
            <a:off x="2409627" y="3577438"/>
            <a:ext cx="372618" cy="281940"/>
          </a:xfrm>
          <a:prstGeom prst="triangle">
            <a:avLst/>
          </a:prstGeom>
          <a:solidFill>
            <a:srgbClr val="7FB069"/>
          </a:solidFill>
          <a:ln w="6350">
            <a:solidFill>
              <a:srgbClr val="5E9150"/>
            </a:solidFill>
            <a:prstDash val="solid"/>
          </a:ln>
        </p:spPr>
      </p:sp>
      <p:sp>
        <p:nvSpPr>
          <p:cNvPr id="55" name="Shape 52"/>
          <p:cNvSpPr/>
          <p:nvPr/>
        </p:nvSpPr>
        <p:spPr>
          <a:xfrm>
            <a:off x="2685364" y="3622548"/>
            <a:ext cx="335356" cy="236830"/>
          </a:xfrm>
          <a:prstGeom prst="triangle">
            <a:avLst/>
          </a:prstGeom>
          <a:solidFill>
            <a:srgbClr val="5E9150"/>
          </a:solidFill>
          <a:ln w="6350">
            <a:solidFill>
              <a:srgbClr val="4B7741"/>
            </a:solidFill>
            <a:prstDash val="solid"/>
          </a:ln>
        </p:spPr>
      </p:sp>
      <p:sp>
        <p:nvSpPr>
          <p:cNvPr id="56" name="Shape 53"/>
          <p:cNvSpPr/>
          <p:nvPr/>
        </p:nvSpPr>
        <p:spPr>
          <a:xfrm>
            <a:off x="3095244" y="3340608"/>
            <a:ext cx="745236" cy="563880"/>
          </a:xfrm>
          <a:prstGeom prst="rect">
            <a:avLst/>
          </a:prstGeom>
          <a:solidFill>
            <a:srgbClr val="BFE0F5"/>
          </a:solidFill>
          <a:ln w="9525">
            <a:solidFill>
              <a:srgbClr val="8FBEDD"/>
            </a:solidFill>
            <a:prstDash val="solid"/>
          </a:ln>
        </p:spPr>
      </p:sp>
      <p:sp>
        <p:nvSpPr>
          <p:cNvPr id="57" name="Shape 54"/>
          <p:cNvSpPr/>
          <p:nvPr/>
        </p:nvSpPr>
        <p:spPr>
          <a:xfrm>
            <a:off x="3602004" y="3419551"/>
            <a:ext cx="149047" cy="112776"/>
          </a:xfrm>
          <a:prstGeom prst="ellipse">
            <a:avLst/>
          </a:prstGeom>
          <a:solidFill>
            <a:srgbClr val="F7C948"/>
          </a:solidFill>
          <a:ln w="12700">
            <a:solidFill>
              <a:srgbClr val="F7C948"/>
            </a:solidFill>
            <a:prstDash val="solid"/>
          </a:ln>
        </p:spPr>
      </p:sp>
      <p:sp>
        <p:nvSpPr>
          <p:cNvPr id="58" name="Shape 55"/>
          <p:cNvSpPr/>
          <p:nvPr/>
        </p:nvSpPr>
        <p:spPr>
          <a:xfrm>
            <a:off x="3154863" y="3577438"/>
            <a:ext cx="372618" cy="281940"/>
          </a:xfrm>
          <a:prstGeom prst="triangle">
            <a:avLst/>
          </a:prstGeom>
          <a:solidFill>
            <a:srgbClr val="7FB069"/>
          </a:solidFill>
          <a:ln w="6350">
            <a:solidFill>
              <a:srgbClr val="5E9150"/>
            </a:solidFill>
            <a:prstDash val="solid"/>
          </a:ln>
        </p:spPr>
      </p:sp>
      <p:sp>
        <p:nvSpPr>
          <p:cNvPr id="59" name="Shape 56"/>
          <p:cNvSpPr/>
          <p:nvPr/>
        </p:nvSpPr>
        <p:spPr>
          <a:xfrm>
            <a:off x="3430600" y="3622548"/>
            <a:ext cx="335356" cy="236830"/>
          </a:xfrm>
          <a:prstGeom prst="triangle">
            <a:avLst/>
          </a:prstGeom>
          <a:solidFill>
            <a:srgbClr val="5E9150"/>
          </a:solidFill>
          <a:ln w="6350">
            <a:solidFill>
              <a:srgbClr val="4B7741"/>
            </a:solidFill>
            <a:prstDash val="solid"/>
          </a:ln>
        </p:spPr>
      </p:sp>
      <p:sp>
        <p:nvSpPr>
          <p:cNvPr id="60" name="Shape 57"/>
          <p:cNvSpPr/>
          <p:nvPr/>
        </p:nvSpPr>
        <p:spPr>
          <a:xfrm>
            <a:off x="859536" y="4041648"/>
            <a:ext cx="2980944" cy="841248"/>
          </a:xfrm>
          <a:prstGeom prst="roundRect">
            <a:avLst>
              <a:gd name="adj" fmla="val 10870"/>
            </a:avLst>
          </a:prstGeom>
          <a:solidFill>
            <a:srgbClr val="111826"/>
          </a:solidFill>
          <a:ln w="12700">
            <a:solidFill>
              <a:srgbClr val="1D2637"/>
            </a:solidFill>
            <a:prstDash val="solid"/>
          </a:ln>
        </p:spPr>
      </p:sp>
      <p:sp>
        <p:nvSpPr>
          <p:cNvPr id="61" name="Text 58"/>
          <p:cNvSpPr/>
          <p:nvPr/>
        </p:nvSpPr>
        <p:spPr>
          <a:xfrm>
            <a:off x="1133856" y="4279392"/>
            <a:ext cx="2432304" cy="365760"/>
          </a:xfrm>
          <a:prstGeom prst="rect">
            <a:avLst/>
          </a:prstGeom>
          <a:noFill/>
          <a:ln/>
        </p:spPr>
        <p:txBody>
          <a:bodyPr wrap="square" lIns="0" tIns="0" rIns="0" bIns="0" rtlCol="0" anchor="t"/>
          <a:lstStyle/>
          <a:p>
            <a:pPr indent="0" marL="0">
              <a:lnSpc>
                <a:spcPts val="1400"/>
              </a:lnSpc>
              <a:buNone/>
            </a:pPr>
            <a:r>
              <a:rPr lang="en-US" sz="900" dirty="0">
                <a:solidFill>
                  <a:srgbClr val="FFD08A"/>
                </a:solidFill>
                <a:latin typeface="Courier New" pitchFamily="34" charset="0"/>
                <a:ea typeface="Courier New" pitchFamily="34" charset="-122"/>
                <a:cs typeface="Courier New" pitchFamily="34" charset="-120"/>
              </a:rPr>
              <a:t>background-image</a:t>
            </a:r>
            <a:pPr indent="0" marL="0">
              <a:lnSpc>
                <a:spcPts val="1400"/>
              </a:lnSpc>
              <a:buNone/>
            </a:pPr>
            <a:r>
              <a:rPr lang="en-US" sz="900" dirty="0">
                <a:solidFill>
                  <a:srgbClr val="9AA4B5"/>
                </a:solidFill>
                <a:latin typeface="Courier New" pitchFamily="34" charset="0"/>
                <a:ea typeface="Courier New" pitchFamily="34" charset="-122"/>
                <a:cs typeface="Courier New" pitchFamily="34" charset="-120"/>
              </a:rPr>
              <a:t>: </a:t>
            </a:r>
            <a:pPr indent="0" marL="0">
              <a:lnSpc>
                <a:spcPts val="1400"/>
              </a:lnSpc>
              <a:buNone/>
            </a:pPr>
            <a:r>
              <a:rPr lang="en-US" sz="900" dirty="0">
                <a:solidFill>
                  <a:srgbClr val="9BD5FF"/>
                </a:solidFill>
                <a:latin typeface="Courier New" pitchFamily="34" charset="0"/>
                <a:ea typeface="Courier New" pitchFamily="34" charset="-122"/>
                <a:cs typeface="Courier New" pitchFamily="34" charset="-120"/>
              </a:rPr>
              <a:t>url(pic.jpg)</a:t>
            </a:r>
            <a:pPr indent="0" marL="0">
              <a:lnSpc>
                <a:spcPts val="1400"/>
              </a:lnSpc>
              <a:buNone/>
            </a:pPr>
            <a:r>
              <a:rPr lang="en-US" sz="900" dirty="0">
                <a:solidFill>
                  <a:srgbClr val="9AA4B5"/>
                </a:solidFill>
                <a:latin typeface="Courier New" pitchFamily="34" charset="0"/>
                <a:ea typeface="Courier New" pitchFamily="34" charset="-122"/>
                <a:cs typeface="Courier New" pitchFamily="34" charset="-120"/>
              </a:rPr>
              <a:t>;</a:t>
            </a:r>
            <a:endParaRPr lang="en-US" sz="900" dirty="0"/>
          </a:p>
        </p:txBody>
      </p:sp>
      <p:sp>
        <p:nvSpPr>
          <p:cNvPr id="62" name="Shape 59"/>
          <p:cNvSpPr/>
          <p:nvPr/>
        </p:nvSpPr>
        <p:spPr>
          <a:xfrm>
            <a:off x="4379976" y="1664208"/>
            <a:ext cx="3419856" cy="3383280"/>
          </a:xfrm>
          <a:prstGeom prst="roundRect">
            <a:avLst>
              <a:gd name="adj" fmla="val 2703"/>
            </a:avLst>
          </a:prstGeom>
          <a:solidFill>
            <a:srgbClr val="FFFFFF"/>
          </a:solidFill>
          <a:ln w="12700">
            <a:solidFill>
              <a:srgbClr val="D9DEE7"/>
            </a:solidFill>
            <a:prstDash val="solid"/>
          </a:ln>
          <a:effectLst>
            <a:outerShdw sx="100000" sy="100000" kx="0" ky="0" algn="bl" rotWithShape="0" blurRad="177800" dist="38100" dir="5400000">
              <a:srgbClr val="000000">
                <a:alpha val="35000"/>
              </a:srgbClr>
            </a:outerShdw>
          </a:effectLst>
        </p:spPr>
      </p:sp>
      <p:sp>
        <p:nvSpPr>
          <p:cNvPr id="63" name="Shape 60"/>
          <p:cNvSpPr/>
          <p:nvPr/>
        </p:nvSpPr>
        <p:spPr>
          <a:xfrm>
            <a:off x="4379976" y="1664208"/>
            <a:ext cx="3419856" cy="384048"/>
          </a:xfrm>
          <a:prstGeom prst="roundRect">
            <a:avLst>
              <a:gd name="adj" fmla="val 23810"/>
            </a:avLst>
          </a:prstGeom>
          <a:solidFill>
            <a:srgbClr val="E7EEFD"/>
          </a:solidFill>
          <a:ln w="15875">
            <a:solidFill>
              <a:srgbClr val="B6CDFA"/>
            </a:solidFill>
            <a:prstDash val="solid"/>
          </a:ln>
        </p:spPr>
      </p:sp>
      <p:sp>
        <p:nvSpPr>
          <p:cNvPr id="64" name="Text 61"/>
          <p:cNvSpPr/>
          <p:nvPr/>
        </p:nvSpPr>
        <p:spPr>
          <a:xfrm>
            <a:off x="4599432" y="1664208"/>
            <a:ext cx="2980944" cy="384048"/>
          </a:xfrm>
          <a:prstGeom prst="rect">
            <a:avLst/>
          </a:prstGeom>
          <a:noFill/>
          <a:ln/>
        </p:spPr>
        <p:txBody>
          <a:bodyPr wrap="square" lIns="0" tIns="0" rIns="0" bIns="0" rtlCol="0" anchor="ctr"/>
          <a:lstStyle/>
          <a:p>
            <a:pPr indent="0" marL="0">
              <a:buNone/>
            </a:pPr>
            <a:r>
              <a:rPr lang="en-US" sz="1300" b="1" dirty="0">
                <a:solidFill>
                  <a:srgbClr val="15202B"/>
                </a:solidFill>
                <a:latin typeface="Calibri" pitchFamily="34" charset="0"/>
                <a:ea typeface="Calibri" pitchFamily="34" charset="-122"/>
                <a:cs typeface="Calibri" pitchFamily="34" charset="-120"/>
              </a:rPr>
              <a:t>Stop the repeat</a:t>
            </a:r>
            <a:endParaRPr lang="en-US" sz="1300" dirty="0"/>
          </a:p>
        </p:txBody>
      </p:sp>
      <p:sp>
        <p:nvSpPr>
          <p:cNvPr id="65" name="Shape 62"/>
          <p:cNvSpPr/>
          <p:nvPr/>
        </p:nvSpPr>
        <p:spPr>
          <a:xfrm>
            <a:off x="4599432" y="2212848"/>
            <a:ext cx="2980944" cy="1691640"/>
          </a:xfrm>
          <a:prstGeom prst="rect">
            <a:avLst/>
          </a:prstGeom>
          <a:solidFill>
            <a:srgbClr val="FFFFFF"/>
          </a:solidFill>
          <a:ln w="15875">
            <a:solidFill>
              <a:srgbClr val="D9DEE7"/>
            </a:solidFill>
            <a:prstDash val="solid"/>
          </a:ln>
        </p:spPr>
      </p:sp>
      <p:sp>
        <p:nvSpPr>
          <p:cNvPr id="66" name="Shape 63"/>
          <p:cNvSpPr/>
          <p:nvPr/>
        </p:nvSpPr>
        <p:spPr>
          <a:xfrm>
            <a:off x="4599432" y="2212848"/>
            <a:ext cx="745236" cy="563880"/>
          </a:xfrm>
          <a:prstGeom prst="rect">
            <a:avLst/>
          </a:prstGeom>
          <a:solidFill>
            <a:srgbClr val="BFE0F5"/>
          </a:solidFill>
          <a:ln w="9525">
            <a:solidFill>
              <a:srgbClr val="8FBEDD"/>
            </a:solidFill>
            <a:prstDash val="solid"/>
          </a:ln>
        </p:spPr>
      </p:sp>
      <p:sp>
        <p:nvSpPr>
          <p:cNvPr id="67" name="Shape 64"/>
          <p:cNvSpPr/>
          <p:nvPr/>
        </p:nvSpPr>
        <p:spPr>
          <a:xfrm>
            <a:off x="5106192" y="2291791"/>
            <a:ext cx="149047" cy="112776"/>
          </a:xfrm>
          <a:prstGeom prst="ellipse">
            <a:avLst/>
          </a:prstGeom>
          <a:solidFill>
            <a:srgbClr val="F7C948"/>
          </a:solidFill>
          <a:ln w="12700">
            <a:solidFill>
              <a:srgbClr val="F7C948"/>
            </a:solidFill>
            <a:prstDash val="solid"/>
          </a:ln>
        </p:spPr>
      </p:sp>
      <p:sp>
        <p:nvSpPr>
          <p:cNvPr id="68" name="Shape 65"/>
          <p:cNvSpPr/>
          <p:nvPr/>
        </p:nvSpPr>
        <p:spPr>
          <a:xfrm>
            <a:off x="4659051" y="2449678"/>
            <a:ext cx="372618" cy="281940"/>
          </a:xfrm>
          <a:prstGeom prst="triangle">
            <a:avLst/>
          </a:prstGeom>
          <a:solidFill>
            <a:srgbClr val="7FB069"/>
          </a:solidFill>
          <a:ln w="6350">
            <a:solidFill>
              <a:srgbClr val="5E9150"/>
            </a:solidFill>
            <a:prstDash val="solid"/>
          </a:ln>
        </p:spPr>
      </p:sp>
      <p:sp>
        <p:nvSpPr>
          <p:cNvPr id="69" name="Shape 66"/>
          <p:cNvSpPr/>
          <p:nvPr/>
        </p:nvSpPr>
        <p:spPr>
          <a:xfrm>
            <a:off x="4934788" y="2494788"/>
            <a:ext cx="335356" cy="236830"/>
          </a:xfrm>
          <a:prstGeom prst="triangle">
            <a:avLst/>
          </a:prstGeom>
          <a:solidFill>
            <a:srgbClr val="5E9150"/>
          </a:solidFill>
          <a:ln w="6350">
            <a:solidFill>
              <a:srgbClr val="4B7741"/>
            </a:solidFill>
            <a:prstDash val="solid"/>
          </a:ln>
        </p:spPr>
      </p:sp>
      <p:sp>
        <p:nvSpPr>
          <p:cNvPr id="70" name="Shape 67"/>
          <p:cNvSpPr/>
          <p:nvPr/>
        </p:nvSpPr>
        <p:spPr>
          <a:xfrm>
            <a:off x="4599432" y="4041648"/>
            <a:ext cx="2980944" cy="841248"/>
          </a:xfrm>
          <a:prstGeom prst="roundRect">
            <a:avLst>
              <a:gd name="adj" fmla="val 10870"/>
            </a:avLst>
          </a:prstGeom>
          <a:solidFill>
            <a:srgbClr val="111826"/>
          </a:solidFill>
          <a:ln w="12700">
            <a:solidFill>
              <a:srgbClr val="1D2637"/>
            </a:solidFill>
            <a:prstDash val="solid"/>
          </a:ln>
        </p:spPr>
      </p:sp>
      <p:sp>
        <p:nvSpPr>
          <p:cNvPr id="71" name="Text 68"/>
          <p:cNvSpPr/>
          <p:nvPr/>
        </p:nvSpPr>
        <p:spPr>
          <a:xfrm>
            <a:off x="4873752" y="4279392"/>
            <a:ext cx="2432304" cy="365760"/>
          </a:xfrm>
          <a:prstGeom prst="rect">
            <a:avLst/>
          </a:prstGeom>
          <a:noFill/>
          <a:ln/>
        </p:spPr>
        <p:txBody>
          <a:bodyPr wrap="square" lIns="0" tIns="0" rIns="0" bIns="0" rtlCol="0" anchor="t"/>
          <a:lstStyle/>
          <a:p>
            <a:pPr indent="0" marL="0">
              <a:lnSpc>
                <a:spcPts val="1400"/>
              </a:lnSpc>
              <a:buNone/>
            </a:pPr>
            <a:r>
              <a:rPr lang="en-US" sz="900" dirty="0">
                <a:solidFill>
                  <a:srgbClr val="FFD08A"/>
                </a:solidFill>
                <a:latin typeface="Courier New" pitchFamily="34" charset="0"/>
                <a:ea typeface="Courier New" pitchFamily="34" charset="-122"/>
                <a:cs typeface="Courier New" pitchFamily="34" charset="-120"/>
              </a:rPr>
              <a:t>background-image</a:t>
            </a:r>
            <a:pPr indent="0" marL="0">
              <a:lnSpc>
                <a:spcPts val="1400"/>
              </a:lnSpc>
              <a:buNone/>
            </a:pPr>
            <a:r>
              <a:rPr lang="en-US" sz="900" dirty="0">
                <a:solidFill>
                  <a:srgbClr val="9AA4B5"/>
                </a:solidFill>
                <a:latin typeface="Courier New" pitchFamily="34" charset="0"/>
                <a:ea typeface="Courier New" pitchFamily="34" charset="-122"/>
                <a:cs typeface="Courier New" pitchFamily="34" charset="-120"/>
              </a:rPr>
              <a:t>: </a:t>
            </a:r>
            <a:pPr indent="0" marL="0">
              <a:lnSpc>
                <a:spcPts val="1400"/>
              </a:lnSpc>
              <a:buNone/>
            </a:pPr>
            <a:r>
              <a:rPr lang="en-US" sz="900" dirty="0">
                <a:solidFill>
                  <a:srgbClr val="9BD5FF"/>
                </a:solidFill>
                <a:latin typeface="Courier New" pitchFamily="34" charset="0"/>
                <a:ea typeface="Courier New" pitchFamily="34" charset="-122"/>
                <a:cs typeface="Courier New" pitchFamily="34" charset="-120"/>
              </a:rPr>
              <a:t>url(pic.jpg)</a:t>
            </a:r>
            <a:pPr indent="0" marL="0">
              <a:lnSpc>
                <a:spcPts val="1400"/>
              </a:lnSpc>
              <a:buNone/>
            </a:pPr>
            <a:r>
              <a:rPr lang="en-US" sz="900" dirty="0">
                <a:solidFill>
                  <a:srgbClr val="9AA4B5"/>
                </a:solidFill>
                <a:latin typeface="Courier New" pitchFamily="34" charset="0"/>
                <a:ea typeface="Courier New" pitchFamily="34" charset="-122"/>
                <a:cs typeface="Courier New" pitchFamily="34" charset="-120"/>
              </a:rPr>
              <a:t>;</a:t>
            </a:r>
            <a:pPr indent="0" marL="0">
              <a:lnSpc>
                <a:spcPts val="1400"/>
              </a:lnSpc>
              <a:buNone/>
            </a:pPr>
            <a:endParaRPr lang="en-US" sz="900" dirty="0"/>
          </a:p>
          <a:p>
            <a:pPr indent="0" marL="0">
              <a:lnSpc>
                <a:spcPts val="1400"/>
              </a:lnSpc>
              <a:buNone/>
            </a:pPr>
            <a:r>
              <a:rPr lang="en-US" sz="900" dirty="0">
                <a:solidFill>
                  <a:srgbClr val="FFD08A"/>
                </a:solidFill>
                <a:latin typeface="Courier New" pitchFamily="34" charset="0"/>
                <a:ea typeface="Courier New" pitchFamily="34" charset="-122"/>
                <a:cs typeface="Courier New" pitchFamily="34" charset="-120"/>
              </a:rPr>
              <a:t>background-repeat</a:t>
            </a:r>
            <a:pPr indent="0" marL="0">
              <a:lnSpc>
                <a:spcPts val="1400"/>
              </a:lnSpc>
              <a:buNone/>
            </a:pPr>
            <a:r>
              <a:rPr lang="en-US" sz="900" dirty="0">
                <a:solidFill>
                  <a:srgbClr val="9AA4B5"/>
                </a:solidFill>
                <a:latin typeface="Courier New" pitchFamily="34" charset="0"/>
                <a:ea typeface="Courier New" pitchFamily="34" charset="-122"/>
                <a:cs typeface="Courier New" pitchFamily="34" charset="-120"/>
              </a:rPr>
              <a:t>: </a:t>
            </a:r>
            <a:pPr indent="0" marL="0">
              <a:lnSpc>
                <a:spcPts val="1400"/>
              </a:lnSpc>
              <a:buNone/>
            </a:pPr>
            <a:r>
              <a:rPr lang="en-US" sz="900" dirty="0">
                <a:solidFill>
                  <a:srgbClr val="9BD5FF"/>
                </a:solidFill>
                <a:latin typeface="Courier New" pitchFamily="34" charset="0"/>
                <a:ea typeface="Courier New" pitchFamily="34" charset="-122"/>
                <a:cs typeface="Courier New" pitchFamily="34" charset="-120"/>
              </a:rPr>
              <a:t>no-repeat</a:t>
            </a:r>
            <a:pPr indent="0" marL="0">
              <a:lnSpc>
                <a:spcPts val="1400"/>
              </a:lnSpc>
              <a:buNone/>
            </a:pPr>
            <a:r>
              <a:rPr lang="en-US" sz="900" dirty="0">
                <a:solidFill>
                  <a:srgbClr val="9AA4B5"/>
                </a:solidFill>
                <a:latin typeface="Courier New" pitchFamily="34" charset="0"/>
                <a:ea typeface="Courier New" pitchFamily="34" charset="-122"/>
                <a:cs typeface="Courier New" pitchFamily="34" charset="-120"/>
              </a:rPr>
              <a:t>;</a:t>
            </a:r>
            <a:endParaRPr lang="en-US" sz="900" dirty="0"/>
          </a:p>
        </p:txBody>
      </p:sp>
      <p:sp>
        <p:nvSpPr>
          <p:cNvPr id="72" name="Shape 69"/>
          <p:cNvSpPr/>
          <p:nvPr/>
        </p:nvSpPr>
        <p:spPr>
          <a:xfrm>
            <a:off x="8119872" y="1664208"/>
            <a:ext cx="3419856" cy="3383280"/>
          </a:xfrm>
          <a:prstGeom prst="roundRect">
            <a:avLst>
              <a:gd name="adj" fmla="val 2703"/>
            </a:avLst>
          </a:prstGeom>
          <a:solidFill>
            <a:srgbClr val="FFFFFF"/>
          </a:solidFill>
          <a:ln w="12700">
            <a:solidFill>
              <a:srgbClr val="D9DEE7"/>
            </a:solidFill>
            <a:prstDash val="solid"/>
          </a:ln>
          <a:effectLst>
            <a:outerShdw sx="100000" sy="100000" kx="0" ky="0" algn="bl" rotWithShape="0" blurRad="177800" dist="38100" dir="5400000">
              <a:srgbClr val="000000">
                <a:alpha val="35000"/>
              </a:srgbClr>
            </a:outerShdw>
          </a:effectLst>
        </p:spPr>
      </p:sp>
      <p:sp>
        <p:nvSpPr>
          <p:cNvPr id="73" name="Shape 70"/>
          <p:cNvSpPr/>
          <p:nvPr/>
        </p:nvSpPr>
        <p:spPr>
          <a:xfrm>
            <a:off x="8119872" y="1664208"/>
            <a:ext cx="3419856" cy="384048"/>
          </a:xfrm>
          <a:prstGeom prst="roundRect">
            <a:avLst>
              <a:gd name="adj" fmla="val 23810"/>
            </a:avLst>
          </a:prstGeom>
          <a:solidFill>
            <a:srgbClr val="E7EEFD"/>
          </a:solidFill>
          <a:ln w="15875">
            <a:solidFill>
              <a:srgbClr val="B6CDFA"/>
            </a:solidFill>
            <a:prstDash val="solid"/>
          </a:ln>
        </p:spPr>
      </p:sp>
      <p:sp>
        <p:nvSpPr>
          <p:cNvPr id="74" name="Text 71"/>
          <p:cNvSpPr/>
          <p:nvPr/>
        </p:nvSpPr>
        <p:spPr>
          <a:xfrm>
            <a:off x="8339328" y="1664208"/>
            <a:ext cx="2980944" cy="384048"/>
          </a:xfrm>
          <a:prstGeom prst="rect">
            <a:avLst/>
          </a:prstGeom>
          <a:noFill/>
          <a:ln/>
        </p:spPr>
        <p:txBody>
          <a:bodyPr wrap="square" lIns="0" tIns="0" rIns="0" bIns="0" rtlCol="0" anchor="ctr"/>
          <a:lstStyle/>
          <a:p>
            <a:pPr indent="0" marL="0">
              <a:buNone/>
            </a:pPr>
            <a:r>
              <a:rPr lang="en-US" sz="1300" b="1" dirty="0">
                <a:solidFill>
                  <a:srgbClr val="15202B"/>
                </a:solidFill>
                <a:latin typeface="Calibri" pitchFamily="34" charset="0"/>
                <a:ea typeface="Calibri" pitchFamily="34" charset="-122"/>
                <a:cs typeface="Calibri" pitchFamily="34" charset="-120"/>
              </a:rPr>
              <a:t>Then size it</a:t>
            </a:r>
            <a:endParaRPr lang="en-US" sz="1300" dirty="0"/>
          </a:p>
        </p:txBody>
      </p:sp>
      <p:sp>
        <p:nvSpPr>
          <p:cNvPr id="75" name="Shape 72"/>
          <p:cNvSpPr/>
          <p:nvPr/>
        </p:nvSpPr>
        <p:spPr>
          <a:xfrm>
            <a:off x="8339328" y="2212848"/>
            <a:ext cx="2980944" cy="1691640"/>
          </a:xfrm>
          <a:prstGeom prst="rect">
            <a:avLst/>
          </a:prstGeom>
          <a:solidFill>
            <a:srgbClr val="FFFFFF"/>
          </a:solidFill>
          <a:ln w="15875">
            <a:solidFill>
              <a:srgbClr val="D9DEE7"/>
            </a:solidFill>
            <a:prstDash val="solid"/>
          </a:ln>
        </p:spPr>
      </p:sp>
      <p:sp>
        <p:nvSpPr>
          <p:cNvPr id="76" name="Shape 73"/>
          <p:cNvSpPr/>
          <p:nvPr/>
        </p:nvSpPr>
        <p:spPr>
          <a:xfrm>
            <a:off x="8339328" y="2212848"/>
            <a:ext cx="2146280" cy="1217981"/>
          </a:xfrm>
          <a:prstGeom prst="rect">
            <a:avLst/>
          </a:prstGeom>
          <a:solidFill>
            <a:srgbClr val="BFE0F5"/>
          </a:solidFill>
          <a:ln w="9525">
            <a:solidFill>
              <a:srgbClr val="8FBEDD"/>
            </a:solidFill>
            <a:prstDash val="solid"/>
          </a:ln>
        </p:spPr>
      </p:sp>
      <p:sp>
        <p:nvSpPr>
          <p:cNvPr id="77" name="Shape 74"/>
          <p:cNvSpPr/>
          <p:nvPr/>
        </p:nvSpPr>
        <p:spPr>
          <a:xfrm>
            <a:off x="9798798" y="2383365"/>
            <a:ext cx="429256" cy="243596"/>
          </a:xfrm>
          <a:prstGeom prst="ellipse">
            <a:avLst/>
          </a:prstGeom>
          <a:solidFill>
            <a:srgbClr val="F7C948"/>
          </a:solidFill>
          <a:ln w="12700">
            <a:solidFill>
              <a:srgbClr val="F7C948"/>
            </a:solidFill>
            <a:prstDash val="solid"/>
          </a:ln>
        </p:spPr>
      </p:sp>
      <p:sp>
        <p:nvSpPr>
          <p:cNvPr id="78" name="Shape 75"/>
          <p:cNvSpPr/>
          <p:nvPr/>
        </p:nvSpPr>
        <p:spPr>
          <a:xfrm>
            <a:off x="8511030" y="2724400"/>
            <a:ext cx="1073140" cy="608990"/>
          </a:xfrm>
          <a:prstGeom prst="triangle">
            <a:avLst/>
          </a:prstGeom>
          <a:solidFill>
            <a:srgbClr val="7FB069"/>
          </a:solidFill>
          <a:ln w="6350">
            <a:solidFill>
              <a:srgbClr val="5E9150"/>
            </a:solidFill>
            <a:prstDash val="solid"/>
          </a:ln>
        </p:spPr>
      </p:sp>
      <p:sp>
        <p:nvSpPr>
          <p:cNvPr id="79" name="Shape 76"/>
          <p:cNvSpPr/>
          <p:nvPr/>
        </p:nvSpPr>
        <p:spPr>
          <a:xfrm>
            <a:off x="9305154" y="2821838"/>
            <a:ext cx="965826" cy="511552"/>
          </a:xfrm>
          <a:prstGeom prst="triangle">
            <a:avLst/>
          </a:prstGeom>
          <a:solidFill>
            <a:srgbClr val="5E9150"/>
          </a:solidFill>
          <a:ln w="6350">
            <a:solidFill>
              <a:srgbClr val="4B7741"/>
            </a:solidFill>
            <a:prstDash val="solid"/>
          </a:ln>
        </p:spPr>
      </p:sp>
      <p:sp>
        <p:nvSpPr>
          <p:cNvPr id="80" name="Shape 77"/>
          <p:cNvSpPr/>
          <p:nvPr/>
        </p:nvSpPr>
        <p:spPr>
          <a:xfrm>
            <a:off x="8339328" y="4041648"/>
            <a:ext cx="2980944" cy="841248"/>
          </a:xfrm>
          <a:prstGeom prst="roundRect">
            <a:avLst>
              <a:gd name="adj" fmla="val 10870"/>
            </a:avLst>
          </a:prstGeom>
          <a:solidFill>
            <a:srgbClr val="111826"/>
          </a:solidFill>
          <a:ln w="12700">
            <a:solidFill>
              <a:srgbClr val="1D2637"/>
            </a:solidFill>
            <a:prstDash val="solid"/>
          </a:ln>
        </p:spPr>
      </p:sp>
      <p:sp>
        <p:nvSpPr>
          <p:cNvPr id="81" name="Text 78"/>
          <p:cNvSpPr/>
          <p:nvPr/>
        </p:nvSpPr>
        <p:spPr>
          <a:xfrm>
            <a:off x="8613648" y="4279392"/>
            <a:ext cx="2432304" cy="365760"/>
          </a:xfrm>
          <a:prstGeom prst="rect">
            <a:avLst/>
          </a:prstGeom>
          <a:noFill/>
          <a:ln/>
        </p:spPr>
        <p:txBody>
          <a:bodyPr wrap="square" lIns="0" tIns="0" rIns="0" bIns="0" rtlCol="0" anchor="t"/>
          <a:lstStyle/>
          <a:p>
            <a:pPr indent="0" marL="0">
              <a:lnSpc>
                <a:spcPts val="1400"/>
              </a:lnSpc>
              <a:buNone/>
            </a:pPr>
            <a:r>
              <a:rPr lang="en-US" sz="900" dirty="0">
                <a:solidFill>
                  <a:srgbClr val="FFD08A"/>
                </a:solidFill>
                <a:latin typeface="Courier New" pitchFamily="34" charset="0"/>
                <a:ea typeface="Courier New" pitchFamily="34" charset="-122"/>
                <a:cs typeface="Courier New" pitchFamily="34" charset="-120"/>
              </a:rPr>
              <a:t>background-image</a:t>
            </a:r>
            <a:pPr indent="0" marL="0">
              <a:lnSpc>
                <a:spcPts val="1400"/>
              </a:lnSpc>
              <a:buNone/>
            </a:pPr>
            <a:r>
              <a:rPr lang="en-US" sz="900" dirty="0">
                <a:solidFill>
                  <a:srgbClr val="9AA4B5"/>
                </a:solidFill>
                <a:latin typeface="Courier New" pitchFamily="34" charset="0"/>
                <a:ea typeface="Courier New" pitchFamily="34" charset="-122"/>
                <a:cs typeface="Courier New" pitchFamily="34" charset="-120"/>
              </a:rPr>
              <a:t>: </a:t>
            </a:r>
            <a:pPr indent="0" marL="0">
              <a:lnSpc>
                <a:spcPts val="1400"/>
              </a:lnSpc>
              <a:buNone/>
            </a:pPr>
            <a:r>
              <a:rPr lang="en-US" sz="900" dirty="0">
                <a:solidFill>
                  <a:srgbClr val="9BD5FF"/>
                </a:solidFill>
                <a:latin typeface="Courier New" pitchFamily="34" charset="0"/>
                <a:ea typeface="Courier New" pitchFamily="34" charset="-122"/>
                <a:cs typeface="Courier New" pitchFamily="34" charset="-120"/>
              </a:rPr>
              <a:t>url(pic.jpg)</a:t>
            </a:r>
            <a:pPr indent="0" marL="0">
              <a:lnSpc>
                <a:spcPts val="1400"/>
              </a:lnSpc>
              <a:buNone/>
            </a:pPr>
            <a:r>
              <a:rPr lang="en-US" sz="900" dirty="0">
                <a:solidFill>
                  <a:srgbClr val="9AA4B5"/>
                </a:solidFill>
                <a:latin typeface="Courier New" pitchFamily="34" charset="0"/>
                <a:ea typeface="Courier New" pitchFamily="34" charset="-122"/>
                <a:cs typeface="Courier New" pitchFamily="34" charset="-120"/>
              </a:rPr>
              <a:t>;</a:t>
            </a:r>
            <a:pPr indent="0" marL="0">
              <a:lnSpc>
                <a:spcPts val="1400"/>
              </a:lnSpc>
              <a:buNone/>
            </a:pPr>
            <a:endParaRPr lang="en-US" sz="900" dirty="0"/>
          </a:p>
          <a:p>
            <a:pPr indent="0" marL="0">
              <a:lnSpc>
                <a:spcPts val="1400"/>
              </a:lnSpc>
              <a:buNone/>
            </a:pPr>
            <a:r>
              <a:rPr lang="en-US" sz="900" dirty="0">
                <a:solidFill>
                  <a:srgbClr val="FFD08A"/>
                </a:solidFill>
                <a:latin typeface="Courier New" pitchFamily="34" charset="0"/>
                <a:ea typeface="Courier New" pitchFamily="34" charset="-122"/>
                <a:cs typeface="Courier New" pitchFamily="34" charset="-120"/>
              </a:rPr>
              <a:t>background-repeat</a:t>
            </a:r>
            <a:pPr indent="0" marL="0">
              <a:lnSpc>
                <a:spcPts val="1400"/>
              </a:lnSpc>
              <a:buNone/>
            </a:pPr>
            <a:r>
              <a:rPr lang="en-US" sz="900" dirty="0">
                <a:solidFill>
                  <a:srgbClr val="9AA4B5"/>
                </a:solidFill>
                <a:latin typeface="Courier New" pitchFamily="34" charset="0"/>
                <a:ea typeface="Courier New" pitchFamily="34" charset="-122"/>
                <a:cs typeface="Courier New" pitchFamily="34" charset="-120"/>
              </a:rPr>
              <a:t>: </a:t>
            </a:r>
            <a:pPr indent="0" marL="0">
              <a:lnSpc>
                <a:spcPts val="1400"/>
              </a:lnSpc>
              <a:buNone/>
            </a:pPr>
            <a:r>
              <a:rPr lang="en-US" sz="900" dirty="0">
                <a:solidFill>
                  <a:srgbClr val="9BD5FF"/>
                </a:solidFill>
                <a:latin typeface="Courier New" pitchFamily="34" charset="0"/>
                <a:ea typeface="Courier New" pitchFamily="34" charset="-122"/>
                <a:cs typeface="Courier New" pitchFamily="34" charset="-120"/>
              </a:rPr>
              <a:t>no-repeat</a:t>
            </a:r>
            <a:pPr indent="0" marL="0">
              <a:lnSpc>
                <a:spcPts val="1400"/>
              </a:lnSpc>
              <a:buNone/>
            </a:pPr>
            <a:r>
              <a:rPr lang="en-US" sz="900" dirty="0">
                <a:solidFill>
                  <a:srgbClr val="9AA4B5"/>
                </a:solidFill>
                <a:latin typeface="Courier New" pitchFamily="34" charset="0"/>
                <a:ea typeface="Courier New" pitchFamily="34" charset="-122"/>
                <a:cs typeface="Courier New" pitchFamily="34" charset="-120"/>
              </a:rPr>
              <a:t>;</a:t>
            </a:r>
            <a:pPr indent="0" marL="0">
              <a:lnSpc>
                <a:spcPts val="1400"/>
              </a:lnSpc>
              <a:buNone/>
            </a:pPr>
            <a:endParaRPr lang="en-US" sz="900" dirty="0"/>
          </a:p>
          <a:p>
            <a:pPr indent="0" marL="0">
              <a:lnSpc>
                <a:spcPts val="1400"/>
              </a:lnSpc>
              <a:buNone/>
            </a:pPr>
            <a:r>
              <a:rPr lang="en-US" sz="900" dirty="0">
                <a:solidFill>
                  <a:srgbClr val="FFD08A"/>
                </a:solidFill>
                <a:latin typeface="Courier New" pitchFamily="34" charset="0"/>
                <a:ea typeface="Courier New" pitchFamily="34" charset="-122"/>
                <a:cs typeface="Courier New" pitchFamily="34" charset="-120"/>
              </a:rPr>
              <a:t>background-size</a:t>
            </a:r>
            <a:pPr indent="0" marL="0">
              <a:lnSpc>
                <a:spcPts val="1400"/>
              </a:lnSpc>
              <a:buNone/>
            </a:pPr>
            <a:r>
              <a:rPr lang="en-US" sz="900" dirty="0">
                <a:solidFill>
                  <a:srgbClr val="9AA4B5"/>
                </a:solidFill>
                <a:latin typeface="Courier New" pitchFamily="34" charset="0"/>
                <a:ea typeface="Courier New" pitchFamily="34" charset="-122"/>
                <a:cs typeface="Courier New" pitchFamily="34" charset="-120"/>
              </a:rPr>
              <a:t>: </a:t>
            </a:r>
            <a:pPr indent="0" marL="0">
              <a:lnSpc>
                <a:spcPts val="1400"/>
              </a:lnSpc>
              <a:buNone/>
            </a:pPr>
            <a:r>
              <a:rPr lang="en-US" sz="900" dirty="0">
                <a:solidFill>
                  <a:srgbClr val="9BD5FF"/>
                </a:solidFill>
                <a:latin typeface="Courier New" pitchFamily="34" charset="0"/>
                <a:ea typeface="Courier New" pitchFamily="34" charset="-122"/>
                <a:cs typeface="Courier New" pitchFamily="34" charset="-120"/>
              </a:rPr>
              <a:t>400px</a:t>
            </a:r>
            <a:pPr indent="0" marL="0">
              <a:lnSpc>
                <a:spcPts val="1400"/>
              </a:lnSpc>
              <a:buNone/>
            </a:pPr>
            <a:r>
              <a:rPr lang="en-US" sz="900" dirty="0">
                <a:solidFill>
                  <a:srgbClr val="9AA4B5"/>
                </a:solidFill>
                <a:latin typeface="Courier New" pitchFamily="34" charset="0"/>
                <a:ea typeface="Courier New" pitchFamily="34" charset="-122"/>
                <a:cs typeface="Courier New" pitchFamily="34" charset="-120"/>
              </a:rPr>
              <a:t>;</a:t>
            </a:r>
            <a:endParaRPr lang="en-US" sz="900" dirty="0"/>
          </a:p>
        </p:txBody>
      </p:sp>
      <p:sp>
        <p:nvSpPr>
          <p:cNvPr id="82" name="Shape 79"/>
          <p:cNvSpPr/>
          <p:nvPr/>
        </p:nvSpPr>
        <p:spPr>
          <a:xfrm>
            <a:off x="640080" y="5230368"/>
            <a:ext cx="10908792" cy="603504"/>
          </a:xfrm>
          <a:prstGeom prst="roundRect">
            <a:avLst>
              <a:gd name="adj" fmla="val 15152"/>
            </a:avLst>
          </a:prstGeom>
          <a:solidFill>
            <a:srgbClr val="E7EEFD"/>
          </a:solidFill>
          <a:ln w="12700">
            <a:solidFill>
              <a:srgbClr val="B6CDFA"/>
            </a:solidFill>
            <a:prstDash val="solid"/>
          </a:ln>
          <a:effectLst>
            <a:outerShdw sx="100000" sy="100000" kx="0" ky="0" algn="bl" rotWithShape="0" blurRad="177800" dist="38100" dir="5400000">
              <a:srgbClr val="000000">
                <a:alpha val="35000"/>
              </a:srgbClr>
            </a:outerShdw>
          </a:effectLst>
        </p:spPr>
      </p:sp>
      <p:sp>
        <p:nvSpPr>
          <p:cNvPr id="83" name="Text 80"/>
          <p:cNvSpPr/>
          <p:nvPr/>
        </p:nvSpPr>
        <p:spPr>
          <a:xfrm>
            <a:off x="914400" y="5230368"/>
            <a:ext cx="10360152" cy="603504"/>
          </a:xfrm>
          <a:prstGeom prst="rect">
            <a:avLst/>
          </a:prstGeom>
          <a:noFill/>
          <a:ln/>
        </p:spPr>
        <p:txBody>
          <a:bodyPr wrap="square" lIns="0" tIns="0" rIns="0" bIns="0" rtlCol="0" anchor="ctr"/>
          <a:lstStyle/>
          <a:p>
            <a:pPr algn="ctr" indent="0" marL="0">
              <a:buNone/>
            </a:pPr>
            <a:r>
              <a:rPr lang="en-US" sz="1450" b="1" dirty="0">
                <a:solidFill>
                  <a:srgbClr val="15202B"/>
                </a:solidFill>
                <a:latin typeface="Calibri" pitchFamily="34" charset="0"/>
                <a:ea typeface="Calibri" pitchFamily="34" charset="-122"/>
                <a:cs typeface="Calibri" pitchFamily="34" charset="-120"/>
              </a:rPr>
              <a:t>The browser fills empty space by repeating. no-repeat and background-size are how you take control.</a:t>
            </a:r>
            <a:endParaRPr lang="en-US" sz="14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7FA"/>
        </a:solidFill>
      </p:bgPr>
    </p:bg>
    <p:spTree>
      <p:nvGrpSpPr>
        <p:cNvPr id="1" name=""/>
        <p:cNvGrpSpPr/>
        <p:nvPr/>
      </p:nvGrpSpPr>
      <p:grpSpPr>
        <a:xfrm>
          <a:off x="0" y="0"/>
          <a:ext cx="0" cy="0"/>
          <a:chOff x="0" y="0"/>
          <a:chExt cx="0" cy="0"/>
        </a:xfrm>
      </p:grpSpPr>
      <p:sp>
        <p:nvSpPr>
          <p:cNvPr id="3" name="Text 0"/>
          <p:cNvSpPr/>
          <p:nvPr/>
        </p:nvSpPr>
        <p:spPr>
          <a:xfrm>
            <a:off x="640080" y="6364224"/>
            <a:ext cx="3657600" cy="256032"/>
          </a:xfrm>
          <a:prstGeom prst="rect">
            <a:avLst/>
          </a:prstGeom>
          <a:noFill/>
          <a:ln/>
        </p:spPr>
        <p:txBody>
          <a:bodyPr wrap="square" lIns="0" tIns="0" rIns="0" bIns="0" rtlCol="0" anchor="ctr"/>
          <a:lstStyle/>
          <a:p>
            <a:pPr indent="0" marL="0">
              <a:buNone/>
            </a:pPr>
            <a:r>
              <a:rPr lang="en-US" sz="900" dirty="0">
                <a:solidFill>
                  <a:srgbClr val="939DAB"/>
                </a:solidFill>
                <a:latin typeface="Courier New" pitchFamily="34" charset="0"/>
                <a:ea typeface="Courier New" pitchFamily="34" charset="-122"/>
                <a:cs typeface="Courier New" pitchFamily="34" charset="-120"/>
              </a:rPr>
              <a:t>CLASS 03  ·  CSS</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939DAB"/>
                </a:solidFill>
                <a:latin typeface="Courier New" pitchFamily="34" charset="0"/>
                <a:ea typeface="Courier New" pitchFamily="34" charset="-122"/>
                <a:cs typeface="Courier New" pitchFamily="34" charset="-120"/>
              </a:rPr>
              <a:t>15</a:t>
            </a:r>
            <a:endParaRPr lang="en-US" sz="900" dirty="0"/>
          </a:p>
        </p:txBody>
      </p:sp>
      <p:sp>
        <p:nvSpPr>
          <p:cNvPr id="5" name="Shape 2"/>
          <p:cNvSpPr/>
          <p:nvPr/>
        </p:nvSpPr>
        <p:spPr>
          <a:xfrm>
            <a:off x="640080" y="365760"/>
            <a:ext cx="1920240" cy="347472"/>
          </a:xfrm>
          <a:prstGeom prst="roundRect">
            <a:avLst>
              <a:gd name="adj" fmla="val 21053"/>
            </a:avLst>
          </a:prstGeom>
          <a:solidFill>
            <a:srgbClr val="2C6BED"/>
          </a:solidFill>
          <a:ln w="15875">
            <a:solidFill>
              <a:srgbClr val="15202B"/>
            </a:solidFill>
            <a:prstDash val="solid"/>
          </a:ln>
        </p:spPr>
      </p:sp>
      <p:sp>
        <p:nvSpPr>
          <p:cNvPr id="6" name="Text 3"/>
          <p:cNvSpPr/>
          <p:nvPr/>
        </p:nvSpPr>
        <p:spPr>
          <a:xfrm>
            <a:off x="640080" y="365760"/>
            <a:ext cx="1920240" cy="347472"/>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PROPERTIES</a:t>
            </a:r>
            <a:endParaRPr lang="en-US" sz="1050" dirty="0"/>
          </a:p>
        </p:txBody>
      </p:sp>
      <p:sp>
        <p:nvSpPr>
          <p:cNvPr id="7" name="Text 4"/>
          <p:cNvSpPr/>
          <p:nvPr/>
        </p:nvSpPr>
        <p:spPr>
          <a:xfrm>
            <a:off x="640080" y="786384"/>
            <a:ext cx="10881360" cy="603504"/>
          </a:xfrm>
          <a:prstGeom prst="rect">
            <a:avLst/>
          </a:prstGeom>
          <a:noFill/>
          <a:ln/>
        </p:spPr>
        <p:txBody>
          <a:bodyPr wrap="square" lIns="0" tIns="0" rIns="0" bIns="0" rtlCol="0" anchor="ctr"/>
          <a:lstStyle/>
          <a:p>
            <a:pPr indent="0" marL="0">
              <a:buNone/>
            </a:pPr>
            <a:r>
              <a:rPr lang="en-US" sz="3200" b="1" dirty="0">
                <a:solidFill>
                  <a:srgbClr val="15202B"/>
                </a:solidFill>
                <a:latin typeface="Calibri" pitchFamily="34" charset="0"/>
                <a:ea typeface="Calibri" pitchFamily="34" charset="-122"/>
                <a:cs typeface="Calibri" pitchFamily="34" charset="-120"/>
              </a:rPr>
              <a:t>font-family, weight and size, rendered</a:t>
            </a:r>
            <a:endParaRPr lang="en-US" sz="3200" dirty="0"/>
          </a:p>
        </p:txBody>
      </p:sp>
      <p:sp>
        <p:nvSpPr>
          <p:cNvPr id="8" name="Shape 5"/>
          <p:cNvSpPr/>
          <p:nvPr/>
        </p:nvSpPr>
        <p:spPr>
          <a:xfrm>
            <a:off x="640080" y="1645920"/>
            <a:ext cx="5212080" cy="1920240"/>
          </a:xfrm>
          <a:prstGeom prst="roundRect">
            <a:avLst>
              <a:gd name="adj" fmla="val 4762"/>
            </a:avLst>
          </a:prstGeom>
          <a:solidFill>
            <a:srgbClr val="FFFFFF"/>
          </a:solidFill>
          <a:ln w="12700">
            <a:solidFill>
              <a:srgbClr val="D9DEE7"/>
            </a:solidFill>
            <a:prstDash val="solid"/>
          </a:ln>
          <a:effectLst>
            <a:outerShdw sx="100000" sy="100000" kx="0" ky="0" algn="bl" rotWithShape="0" blurRad="177800" dist="38100" dir="5400000">
              <a:srgbClr val="000000">
                <a:alpha val="35000"/>
              </a:srgbClr>
            </a:outerShdw>
          </a:effectLst>
        </p:spPr>
      </p:sp>
      <p:sp>
        <p:nvSpPr>
          <p:cNvPr id="9" name="Text 6"/>
          <p:cNvSpPr/>
          <p:nvPr/>
        </p:nvSpPr>
        <p:spPr>
          <a:xfrm>
            <a:off x="877824" y="1755648"/>
            <a:ext cx="4754880" cy="274320"/>
          </a:xfrm>
          <a:prstGeom prst="rect">
            <a:avLst/>
          </a:prstGeom>
          <a:noFill/>
          <a:ln/>
        </p:spPr>
        <p:txBody>
          <a:bodyPr wrap="square" lIns="0" tIns="0" rIns="0" bIns="0" rtlCol="0" anchor="ctr"/>
          <a:lstStyle/>
          <a:p>
            <a:pPr indent="0" marL="0">
              <a:buNone/>
            </a:pPr>
            <a:r>
              <a:rPr lang="en-US" sz="1350" b="1" dirty="0">
                <a:solidFill>
                  <a:srgbClr val="15202B"/>
                </a:solidFill>
                <a:latin typeface="Calibri" pitchFamily="34" charset="0"/>
                <a:ea typeface="Calibri" pitchFamily="34" charset="-122"/>
                <a:cs typeface="Calibri" pitchFamily="34" charset="-120"/>
              </a:rPr>
              <a:t>font-family, and the fallback stack</a:t>
            </a:r>
            <a:endParaRPr lang="en-US" sz="1350" dirty="0"/>
          </a:p>
        </p:txBody>
      </p:sp>
      <p:sp>
        <p:nvSpPr>
          <p:cNvPr id="10" name="Text 7"/>
          <p:cNvSpPr/>
          <p:nvPr/>
        </p:nvSpPr>
        <p:spPr>
          <a:xfrm>
            <a:off x="877824" y="2103120"/>
            <a:ext cx="3017520" cy="384048"/>
          </a:xfrm>
          <a:prstGeom prst="rect">
            <a:avLst/>
          </a:prstGeom>
          <a:noFill/>
          <a:ln/>
        </p:spPr>
        <p:txBody>
          <a:bodyPr wrap="square" lIns="0" tIns="0" rIns="0" bIns="0" rtlCol="0" anchor="ctr"/>
          <a:lstStyle/>
          <a:p>
            <a:pPr indent="0" marL="0">
              <a:buNone/>
            </a:pPr>
            <a:r>
              <a:rPr lang="en-US" sz="1600" dirty="0">
                <a:solidFill>
                  <a:srgbClr val="15202B"/>
                </a:solidFill>
                <a:latin typeface="Georgia" pitchFamily="34" charset="0"/>
                <a:ea typeface="Georgia" pitchFamily="34" charset="-122"/>
                <a:cs typeface="Georgia" pitchFamily="34" charset="-120"/>
              </a:rPr>
              <a:t>Welcome to Scaler</a:t>
            </a:r>
            <a:endParaRPr lang="en-US" sz="1600" dirty="0"/>
          </a:p>
        </p:txBody>
      </p:sp>
      <p:sp>
        <p:nvSpPr>
          <p:cNvPr id="11" name="Text 8"/>
          <p:cNvSpPr/>
          <p:nvPr/>
        </p:nvSpPr>
        <p:spPr>
          <a:xfrm>
            <a:off x="4023360" y="2103120"/>
            <a:ext cx="1591056" cy="384048"/>
          </a:xfrm>
          <a:prstGeom prst="rect">
            <a:avLst/>
          </a:prstGeom>
          <a:noFill/>
          <a:ln/>
        </p:spPr>
        <p:txBody>
          <a:bodyPr wrap="square" lIns="0" tIns="0" rIns="0" bIns="0" rtlCol="0" anchor="ctr"/>
          <a:lstStyle/>
          <a:p>
            <a:pPr algn="r" indent="0" marL="0">
              <a:buNone/>
            </a:pPr>
            <a:r>
              <a:rPr lang="en-US" sz="950" dirty="0">
                <a:solidFill>
                  <a:srgbClr val="939DAB"/>
                </a:solidFill>
                <a:latin typeface="Courier New" pitchFamily="34" charset="0"/>
                <a:ea typeface="Courier New" pitchFamily="34" charset="-122"/>
                <a:cs typeface="Courier New" pitchFamily="34" charset="-120"/>
              </a:rPr>
              <a:t>Georgia</a:t>
            </a:r>
            <a:endParaRPr lang="en-US" sz="950" dirty="0"/>
          </a:p>
        </p:txBody>
      </p:sp>
      <p:sp>
        <p:nvSpPr>
          <p:cNvPr id="12" name="Text 9"/>
          <p:cNvSpPr/>
          <p:nvPr/>
        </p:nvSpPr>
        <p:spPr>
          <a:xfrm>
            <a:off x="877824" y="2542032"/>
            <a:ext cx="3017520" cy="384048"/>
          </a:xfrm>
          <a:prstGeom prst="rect">
            <a:avLst/>
          </a:prstGeom>
          <a:noFill/>
          <a:ln/>
        </p:spPr>
        <p:txBody>
          <a:bodyPr wrap="square" lIns="0" tIns="0" rIns="0" bIns="0" rtlCol="0" anchor="ctr"/>
          <a:lstStyle/>
          <a:p>
            <a:pPr indent="0" marL="0">
              <a:buNone/>
            </a:pPr>
            <a:r>
              <a:rPr lang="en-US" sz="1600" dirty="0">
                <a:solidFill>
                  <a:srgbClr val="15202B"/>
                </a:solidFill>
                <a:latin typeface="Courier New" pitchFamily="34" charset="0"/>
                <a:ea typeface="Courier New" pitchFamily="34" charset="-122"/>
                <a:cs typeface="Courier New" pitchFamily="34" charset="-120"/>
              </a:rPr>
              <a:t>Welcome to Scaler</a:t>
            </a:r>
            <a:endParaRPr lang="en-US" sz="1600" dirty="0"/>
          </a:p>
        </p:txBody>
      </p:sp>
      <p:sp>
        <p:nvSpPr>
          <p:cNvPr id="13" name="Text 10"/>
          <p:cNvSpPr/>
          <p:nvPr/>
        </p:nvSpPr>
        <p:spPr>
          <a:xfrm>
            <a:off x="4023360" y="2542032"/>
            <a:ext cx="1591056" cy="384048"/>
          </a:xfrm>
          <a:prstGeom prst="rect">
            <a:avLst/>
          </a:prstGeom>
          <a:noFill/>
          <a:ln/>
        </p:spPr>
        <p:txBody>
          <a:bodyPr wrap="square" lIns="0" tIns="0" rIns="0" bIns="0" rtlCol="0" anchor="ctr"/>
          <a:lstStyle/>
          <a:p>
            <a:pPr algn="r" indent="0" marL="0">
              <a:buNone/>
            </a:pPr>
            <a:r>
              <a:rPr lang="en-US" sz="950" dirty="0">
                <a:solidFill>
                  <a:srgbClr val="939DAB"/>
                </a:solidFill>
                <a:latin typeface="Courier New" pitchFamily="34" charset="0"/>
                <a:ea typeface="Courier New" pitchFamily="34" charset="-122"/>
                <a:cs typeface="Courier New" pitchFamily="34" charset="-120"/>
              </a:rPr>
              <a:t>Courier New</a:t>
            </a:r>
            <a:endParaRPr lang="en-US" sz="950" dirty="0"/>
          </a:p>
        </p:txBody>
      </p:sp>
      <p:sp>
        <p:nvSpPr>
          <p:cNvPr id="14" name="Text 11"/>
          <p:cNvSpPr/>
          <p:nvPr/>
        </p:nvSpPr>
        <p:spPr>
          <a:xfrm>
            <a:off x="877824" y="2980944"/>
            <a:ext cx="3017520" cy="384048"/>
          </a:xfrm>
          <a:prstGeom prst="rect">
            <a:avLst/>
          </a:prstGeom>
          <a:noFill/>
          <a:ln/>
        </p:spPr>
        <p:txBody>
          <a:bodyPr wrap="square" lIns="0" tIns="0" rIns="0" bIns="0" rtlCol="0" anchor="ctr"/>
          <a:lstStyle/>
          <a:p>
            <a:pPr indent="0" marL="0">
              <a:buNone/>
            </a:pPr>
            <a:r>
              <a:rPr lang="en-US" sz="1600" dirty="0">
                <a:solidFill>
                  <a:srgbClr val="15202B"/>
                </a:solidFill>
                <a:latin typeface="Arial" pitchFamily="34" charset="0"/>
                <a:ea typeface="Arial" pitchFamily="34" charset="-122"/>
                <a:cs typeface="Arial" pitchFamily="34" charset="-120"/>
              </a:rPr>
              <a:t>Welcome to Scaler</a:t>
            </a:r>
            <a:endParaRPr lang="en-US" sz="1600" dirty="0"/>
          </a:p>
        </p:txBody>
      </p:sp>
      <p:sp>
        <p:nvSpPr>
          <p:cNvPr id="15" name="Text 12"/>
          <p:cNvSpPr/>
          <p:nvPr/>
        </p:nvSpPr>
        <p:spPr>
          <a:xfrm>
            <a:off x="4023360" y="2980944"/>
            <a:ext cx="1591056" cy="384048"/>
          </a:xfrm>
          <a:prstGeom prst="rect">
            <a:avLst/>
          </a:prstGeom>
          <a:noFill/>
          <a:ln/>
        </p:spPr>
        <p:txBody>
          <a:bodyPr wrap="square" lIns="0" tIns="0" rIns="0" bIns="0" rtlCol="0" anchor="ctr"/>
          <a:lstStyle/>
          <a:p>
            <a:pPr algn="r" indent="0" marL="0">
              <a:buNone/>
            </a:pPr>
            <a:r>
              <a:rPr lang="en-US" sz="950" dirty="0">
                <a:solidFill>
                  <a:srgbClr val="939DAB"/>
                </a:solidFill>
                <a:latin typeface="Courier New" pitchFamily="34" charset="0"/>
                <a:ea typeface="Courier New" pitchFamily="34" charset="-122"/>
                <a:cs typeface="Courier New" pitchFamily="34" charset="-120"/>
              </a:rPr>
              <a:t>Arial</a:t>
            </a:r>
            <a:endParaRPr lang="en-US" sz="950" dirty="0"/>
          </a:p>
        </p:txBody>
      </p:sp>
      <p:sp>
        <p:nvSpPr>
          <p:cNvPr id="16" name="Shape 13"/>
          <p:cNvSpPr/>
          <p:nvPr/>
        </p:nvSpPr>
        <p:spPr>
          <a:xfrm>
            <a:off x="640080" y="3675888"/>
            <a:ext cx="5212080" cy="914400"/>
          </a:xfrm>
          <a:prstGeom prst="roundRect">
            <a:avLst>
              <a:gd name="adj" fmla="val 10000"/>
            </a:avLst>
          </a:prstGeom>
          <a:solidFill>
            <a:srgbClr val="111826"/>
          </a:solidFill>
          <a:ln w="12700">
            <a:solidFill>
              <a:srgbClr val="1D2637"/>
            </a:solidFill>
            <a:prstDash val="solid"/>
          </a:ln>
          <a:effectLst>
            <a:outerShdw sx="100000" sy="100000" kx="0" ky="0" algn="bl" rotWithShape="0" blurRad="177800" dist="38100" dir="5400000">
              <a:srgbClr val="000000">
                <a:alpha val="35000"/>
              </a:srgbClr>
            </a:outerShdw>
          </a:effectLst>
        </p:spPr>
      </p:sp>
      <p:sp>
        <p:nvSpPr>
          <p:cNvPr id="17" name="Text 14"/>
          <p:cNvSpPr/>
          <p:nvPr/>
        </p:nvSpPr>
        <p:spPr>
          <a:xfrm>
            <a:off x="914400" y="3913632"/>
            <a:ext cx="4663440" cy="438912"/>
          </a:xfrm>
          <a:prstGeom prst="rect">
            <a:avLst/>
          </a:prstGeom>
          <a:noFill/>
          <a:ln/>
        </p:spPr>
        <p:txBody>
          <a:bodyPr wrap="square" lIns="0" tIns="0" rIns="0" bIns="0" rtlCol="0" anchor="t"/>
          <a:lstStyle/>
          <a:p>
            <a:pPr indent="0" marL="0">
              <a:lnSpc>
                <a:spcPts val="1700"/>
              </a:lnSpc>
              <a:buNone/>
            </a:pPr>
            <a:r>
              <a:rPr lang="en-US" sz="1100" dirty="0">
                <a:solidFill>
                  <a:srgbClr val="FFD08A"/>
                </a:solidFill>
                <a:latin typeface="Courier New" pitchFamily="34" charset="0"/>
                <a:ea typeface="Courier New" pitchFamily="34" charset="-122"/>
                <a:cs typeface="Courier New" pitchFamily="34" charset="-120"/>
              </a:rPr>
              <a:t>font-family</a:t>
            </a:r>
            <a:pPr indent="0" marL="0">
              <a:lnSpc>
                <a:spcPts val="1700"/>
              </a:lnSpc>
              <a:buNone/>
            </a:pPr>
            <a:r>
              <a:rPr lang="en-US" sz="1100" dirty="0">
                <a:solidFill>
                  <a:srgbClr val="9AA4B5"/>
                </a:solidFill>
                <a:latin typeface="Courier New" pitchFamily="34" charset="0"/>
                <a:ea typeface="Courier New" pitchFamily="34" charset="-122"/>
                <a:cs typeface="Courier New" pitchFamily="34" charset="-120"/>
              </a:rPr>
              <a:t>: </a:t>
            </a:r>
            <a:pPr indent="0" marL="0">
              <a:lnSpc>
                <a:spcPts val="1700"/>
              </a:lnSpc>
              <a:buNone/>
            </a:pPr>
            <a:r>
              <a:rPr lang="en-US" sz="1100" dirty="0">
                <a:solidFill>
                  <a:srgbClr val="9BD5FF"/>
                </a:solidFill>
                <a:latin typeface="Courier New" pitchFamily="34" charset="0"/>
                <a:ea typeface="Courier New" pitchFamily="34" charset="-122"/>
                <a:cs typeface="Courier New" pitchFamily="34" charset="-120"/>
              </a:rPr>
              <a:t>Georgia</a:t>
            </a:r>
            <a:pPr indent="0" marL="0">
              <a:lnSpc>
                <a:spcPts val="1700"/>
              </a:lnSpc>
              <a:buNone/>
            </a:pPr>
            <a:r>
              <a:rPr lang="en-US" sz="1100" dirty="0">
                <a:solidFill>
                  <a:srgbClr val="9AA4B5"/>
                </a:solidFill>
                <a:latin typeface="Courier New" pitchFamily="34" charset="0"/>
                <a:ea typeface="Courier New" pitchFamily="34" charset="-122"/>
                <a:cs typeface="Courier New" pitchFamily="34" charset="-120"/>
              </a:rPr>
              <a:t>, </a:t>
            </a:r>
            <a:pPr indent="0" marL="0">
              <a:lnSpc>
                <a:spcPts val="1700"/>
              </a:lnSpc>
              <a:buNone/>
            </a:pPr>
            <a:r>
              <a:rPr lang="en-US" sz="1100" dirty="0">
                <a:solidFill>
                  <a:srgbClr val="9BD5FF"/>
                </a:solidFill>
                <a:latin typeface="Courier New" pitchFamily="34" charset="0"/>
                <a:ea typeface="Courier New" pitchFamily="34" charset="-122"/>
                <a:cs typeface="Courier New" pitchFamily="34" charset="-120"/>
              </a:rPr>
              <a:t>Times</a:t>
            </a:r>
            <a:pPr indent="0" marL="0">
              <a:lnSpc>
                <a:spcPts val="1700"/>
              </a:lnSpc>
              <a:buNone/>
            </a:pPr>
            <a:r>
              <a:rPr lang="en-US" sz="1100" dirty="0">
                <a:solidFill>
                  <a:srgbClr val="9AA4B5"/>
                </a:solidFill>
                <a:latin typeface="Courier New" pitchFamily="34" charset="0"/>
                <a:ea typeface="Courier New" pitchFamily="34" charset="-122"/>
                <a:cs typeface="Courier New" pitchFamily="34" charset="-120"/>
              </a:rPr>
              <a:t>, </a:t>
            </a:r>
            <a:pPr indent="0" marL="0">
              <a:lnSpc>
                <a:spcPts val="1700"/>
              </a:lnSpc>
              <a:buNone/>
            </a:pPr>
            <a:r>
              <a:rPr lang="en-US" sz="1100" dirty="0">
                <a:solidFill>
                  <a:srgbClr val="9BD5FF"/>
                </a:solidFill>
                <a:latin typeface="Courier New" pitchFamily="34" charset="0"/>
                <a:ea typeface="Courier New" pitchFamily="34" charset="-122"/>
                <a:cs typeface="Courier New" pitchFamily="34" charset="-120"/>
              </a:rPr>
              <a:t>serif</a:t>
            </a:r>
            <a:pPr indent="0" marL="0">
              <a:lnSpc>
                <a:spcPts val="1700"/>
              </a:lnSpc>
              <a:buNone/>
            </a:pPr>
            <a:r>
              <a:rPr lang="en-US" sz="1100" dirty="0">
                <a:solidFill>
                  <a:srgbClr val="9AA4B5"/>
                </a:solidFill>
                <a:latin typeface="Courier New" pitchFamily="34" charset="0"/>
                <a:ea typeface="Courier New" pitchFamily="34" charset="-122"/>
                <a:cs typeface="Courier New" pitchFamily="34" charset="-120"/>
              </a:rPr>
              <a:t>;</a:t>
            </a:r>
            <a:endParaRPr lang="en-US" sz="1100" dirty="0"/>
          </a:p>
        </p:txBody>
      </p:sp>
      <p:sp>
        <p:nvSpPr>
          <p:cNvPr id="18" name="Text 15"/>
          <p:cNvSpPr/>
          <p:nvPr/>
        </p:nvSpPr>
        <p:spPr>
          <a:xfrm>
            <a:off x="731520" y="4663440"/>
            <a:ext cx="5029200" cy="274320"/>
          </a:xfrm>
          <a:prstGeom prst="rect">
            <a:avLst/>
          </a:prstGeom>
          <a:noFill/>
          <a:ln/>
        </p:spPr>
        <p:txBody>
          <a:bodyPr wrap="square" lIns="0" tIns="0" rIns="0" bIns="0" rtlCol="0" anchor="ctr"/>
          <a:lstStyle/>
          <a:p>
            <a:pPr indent="0" marL="0">
              <a:buNone/>
            </a:pPr>
            <a:r>
              <a:rPr lang="en-US" sz="1100" i="1" dirty="0">
                <a:solidFill>
                  <a:srgbClr val="55616F"/>
                </a:solidFill>
                <a:latin typeface="Calibri" pitchFamily="34" charset="0"/>
                <a:ea typeface="Calibri" pitchFamily="34" charset="-122"/>
                <a:cs typeface="Calibri" pitchFamily="34" charset="-120"/>
              </a:rPr>
              <a:t>try Georgia, then Times, then whatever serif exists</a:t>
            </a:r>
            <a:endParaRPr lang="en-US" sz="1100" dirty="0"/>
          </a:p>
        </p:txBody>
      </p:sp>
      <p:sp>
        <p:nvSpPr>
          <p:cNvPr id="19" name="Shape 16"/>
          <p:cNvSpPr/>
          <p:nvPr/>
        </p:nvSpPr>
        <p:spPr>
          <a:xfrm>
            <a:off x="6336792" y="1645920"/>
            <a:ext cx="5212080" cy="1920240"/>
          </a:xfrm>
          <a:prstGeom prst="roundRect">
            <a:avLst>
              <a:gd name="adj" fmla="val 4762"/>
            </a:avLst>
          </a:prstGeom>
          <a:solidFill>
            <a:srgbClr val="FFFFFF"/>
          </a:solidFill>
          <a:ln w="12700">
            <a:solidFill>
              <a:srgbClr val="D9DEE7"/>
            </a:solidFill>
            <a:prstDash val="solid"/>
          </a:ln>
          <a:effectLst>
            <a:outerShdw sx="100000" sy="100000" kx="0" ky="0" algn="bl" rotWithShape="0" blurRad="177800" dist="38100" dir="5400000">
              <a:srgbClr val="000000">
                <a:alpha val="35000"/>
              </a:srgbClr>
            </a:outerShdw>
          </a:effectLst>
        </p:spPr>
      </p:sp>
      <p:sp>
        <p:nvSpPr>
          <p:cNvPr id="20" name="Text 17"/>
          <p:cNvSpPr/>
          <p:nvPr/>
        </p:nvSpPr>
        <p:spPr>
          <a:xfrm>
            <a:off x="6574536" y="1755648"/>
            <a:ext cx="4754880" cy="274320"/>
          </a:xfrm>
          <a:prstGeom prst="rect">
            <a:avLst/>
          </a:prstGeom>
          <a:noFill/>
          <a:ln/>
        </p:spPr>
        <p:txBody>
          <a:bodyPr wrap="square" lIns="0" tIns="0" rIns="0" bIns="0" rtlCol="0" anchor="ctr"/>
          <a:lstStyle/>
          <a:p>
            <a:pPr indent="0" marL="0">
              <a:buNone/>
            </a:pPr>
            <a:r>
              <a:rPr lang="en-US" sz="1350" b="1" dirty="0">
                <a:solidFill>
                  <a:srgbClr val="15202B"/>
                </a:solidFill>
                <a:latin typeface="Calibri" pitchFamily="34" charset="0"/>
                <a:ea typeface="Calibri" pitchFamily="34" charset="-122"/>
                <a:cs typeface="Calibri" pitchFamily="34" charset="-120"/>
              </a:rPr>
              <a:t>font-weight, from 100 to 800</a:t>
            </a:r>
            <a:endParaRPr lang="en-US" sz="1350" dirty="0"/>
          </a:p>
        </p:txBody>
      </p:sp>
      <p:sp>
        <p:nvSpPr>
          <p:cNvPr id="21" name="Text 18"/>
          <p:cNvSpPr/>
          <p:nvPr/>
        </p:nvSpPr>
        <p:spPr>
          <a:xfrm>
            <a:off x="6574536" y="2139696"/>
            <a:ext cx="1097280" cy="658368"/>
          </a:xfrm>
          <a:prstGeom prst="rect">
            <a:avLst/>
          </a:prstGeom>
          <a:noFill/>
          <a:ln/>
        </p:spPr>
        <p:txBody>
          <a:bodyPr wrap="square" lIns="0" tIns="0" rIns="0" bIns="0" rtlCol="0" anchor="ctr"/>
          <a:lstStyle/>
          <a:p>
            <a:pPr algn="ctr" indent="0" marL="0">
              <a:buNone/>
            </a:pPr>
            <a:r>
              <a:rPr lang="en-US" sz="3000" dirty="0">
                <a:solidFill>
                  <a:srgbClr val="8B95A6"/>
                </a:solidFill>
                <a:latin typeface="Calibri" pitchFamily="34" charset="0"/>
                <a:ea typeface="Calibri" pitchFamily="34" charset="-122"/>
                <a:cs typeface="Calibri" pitchFamily="34" charset="-120"/>
              </a:rPr>
              <a:t>Aa</a:t>
            </a:r>
            <a:endParaRPr lang="en-US" sz="3000" dirty="0"/>
          </a:p>
        </p:txBody>
      </p:sp>
      <p:sp>
        <p:nvSpPr>
          <p:cNvPr id="22" name="Text 19"/>
          <p:cNvSpPr/>
          <p:nvPr/>
        </p:nvSpPr>
        <p:spPr>
          <a:xfrm>
            <a:off x="6574536" y="2798064"/>
            <a:ext cx="1097280" cy="256032"/>
          </a:xfrm>
          <a:prstGeom prst="rect">
            <a:avLst/>
          </a:prstGeom>
          <a:noFill/>
          <a:ln/>
        </p:spPr>
        <p:txBody>
          <a:bodyPr wrap="square" lIns="0" tIns="0" rIns="0" bIns="0" rtlCol="0" anchor="ctr"/>
          <a:lstStyle/>
          <a:p>
            <a:pPr algn="ctr" indent="0" marL="0">
              <a:buNone/>
            </a:pPr>
            <a:r>
              <a:rPr lang="en-US" sz="950" dirty="0">
                <a:solidFill>
                  <a:srgbClr val="939DAB"/>
                </a:solidFill>
                <a:latin typeface="Courier New" pitchFamily="34" charset="0"/>
                <a:ea typeface="Courier New" pitchFamily="34" charset="-122"/>
                <a:cs typeface="Courier New" pitchFamily="34" charset="-120"/>
              </a:rPr>
              <a:t>100</a:t>
            </a:r>
            <a:endParaRPr lang="en-US" sz="950" dirty="0"/>
          </a:p>
        </p:txBody>
      </p:sp>
      <p:sp>
        <p:nvSpPr>
          <p:cNvPr id="23" name="Text 20"/>
          <p:cNvSpPr/>
          <p:nvPr/>
        </p:nvSpPr>
        <p:spPr>
          <a:xfrm>
            <a:off x="7781544" y="2139696"/>
            <a:ext cx="1097280" cy="658368"/>
          </a:xfrm>
          <a:prstGeom prst="rect">
            <a:avLst/>
          </a:prstGeom>
          <a:noFill/>
          <a:ln/>
        </p:spPr>
        <p:txBody>
          <a:bodyPr wrap="square" lIns="0" tIns="0" rIns="0" bIns="0" rtlCol="0" anchor="ctr"/>
          <a:lstStyle/>
          <a:p>
            <a:pPr algn="ctr" indent="0" marL="0">
              <a:buNone/>
            </a:pPr>
            <a:r>
              <a:rPr lang="en-US" sz="3000" dirty="0">
                <a:solidFill>
                  <a:srgbClr val="15202B"/>
                </a:solidFill>
                <a:latin typeface="Calibri" pitchFamily="34" charset="0"/>
                <a:ea typeface="Calibri" pitchFamily="34" charset="-122"/>
                <a:cs typeface="Calibri" pitchFamily="34" charset="-120"/>
              </a:rPr>
              <a:t>Aa</a:t>
            </a:r>
            <a:endParaRPr lang="en-US" sz="3000" dirty="0"/>
          </a:p>
        </p:txBody>
      </p:sp>
      <p:sp>
        <p:nvSpPr>
          <p:cNvPr id="24" name="Text 21"/>
          <p:cNvSpPr/>
          <p:nvPr/>
        </p:nvSpPr>
        <p:spPr>
          <a:xfrm>
            <a:off x="7781544" y="2798064"/>
            <a:ext cx="1097280" cy="256032"/>
          </a:xfrm>
          <a:prstGeom prst="rect">
            <a:avLst/>
          </a:prstGeom>
          <a:noFill/>
          <a:ln/>
        </p:spPr>
        <p:txBody>
          <a:bodyPr wrap="square" lIns="0" tIns="0" rIns="0" bIns="0" rtlCol="0" anchor="ctr"/>
          <a:lstStyle/>
          <a:p>
            <a:pPr algn="ctr" indent="0" marL="0">
              <a:buNone/>
            </a:pPr>
            <a:r>
              <a:rPr lang="en-US" sz="950" dirty="0">
                <a:solidFill>
                  <a:srgbClr val="939DAB"/>
                </a:solidFill>
                <a:latin typeface="Courier New" pitchFamily="34" charset="0"/>
                <a:ea typeface="Courier New" pitchFamily="34" charset="-122"/>
                <a:cs typeface="Courier New" pitchFamily="34" charset="-120"/>
              </a:rPr>
              <a:t>400</a:t>
            </a:r>
            <a:endParaRPr lang="en-US" sz="950" dirty="0"/>
          </a:p>
        </p:txBody>
      </p:sp>
      <p:sp>
        <p:nvSpPr>
          <p:cNvPr id="25" name="Text 22"/>
          <p:cNvSpPr/>
          <p:nvPr/>
        </p:nvSpPr>
        <p:spPr>
          <a:xfrm>
            <a:off x="8988552" y="2139696"/>
            <a:ext cx="1097280" cy="658368"/>
          </a:xfrm>
          <a:prstGeom prst="rect">
            <a:avLst/>
          </a:prstGeom>
          <a:noFill/>
          <a:ln/>
        </p:spPr>
        <p:txBody>
          <a:bodyPr wrap="square" lIns="0" tIns="0" rIns="0" bIns="0" rtlCol="0" anchor="ctr"/>
          <a:lstStyle/>
          <a:p>
            <a:pPr algn="ctr" indent="0" marL="0">
              <a:buNone/>
            </a:pPr>
            <a:r>
              <a:rPr lang="en-US" sz="3000" b="1" dirty="0">
                <a:solidFill>
                  <a:srgbClr val="15202B"/>
                </a:solidFill>
                <a:latin typeface="Calibri" pitchFamily="34" charset="0"/>
                <a:ea typeface="Calibri" pitchFamily="34" charset="-122"/>
                <a:cs typeface="Calibri" pitchFamily="34" charset="-120"/>
              </a:rPr>
              <a:t>Aa</a:t>
            </a:r>
            <a:endParaRPr lang="en-US" sz="3000" dirty="0"/>
          </a:p>
        </p:txBody>
      </p:sp>
      <p:sp>
        <p:nvSpPr>
          <p:cNvPr id="26" name="Text 23"/>
          <p:cNvSpPr/>
          <p:nvPr/>
        </p:nvSpPr>
        <p:spPr>
          <a:xfrm>
            <a:off x="8988552" y="2798064"/>
            <a:ext cx="1097280" cy="256032"/>
          </a:xfrm>
          <a:prstGeom prst="rect">
            <a:avLst/>
          </a:prstGeom>
          <a:noFill/>
          <a:ln/>
        </p:spPr>
        <p:txBody>
          <a:bodyPr wrap="square" lIns="0" tIns="0" rIns="0" bIns="0" rtlCol="0" anchor="ctr"/>
          <a:lstStyle/>
          <a:p>
            <a:pPr algn="ctr" indent="0" marL="0">
              <a:buNone/>
            </a:pPr>
            <a:r>
              <a:rPr lang="en-US" sz="950" dirty="0">
                <a:solidFill>
                  <a:srgbClr val="939DAB"/>
                </a:solidFill>
                <a:latin typeface="Courier New" pitchFamily="34" charset="0"/>
                <a:ea typeface="Courier New" pitchFamily="34" charset="-122"/>
                <a:cs typeface="Courier New" pitchFamily="34" charset="-120"/>
              </a:rPr>
              <a:t>700</a:t>
            </a:r>
            <a:endParaRPr lang="en-US" sz="950" dirty="0"/>
          </a:p>
        </p:txBody>
      </p:sp>
      <p:sp>
        <p:nvSpPr>
          <p:cNvPr id="27" name="Text 24"/>
          <p:cNvSpPr/>
          <p:nvPr/>
        </p:nvSpPr>
        <p:spPr>
          <a:xfrm>
            <a:off x="10195560" y="2139696"/>
            <a:ext cx="1097280" cy="658368"/>
          </a:xfrm>
          <a:prstGeom prst="rect">
            <a:avLst/>
          </a:prstGeom>
          <a:noFill/>
          <a:ln/>
        </p:spPr>
        <p:txBody>
          <a:bodyPr wrap="square" lIns="0" tIns="0" rIns="0" bIns="0" rtlCol="0" anchor="ctr"/>
          <a:lstStyle/>
          <a:p>
            <a:pPr algn="ctr" indent="0" marL="0">
              <a:buNone/>
            </a:pPr>
            <a:r>
              <a:rPr lang="en-US" sz="3000" b="1" dirty="0">
                <a:solidFill>
                  <a:srgbClr val="000000"/>
                </a:solidFill>
                <a:latin typeface="Calibri" pitchFamily="34" charset="0"/>
                <a:ea typeface="Calibri" pitchFamily="34" charset="-122"/>
                <a:cs typeface="Calibri" pitchFamily="34" charset="-120"/>
              </a:rPr>
              <a:t>Aa</a:t>
            </a:r>
            <a:endParaRPr lang="en-US" sz="3000" dirty="0"/>
          </a:p>
        </p:txBody>
      </p:sp>
      <p:sp>
        <p:nvSpPr>
          <p:cNvPr id="28" name="Text 25"/>
          <p:cNvSpPr/>
          <p:nvPr/>
        </p:nvSpPr>
        <p:spPr>
          <a:xfrm>
            <a:off x="10195560" y="2798064"/>
            <a:ext cx="1097280" cy="256032"/>
          </a:xfrm>
          <a:prstGeom prst="rect">
            <a:avLst/>
          </a:prstGeom>
          <a:noFill/>
          <a:ln/>
        </p:spPr>
        <p:txBody>
          <a:bodyPr wrap="square" lIns="0" tIns="0" rIns="0" bIns="0" rtlCol="0" anchor="ctr"/>
          <a:lstStyle/>
          <a:p>
            <a:pPr algn="ctr" indent="0" marL="0">
              <a:buNone/>
            </a:pPr>
            <a:r>
              <a:rPr lang="en-US" sz="950" dirty="0">
                <a:solidFill>
                  <a:srgbClr val="939DAB"/>
                </a:solidFill>
                <a:latin typeface="Courier New" pitchFamily="34" charset="0"/>
                <a:ea typeface="Courier New" pitchFamily="34" charset="-122"/>
                <a:cs typeface="Courier New" pitchFamily="34" charset="-120"/>
              </a:rPr>
              <a:t>800</a:t>
            </a:r>
            <a:endParaRPr lang="en-US" sz="950" dirty="0"/>
          </a:p>
        </p:txBody>
      </p:sp>
      <p:sp>
        <p:nvSpPr>
          <p:cNvPr id="29" name="Shape 26"/>
          <p:cNvSpPr/>
          <p:nvPr/>
        </p:nvSpPr>
        <p:spPr>
          <a:xfrm>
            <a:off x="6574536" y="3145536"/>
            <a:ext cx="4736592" cy="18288"/>
          </a:xfrm>
          <a:prstGeom prst="rect">
            <a:avLst/>
          </a:prstGeom>
          <a:solidFill>
            <a:srgbClr val="D9DEE7"/>
          </a:solidFill>
          <a:ln w="12700">
            <a:solidFill>
              <a:srgbClr val="D9DEE7"/>
            </a:solidFill>
            <a:prstDash val="solid"/>
          </a:ln>
        </p:spPr>
      </p:sp>
      <p:sp>
        <p:nvSpPr>
          <p:cNvPr id="30" name="Text 27"/>
          <p:cNvSpPr/>
          <p:nvPr/>
        </p:nvSpPr>
        <p:spPr>
          <a:xfrm>
            <a:off x="6574536" y="3200400"/>
            <a:ext cx="1280160" cy="237744"/>
          </a:xfrm>
          <a:prstGeom prst="rect">
            <a:avLst/>
          </a:prstGeom>
          <a:noFill/>
          <a:ln/>
        </p:spPr>
        <p:txBody>
          <a:bodyPr wrap="square" lIns="0" tIns="0" rIns="0" bIns="0" rtlCol="0" anchor="ctr"/>
          <a:lstStyle/>
          <a:p>
            <a:pPr indent="0" marL="0">
              <a:buNone/>
            </a:pPr>
            <a:r>
              <a:rPr lang="en-US" sz="900" dirty="0">
                <a:solidFill>
                  <a:srgbClr val="939DAB"/>
                </a:solidFill>
                <a:latin typeface="Calibri" pitchFamily="34" charset="0"/>
                <a:ea typeface="Calibri" pitchFamily="34" charset="-122"/>
                <a:cs typeface="Calibri" pitchFamily="34" charset="-120"/>
              </a:rPr>
              <a:t>lightest</a:t>
            </a:r>
            <a:endParaRPr lang="en-US" sz="900" dirty="0"/>
          </a:p>
        </p:txBody>
      </p:sp>
      <p:sp>
        <p:nvSpPr>
          <p:cNvPr id="31" name="Text 28"/>
          <p:cNvSpPr/>
          <p:nvPr/>
        </p:nvSpPr>
        <p:spPr>
          <a:xfrm>
            <a:off x="10030968" y="3200400"/>
            <a:ext cx="1280160" cy="237744"/>
          </a:xfrm>
          <a:prstGeom prst="rect">
            <a:avLst/>
          </a:prstGeom>
          <a:noFill/>
          <a:ln/>
        </p:spPr>
        <p:txBody>
          <a:bodyPr wrap="square" lIns="0" tIns="0" rIns="0" bIns="0" rtlCol="0" anchor="ctr"/>
          <a:lstStyle/>
          <a:p>
            <a:pPr algn="r" indent="0" marL="0">
              <a:buNone/>
            </a:pPr>
            <a:r>
              <a:rPr lang="en-US" sz="900" dirty="0">
                <a:solidFill>
                  <a:srgbClr val="939DAB"/>
                </a:solidFill>
                <a:latin typeface="Calibri" pitchFamily="34" charset="0"/>
                <a:ea typeface="Calibri" pitchFamily="34" charset="-122"/>
                <a:cs typeface="Calibri" pitchFamily="34" charset="-120"/>
              </a:rPr>
              <a:t>boldest</a:t>
            </a:r>
            <a:endParaRPr lang="en-US" sz="900" dirty="0"/>
          </a:p>
        </p:txBody>
      </p:sp>
      <p:sp>
        <p:nvSpPr>
          <p:cNvPr id="32" name="Shape 29"/>
          <p:cNvSpPr/>
          <p:nvPr/>
        </p:nvSpPr>
        <p:spPr>
          <a:xfrm>
            <a:off x="6336792" y="3675888"/>
            <a:ext cx="5212080" cy="1554480"/>
          </a:xfrm>
          <a:prstGeom prst="roundRect">
            <a:avLst>
              <a:gd name="adj" fmla="val 5882"/>
            </a:avLst>
          </a:prstGeom>
          <a:solidFill>
            <a:srgbClr val="FFFFFF"/>
          </a:solidFill>
          <a:ln w="12700">
            <a:solidFill>
              <a:srgbClr val="D9DEE7"/>
            </a:solidFill>
            <a:prstDash val="solid"/>
          </a:ln>
          <a:effectLst>
            <a:outerShdw sx="100000" sy="100000" kx="0" ky="0" algn="bl" rotWithShape="0" blurRad="177800" dist="38100" dir="5400000">
              <a:srgbClr val="000000">
                <a:alpha val="35000"/>
              </a:srgbClr>
            </a:outerShdw>
          </a:effectLst>
        </p:spPr>
      </p:sp>
      <p:sp>
        <p:nvSpPr>
          <p:cNvPr id="33" name="Text 30"/>
          <p:cNvSpPr/>
          <p:nvPr/>
        </p:nvSpPr>
        <p:spPr>
          <a:xfrm>
            <a:off x="6574536" y="3785616"/>
            <a:ext cx="4754880" cy="274320"/>
          </a:xfrm>
          <a:prstGeom prst="rect">
            <a:avLst/>
          </a:prstGeom>
          <a:noFill/>
          <a:ln/>
        </p:spPr>
        <p:txBody>
          <a:bodyPr wrap="square" lIns="0" tIns="0" rIns="0" bIns="0" rtlCol="0" anchor="ctr"/>
          <a:lstStyle/>
          <a:p>
            <a:pPr indent="0" marL="0">
              <a:buNone/>
            </a:pPr>
            <a:r>
              <a:rPr lang="en-US" sz="1350" b="1" dirty="0">
                <a:solidFill>
                  <a:srgbClr val="15202B"/>
                </a:solidFill>
                <a:latin typeface="Calibri" pitchFamily="34" charset="0"/>
                <a:ea typeface="Calibri" pitchFamily="34" charset="-122"/>
                <a:cs typeface="Calibri" pitchFamily="34" charset="-120"/>
              </a:rPr>
              <a:t>font-size</a:t>
            </a:r>
            <a:endParaRPr lang="en-US" sz="1350" dirty="0"/>
          </a:p>
        </p:txBody>
      </p:sp>
      <p:sp>
        <p:nvSpPr>
          <p:cNvPr id="34" name="Text 31"/>
          <p:cNvSpPr/>
          <p:nvPr/>
        </p:nvSpPr>
        <p:spPr>
          <a:xfrm>
            <a:off x="6574536" y="4114800"/>
            <a:ext cx="1371600" cy="731520"/>
          </a:xfrm>
          <a:prstGeom prst="rect">
            <a:avLst/>
          </a:prstGeom>
          <a:noFill/>
          <a:ln/>
        </p:spPr>
        <p:txBody>
          <a:bodyPr wrap="square" lIns="0" tIns="0" rIns="0" bIns="0" rtlCol="0" anchor="ctr"/>
          <a:lstStyle/>
          <a:p>
            <a:pPr algn="ctr" indent="0" marL="0">
              <a:buNone/>
            </a:pPr>
            <a:r>
              <a:rPr lang="en-US" sz="1200" b="1" dirty="0">
                <a:solidFill>
                  <a:srgbClr val="2C6BED"/>
                </a:solidFill>
                <a:latin typeface="Calibri" pitchFamily="34" charset="0"/>
                <a:ea typeface="Calibri" pitchFamily="34" charset="-122"/>
                <a:cs typeface="Calibri" pitchFamily="34" charset="-120"/>
              </a:rPr>
              <a:t>Aa</a:t>
            </a:r>
            <a:endParaRPr lang="en-US" sz="1200" dirty="0"/>
          </a:p>
        </p:txBody>
      </p:sp>
      <p:sp>
        <p:nvSpPr>
          <p:cNvPr id="35" name="Text 32"/>
          <p:cNvSpPr/>
          <p:nvPr/>
        </p:nvSpPr>
        <p:spPr>
          <a:xfrm>
            <a:off x="6574536" y="4846320"/>
            <a:ext cx="1371600" cy="256032"/>
          </a:xfrm>
          <a:prstGeom prst="rect">
            <a:avLst/>
          </a:prstGeom>
          <a:noFill/>
          <a:ln/>
        </p:spPr>
        <p:txBody>
          <a:bodyPr wrap="square" lIns="0" tIns="0" rIns="0" bIns="0" rtlCol="0" anchor="ctr"/>
          <a:lstStyle/>
          <a:p>
            <a:pPr algn="ctr" indent="0" marL="0">
              <a:buNone/>
            </a:pPr>
            <a:r>
              <a:rPr lang="en-US" sz="950" dirty="0">
                <a:solidFill>
                  <a:srgbClr val="939DAB"/>
                </a:solidFill>
                <a:latin typeface="Courier New" pitchFamily="34" charset="0"/>
                <a:ea typeface="Courier New" pitchFamily="34" charset="-122"/>
                <a:cs typeface="Courier New" pitchFamily="34" charset="-120"/>
              </a:rPr>
              <a:t>12px</a:t>
            </a:r>
            <a:endParaRPr lang="en-US" sz="950" dirty="0"/>
          </a:p>
        </p:txBody>
      </p:sp>
      <p:sp>
        <p:nvSpPr>
          <p:cNvPr id="36" name="Text 33"/>
          <p:cNvSpPr/>
          <p:nvPr/>
        </p:nvSpPr>
        <p:spPr>
          <a:xfrm>
            <a:off x="8174736" y="4114800"/>
            <a:ext cx="1371600" cy="731520"/>
          </a:xfrm>
          <a:prstGeom prst="rect">
            <a:avLst/>
          </a:prstGeom>
          <a:noFill/>
          <a:ln/>
        </p:spPr>
        <p:txBody>
          <a:bodyPr wrap="square" lIns="0" tIns="0" rIns="0" bIns="0" rtlCol="0" anchor="ctr"/>
          <a:lstStyle/>
          <a:p>
            <a:pPr algn="ctr" indent="0" marL="0">
              <a:buNone/>
            </a:pPr>
            <a:r>
              <a:rPr lang="en-US" sz="2000" b="1" dirty="0">
                <a:solidFill>
                  <a:srgbClr val="2C6BED"/>
                </a:solidFill>
                <a:latin typeface="Calibri" pitchFamily="34" charset="0"/>
                <a:ea typeface="Calibri" pitchFamily="34" charset="-122"/>
                <a:cs typeface="Calibri" pitchFamily="34" charset="-120"/>
              </a:rPr>
              <a:t>Aa</a:t>
            </a:r>
            <a:endParaRPr lang="en-US" sz="2000" dirty="0"/>
          </a:p>
        </p:txBody>
      </p:sp>
      <p:sp>
        <p:nvSpPr>
          <p:cNvPr id="37" name="Text 34"/>
          <p:cNvSpPr/>
          <p:nvPr/>
        </p:nvSpPr>
        <p:spPr>
          <a:xfrm>
            <a:off x="8174736" y="4846320"/>
            <a:ext cx="1371600" cy="256032"/>
          </a:xfrm>
          <a:prstGeom prst="rect">
            <a:avLst/>
          </a:prstGeom>
          <a:noFill/>
          <a:ln/>
        </p:spPr>
        <p:txBody>
          <a:bodyPr wrap="square" lIns="0" tIns="0" rIns="0" bIns="0" rtlCol="0" anchor="ctr"/>
          <a:lstStyle/>
          <a:p>
            <a:pPr algn="ctr" indent="0" marL="0">
              <a:buNone/>
            </a:pPr>
            <a:r>
              <a:rPr lang="en-US" sz="950" dirty="0">
                <a:solidFill>
                  <a:srgbClr val="939DAB"/>
                </a:solidFill>
                <a:latin typeface="Courier New" pitchFamily="34" charset="0"/>
                <a:ea typeface="Courier New" pitchFamily="34" charset="-122"/>
                <a:cs typeface="Courier New" pitchFamily="34" charset="-120"/>
              </a:rPr>
              <a:t>20px</a:t>
            </a:r>
            <a:endParaRPr lang="en-US" sz="950" dirty="0"/>
          </a:p>
        </p:txBody>
      </p:sp>
      <p:sp>
        <p:nvSpPr>
          <p:cNvPr id="38" name="Text 35"/>
          <p:cNvSpPr/>
          <p:nvPr/>
        </p:nvSpPr>
        <p:spPr>
          <a:xfrm>
            <a:off x="9774936" y="4114800"/>
            <a:ext cx="1371600" cy="731520"/>
          </a:xfrm>
          <a:prstGeom prst="rect">
            <a:avLst/>
          </a:prstGeom>
          <a:noFill/>
          <a:ln/>
        </p:spPr>
        <p:txBody>
          <a:bodyPr wrap="square" lIns="0" tIns="0" rIns="0" bIns="0" rtlCol="0" anchor="ctr"/>
          <a:lstStyle/>
          <a:p>
            <a:pPr algn="ctr" indent="0" marL="0">
              <a:buNone/>
            </a:pPr>
            <a:r>
              <a:rPr lang="en-US" sz="3000" b="1" dirty="0">
                <a:solidFill>
                  <a:srgbClr val="2C6BED"/>
                </a:solidFill>
                <a:latin typeface="Calibri" pitchFamily="34" charset="0"/>
                <a:ea typeface="Calibri" pitchFamily="34" charset="-122"/>
                <a:cs typeface="Calibri" pitchFamily="34" charset="-120"/>
              </a:rPr>
              <a:t>Aa</a:t>
            </a:r>
            <a:endParaRPr lang="en-US" sz="3000" dirty="0"/>
          </a:p>
        </p:txBody>
      </p:sp>
      <p:sp>
        <p:nvSpPr>
          <p:cNvPr id="39" name="Text 36"/>
          <p:cNvSpPr/>
          <p:nvPr/>
        </p:nvSpPr>
        <p:spPr>
          <a:xfrm>
            <a:off x="9774936" y="4846320"/>
            <a:ext cx="1371600" cy="256032"/>
          </a:xfrm>
          <a:prstGeom prst="rect">
            <a:avLst/>
          </a:prstGeom>
          <a:noFill/>
          <a:ln/>
        </p:spPr>
        <p:txBody>
          <a:bodyPr wrap="square" lIns="0" tIns="0" rIns="0" bIns="0" rtlCol="0" anchor="ctr"/>
          <a:lstStyle/>
          <a:p>
            <a:pPr algn="ctr" indent="0" marL="0">
              <a:buNone/>
            </a:pPr>
            <a:r>
              <a:rPr lang="en-US" sz="950" dirty="0">
                <a:solidFill>
                  <a:srgbClr val="939DAB"/>
                </a:solidFill>
                <a:latin typeface="Courier New" pitchFamily="34" charset="0"/>
                <a:ea typeface="Courier New" pitchFamily="34" charset="-122"/>
                <a:cs typeface="Courier New" pitchFamily="34" charset="-120"/>
              </a:rPr>
              <a:t>32px</a:t>
            </a:r>
            <a:endParaRPr lang="en-US" sz="950" dirty="0"/>
          </a:p>
        </p:txBody>
      </p:sp>
      <p:sp>
        <p:nvSpPr>
          <p:cNvPr id="40" name="Shape 37"/>
          <p:cNvSpPr/>
          <p:nvPr/>
        </p:nvSpPr>
        <p:spPr>
          <a:xfrm>
            <a:off x="640080" y="5394960"/>
            <a:ext cx="10908792" cy="603504"/>
          </a:xfrm>
          <a:prstGeom prst="roundRect">
            <a:avLst>
              <a:gd name="adj" fmla="val 15152"/>
            </a:avLst>
          </a:prstGeom>
          <a:solidFill>
            <a:srgbClr val="E7EEFD"/>
          </a:solidFill>
          <a:ln w="12700">
            <a:solidFill>
              <a:srgbClr val="B6CDFA"/>
            </a:solidFill>
            <a:prstDash val="solid"/>
          </a:ln>
          <a:effectLst>
            <a:outerShdw sx="100000" sy="100000" kx="0" ky="0" algn="bl" rotWithShape="0" blurRad="177800" dist="38100" dir="5400000">
              <a:srgbClr val="000000">
                <a:alpha val="35000"/>
              </a:srgbClr>
            </a:outerShdw>
          </a:effectLst>
        </p:spPr>
      </p:sp>
      <p:sp>
        <p:nvSpPr>
          <p:cNvPr id="41" name="Text 38"/>
          <p:cNvSpPr/>
          <p:nvPr/>
        </p:nvSpPr>
        <p:spPr>
          <a:xfrm>
            <a:off x="914400" y="5394960"/>
            <a:ext cx="10360152" cy="603504"/>
          </a:xfrm>
          <a:prstGeom prst="rect">
            <a:avLst/>
          </a:prstGeom>
          <a:noFill/>
          <a:ln/>
        </p:spPr>
        <p:txBody>
          <a:bodyPr wrap="square" lIns="0" tIns="0" rIns="0" bIns="0" rtlCol="0" anchor="ctr"/>
          <a:lstStyle/>
          <a:p>
            <a:pPr algn="ctr" indent="0" marL="0">
              <a:buNone/>
            </a:pPr>
            <a:r>
              <a:rPr lang="en-US" sz="1550" b="1" dirty="0">
                <a:solidFill>
                  <a:srgbClr val="15202B"/>
                </a:solidFill>
                <a:latin typeface="Calibri" pitchFamily="34" charset="0"/>
                <a:ea typeface="Calibri" pitchFamily="34" charset="-122"/>
                <a:cs typeface="Calibri" pitchFamily="34" charset="-120"/>
              </a:rPr>
              <a:t>A font stack is a list of fallbacks. The browser walks it until it finds one it has.</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7FA"/>
        </a:solidFill>
      </p:bgPr>
    </p:bg>
    <p:spTree>
      <p:nvGrpSpPr>
        <p:cNvPr id="1" name=""/>
        <p:cNvGrpSpPr/>
        <p:nvPr/>
      </p:nvGrpSpPr>
      <p:grpSpPr>
        <a:xfrm>
          <a:off x="0" y="0"/>
          <a:ext cx="0" cy="0"/>
          <a:chOff x="0" y="0"/>
          <a:chExt cx="0" cy="0"/>
        </a:xfrm>
      </p:grpSpPr>
      <p:sp>
        <p:nvSpPr>
          <p:cNvPr id="3" name="Text 0"/>
          <p:cNvSpPr/>
          <p:nvPr/>
        </p:nvSpPr>
        <p:spPr>
          <a:xfrm>
            <a:off x="640080" y="6364224"/>
            <a:ext cx="3657600" cy="256032"/>
          </a:xfrm>
          <a:prstGeom prst="rect">
            <a:avLst/>
          </a:prstGeom>
          <a:noFill/>
          <a:ln/>
        </p:spPr>
        <p:txBody>
          <a:bodyPr wrap="square" lIns="0" tIns="0" rIns="0" bIns="0" rtlCol="0" anchor="ctr"/>
          <a:lstStyle/>
          <a:p>
            <a:pPr indent="0" marL="0">
              <a:buNone/>
            </a:pPr>
            <a:r>
              <a:rPr lang="en-US" sz="900" dirty="0">
                <a:solidFill>
                  <a:srgbClr val="939DAB"/>
                </a:solidFill>
                <a:latin typeface="Courier New" pitchFamily="34" charset="0"/>
                <a:ea typeface="Courier New" pitchFamily="34" charset="-122"/>
                <a:cs typeface="Courier New" pitchFamily="34" charset="-120"/>
              </a:rPr>
              <a:t>CLASS 03  ·  CSS</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939DAB"/>
                </a:solidFill>
                <a:latin typeface="Courier New" pitchFamily="34" charset="0"/>
                <a:ea typeface="Courier New" pitchFamily="34" charset="-122"/>
                <a:cs typeface="Courier New" pitchFamily="34" charset="-120"/>
              </a:rPr>
              <a:t>16</a:t>
            </a:r>
            <a:endParaRPr lang="en-US" sz="900" dirty="0"/>
          </a:p>
        </p:txBody>
      </p:sp>
      <p:sp>
        <p:nvSpPr>
          <p:cNvPr id="5" name="Shape 2"/>
          <p:cNvSpPr/>
          <p:nvPr/>
        </p:nvSpPr>
        <p:spPr>
          <a:xfrm>
            <a:off x="640080" y="365760"/>
            <a:ext cx="1920240" cy="347472"/>
          </a:xfrm>
          <a:prstGeom prst="roundRect">
            <a:avLst>
              <a:gd name="adj" fmla="val 21053"/>
            </a:avLst>
          </a:prstGeom>
          <a:solidFill>
            <a:srgbClr val="2C6BED"/>
          </a:solidFill>
          <a:ln w="15875">
            <a:solidFill>
              <a:srgbClr val="15202B"/>
            </a:solidFill>
            <a:prstDash val="solid"/>
          </a:ln>
        </p:spPr>
      </p:sp>
      <p:sp>
        <p:nvSpPr>
          <p:cNvPr id="6" name="Text 3"/>
          <p:cNvSpPr/>
          <p:nvPr/>
        </p:nvSpPr>
        <p:spPr>
          <a:xfrm>
            <a:off x="640080" y="365760"/>
            <a:ext cx="1920240" cy="347472"/>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PROPERTIES</a:t>
            </a:r>
            <a:endParaRPr lang="en-US" sz="1050" dirty="0"/>
          </a:p>
        </p:txBody>
      </p:sp>
      <p:sp>
        <p:nvSpPr>
          <p:cNvPr id="7" name="Text 4"/>
          <p:cNvSpPr/>
          <p:nvPr/>
        </p:nvSpPr>
        <p:spPr>
          <a:xfrm>
            <a:off x="640080" y="786384"/>
            <a:ext cx="10881360" cy="603504"/>
          </a:xfrm>
          <a:prstGeom prst="rect">
            <a:avLst/>
          </a:prstGeom>
          <a:noFill/>
          <a:ln/>
        </p:spPr>
        <p:txBody>
          <a:bodyPr wrap="square" lIns="0" tIns="0" rIns="0" bIns="0" rtlCol="0" anchor="ctr"/>
          <a:lstStyle/>
          <a:p>
            <a:pPr indent="0" marL="0">
              <a:buNone/>
            </a:pPr>
            <a:r>
              <a:rPr lang="en-US" sz="3200" b="1" dirty="0">
                <a:solidFill>
                  <a:srgbClr val="15202B"/>
                </a:solidFill>
                <a:latin typeface="Calibri" pitchFamily="34" charset="0"/>
                <a:ea typeface="Calibri" pitchFamily="34" charset="-122"/>
                <a:cs typeface="Calibri" pitchFamily="34" charset="-120"/>
              </a:rPr>
              <a:t>When the built in fonts are not enough</a:t>
            </a:r>
            <a:endParaRPr lang="en-US" sz="3200" dirty="0"/>
          </a:p>
        </p:txBody>
      </p:sp>
      <p:sp>
        <p:nvSpPr>
          <p:cNvPr id="8" name="Shape 5"/>
          <p:cNvSpPr/>
          <p:nvPr/>
        </p:nvSpPr>
        <p:spPr>
          <a:xfrm>
            <a:off x="640080" y="1664208"/>
            <a:ext cx="2542032" cy="2103120"/>
          </a:xfrm>
          <a:prstGeom prst="roundRect">
            <a:avLst>
              <a:gd name="adj" fmla="val 4348"/>
            </a:avLst>
          </a:prstGeom>
          <a:solidFill>
            <a:srgbClr val="FFFFFF"/>
          </a:solidFill>
          <a:ln w="12700">
            <a:solidFill>
              <a:srgbClr val="D9DEE7"/>
            </a:solidFill>
            <a:prstDash val="solid"/>
          </a:ln>
          <a:effectLst>
            <a:outerShdw sx="100000" sy="100000" kx="0" ky="0" algn="bl" rotWithShape="0" blurRad="177800" dist="38100" dir="5400000">
              <a:srgbClr val="000000">
                <a:alpha val="35000"/>
              </a:srgbClr>
            </a:outerShdw>
          </a:effectLst>
        </p:spPr>
      </p:sp>
      <p:sp>
        <p:nvSpPr>
          <p:cNvPr id="9" name="Shape 6"/>
          <p:cNvSpPr/>
          <p:nvPr/>
        </p:nvSpPr>
        <p:spPr>
          <a:xfrm>
            <a:off x="877824" y="1901952"/>
            <a:ext cx="512064" cy="512064"/>
          </a:xfrm>
          <a:prstGeom prst="roundRect">
            <a:avLst>
              <a:gd name="adj" fmla="val 17857"/>
            </a:avLst>
          </a:prstGeom>
          <a:solidFill>
            <a:srgbClr val="E7EEFD"/>
          </a:solidFill>
          <a:ln w="12700">
            <a:solidFill>
              <a:srgbClr val="B6CDFA"/>
            </a:solidFill>
            <a:prstDash val="solid"/>
          </a:ln>
        </p:spPr>
      </p:sp>
      <p:pic>
        <p:nvPicPr>
          <p:cNvPr id="10" name="Image 0" descr="preencoded.png">    </p:cNvPr>
          <p:cNvPicPr>
            <a:picLocks noChangeAspect="1"/>
          </p:cNvPicPr>
          <p:nvPr/>
        </p:nvPicPr>
        <p:blipFill>
          <a:blip r:embed="rId1"/>
          <a:stretch>
            <a:fillRect/>
          </a:stretch>
        </p:blipFill>
        <p:spPr>
          <a:xfrm>
            <a:off x="1010961" y="2035089"/>
            <a:ext cx="245791" cy="245791"/>
          </a:xfrm>
          <a:prstGeom prst="rect">
            <a:avLst/>
          </a:prstGeom>
        </p:spPr>
      </p:pic>
      <p:sp>
        <p:nvSpPr>
          <p:cNvPr id="11" name="Shape 7"/>
          <p:cNvSpPr/>
          <p:nvPr/>
        </p:nvSpPr>
        <p:spPr>
          <a:xfrm>
            <a:off x="2523744" y="1920240"/>
            <a:ext cx="420624" cy="420624"/>
          </a:xfrm>
          <a:prstGeom prst="ellipse">
            <a:avLst/>
          </a:prstGeom>
          <a:solidFill>
            <a:srgbClr val="FFFFFF"/>
          </a:solidFill>
          <a:ln w="12700">
            <a:solidFill>
              <a:srgbClr val="D9DEE7"/>
            </a:solidFill>
            <a:prstDash val="solid"/>
          </a:ln>
        </p:spPr>
      </p:sp>
      <p:sp>
        <p:nvSpPr>
          <p:cNvPr id="12" name="Text 8"/>
          <p:cNvSpPr/>
          <p:nvPr/>
        </p:nvSpPr>
        <p:spPr>
          <a:xfrm>
            <a:off x="2523744" y="1920240"/>
            <a:ext cx="420624" cy="420624"/>
          </a:xfrm>
          <a:prstGeom prst="rect">
            <a:avLst/>
          </a:prstGeom>
          <a:noFill/>
          <a:ln/>
        </p:spPr>
        <p:txBody>
          <a:bodyPr wrap="square" lIns="0" tIns="0" rIns="0" bIns="0" rtlCol="0" anchor="ctr"/>
          <a:lstStyle/>
          <a:p>
            <a:pPr algn="ctr" indent="0" marL="0">
              <a:buNone/>
            </a:pPr>
            <a:r>
              <a:rPr lang="en-US" sz="1200" b="1" dirty="0">
                <a:solidFill>
                  <a:srgbClr val="939DAB"/>
                </a:solidFill>
                <a:latin typeface="Calibri" pitchFamily="34" charset="0"/>
                <a:ea typeface="Calibri" pitchFamily="34" charset="-122"/>
                <a:cs typeface="Calibri" pitchFamily="34" charset="-120"/>
              </a:rPr>
              <a:t>1</a:t>
            </a:r>
            <a:endParaRPr lang="en-US" sz="1200" dirty="0"/>
          </a:p>
        </p:txBody>
      </p:sp>
      <p:sp>
        <p:nvSpPr>
          <p:cNvPr id="13" name="Text 9"/>
          <p:cNvSpPr/>
          <p:nvPr/>
        </p:nvSpPr>
        <p:spPr>
          <a:xfrm>
            <a:off x="877824" y="2542032"/>
            <a:ext cx="2066544" cy="329184"/>
          </a:xfrm>
          <a:prstGeom prst="rect">
            <a:avLst/>
          </a:prstGeom>
          <a:noFill/>
          <a:ln/>
        </p:spPr>
        <p:txBody>
          <a:bodyPr wrap="square" lIns="0" tIns="0" rIns="0" bIns="0" rtlCol="0" anchor="ctr"/>
          <a:lstStyle/>
          <a:p>
            <a:pPr indent="0" marL="0">
              <a:buNone/>
            </a:pPr>
            <a:r>
              <a:rPr lang="en-US" sz="1500" b="1" dirty="0">
                <a:solidFill>
                  <a:srgbClr val="15202B"/>
                </a:solidFill>
                <a:latin typeface="Calibri" pitchFamily="34" charset="0"/>
                <a:ea typeface="Calibri" pitchFamily="34" charset="-122"/>
                <a:cs typeface="Calibri" pitchFamily="34" charset="-120"/>
              </a:rPr>
              <a:t>Pick a font</a:t>
            </a:r>
            <a:endParaRPr lang="en-US" sz="1500" dirty="0"/>
          </a:p>
        </p:txBody>
      </p:sp>
      <p:sp>
        <p:nvSpPr>
          <p:cNvPr id="14" name="Text 10"/>
          <p:cNvSpPr/>
          <p:nvPr/>
        </p:nvSpPr>
        <p:spPr>
          <a:xfrm>
            <a:off x="877824" y="2907792"/>
            <a:ext cx="2066544" cy="640080"/>
          </a:xfrm>
          <a:prstGeom prst="rect">
            <a:avLst/>
          </a:prstGeom>
          <a:noFill/>
          <a:ln/>
        </p:spPr>
        <p:txBody>
          <a:bodyPr wrap="square" lIns="0" tIns="0" rIns="0" bIns="0" rtlCol="0" anchor="t"/>
          <a:lstStyle/>
          <a:p>
            <a:pPr algn="l" indent="0" marL="0">
              <a:lnSpc>
                <a:spcPts val="1500"/>
              </a:lnSpc>
              <a:buNone/>
            </a:pPr>
            <a:r>
              <a:rPr lang="en-US" sz="1150" dirty="0">
                <a:solidFill>
                  <a:srgbClr val="55616F"/>
                </a:solidFill>
                <a:latin typeface="Calibri" pitchFamily="34" charset="0"/>
                <a:ea typeface="Calibri" pitchFamily="34" charset="-122"/>
                <a:cs typeface="Calibri" pitchFamily="34" charset="-120"/>
              </a:rPr>
              <a:t>fonts.google.com. Browse, click one, choose the weights you want.</a:t>
            </a:r>
            <a:endParaRPr lang="en-US" sz="1150" dirty="0"/>
          </a:p>
        </p:txBody>
      </p:sp>
      <p:sp>
        <p:nvSpPr>
          <p:cNvPr id="15" name="Shape 11"/>
          <p:cNvSpPr/>
          <p:nvPr/>
        </p:nvSpPr>
        <p:spPr>
          <a:xfrm>
            <a:off x="3236976" y="2715768"/>
            <a:ext cx="192024" cy="0"/>
          </a:xfrm>
          <a:prstGeom prst="line">
            <a:avLst/>
          </a:prstGeom>
          <a:noFill/>
          <a:ln w="19050">
            <a:solidFill>
              <a:srgbClr val="B6CDFA"/>
            </a:solidFill>
            <a:prstDash val="solid"/>
            <a:tailEnd type="triangle"/>
          </a:ln>
        </p:spPr>
      </p:sp>
      <p:sp>
        <p:nvSpPr>
          <p:cNvPr id="16" name="Shape 12"/>
          <p:cNvSpPr/>
          <p:nvPr/>
        </p:nvSpPr>
        <p:spPr>
          <a:xfrm>
            <a:off x="3483864" y="1664208"/>
            <a:ext cx="2542032" cy="2103120"/>
          </a:xfrm>
          <a:prstGeom prst="roundRect">
            <a:avLst>
              <a:gd name="adj" fmla="val 4348"/>
            </a:avLst>
          </a:prstGeom>
          <a:solidFill>
            <a:srgbClr val="FFFFFF"/>
          </a:solidFill>
          <a:ln w="12700">
            <a:solidFill>
              <a:srgbClr val="D9DEE7"/>
            </a:solidFill>
            <a:prstDash val="solid"/>
          </a:ln>
          <a:effectLst>
            <a:outerShdw sx="100000" sy="100000" kx="0" ky="0" algn="bl" rotWithShape="0" blurRad="177800" dist="38100" dir="5400000">
              <a:srgbClr val="000000">
                <a:alpha val="35000"/>
              </a:srgbClr>
            </a:outerShdw>
          </a:effectLst>
        </p:spPr>
      </p:sp>
      <p:sp>
        <p:nvSpPr>
          <p:cNvPr id="17" name="Shape 13"/>
          <p:cNvSpPr/>
          <p:nvPr/>
        </p:nvSpPr>
        <p:spPr>
          <a:xfrm>
            <a:off x="3721608" y="1901952"/>
            <a:ext cx="512064" cy="512064"/>
          </a:xfrm>
          <a:prstGeom prst="roundRect">
            <a:avLst>
              <a:gd name="adj" fmla="val 17857"/>
            </a:avLst>
          </a:prstGeom>
          <a:solidFill>
            <a:srgbClr val="E7EEFD"/>
          </a:solidFill>
          <a:ln w="12700">
            <a:solidFill>
              <a:srgbClr val="B6CDFA"/>
            </a:solidFill>
            <a:prstDash val="solid"/>
          </a:ln>
        </p:spPr>
      </p:sp>
      <p:pic>
        <p:nvPicPr>
          <p:cNvPr id="18" name="Image 1" descr="preencoded.png">    </p:cNvPr>
          <p:cNvPicPr>
            <a:picLocks noChangeAspect="1"/>
          </p:cNvPicPr>
          <p:nvPr/>
        </p:nvPicPr>
        <p:blipFill>
          <a:blip r:embed="rId2"/>
          <a:stretch>
            <a:fillRect/>
          </a:stretch>
        </p:blipFill>
        <p:spPr>
          <a:xfrm>
            <a:off x="3854745" y="2035089"/>
            <a:ext cx="245791" cy="245791"/>
          </a:xfrm>
          <a:prstGeom prst="rect">
            <a:avLst/>
          </a:prstGeom>
        </p:spPr>
      </p:pic>
      <p:sp>
        <p:nvSpPr>
          <p:cNvPr id="19" name="Shape 14"/>
          <p:cNvSpPr/>
          <p:nvPr/>
        </p:nvSpPr>
        <p:spPr>
          <a:xfrm>
            <a:off x="5367528" y="1920240"/>
            <a:ext cx="420624" cy="420624"/>
          </a:xfrm>
          <a:prstGeom prst="ellipse">
            <a:avLst/>
          </a:prstGeom>
          <a:solidFill>
            <a:srgbClr val="FFFFFF"/>
          </a:solidFill>
          <a:ln w="12700">
            <a:solidFill>
              <a:srgbClr val="D9DEE7"/>
            </a:solidFill>
            <a:prstDash val="solid"/>
          </a:ln>
        </p:spPr>
      </p:sp>
      <p:sp>
        <p:nvSpPr>
          <p:cNvPr id="20" name="Text 15"/>
          <p:cNvSpPr/>
          <p:nvPr/>
        </p:nvSpPr>
        <p:spPr>
          <a:xfrm>
            <a:off x="5367528" y="1920240"/>
            <a:ext cx="420624" cy="420624"/>
          </a:xfrm>
          <a:prstGeom prst="rect">
            <a:avLst/>
          </a:prstGeom>
          <a:noFill/>
          <a:ln/>
        </p:spPr>
        <p:txBody>
          <a:bodyPr wrap="square" lIns="0" tIns="0" rIns="0" bIns="0" rtlCol="0" anchor="ctr"/>
          <a:lstStyle/>
          <a:p>
            <a:pPr algn="ctr" indent="0" marL="0">
              <a:buNone/>
            </a:pPr>
            <a:r>
              <a:rPr lang="en-US" sz="1200" b="1" dirty="0">
                <a:solidFill>
                  <a:srgbClr val="939DAB"/>
                </a:solidFill>
                <a:latin typeface="Calibri" pitchFamily="34" charset="0"/>
                <a:ea typeface="Calibri" pitchFamily="34" charset="-122"/>
                <a:cs typeface="Calibri" pitchFamily="34" charset="-120"/>
              </a:rPr>
              <a:t>2</a:t>
            </a:r>
            <a:endParaRPr lang="en-US" sz="1200" dirty="0"/>
          </a:p>
        </p:txBody>
      </p:sp>
      <p:sp>
        <p:nvSpPr>
          <p:cNvPr id="21" name="Text 16"/>
          <p:cNvSpPr/>
          <p:nvPr/>
        </p:nvSpPr>
        <p:spPr>
          <a:xfrm>
            <a:off x="3721608" y="2542032"/>
            <a:ext cx="2066544" cy="329184"/>
          </a:xfrm>
          <a:prstGeom prst="rect">
            <a:avLst/>
          </a:prstGeom>
          <a:noFill/>
          <a:ln/>
        </p:spPr>
        <p:txBody>
          <a:bodyPr wrap="square" lIns="0" tIns="0" rIns="0" bIns="0" rtlCol="0" anchor="ctr"/>
          <a:lstStyle/>
          <a:p>
            <a:pPr indent="0" marL="0">
              <a:buNone/>
            </a:pPr>
            <a:r>
              <a:rPr lang="en-US" sz="1500" b="1" dirty="0">
                <a:solidFill>
                  <a:srgbClr val="15202B"/>
                </a:solidFill>
                <a:latin typeface="Calibri" pitchFamily="34" charset="0"/>
                <a:ea typeface="Calibri" pitchFamily="34" charset="-122"/>
                <a:cs typeface="Calibri" pitchFamily="34" charset="-120"/>
              </a:rPr>
              <a:t>Copy the link tag</a:t>
            </a:r>
            <a:endParaRPr lang="en-US" sz="1500" dirty="0"/>
          </a:p>
        </p:txBody>
      </p:sp>
      <p:sp>
        <p:nvSpPr>
          <p:cNvPr id="22" name="Text 17"/>
          <p:cNvSpPr/>
          <p:nvPr/>
        </p:nvSpPr>
        <p:spPr>
          <a:xfrm>
            <a:off x="3721608" y="2907792"/>
            <a:ext cx="2066544" cy="640080"/>
          </a:xfrm>
          <a:prstGeom prst="rect">
            <a:avLst/>
          </a:prstGeom>
          <a:noFill/>
          <a:ln/>
        </p:spPr>
        <p:txBody>
          <a:bodyPr wrap="square" lIns="0" tIns="0" rIns="0" bIns="0" rtlCol="0" anchor="t"/>
          <a:lstStyle/>
          <a:p>
            <a:pPr algn="l" indent="0" marL="0">
              <a:lnSpc>
                <a:spcPts val="1500"/>
              </a:lnSpc>
              <a:buNone/>
            </a:pPr>
            <a:r>
              <a:rPr lang="en-US" sz="1150" dirty="0">
                <a:solidFill>
                  <a:srgbClr val="55616F"/>
                </a:solidFill>
                <a:latin typeface="Calibri" pitchFamily="34" charset="0"/>
                <a:ea typeface="Calibri" pitchFamily="34" charset="-122"/>
                <a:cs typeface="Calibri" pitchFamily="34" charset="-120"/>
              </a:rPr>
              <a:t>Google hands you a &lt;link&gt;. It is just a stylesheet, hosted by them.</a:t>
            </a:r>
            <a:endParaRPr lang="en-US" sz="1150" dirty="0"/>
          </a:p>
        </p:txBody>
      </p:sp>
      <p:sp>
        <p:nvSpPr>
          <p:cNvPr id="23" name="Shape 18"/>
          <p:cNvSpPr/>
          <p:nvPr/>
        </p:nvSpPr>
        <p:spPr>
          <a:xfrm>
            <a:off x="6080760" y="2715768"/>
            <a:ext cx="192024" cy="0"/>
          </a:xfrm>
          <a:prstGeom prst="line">
            <a:avLst/>
          </a:prstGeom>
          <a:noFill/>
          <a:ln w="19050">
            <a:solidFill>
              <a:srgbClr val="B6CDFA"/>
            </a:solidFill>
            <a:prstDash val="solid"/>
            <a:tailEnd type="triangle"/>
          </a:ln>
        </p:spPr>
      </p:sp>
      <p:sp>
        <p:nvSpPr>
          <p:cNvPr id="24" name="Shape 19"/>
          <p:cNvSpPr/>
          <p:nvPr/>
        </p:nvSpPr>
        <p:spPr>
          <a:xfrm>
            <a:off x="6327648" y="1664208"/>
            <a:ext cx="2542032" cy="2103120"/>
          </a:xfrm>
          <a:prstGeom prst="roundRect">
            <a:avLst>
              <a:gd name="adj" fmla="val 4348"/>
            </a:avLst>
          </a:prstGeom>
          <a:solidFill>
            <a:srgbClr val="FFFFFF"/>
          </a:solidFill>
          <a:ln w="12700">
            <a:solidFill>
              <a:srgbClr val="D9DEE7"/>
            </a:solidFill>
            <a:prstDash val="solid"/>
          </a:ln>
          <a:effectLst>
            <a:outerShdw sx="100000" sy="100000" kx="0" ky="0" algn="bl" rotWithShape="0" blurRad="177800" dist="38100" dir="5400000">
              <a:srgbClr val="000000">
                <a:alpha val="35000"/>
              </a:srgbClr>
            </a:outerShdw>
          </a:effectLst>
        </p:spPr>
      </p:sp>
      <p:sp>
        <p:nvSpPr>
          <p:cNvPr id="25" name="Shape 20"/>
          <p:cNvSpPr/>
          <p:nvPr/>
        </p:nvSpPr>
        <p:spPr>
          <a:xfrm>
            <a:off x="6565392" y="1901952"/>
            <a:ext cx="512064" cy="512064"/>
          </a:xfrm>
          <a:prstGeom prst="roundRect">
            <a:avLst>
              <a:gd name="adj" fmla="val 17857"/>
            </a:avLst>
          </a:prstGeom>
          <a:solidFill>
            <a:srgbClr val="E7EEFD"/>
          </a:solidFill>
          <a:ln w="12700">
            <a:solidFill>
              <a:srgbClr val="B6CDFA"/>
            </a:solidFill>
            <a:prstDash val="solid"/>
          </a:ln>
        </p:spPr>
      </p:sp>
      <p:pic>
        <p:nvPicPr>
          <p:cNvPr id="26" name="Image 2" descr="preencoded.png">    </p:cNvPr>
          <p:cNvPicPr>
            <a:picLocks noChangeAspect="1"/>
          </p:cNvPicPr>
          <p:nvPr/>
        </p:nvPicPr>
        <p:blipFill>
          <a:blip r:embed="rId3"/>
          <a:stretch>
            <a:fillRect/>
          </a:stretch>
        </p:blipFill>
        <p:spPr>
          <a:xfrm>
            <a:off x="6698529" y="2035089"/>
            <a:ext cx="245791" cy="245791"/>
          </a:xfrm>
          <a:prstGeom prst="rect">
            <a:avLst/>
          </a:prstGeom>
        </p:spPr>
      </p:pic>
      <p:sp>
        <p:nvSpPr>
          <p:cNvPr id="27" name="Shape 21"/>
          <p:cNvSpPr/>
          <p:nvPr/>
        </p:nvSpPr>
        <p:spPr>
          <a:xfrm>
            <a:off x="8211312" y="1920240"/>
            <a:ext cx="420624" cy="420624"/>
          </a:xfrm>
          <a:prstGeom prst="ellipse">
            <a:avLst/>
          </a:prstGeom>
          <a:solidFill>
            <a:srgbClr val="FFFFFF"/>
          </a:solidFill>
          <a:ln w="12700">
            <a:solidFill>
              <a:srgbClr val="D9DEE7"/>
            </a:solidFill>
            <a:prstDash val="solid"/>
          </a:ln>
        </p:spPr>
      </p:sp>
      <p:sp>
        <p:nvSpPr>
          <p:cNvPr id="28" name="Text 22"/>
          <p:cNvSpPr/>
          <p:nvPr/>
        </p:nvSpPr>
        <p:spPr>
          <a:xfrm>
            <a:off x="8211312" y="1920240"/>
            <a:ext cx="420624" cy="420624"/>
          </a:xfrm>
          <a:prstGeom prst="rect">
            <a:avLst/>
          </a:prstGeom>
          <a:noFill/>
          <a:ln/>
        </p:spPr>
        <p:txBody>
          <a:bodyPr wrap="square" lIns="0" tIns="0" rIns="0" bIns="0" rtlCol="0" anchor="ctr"/>
          <a:lstStyle/>
          <a:p>
            <a:pPr algn="ctr" indent="0" marL="0">
              <a:buNone/>
            </a:pPr>
            <a:r>
              <a:rPr lang="en-US" sz="1200" b="1" dirty="0">
                <a:solidFill>
                  <a:srgbClr val="939DAB"/>
                </a:solidFill>
                <a:latin typeface="Calibri" pitchFamily="34" charset="0"/>
                <a:ea typeface="Calibri" pitchFamily="34" charset="-122"/>
                <a:cs typeface="Calibri" pitchFamily="34" charset="-120"/>
              </a:rPr>
              <a:t>3</a:t>
            </a:r>
            <a:endParaRPr lang="en-US" sz="1200" dirty="0"/>
          </a:p>
        </p:txBody>
      </p:sp>
      <p:sp>
        <p:nvSpPr>
          <p:cNvPr id="29" name="Text 23"/>
          <p:cNvSpPr/>
          <p:nvPr/>
        </p:nvSpPr>
        <p:spPr>
          <a:xfrm>
            <a:off x="6565392" y="2542032"/>
            <a:ext cx="2066544" cy="329184"/>
          </a:xfrm>
          <a:prstGeom prst="rect">
            <a:avLst/>
          </a:prstGeom>
          <a:noFill/>
          <a:ln/>
        </p:spPr>
        <p:txBody>
          <a:bodyPr wrap="square" lIns="0" tIns="0" rIns="0" bIns="0" rtlCol="0" anchor="ctr"/>
          <a:lstStyle/>
          <a:p>
            <a:pPr indent="0" marL="0">
              <a:buNone/>
            </a:pPr>
            <a:r>
              <a:rPr lang="en-US" sz="1500" b="1" dirty="0">
                <a:solidFill>
                  <a:srgbClr val="15202B"/>
                </a:solidFill>
                <a:latin typeface="Calibri" pitchFamily="34" charset="0"/>
                <a:ea typeface="Calibri" pitchFamily="34" charset="-122"/>
                <a:cs typeface="Calibri" pitchFamily="34" charset="-120"/>
              </a:rPr>
              <a:t>Paste it in the head</a:t>
            </a:r>
            <a:endParaRPr lang="en-US" sz="1500" dirty="0"/>
          </a:p>
        </p:txBody>
      </p:sp>
      <p:sp>
        <p:nvSpPr>
          <p:cNvPr id="30" name="Text 24"/>
          <p:cNvSpPr/>
          <p:nvPr/>
        </p:nvSpPr>
        <p:spPr>
          <a:xfrm>
            <a:off x="6565392" y="2907792"/>
            <a:ext cx="2066544" cy="640080"/>
          </a:xfrm>
          <a:prstGeom prst="rect">
            <a:avLst/>
          </a:prstGeom>
          <a:noFill/>
          <a:ln/>
        </p:spPr>
        <p:txBody>
          <a:bodyPr wrap="square" lIns="0" tIns="0" rIns="0" bIns="0" rtlCol="0" anchor="t"/>
          <a:lstStyle/>
          <a:p>
            <a:pPr algn="l" indent="0" marL="0">
              <a:lnSpc>
                <a:spcPts val="1500"/>
              </a:lnSpc>
              <a:buNone/>
            </a:pPr>
            <a:r>
              <a:rPr lang="en-US" sz="1150" dirty="0">
                <a:solidFill>
                  <a:srgbClr val="55616F"/>
                </a:solidFill>
                <a:latin typeface="Calibri" pitchFamily="34" charset="0"/>
                <a:ea typeface="Calibri" pitchFamily="34" charset="-122"/>
                <a:cs typeface="Calibri" pitchFamily="34" charset="-120"/>
              </a:rPr>
              <a:t>Same place as your own stylesheet link, above your CSS.</a:t>
            </a:r>
            <a:endParaRPr lang="en-US" sz="1150" dirty="0"/>
          </a:p>
        </p:txBody>
      </p:sp>
      <p:sp>
        <p:nvSpPr>
          <p:cNvPr id="31" name="Shape 25"/>
          <p:cNvSpPr/>
          <p:nvPr/>
        </p:nvSpPr>
        <p:spPr>
          <a:xfrm>
            <a:off x="8924544" y="2715768"/>
            <a:ext cx="192024" cy="0"/>
          </a:xfrm>
          <a:prstGeom prst="line">
            <a:avLst/>
          </a:prstGeom>
          <a:noFill/>
          <a:ln w="19050">
            <a:solidFill>
              <a:srgbClr val="B6CDFA"/>
            </a:solidFill>
            <a:prstDash val="solid"/>
            <a:tailEnd type="triangle"/>
          </a:ln>
        </p:spPr>
      </p:sp>
      <p:sp>
        <p:nvSpPr>
          <p:cNvPr id="32" name="Shape 26"/>
          <p:cNvSpPr/>
          <p:nvPr/>
        </p:nvSpPr>
        <p:spPr>
          <a:xfrm>
            <a:off x="9171432" y="1664208"/>
            <a:ext cx="2542032" cy="2103120"/>
          </a:xfrm>
          <a:prstGeom prst="roundRect">
            <a:avLst>
              <a:gd name="adj" fmla="val 4348"/>
            </a:avLst>
          </a:prstGeom>
          <a:solidFill>
            <a:srgbClr val="FFFFFF"/>
          </a:solidFill>
          <a:ln w="12700">
            <a:solidFill>
              <a:srgbClr val="D9DEE7"/>
            </a:solidFill>
            <a:prstDash val="solid"/>
          </a:ln>
          <a:effectLst>
            <a:outerShdw sx="100000" sy="100000" kx="0" ky="0" algn="bl" rotWithShape="0" blurRad="177800" dist="38100" dir="5400000">
              <a:srgbClr val="000000">
                <a:alpha val="35000"/>
              </a:srgbClr>
            </a:outerShdw>
          </a:effectLst>
        </p:spPr>
      </p:sp>
      <p:sp>
        <p:nvSpPr>
          <p:cNvPr id="33" name="Shape 27"/>
          <p:cNvSpPr/>
          <p:nvPr/>
        </p:nvSpPr>
        <p:spPr>
          <a:xfrm>
            <a:off x="9409176" y="1901952"/>
            <a:ext cx="512064" cy="512064"/>
          </a:xfrm>
          <a:prstGeom prst="roundRect">
            <a:avLst>
              <a:gd name="adj" fmla="val 17857"/>
            </a:avLst>
          </a:prstGeom>
          <a:solidFill>
            <a:srgbClr val="E7EEFD"/>
          </a:solidFill>
          <a:ln w="12700">
            <a:solidFill>
              <a:srgbClr val="B6CDFA"/>
            </a:solidFill>
            <a:prstDash val="solid"/>
          </a:ln>
        </p:spPr>
      </p:sp>
      <p:pic>
        <p:nvPicPr>
          <p:cNvPr id="34" name="Image 3" descr="preencoded.png">    </p:cNvPr>
          <p:cNvPicPr>
            <a:picLocks noChangeAspect="1"/>
          </p:cNvPicPr>
          <p:nvPr/>
        </p:nvPicPr>
        <p:blipFill>
          <a:blip r:embed="rId4"/>
          <a:stretch>
            <a:fillRect/>
          </a:stretch>
        </p:blipFill>
        <p:spPr>
          <a:xfrm>
            <a:off x="9542313" y="2035089"/>
            <a:ext cx="245791" cy="245791"/>
          </a:xfrm>
          <a:prstGeom prst="rect">
            <a:avLst/>
          </a:prstGeom>
        </p:spPr>
      </p:pic>
      <p:sp>
        <p:nvSpPr>
          <p:cNvPr id="35" name="Shape 28"/>
          <p:cNvSpPr/>
          <p:nvPr/>
        </p:nvSpPr>
        <p:spPr>
          <a:xfrm>
            <a:off x="11055096" y="1920240"/>
            <a:ext cx="420624" cy="420624"/>
          </a:xfrm>
          <a:prstGeom prst="ellipse">
            <a:avLst/>
          </a:prstGeom>
          <a:solidFill>
            <a:srgbClr val="FFFFFF"/>
          </a:solidFill>
          <a:ln w="12700">
            <a:solidFill>
              <a:srgbClr val="D9DEE7"/>
            </a:solidFill>
            <a:prstDash val="solid"/>
          </a:ln>
        </p:spPr>
      </p:sp>
      <p:sp>
        <p:nvSpPr>
          <p:cNvPr id="36" name="Text 29"/>
          <p:cNvSpPr/>
          <p:nvPr/>
        </p:nvSpPr>
        <p:spPr>
          <a:xfrm>
            <a:off x="11055096" y="1920240"/>
            <a:ext cx="420624" cy="420624"/>
          </a:xfrm>
          <a:prstGeom prst="rect">
            <a:avLst/>
          </a:prstGeom>
          <a:noFill/>
          <a:ln/>
        </p:spPr>
        <p:txBody>
          <a:bodyPr wrap="square" lIns="0" tIns="0" rIns="0" bIns="0" rtlCol="0" anchor="ctr"/>
          <a:lstStyle/>
          <a:p>
            <a:pPr algn="ctr" indent="0" marL="0">
              <a:buNone/>
            </a:pPr>
            <a:r>
              <a:rPr lang="en-US" sz="1200" b="1" dirty="0">
                <a:solidFill>
                  <a:srgbClr val="939DAB"/>
                </a:solidFill>
                <a:latin typeface="Calibri" pitchFamily="34" charset="0"/>
                <a:ea typeface="Calibri" pitchFamily="34" charset="-122"/>
                <a:cs typeface="Calibri" pitchFamily="34" charset="-120"/>
              </a:rPr>
              <a:t>4</a:t>
            </a:r>
            <a:endParaRPr lang="en-US" sz="1200" dirty="0"/>
          </a:p>
        </p:txBody>
      </p:sp>
      <p:sp>
        <p:nvSpPr>
          <p:cNvPr id="37" name="Text 30"/>
          <p:cNvSpPr/>
          <p:nvPr/>
        </p:nvSpPr>
        <p:spPr>
          <a:xfrm>
            <a:off x="9409176" y="2542032"/>
            <a:ext cx="2066544" cy="329184"/>
          </a:xfrm>
          <a:prstGeom prst="rect">
            <a:avLst/>
          </a:prstGeom>
          <a:noFill/>
          <a:ln/>
        </p:spPr>
        <p:txBody>
          <a:bodyPr wrap="square" lIns="0" tIns="0" rIns="0" bIns="0" rtlCol="0" anchor="ctr"/>
          <a:lstStyle/>
          <a:p>
            <a:pPr indent="0" marL="0">
              <a:buNone/>
            </a:pPr>
            <a:r>
              <a:rPr lang="en-US" sz="1500" b="1" dirty="0">
                <a:solidFill>
                  <a:srgbClr val="15202B"/>
                </a:solidFill>
                <a:latin typeface="Calibri" pitchFamily="34" charset="0"/>
                <a:ea typeface="Calibri" pitchFamily="34" charset="-122"/>
                <a:cs typeface="Calibri" pitchFamily="34" charset="-120"/>
              </a:rPr>
              <a:t>Use the family name</a:t>
            </a:r>
            <a:endParaRPr lang="en-US" sz="1500" dirty="0"/>
          </a:p>
        </p:txBody>
      </p:sp>
      <p:sp>
        <p:nvSpPr>
          <p:cNvPr id="38" name="Text 31"/>
          <p:cNvSpPr/>
          <p:nvPr/>
        </p:nvSpPr>
        <p:spPr>
          <a:xfrm>
            <a:off x="9409176" y="2907792"/>
            <a:ext cx="2066544" cy="640080"/>
          </a:xfrm>
          <a:prstGeom prst="rect">
            <a:avLst/>
          </a:prstGeom>
          <a:noFill/>
          <a:ln/>
        </p:spPr>
        <p:txBody>
          <a:bodyPr wrap="square" lIns="0" tIns="0" rIns="0" bIns="0" rtlCol="0" anchor="t"/>
          <a:lstStyle/>
          <a:p>
            <a:pPr algn="l" indent="0" marL="0">
              <a:lnSpc>
                <a:spcPts val="1500"/>
              </a:lnSpc>
              <a:buNone/>
            </a:pPr>
            <a:r>
              <a:rPr lang="en-US" sz="1150" dirty="0">
                <a:solidFill>
                  <a:srgbClr val="55616F"/>
                </a:solidFill>
                <a:latin typeface="Calibri" pitchFamily="34" charset="0"/>
                <a:ea typeface="Calibri" pitchFamily="34" charset="-122"/>
                <a:cs typeface="Calibri" pitchFamily="34" charset="-120"/>
              </a:rPr>
              <a:t>Copy the font-family line Google shows you, exactly as written.</a:t>
            </a:r>
            <a:endParaRPr lang="en-US" sz="1150" dirty="0"/>
          </a:p>
        </p:txBody>
      </p:sp>
      <p:sp>
        <p:nvSpPr>
          <p:cNvPr id="39" name="Shape 32"/>
          <p:cNvSpPr/>
          <p:nvPr/>
        </p:nvSpPr>
        <p:spPr>
          <a:xfrm>
            <a:off x="640080" y="3968496"/>
            <a:ext cx="10881360" cy="1463040"/>
          </a:xfrm>
          <a:prstGeom prst="roundRect">
            <a:avLst>
              <a:gd name="adj" fmla="val 6250"/>
            </a:avLst>
          </a:prstGeom>
          <a:solidFill>
            <a:srgbClr val="111826"/>
          </a:solidFill>
          <a:ln w="12700">
            <a:solidFill>
              <a:srgbClr val="1D2637"/>
            </a:solidFill>
            <a:prstDash val="solid"/>
          </a:ln>
          <a:effectLst>
            <a:outerShdw sx="100000" sy="100000" kx="0" ky="0" algn="bl" rotWithShape="0" blurRad="177800" dist="38100" dir="5400000">
              <a:srgbClr val="000000">
                <a:alpha val="35000"/>
              </a:srgbClr>
            </a:outerShdw>
          </a:effectLst>
        </p:spPr>
      </p:sp>
      <p:sp>
        <p:nvSpPr>
          <p:cNvPr id="40" name="Shape 33"/>
          <p:cNvSpPr/>
          <p:nvPr/>
        </p:nvSpPr>
        <p:spPr>
          <a:xfrm>
            <a:off x="877824" y="4187952"/>
            <a:ext cx="109728" cy="109728"/>
          </a:xfrm>
          <a:prstGeom prst="ellipse">
            <a:avLst/>
          </a:prstGeom>
          <a:solidFill>
            <a:srgbClr val="FF5F57"/>
          </a:solidFill>
          <a:ln w="6350">
            <a:solidFill>
              <a:srgbClr val="FF5F57"/>
            </a:solidFill>
            <a:prstDash val="solid"/>
          </a:ln>
        </p:spPr>
      </p:sp>
      <p:sp>
        <p:nvSpPr>
          <p:cNvPr id="41" name="Shape 34"/>
          <p:cNvSpPr/>
          <p:nvPr/>
        </p:nvSpPr>
        <p:spPr>
          <a:xfrm>
            <a:off x="1078992" y="4187952"/>
            <a:ext cx="109728" cy="109728"/>
          </a:xfrm>
          <a:prstGeom prst="ellipse">
            <a:avLst/>
          </a:prstGeom>
          <a:solidFill>
            <a:srgbClr val="FEBC2E"/>
          </a:solidFill>
          <a:ln w="6350">
            <a:solidFill>
              <a:srgbClr val="FEBC2E"/>
            </a:solidFill>
            <a:prstDash val="solid"/>
          </a:ln>
        </p:spPr>
      </p:sp>
      <p:sp>
        <p:nvSpPr>
          <p:cNvPr id="42" name="Shape 35"/>
          <p:cNvSpPr/>
          <p:nvPr/>
        </p:nvSpPr>
        <p:spPr>
          <a:xfrm>
            <a:off x="1280160" y="4187952"/>
            <a:ext cx="109728" cy="109728"/>
          </a:xfrm>
          <a:prstGeom prst="ellipse">
            <a:avLst/>
          </a:prstGeom>
          <a:solidFill>
            <a:srgbClr val="28C840"/>
          </a:solidFill>
          <a:ln w="6350">
            <a:solidFill>
              <a:srgbClr val="28C840"/>
            </a:solidFill>
            <a:prstDash val="solid"/>
          </a:ln>
        </p:spPr>
      </p:sp>
      <p:sp>
        <p:nvSpPr>
          <p:cNvPr id="43" name="Text 36"/>
          <p:cNvSpPr/>
          <p:nvPr/>
        </p:nvSpPr>
        <p:spPr>
          <a:xfrm>
            <a:off x="1609344" y="4096512"/>
            <a:ext cx="9601200" cy="292608"/>
          </a:xfrm>
          <a:prstGeom prst="rect">
            <a:avLst/>
          </a:prstGeom>
          <a:noFill/>
          <a:ln/>
        </p:spPr>
        <p:txBody>
          <a:bodyPr wrap="square" lIns="0" tIns="0" rIns="0" bIns="0" rtlCol="0" anchor="ctr"/>
          <a:lstStyle/>
          <a:p>
            <a:pPr indent="0" marL="0">
              <a:buNone/>
            </a:pPr>
            <a:r>
              <a:rPr lang="en-US" sz="1050" dirty="0">
                <a:solidFill>
                  <a:srgbClr val="8C93A0"/>
                </a:solidFill>
                <a:latin typeface="Courier New" pitchFamily="34" charset="0"/>
                <a:ea typeface="Courier New" pitchFamily="34" charset="-122"/>
                <a:cs typeface="Courier New" pitchFamily="34" charset="-120"/>
              </a:rPr>
              <a:t>index.html</a:t>
            </a:r>
            <a:endParaRPr lang="en-US" sz="1050" dirty="0"/>
          </a:p>
        </p:txBody>
      </p:sp>
      <p:sp>
        <p:nvSpPr>
          <p:cNvPr id="44" name="Text 37"/>
          <p:cNvSpPr/>
          <p:nvPr/>
        </p:nvSpPr>
        <p:spPr>
          <a:xfrm>
            <a:off x="914400" y="4535424"/>
            <a:ext cx="10332720" cy="640080"/>
          </a:xfrm>
          <a:prstGeom prst="rect">
            <a:avLst/>
          </a:prstGeom>
          <a:noFill/>
          <a:ln/>
        </p:spPr>
        <p:txBody>
          <a:bodyPr wrap="square" lIns="0" tIns="0" rIns="0" bIns="0" rtlCol="0" anchor="t"/>
          <a:lstStyle/>
          <a:p>
            <a:pPr indent="0" marL="0">
              <a:lnSpc>
                <a:spcPts val="2200"/>
              </a:lnSpc>
              <a:buNone/>
            </a:pPr>
            <a:r>
              <a:rPr lang="en-US" sz="1150" dirty="0">
                <a:solidFill>
                  <a:srgbClr val="9AA4B5"/>
                </a:solidFill>
                <a:latin typeface="Courier New" pitchFamily="34" charset="0"/>
                <a:ea typeface="Courier New" pitchFamily="34" charset="-122"/>
                <a:cs typeface="Courier New" pitchFamily="34" charset="-120"/>
              </a:rPr>
              <a:t>&lt;</a:t>
            </a:r>
            <a:pPr indent="0" marL="0">
              <a:lnSpc>
                <a:spcPts val="2200"/>
              </a:lnSpc>
              <a:buNone/>
            </a:pPr>
            <a:r>
              <a:rPr lang="en-US" sz="1150" dirty="0">
                <a:solidFill>
                  <a:srgbClr val="FF9E86"/>
                </a:solidFill>
                <a:latin typeface="Courier New" pitchFamily="34" charset="0"/>
                <a:ea typeface="Courier New" pitchFamily="34" charset="-122"/>
                <a:cs typeface="Courier New" pitchFamily="34" charset="-120"/>
              </a:rPr>
              <a:t>link</a:t>
            </a:r>
            <a:pPr indent="0" marL="0">
              <a:lnSpc>
                <a:spcPts val="2200"/>
              </a:lnSpc>
              <a:buNone/>
            </a:pPr>
            <a:r>
              <a:rPr lang="en-US" sz="1150" dirty="0">
                <a:solidFill>
                  <a:srgbClr val="E6EAF2"/>
                </a:solidFill>
                <a:latin typeface="Courier New" pitchFamily="34" charset="0"/>
                <a:ea typeface="Courier New" pitchFamily="34" charset="-122"/>
                <a:cs typeface="Courier New" pitchFamily="34" charset="-120"/>
              </a:rPr>
              <a:t> </a:t>
            </a:r>
            <a:pPr indent="0" marL="0">
              <a:lnSpc>
                <a:spcPts val="2200"/>
              </a:lnSpc>
              <a:buNone/>
            </a:pPr>
            <a:r>
              <a:rPr lang="en-US" sz="1150" dirty="0">
                <a:solidFill>
                  <a:srgbClr val="FFD08A"/>
                </a:solidFill>
                <a:latin typeface="Courier New" pitchFamily="34" charset="0"/>
                <a:ea typeface="Courier New" pitchFamily="34" charset="-122"/>
                <a:cs typeface="Courier New" pitchFamily="34" charset="-120"/>
              </a:rPr>
              <a:t>href</a:t>
            </a:r>
            <a:pPr indent="0" marL="0">
              <a:lnSpc>
                <a:spcPts val="2200"/>
              </a:lnSpc>
              <a:buNone/>
            </a:pPr>
            <a:r>
              <a:rPr lang="en-US" sz="1150" dirty="0">
                <a:solidFill>
                  <a:srgbClr val="9AA4B5"/>
                </a:solidFill>
                <a:latin typeface="Courier New" pitchFamily="34" charset="0"/>
                <a:ea typeface="Courier New" pitchFamily="34" charset="-122"/>
                <a:cs typeface="Courier New" pitchFamily="34" charset="-120"/>
              </a:rPr>
              <a:t>=</a:t>
            </a:r>
            <a:pPr indent="0" marL="0">
              <a:lnSpc>
                <a:spcPts val="2200"/>
              </a:lnSpc>
              <a:buNone/>
            </a:pPr>
            <a:r>
              <a:rPr lang="en-US" sz="1150" dirty="0">
                <a:solidFill>
                  <a:srgbClr val="9BD5FF"/>
                </a:solidFill>
                <a:latin typeface="Courier New" pitchFamily="34" charset="0"/>
                <a:ea typeface="Courier New" pitchFamily="34" charset="-122"/>
                <a:cs typeface="Courier New" pitchFamily="34" charset="-120"/>
              </a:rPr>
              <a:t>"https://fonts.googleapis.com/css2?family=Poppins"</a:t>
            </a:r>
            <a:pPr indent="0" marL="0">
              <a:lnSpc>
                <a:spcPts val="2200"/>
              </a:lnSpc>
              <a:buNone/>
            </a:pPr>
            <a:r>
              <a:rPr lang="en-US" sz="1150" dirty="0">
                <a:solidFill>
                  <a:srgbClr val="E6EAF2"/>
                </a:solidFill>
                <a:latin typeface="Courier New" pitchFamily="34" charset="0"/>
                <a:ea typeface="Courier New" pitchFamily="34" charset="-122"/>
                <a:cs typeface="Courier New" pitchFamily="34" charset="-120"/>
              </a:rPr>
              <a:t> </a:t>
            </a:r>
            <a:pPr indent="0" marL="0">
              <a:lnSpc>
                <a:spcPts val="2200"/>
              </a:lnSpc>
              <a:buNone/>
            </a:pPr>
            <a:r>
              <a:rPr lang="en-US" sz="1150" dirty="0">
                <a:solidFill>
                  <a:srgbClr val="FFD08A"/>
                </a:solidFill>
                <a:latin typeface="Courier New" pitchFamily="34" charset="0"/>
                <a:ea typeface="Courier New" pitchFamily="34" charset="-122"/>
                <a:cs typeface="Courier New" pitchFamily="34" charset="-120"/>
              </a:rPr>
              <a:t>rel</a:t>
            </a:r>
            <a:pPr indent="0" marL="0">
              <a:lnSpc>
                <a:spcPts val="2200"/>
              </a:lnSpc>
              <a:buNone/>
            </a:pPr>
            <a:r>
              <a:rPr lang="en-US" sz="1150" dirty="0">
                <a:solidFill>
                  <a:srgbClr val="9AA4B5"/>
                </a:solidFill>
                <a:latin typeface="Courier New" pitchFamily="34" charset="0"/>
                <a:ea typeface="Courier New" pitchFamily="34" charset="-122"/>
                <a:cs typeface="Courier New" pitchFamily="34" charset="-120"/>
              </a:rPr>
              <a:t>=</a:t>
            </a:r>
            <a:pPr indent="0" marL="0">
              <a:lnSpc>
                <a:spcPts val="2200"/>
              </a:lnSpc>
              <a:buNone/>
            </a:pPr>
            <a:r>
              <a:rPr lang="en-US" sz="1150" dirty="0">
                <a:solidFill>
                  <a:srgbClr val="9BD5FF"/>
                </a:solidFill>
                <a:latin typeface="Courier New" pitchFamily="34" charset="0"/>
                <a:ea typeface="Courier New" pitchFamily="34" charset="-122"/>
                <a:cs typeface="Courier New" pitchFamily="34" charset="-120"/>
              </a:rPr>
              <a:t>"stylesheet"</a:t>
            </a:r>
            <a:pPr indent="0" marL="0">
              <a:lnSpc>
                <a:spcPts val="2200"/>
              </a:lnSpc>
              <a:buNone/>
            </a:pPr>
            <a:r>
              <a:rPr lang="en-US" sz="1150" dirty="0">
                <a:solidFill>
                  <a:srgbClr val="9AA4B5"/>
                </a:solidFill>
                <a:latin typeface="Courier New" pitchFamily="34" charset="0"/>
                <a:ea typeface="Courier New" pitchFamily="34" charset="-122"/>
                <a:cs typeface="Courier New" pitchFamily="34" charset="-120"/>
              </a:rPr>
              <a:t>&gt;</a:t>
            </a:r>
            <a:pPr indent="0" marL="0">
              <a:lnSpc>
                <a:spcPts val="2200"/>
              </a:lnSpc>
              <a:buNone/>
            </a:pPr>
            <a:endParaRPr lang="en-US" sz="1150" dirty="0"/>
          </a:p>
          <a:p>
            <a:pPr indent="0" marL="0">
              <a:lnSpc>
                <a:spcPts val="2200"/>
              </a:lnSpc>
              <a:buNone/>
            </a:pPr>
            <a:endParaRPr lang="en-US" sz="1150" dirty="0"/>
          </a:p>
          <a:p>
            <a:pPr indent="0" marL="0">
              <a:lnSpc>
                <a:spcPts val="2200"/>
              </a:lnSpc>
              <a:buNone/>
            </a:pPr>
            <a:r>
              <a:rPr lang="en-US" sz="1150" dirty="0">
                <a:solidFill>
                  <a:srgbClr val="E6EAF2"/>
                </a:solidFill>
                <a:latin typeface="Courier New" pitchFamily="34" charset="0"/>
                <a:ea typeface="Courier New" pitchFamily="34" charset="-122"/>
                <a:cs typeface="Courier New" pitchFamily="34" charset="-120"/>
              </a:rPr>
              <a:t>h1 </a:t>
            </a:r>
            <a:pPr indent="0" marL="0">
              <a:lnSpc>
                <a:spcPts val="2200"/>
              </a:lnSpc>
              <a:buNone/>
            </a:pPr>
            <a:r>
              <a:rPr lang="en-US" sz="1150" dirty="0">
                <a:solidFill>
                  <a:srgbClr val="9AA4B5"/>
                </a:solidFill>
                <a:latin typeface="Courier New" pitchFamily="34" charset="0"/>
                <a:ea typeface="Courier New" pitchFamily="34" charset="-122"/>
                <a:cs typeface="Courier New" pitchFamily="34" charset="-120"/>
              </a:rPr>
              <a:t>{ </a:t>
            </a:r>
            <a:pPr indent="0" marL="0">
              <a:lnSpc>
                <a:spcPts val="2200"/>
              </a:lnSpc>
              <a:buNone/>
            </a:pPr>
            <a:r>
              <a:rPr lang="en-US" sz="1150" dirty="0">
                <a:solidFill>
                  <a:srgbClr val="FFD08A"/>
                </a:solidFill>
                <a:latin typeface="Courier New" pitchFamily="34" charset="0"/>
                <a:ea typeface="Courier New" pitchFamily="34" charset="-122"/>
                <a:cs typeface="Courier New" pitchFamily="34" charset="-120"/>
              </a:rPr>
              <a:t>font-family</a:t>
            </a:r>
            <a:pPr indent="0" marL="0">
              <a:lnSpc>
                <a:spcPts val="2200"/>
              </a:lnSpc>
              <a:buNone/>
            </a:pPr>
            <a:r>
              <a:rPr lang="en-US" sz="1150" dirty="0">
                <a:solidFill>
                  <a:srgbClr val="9AA4B5"/>
                </a:solidFill>
                <a:latin typeface="Courier New" pitchFamily="34" charset="0"/>
                <a:ea typeface="Courier New" pitchFamily="34" charset="-122"/>
                <a:cs typeface="Courier New" pitchFamily="34" charset="-120"/>
              </a:rPr>
              <a:t>: </a:t>
            </a:r>
            <a:pPr indent="0" marL="0">
              <a:lnSpc>
                <a:spcPts val="2200"/>
              </a:lnSpc>
              <a:buNone/>
            </a:pPr>
            <a:r>
              <a:rPr lang="en-US" sz="1150" dirty="0">
                <a:solidFill>
                  <a:srgbClr val="9BD5FF"/>
                </a:solidFill>
                <a:latin typeface="Courier New" pitchFamily="34" charset="0"/>
                <a:ea typeface="Courier New" pitchFamily="34" charset="-122"/>
                <a:cs typeface="Courier New" pitchFamily="34" charset="-120"/>
              </a:rPr>
              <a:t>'Poppins'</a:t>
            </a:r>
            <a:pPr indent="0" marL="0">
              <a:lnSpc>
                <a:spcPts val="2200"/>
              </a:lnSpc>
              <a:buNone/>
            </a:pPr>
            <a:r>
              <a:rPr lang="en-US" sz="1150" dirty="0">
                <a:solidFill>
                  <a:srgbClr val="9AA4B5"/>
                </a:solidFill>
                <a:latin typeface="Courier New" pitchFamily="34" charset="0"/>
                <a:ea typeface="Courier New" pitchFamily="34" charset="-122"/>
                <a:cs typeface="Courier New" pitchFamily="34" charset="-120"/>
              </a:rPr>
              <a:t>, </a:t>
            </a:r>
            <a:pPr indent="0" marL="0">
              <a:lnSpc>
                <a:spcPts val="2200"/>
              </a:lnSpc>
              <a:buNone/>
            </a:pPr>
            <a:r>
              <a:rPr lang="en-US" sz="1150" dirty="0">
                <a:solidFill>
                  <a:srgbClr val="9BD5FF"/>
                </a:solidFill>
                <a:latin typeface="Courier New" pitchFamily="34" charset="0"/>
                <a:ea typeface="Courier New" pitchFamily="34" charset="-122"/>
                <a:cs typeface="Courier New" pitchFamily="34" charset="-120"/>
              </a:rPr>
              <a:t>sans-serif</a:t>
            </a:r>
            <a:pPr indent="0" marL="0">
              <a:lnSpc>
                <a:spcPts val="2200"/>
              </a:lnSpc>
              <a:buNone/>
            </a:pPr>
            <a:r>
              <a:rPr lang="en-US" sz="1150" dirty="0">
                <a:solidFill>
                  <a:srgbClr val="9AA4B5"/>
                </a:solidFill>
                <a:latin typeface="Courier New" pitchFamily="34" charset="0"/>
                <a:ea typeface="Courier New" pitchFamily="34" charset="-122"/>
                <a:cs typeface="Courier New" pitchFamily="34" charset="-120"/>
              </a:rPr>
              <a:t>; }</a:t>
            </a:r>
            <a:endParaRPr lang="en-US" sz="1150" dirty="0"/>
          </a:p>
        </p:txBody>
      </p:sp>
      <p:sp>
        <p:nvSpPr>
          <p:cNvPr id="45" name="Shape 38"/>
          <p:cNvSpPr/>
          <p:nvPr/>
        </p:nvSpPr>
        <p:spPr>
          <a:xfrm>
            <a:off x="640080" y="5596128"/>
            <a:ext cx="10908792" cy="603504"/>
          </a:xfrm>
          <a:prstGeom prst="roundRect">
            <a:avLst>
              <a:gd name="adj" fmla="val 15152"/>
            </a:avLst>
          </a:prstGeom>
          <a:solidFill>
            <a:srgbClr val="E7EEFD"/>
          </a:solidFill>
          <a:ln w="12700">
            <a:solidFill>
              <a:srgbClr val="B6CDFA"/>
            </a:solidFill>
            <a:prstDash val="solid"/>
          </a:ln>
          <a:effectLst>
            <a:outerShdw sx="100000" sy="100000" kx="0" ky="0" algn="bl" rotWithShape="0" blurRad="177800" dist="38100" dir="5400000">
              <a:srgbClr val="000000">
                <a:alpha val="35000"/>
              </a:srgbClr>
            </a:outerShdw>
          </a:effectLst>
        </p:spPr>
      </p:sp>
      <p:sp>
        <p:nvSpPr>
          <p:cNvPr id="46" name="Text 39"/>
          <p:cNvSpPr/>
          <p:nvPr/>
        </p:nvSpPr>
        <p:spPr>
          <a:xfrm>
            <a:off x="914400" y="5596128"/>
            <a:ext cx="10360152" cy="603504"/>
          </a:xfrm>
          <a:prstGeom prst="rect">
            <a:avLst/>
          </a:prstGeom>
          <a:noFill/>
          <a:ln/>
        </p:spPr>
        <p:txBody>
          <a:bodyPr wrap="square" lIns="0" tIns="0" rIns="0" bIns="0" rtlCol="0" anchor="ctr"/>
          <a:lstStyle/>
          <a:p>
            <a:pPr algn="ctr" indent="0" marL="0">
              <a:buNone/>
            </a:pPr>
            <a:r>
              <a:rPr lang="en-US" sz="1550" b="1" dirty="0">
                <a:solidFill>
                  <a:srgbClr val="15202B"/>
                </a:solidFill>
                <a:latin typeface="Calibri" pitchFamily="34" charset="0"/>
                <a:ea typeface="Calibri" pitchFamily="34" charset="-122"/>
                <a:cs typeface="Calibri" pitchFamily="34" charset="-120"/>
              </a:rPr>
              <a:t>A Google font is just someone else’s stylesheet, linked before yours.</a:t>
            </a:r>
            <a:endParaRPr lang="en-US" sz="15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7FA"/>
        </a:solidFill>
      </p:bgPr>
    </p:bg>
    <p:spTree>
      <p:nvGrpSpPr>
        <p:cNvPr id="1" name=""/>
        <p:cNvGrpSpPr/>
        <p:nvPr/>
      </p:nvGrpSpPr>
      <p:grpSpPr>
        <a:xfrm>
          <a:off x="0" y="0"/>
          <a:ext cx="0" cy="0"/>
          <a:chOff x="0" y="0"/>
          <a:chExt cx="0" cy="0"/>
        </a:xfrm>
      </p:grpSpPr>
      <p:sp>
        <p:nvSpPr>
          <p:cNvPr id="3" name="Text 0"/>
          <p:cNvSpPr/>
          <p:nvPr/>
        </p:nvSpPr>
        <p:spPr>
          <a:xfrm>
            <a:off x="640080" y="6364224"/>
            <a:ext cx="3657600" cy="256032"/>
          </a:xfrm>
          <a:prstGeom prst="rect">
            <a:avLst/>
          </a:prstGeom>
          <a:noFill/>
          <a:ln/>
        </p:spPr>
        <p:txBody>
          <a:bodyPr wrap="square" lIns="0" tIns="0" rIns="0" bIns="0" rtlCol="0" anchor="ctr"/>
          <a:lstStyle/>
          <a:p>
            <a:pPr indent="0" marL="0">
              <a:buNone/>
            </a:pPr>
            <a:r>
              <a:rPr lang="en-US" sz="900" dirty="0">
                <a:solidFill>
                  <a:srgbClr val="939DAB"/>
                </a:solidFill>
                <a:latin typeface="Courier New" pitchFamily="34" charset="0"/>
                <a:ea typeface="Courier New" pitchFamily="34" charset="-122"/>
                <a:cs typeface="Courier New" pitchFamily="34" charset="-120"/>
              </a:rPr>
              <a:t>CLASS 03  ·  CSS</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939DAB"/>
                </a:solidFill>
                <a:latin typeface="Courier New" pitchFamily="34" charset="0"/>
                <a:ea typeface="Courier New" pitchFamily="34" charset="-122"/>
                <a:cs typeface="Courier New" pitchFamily="34" charset="-120"/>
              </a:rPr>
              <a:t>17</a:t>
            </a:r>
            <a:endParaRPr lang="en-US" sz="900" dirty="0"/>
          </a:p>
        </p:txBody>
      </p:sp>
      <p:sp>
        <p:nvSpPr>
          <p:cNvPr id="5" name="Shape 2"/>
          <p:cNvSpPr/>
          <p:nvPr/>
        </p:nvSpPr>
        <p:spPr>
          <a:xfrm>
            <a:off x="640080" y="365760"/>
            <a:ext cx="1920240" cy="347472"/>
          </a:xfrm>
          <a:prstGeom prst="roundRect">
            <a:avLst>
              <a:gd name="adj" fmla="val 21053"/>
            </a:avLst>
          </a:prstGeom>
          <a:solidFill>
            <a:srgbClr val="2C6BED"/>
          </a:solidFill>
          <a:ln w="15875">
            <a:solidFill>
              <a:srgbClr val="15202B"/>
            </a:solidFill>
            <a:prstDash val="solid"/>
          </a:ln>
        </p:spPr>
      </p:sp>
      <p:sp>
        <p:nvSpPr>
          <p:cNvPr id="6" name="Text 3"/>
          <p:cNvSpPr/>
          <p:nvPr/>
        </p:nvSpPr>
        <p:spPr>
          <a:xfrm>
            <a:off x="640080" y="365760"/>
            <a:ext cx="1920240" cy="347472"/>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PROPERTIES</a:t>
            </a:r>
            <a:endParaRPr lang="en-US" sz="1050" dirty="0"/>
          </a:p>
        </p:txBody>
      </p:sp>
      <p:sp>
        <p:nvSpPr>
          <p:cNvPr id="7" name="Text 4"/>
          <p:cNvSpPr/>
          <p:nvPr/>
        </p:nvSpPr>
        <p:spPr>
          <a:xfrm>
            <a:off x="640080" y="786384"/>
            <a:ext cx="10881360" cy="603504"/>
          </a:xfrm>
          <a:prstGeom prst="rect">
            <a:avLst/>
          </a:prstGeom>
          <a:noFill/>
          <a:ln/>
        </p:spPr>
        <p:txBody>
          <a:bodyPr wrap="square" lIns="0" tIns="0" rIns="0" bIns="0" rtlCol="0" anchor="ctr"/>
          <a:lstStyle/>
          <a:p>
            <a:pPr indent="0" marL="0">
              <a:buNone/>
            </a:pPr>
            <a:r>
              <a:rPr lang="en-US" sz="3200" b="1" dirty="0">
                <a:solidFill>
                  <a:srgbClr val="15202B"/>
                </a:solidFill>
                <a:latin typeface="Calibri" pitchFamily="34" charset="0"/>
                <a:ea typeface="Calibri" pitchFamily="34" charset="-122"/>
                <a:cs typeface="Calibri" pitchFamily="34" charset="-120"/>
              </a:rPr>
              <a:t>Font is the letters. Text is the spacing between them.</a:t>
            </a:r>
            <a:endParaRPr lang="en-US" sz="3200" dirty="0"/>
          </a:p>
        </p:txBody>
      </p:sp>
      <p:sp>
        <p:nvSpPr>
          <p:cNvPr id="8" name="Shape 5"/>
          <p:cNvSpPr/>
          <p:nvPr/>
        </p:nvSpPr>
        <p:spPr>
          <a:xfrm>
            <a:off x="640080" y="1645920"/>
            <a:ext cx="5212080" cy="1874520"/>
          </a:xfrm>
          <a:prstGeom prst="roundRect">
            <a:avLst>
              <a:gd name="adj" fmla="val 4878"/>
            </a:avLst>
          </a:prstGeom>
          <a:solidFill>
            <a:srgbClr val="FFFFFF"/>
          </a:solidFill>
          <a:ln w="12700">
            <a:solidFill>
              <a:srgbClr val="D9DEE7"/>
            </a:solidFill>
            <a:prstDash val="solid"/>
          </a:ln>
          <a:effectLst>
            <a:outerShdw sx="100000" sy="100000" kx="0" ky="0" algn="bl" rotWithShape="0" blurRad="177800" dist="38100" dir="5400000">
              <a:srgbClr val="000000">
                <a:alpha val="35000"/>
              </a:srgbClr>
            </a:outerShdw>
          </a:effectLst>
        </p:spPr>
      </p:sp>
      <p:sp>
        <p:nvSpPr>
          <p:cNvPr id="9" name="Text 6"/>
          <p:cNvSpPr/>
          <p:nvPr/>
        </p:nvSpPr>
        <p:spPr>
          <a:xfrm>
            <a:off x="877824" y="1737360"/>
            <a:ext cx="4754880" cy="274320"/>
          </a:xfrm>
          <a:prstGeom prst="rect">
            <a:avLst/>
          </a:prstGeom>
          <a:noFill/>
          <a:ln/>
        </p:spPr>
        <p:txBody>
          <a:bodyPr wrap="square" lIns="0" tIns="0" rIns="0" bIns="0" rtlCol="0" anchor="ctr"/>
          <a:lstStyle/>
          <a:p>
            <a:pPr indent="0" marL="0">
              <a:buNone/>
            </a:pPr>
            <a:r>
              <a:rPr lang="en-US" sz="1350" b="1" dirty="0">
                <a:solidFill>
                  <a:srgbClr val="15202B"/>
                </a:solidFill>
                <a:latin typeface="Calibri" pitchFamily="34" charset="0"/>
                <a:ea typeface="Calibri" pitchFamily="34" charset="-122"/>
                <a:cs typeface="Calibri" pitchFamily="34" charset="-120"/>
              </a:rPr>
              <a:t>text-align</a:t>
            </a:r>
            <a:endParaRPr lang="en-US" sz="1350" dirty="0"/>
          </a:p>
        </p:txBody>
      </p:sp>
      <p:sp>
        <p:nvSpPr>
          <p:cNvPr id="10" name="Shape 7"/>
          <p:cNvSpPr/>
          <p:nvPr/>
        </p:nvSpPr>
        <p:spPr>
          <a:xfrm>
            <a:off x="877824" y="2103120"/>
            <a:ext cx="3657600" cy="365760"/>
          </a:xfrm>
          <a:prstGeom prst="rect">
            <a:avLst/>
          </a:prstGeom>
          <a:solidFill>
            <a:srgbClr val="F5F7FA"/>
          </a:solidFill>
          <a:ln w="9525">
            <a:solidFill>
              <a:srgbClr val="D9DEE7"/>
            </a:solidFill>
            <a:prstDash val="solid"/>
          </a:ln>
        </p:spPr>
      </p:sp>
      <p:sp>
        <p:nvSpPr>
          <p:cNvPr id="11" name="Text 8"/>
          <p:cNvSpPr/>
          <p:nvPr/>
        </p:nvSpPr>
        <p:spPr>
          <a:xfrm>
            <a:off x="969264" y="2103120"/>
            <a:ext cx="3474720" cy="365760"/>
          </a:xfrm>
          <a:prstGeom prst="rect">
            <a:avLst/>
          </a:prstGeom>
          <a:noFill/>
          <a:ln/>
        </p:spPr>
        <p:txBody>
          <a:bodyPr wrap="square" lIns="0" tIns="0" rIns="0" bIns="0" rtlCol="0" anchor="ctr"/>
          <a:lstStyle/>
          <a:p>
            <a:pPr algn="l" indent="0" marL="0">
              <a:buNone/>
            </a:pPr>
            <a:r>
              <a:rPr lang="en-US" sz="1200" dirty="0">
                <a:solidFill>
                  <a:srgbClr val="15202B"/>
                </a:solidFill>
                <a:latin typeface="Calibri" pitchFamily="34" charset="0"/>
                <a:ea typeface="Calibri" pitchFamily="34" charset="-122"/>
                <a:cs typeface="Calibri" pitchFamily="34" charset="-120"/>
              </a:rPr>
              <a:t>Welcome to Scaler</a:t>
            </a:r>
            <a:endParaRPr lang="en-US" sz="1200" dirty="0"/>
          </a:p>
        </p:txBody>
      </p:sp>
      <p:sp>
        <p:nvSpPr>
          <p:cNvPr id="12" name="Text 9"/>
          <p:cNvSpPr/>
          <p:nvPr/>
        </p:nvSpPr>
        <p:spPr>
          <a:xfrm>
            <a:off x="4626864" y="2103120"/>
            <a:ext cx="1005840" cy="365760"/>
          </a:xfrm>
          <a:prstGeom prst="rect">
            <a:avLst/>
          </a:prstGeom>
          <a:noFill/>
          <a:ln/>
        </p:spPr>
        <p:txBody>
          <a:bodyPr wrap="square" lIns="0" tIns="0" rIns="0" bIns="0" rtlCol="0" anchor="ctr"/>
          <a:lstStyle/>
          <a:p>
            <a:pPr indent="0" marL="0">
              <a:buNone/>
            </a:pPr>
            <a:r>
              <a:rPr lang="en-US" sz="950" dirty="0">
                <a:solidFill>
                  <a:srgbClr val="939DAB"/>
                </a:solidFill>
                <a:latin typeface="Courier New" pitchFamily="34" charset="0"/>
                <a:ea typeface="Courier New" pitchFamily="34" charset="-122"/>
                <a:cs typeface="Courier New" pitchFamily="34" charset="-120"/>
              </a:rPr>
              <a:t>left</a:t>
            </a:r>
            <a:endParaRPr lang="en-US" sz="950" dirty="0"/>
          </a:p>
        </p:txBody>
      </p:sp>
      <p:sp>
        <p:nvSpPr>
          <p:cNvPr id="13" name="Shape 10"/>
          <p:cNvSpPr/>
          <p:nvPr/>
        </p:nvSpPr>
        <p:spPr>
          <a:xfrm>
            <a:off x="877824" y="2523744"/>
            <a:ext cx="3657600" cy="365760"/>
          </a:xfrm>
          <a:prstGeom prst="rect">
            <a:avLst/>
          </a:prstGeom>
          <a:solidFill>
            <a:srgbClr val="F5F7FA"/>
          </a:solidFill>
          <a:ln w="9525">
            <a:solidFill>
              <a:srgbClr val="D9DEE7"/>
            </a:solidFill>
            <a:prstDash val="solid"/>
          </a:ln>
        </p:spPr>
      </p:sp>
      <p:sp>
        <p:nvSpPr>
          <p:cNvPr id="14" name="Text 11"/>
          <p:cNvSpPr/>
          <p:nvPr/>
        </p:nvSpPr>
        <p:spPr>
          <a:xfrm>
            <a:off x="969264" y="2523744"/>
            <a:ext cx="3474720" cy="365760"/>
          </a:xfrm>
          <a:prstGeom prst="rect">
            <a:avLst/>
          </a:prstGeom>
          <a:noFill/>
          <a:ln/>
        </p:spPr>
        <p:txBody>
          <a:bodyPr wrap="square" lIns="0" tIns="0" rIns="0" bIns="0" rtlCol="0" anchor="ctr"/>
          <a:lstStyle/>
          <a:p>
            <a:pPr algn="ctr" indent="0" marL="0">
              <a:buNone/>
            </a:pPr>
            <a:r>
              <a:rPr lang="en-US" sz="1200" dirty="0">
                <a:solidFill>
                  <a:srgbClr val="15202B"/>
                </a:solidFill>
                <a:latin typeface="Calibri" pitchFamily="34" charset="0"/>
                <a:ea typeface="Calibri" pitchFamily="34" charset="-122"/>
                <a:cs typeface="Calibri" pitchFamily="34" charset="-120"/>
              </a:rPr>
              <a:t>Welcome to Scaler</a:t>
            </a:r>
            <a:endParaRPr lang="en-US" sz="1200" dirty="0"/>
          </a:p>
        </p:txBody>
      </p:sp>
      <p:sp>
        <p:nvSpPr>
          <p:cNvPr id="15" name="Text 12"/>
          <p:cNvSpPr/>
          <p:nvPr/>
        </p:nvSpPr>
        <p:spPr>
          <a:xfrm>
            <a:off x="4626864" y="2523744"/>
            <a:ext cx="1005840" cy="365760"/>
          </a:xfrm>
          <a:prstGeom prst="rect">
            <a:avLst/>
          </a:prstGeom>
          <a:noFill/>
          <a:ln/>
        </p:spPr>
        <p:txBody>
          <a:bodyPr wrap="square" lIns="0" tIns="0" rIns="0" bIns="0" rtlCol="0" anchor="ctr"/>
          <a:lstStyle/>
          <a:p>
            <a:pPr indent="0" marL="0">
              <a:buNone/>
            </a:pPr>
            <a:r>
              <a:rPr lang="en-US" sz="950" dirty="0">
                <a:solidFill>
                  <a:srgbClr val="939DAB"/>
                </a:solidFill>
                <a:latin typeface="Courier New" pitchFamily="34" charset="0"/>
                <a:ea typeface="Courier New" pitchFamily="34" charset="-122"/>
                <a:cs typeface="Courier New" pitchFamily="34" charset="-120"/>
              </a:rPr>
              <a:t>center</a:t>
            </a:r>
            <a:endParaRPr lang="en-US" sz="950" dirty="0"/>
          </a:p>
        </p:txBody>
      </p:sp>
      <p:sp>
        <p:nvSpPr>
          <p:cNvPr id="16" name="Shape 13"/>
          <p:cNvSpPr/>
          <p:nvPr/>
        </p:nvSpPr>
        <p:spPr>
          <a:xfrm>
            <a:off x="877824" y="2944368"/>
            <a:ext cx="3657600" cy="365760"/>
          </a:xfrm>
          <a:prstGeom prst="rect">
            <a:avLst/>
          </a:prstGeom>
          <a:solidFill>
            <a:srgbClr val="F5F7FA"/>
          </a:solidFill>
          <a:ln w="9525">
            <a:solidFill>
              <a:srgbClr val="D9DEE7"/>
            </a:solidFill>
            <a:prstDash val="solid"/>
          </a:ln>
        </p:spPr>
      </p:sp>
      <p:sp>
        <p:nvSpPr>
          <p:cNvPr id="17" name="Text 14"/>
          <p:cNvSpPr/>
          <p:nvPr/>
        </p:nvSpPr>
        <p:spPr>
          <a:xfrm>
            <a:off x="969264" y="2944368"/>
            <a:ext cx="3474720" cy="365760"/>
          </a:xfrm>
          <a:prstGeom prst="rect">
            <a:avLst/>
          </a:prstGeom>
          <a:noFill/>
          <a:ln/>
        </p:spPr>
        <p:txBody>
          <a:bodyPr wrap="square" lIns="0" tIns="0" rIns="0" bIns="0" rtlCol="0" anchor="ctr"/>
          <a:lstStyle/>
          <a:p>
            <a:pPr algn="r" indent="0" marL="0">
              <a:buNone/>
            </a:pPr>
            <a:r>
              <a:rPr lang="en-US" sz="1200" dirty="0">
                <a:solidFill>
                  <a:srgbClr val="15202B"/>
                </a:solidFill>
                <a:latin typeface="Calibri" pitchFamily="34" charset="0"/>
                <a:ea typeface="Calibri" pitchFamily="34" charset="-122"/>
                <a:cs typeface="Calibri" pitchFamily="34" charset="-120"/>
              </a:rPr>
              <a:t>Welcome to Scaler</a:t>
            </a:r>
            <a:endParaRPr lang="en-US" sz="1200" dirty="0"/>
          </a:p>
        </p:txBody>
      </p:sp>
      <p:sp>
        <p:nvSpPr>
          <p:cNvPr id="18" name="Text 15"/>
          <p:cNvSpPr/>
          <p:nvPr/>
        </p:nvSpPr>
        <p:spPr>
          <a:xfrm>
            <a:off x="4626864" y="2944368"/>
            <a:ext cx="1005840" cy="365760"/>
          </a:xfrm>
          <a:prstGeom prst="rect">
            <a:avLst/>
          </a:prstGeom>
          <a:noFill/>
          <a:ln/>
        </p:spPr>
        <p:txBody>
          <a:bodyPr wrap="square" lIns="0" tIns="0" rIns="0" bIns="0" rtlCol="0" anchor="ctr"/>
          <a:lstStyle/>
          <a:p>
            <a:pPr indent="0" marL="0">
              <a:buNone/>
            </a:pPr>
            <a:r>
              <a:rPr lang="en-US" sz="950" dirty="0">
                <a:solidFill>
                  <a:srgbClr val="939DAB"/>
                </a:solidFill>
                <a:latin typeface="Courier New" pitchFamily="34" charset="0"/>
                <a:ea typeface="Courier New" pitchFamily="34" charset="-122"/>
                <a:cs typeface="Courier New" pitchFamily="34" charset="-120"/>
              </a:rPr>
              <a:t>right</a:t>
            </a:r>
            <a:endParaRPr lang="en-US" sz="950" dirty="0"/>
          </a:p>
        </p:txBody>
      </p:sp>
      <p:sp>
        <p:nvSpPr>
          <p:cNvPr id="19" name="Shape 16"/>
          <p:cNvSpPr/>
          <p:nvPr/>
        </p:nvSpPr>
        <p:spPr>
          <a:xfrm>
            <a:off x="6336792" y="1645920"/>
            <a:ext cx="5212080" cy="1874520"/>
          </a:xfrm>
          <a:prstGeom prst="roundRect">
            <a:avLst>
              <a:gd name="adj" fmla="val 4878"/>
            </a:avLst>
          </a:prstGeom>
          <a:solidFill>
            <a:srgbClr val="FFFFFF"/>
          </a:solidFill>
          <a:ln w="12700">
            <a:solidFill>
              <a:srgbClr val="D9DEE7"/>
            </a:solidFill>
            <a:prstDash val="solid"/>
          </a:ln>
          <a:effectLst>
            <a:outerShdw sx="100000" sy="100000" kx="0" ky="0" algn="bl" rotWithShape="0" blurRad="177800" dist="38100" dir="5400000">
              <a:srgbClr val="000000">
                <a:alpha val="35000"/>
              </a:srgbClr>
            </a:outerShdw>
          </a:effectLst>
        </p:spPr>
      </p:sp>
      <p:sp>
        <p:nvSpPr>
          <p:cNvPr id="20" name="Text 17"/>
          <p:cNvSpPr/>
          <p:nvPr/>
        </p:nvSpPr>
        <p:spPr>
          <a:xfrm>
            <a:off x="6574536" y="1737360"/>
            <a:ext cx="4754880" cy="274320"/>
          </a:xfrm>
          <a:prstGeom prst="rect">
            <a:avLst/>
          </a:prstGeom>
          <a:noFill/>
          <a:ln/>
        </p:spPr>
        <p:txBody>
          <a:bodyPr wrap="square" lIns="0" tIns="0" rIns="0" bIns="0" rtlCol="0" anchor="ctr"/>
          <a:lstStyle/>
          <a:p>
            <a:pPr indent="0" marL="0">
              <a:buNone/>
            </a:pPr>
            <a:r>
              <a:rPr lang="en-US" sz="1350" b="1" dirty="0">
                <a:solidFill>
                  <a:srgbClr val="15202B"/>
                </a:solidFill>
                <a:latin typeface="Calibri" pitchFamily="34" charset="0"/>
                <a:ea typeface="Calibri" pitchFamily="34" charset="-122"/>
                <a:cs typeface="Calibri" pitchFamily="34" charset="-120"/>
              </a:rPr>
              <a:t>text-decoration</a:t>
            </a:r>
            <a:endParaRPr lang="en-US" sz="1350" dirty="0"/>
          </a:p>
        </p:txBody>
      </p:sp>
      <p:sp>
        <p:nvSpPr>
          <p:cNvPr id="21" name="Text 18"/>
          <p:cNvSpPr/>
          <p:nvPr/>
        </p:nvSpPr>
        <p:spPr>
          <a:xfrm>
            <a:off x="6574536" y="2103120"/>
            <a:ext cx="3108960" cy="365760"/>
          </a:xfrm>
          <a:prstGeom prst="rect">
            <a:avLst/>
          </a:prstGeom>
          <a:noFill/>
          <a:ln/>
        </p:spPr>
        <p:txBody>
          <a:bodyPr wrap="square" lIns="0" tIns="0" rIns="0" bIns="0" rtlCol="0" anchor="ctr"/>
          <a:lstStyle/>
          <a:p>
            <a:pPr indent="0" marL="0">
              <a:buNone/>
            </a:pPr>
            <a:r>
              <a:rPr lang="en-US" sz="1200" u="sng" dirty="0">
                <a:solidFill>
                  <a:srgbClr val="15202B"/>
                </a:solidFill>
                <a:latin typeface="Calibri" pitchFamily="34" charset="0"/>
                <a:ea typeface="Calibri" pitchFamily="34" charset="-122"/>
                <a:cs typeface="Calibri" pitchFamily="34" charset="-120"/>
              </a:rPr>
              <a:t>Welcome to Scaler</a:t>
            </a:r>
            <a:endParaRPr lang="en-US" sz="1200" dirty="0"/>
          </a:p>
        </p:txBody>
      </p:sp>
      <p:sp>
        <p:nvSpPr>
          <p:cNvPr id="22" name="Text 19"/>
          <p:cNvSpPr/>
          <p:nvPr/>
        </p:nvSpPr>
        <p:spPr>
          <a:xfrm>
            <a:off x="9784080" y="2103120"/>
            <a:ext cx="1554480" cy="365760"/>
          </a:xfrm>
          <a:prstGeom prst="rect">
            <a:avLst/>
          </a:prstGeom>
          <a:noFill/>
          <a:ln/>
        </p:spPr>
        <p:txBody>
          <a:bodyPr wrap="square" lIns="0" tIns="0" rIns="0" bIns="0" rtlCol="0" anchor="ctr"/>
          <a:lstStyle/>
          <a:p>
            <a:pPr algn="r" indent="0" marL="0">
              <a:buNone/>
            </a:pPr>
            <a:r>
              <a:rPr lang="en-US" sz="950" dirty="0">
                <a:solidFill>
                  <a:srgbClr val="939DAB"/>
                </a:solidFill>
                <a:latin typeface="Courier New" pitchFamily="34" charset="0"/>
                <a:ea typeface="Courier New" pitchFamily="34" charset="-122"/>
                <a:cs typeface="Courier New" pitchFamily="34" charset="-120"/>
              </a:rPr>
              <a:t>underline</a:t>
            </a:r>
            <a:endParaRPr lang="en-US" sz="950" dirty="0"/>
          </a:p>
        </p:txBody>
      </p:sp>
      <p:sp>
        <p:nvSpPr>
          <p:cNvPr id="23" name="Text 20"/>
          <p:cNvSpPr/>
          <p:nvPr/>
        </p:nvSpPr>
        <p:spPr>
          <a:xfrm>
            <a:off x="6574536" y="2523744"/>
            <a:ext cx="3108960" cy="365760"/>
          </a:xfrm>
          <a:prstGeom prst="rect">
            <a:avLst/>
          </a:prstGeom>
          <a:noFill/>
          <a:ln/>
        </p:spPr>
        <p:txBody>
          <a:bodyPr wrap="square" lIns="0" tIns="0" rIns="0" bIns="0" rtlCol="0" anchor="ctr"/>
          <a:lstStyle/>
          <a:p>
            <a:pPr indent="0" marL="0">
              <a:buNone/>
            </a:pPr>
            <a:r>
              <a:rPr lang="en-US" sz="1200" strike="sngStrike" dirty="0">
                <a:solidFill>
                  <a:srgbClr val="15202B"/>
                </a:solidFill>
                <a:latin typeface="Calibri" pitchFamily="34" charset="0"/>
                <a:ea typeface="Calibri" pitchFamily="34" charset="-122"/>
                <a:cs typeface="Calibri" pitchFamily="34" charset="-120"/>
              </a:rPr>
              <a:t>Welcome to Scaler</a:t>
            </a:r>
            <a:endParaRPr lang="en-US" sz="1200" dirty="0"/>
          </a:p>
        </p:txBody>
      </p:sp>
      <p:sp>
        <p:nvSpPr>
          <p:cNvPr id="24" name="Text 21"/>
          <p:cNvSpPr/>
          <p:nvPr/>
        </p:nvSpPr>
        <p:spPr>
          <a:xfrm>
            <a:off x="9784080" y="2523744"/>
            <a:ext cx="1554480" cy="365760"/>
          </a:xfrm>
          <a:prstGeom prst="rect">
            <a:avLst/>
          </a:prstGeom>
          <a:noFill/>
          <a:ln/>
        </p:spPr>
        <p:txBody>
          <a:bodyPr wrap="square" lIns="0" tIns="0" rIns="0" bIns="0" rtlCol="0" anchor="ctr"/>
          <a:lstStyle/>
          <a:p>
            <a:pPr algn="r" indent="0" marL="0">
              <a:buNone/>
            </a:pPr>
            <a:r>
              <a:rPr lang="en-US" sz="950" dirty="0">
                <a:solidFill>
                  <a:srgbClr val="939DAB"/>
                </a:solidFill>
                <a:latin typeface="Courier New" pitchFamily="34" charset="0"/>
                <a:ea typeface="Courier New" pitchFamily="34" charset="-122"/>
                <a:cs typeface="Courier New" pitchFamily="34" charset="-120"/>
              </a:rPr>
              <a:t>line-through</a:t>
            </a:r>
            <a:endParaRPr lang="en-US" sz="950" dirty="0"/>
          </a:p>
        </p:txBody>
      </p:sp>
      <p:sp>
        <p:nvSpPr>
          <p:cNvPr id="25" name="Text 22"/>
          <p:cNvSpPr/>
          <p:nvPr/>
        </p:nvSpPr>
        <p:spPr>
          <a:xfrm>
            <a:off x="6574536" y="2944368"/>
            <a:ext cx="3108960" cy="365760"/>
          </a:xfrm>
          <a:prstGeom prst="rect">
            <a:avLst/>
          </a:prstGeom>
          <a:noFill/>
          <a:ln/>
        </p:spPr>
        <p:txBody>
          <a:bodyPr wrap="square" lIns="0" tIns="0" rIns="0" bIns="0" rtlCol="0" anchor="ctr"/>
          <a:lstStyle/>
          <a:p>
            <a:pPr indent="0" marL="0">
              <a:buNone/>
            </a:pPr>
            <a:r>
              <a:rPr lang="en-US" sz="1200" dirty="0">
                <a:solidFill>
                  <a:srgbClr val="15202B"/>
                </a:solidFill>
                <a:latin typeface="Calibri" pitchFamily="34" charset="0"/>
                <a:ea typeface="Calibri" pitchFamily="34" charset="-122"/>
                <a:cs typeface="Calibri" pitchFamily="34" charset="-120"/>
              </a:rPr>
              <a:t>Welcome to Scaler</a:t>
            </a:r>
            <a:endParaRPr lang="en-US" sz="1200" dirty="0"/>
          </a:p>
        </p:txBody>
      </p:sp>
      <p:sp>
        <p:nvSpPr>
          <p:cNvPr id="26" name="Shape 23"/>
          <p:cNvSpPr/>
          <p:nvPr/>
        </p:nvSpPr>
        <p:spPr>
          <a:xfrm>
            <a:off x="6574536" y="2999232"/>
            <a:ext cx="1444752" cy="13716"/>
          </a:xfrm>
          <a:prstGeom prst="rect">
            <a:avLst/>
          </a:prstGeom>
          <a:solidFill>
            <a:srgbClr val="15202B"/>
          </a:solidFill>
          <a:ln w="12700">
            <a:solidFill>
              <a:srgbClr val="15202B"/>
            </a:solidFill>
            <a:prstDash val="solid"/>
          </a:ln>
        </p:spPr>
      </p:sp>
      <p:sp>
        <p:nvSpPr>
          <p:cNvPr id="27" name="Text 24"/>
          <p:cNvSpPr/>
          <p:nvPr/>
        </p:nvSpPr>
        <p:spPr>
          <a:xfrm>
            <a:off x="9784080" y="2944368"/>
            <a:ext cx="1554480" cy="365760"/>
          </a:xfrm>
          <a:prstGeom prst="rect">
            <a:avLst/>
          </a:prstGeom>
          <a:noFill/>
          <a:ln/>
        </p:spPr>
        <p:txBody>
          <a:bodyPr wrap="square" lIns="0" tIns="0" rIns="0" bIns="0" rtlCol="0" anchor="ctr"/>
          <a:lstStyle/>
          <a:p>
            <a:pPr algn="r" indent="0" marL="0">
              <a:buNone/>
            </a:pPr>
            <a:r>
              <a:rPr lang="en-US" sz="950" dirty="0">
                <a:solidFill>
                  <a:srgbClr val="939DAB"/>
                </a:solidFill>
                <a:latin typeface="Courier New" pitchFamily="34" charset="0"/>
                <a:ea typeface="Courier New" pitchFamily="34" charset="-122"/>
                <a:cs typeface="Courier New" pitchFamily="34" charset="-120"/>
              </a:rPr>
              <a:t>overline</a:t>
            </a:r>
            <a:endParaRPr lang="en-US" sz="950" dirty="0"/>
          </a:p>
        </p:txBody>
      </p:sp>
      <p:sp>
        <p:nvSpPr>
          <p:cNvPr id="28" name="Shape 25"/>
          <p:cNvSpPr/>
          <p:nvPr/>
        </p:nvSpPr>
        <p:spPr>
          <a:xfrm>
            <a:off x="640080" y="3657600"/>
            <a:ext cx="10908792" cy="1828800"/>
          </a:xfrm>
          <a:prstGeom prst="roundRect">
            <a:avLst>
              <a:gd name="adj" fmla="val 5000"/>
            </a:avLst>
          </a:prstGeom>
          <a:solidFill>
            <a:srgbClr val="FFFFFF"/>
          </a:solidFill>
          <a:ln w="12700">
            <a:solidFill>
              <a:srgbClr val="D9DEE7"/>
            </a:solidFill>
            <a:prstDash val="solid"/>
          </a:ln>
          <a:effectLst>
            <a:outerShdw sx="100000" sy="100000" kx="0" ky="0" algn="bl" rotWithShape="0" blurRad="177800" dist="38100" dir="5400000">
              <a:srgbClr val="000000">
                <a:alpha val="35000"/>
              </a:srgbClr>
            </a:outerShdw>
          </a:effectLst>
        </p:spPr>
      </p:sp>
      <p:sp>
        <p:nvSpPr>
          <p:cNvPr id="29" name="Text 26"/>
          <p:cNvSpPr/>
          <p:nvPr/>
        </p:nvSpPr>
        <p:spPr>
          <a:xfrm>
            <a:off x="914400" y="3749040"/>
            <a:ext cx="4754880" cy="274320"/>
          </a:xfrm>
          <a:prstGeom prst="rect">
            <a:avLst/>
          </a:prstGeom>
          <a:noFill/>
          <a:ln/>
        </p:spPr>
        <p:txBody>
          <a:bodyPr wrap="square" lIns="0" tIns="0" rIns="0" bIns="0" rtlCol="0" anchor="ctr"/>
          <a:lstStyle/>
          <a:p>
            <a:pPr indent="0" marL="0">
              <a:buNone/>
            </a:pPr>
            <a:r>
              <a:rPr lang="en-US" sz="1350" b="1" dirty="0">
                <a:solidFill>
                  <a:srgbClr val="15202B"/>
                </a:solidFill>
                <a:latin typeface="Calibri" pitchFamily="34" charset="0"/>
                <a:ea typeface="Calibri" pitchFamily="34" charset="-122"/>
                <a:cs typeface="Calibri" pitchFamily="34" charset="-120"/>
              </a:rPr>
              <a:t>word-spacing and line-height, drawn</a:t>
            </a:r>
            <a:endParaRPr lang="en-US" sz="1350" dirty="0"/>
          </a:p>
        </p:txBody>
      </p:sp>
      <p:sp>
        <p:nvSpPr>
          <p:cNvPr id="30" name="Shape 27"/>
          <p:cNvSpPr/>
          <p:nvPr/>
        </p:nvSpPr>
        <p:spPr>
          <a:xfrm>
            <a:off x="950976" y="4224528"/>
            <a:ext cx="1051560" cy="274320"/>
          </a:xfrm>
          <a:prstGeom prst="roundRect">
            <a:avLst>
              <a:gd name="adj" fmla="val 13333"/>
            </a:avLst>
          </a:prstGeom>
          <a:solidFill>
            <a:srgbClr val="D7E1F0"/>
          </a:solidFill>
          <a:ln w="9525">
            <a:solidFill>
              <a:srgbClr val="B9C7DC"/>
            </a:solidFill>
            <a:prstDash val="solid"/>
          </a:ln>
        </p:spPr>
      </p:sp>
      <p:sp>
        <p:nvSpPr>
          <p:cNvPr id="31" name="Shape 28"/>
          <p:cNvSpPr/>
          <p:nvPr/>
        </p:nvSpPr>
        <p:spPr>
          <a:xfrm>
            <a:off x="2322576" y="4224528"/>
            <a:ext cx="868680" cy="274320"/>
          </a:xfrm>
          <a:prstGeom prst="roundRect">
            <a:avLst>
              <a:gd name="adj" fmla="val 13333"/>
            </a:avLst>
          </a:prstGeom>
          <a:solidFill>
            <a:srgbClr val="D7E1F0"/>
          </a:solidFill>
          <a:ln w="9525">
            <a:solidFill>
              <a:srgbClr val="B9C7DC"/>
            </a:solidFill>
            <a:prstDash val="solid"/>
          </a:ln>
        </p:spPr>
      </p:sp>
      <p:sp>
        <p:nvSpPr>
          <p:cNvPr id="32" name="Shape 29"/>
          <p:cNvSpPr/>
          <p:nvPr/>
        </p:nvSpPr>
        <p:spPr>
          <a:xfrm>
            <a:off x="3511296" y="4224528"/>
            <a:ext cx="1188720" cy="274320"/>
          </a:xfrm>
          <a:prstGeom prst="roundRect">
            <a:avLst>
              <a:gd name="adj" fmla="val 13333"/>
            </a:avLst>
          </a:prstGeom>
          <a:solidFill>
            <a:srgbClr val="D7E1F0"/>
          </a:solidFill>
          <a:ln w="9525">
            <a:solidFill>
              <a:srgbClr val="B9C7DC"/>
            </a:solidFill>
            <a:prstDash val="solid"/>
          </a:ln>
        </p:spPr>
      </p:sp>
      <p:sp>
        <p:nvSpPr>
          <p:cNvPr id="33" name="Shape 30"/>
          <p:cNvSpPr/>
          <p:nvPr/>
        </p:nvSpPr>
        <p:spPr>
          <a:xfrm>
            <a:off x="5065776" y="4224528"/>
            <a:ext cx="731520" cy="274320"/>
          </a:xfrm>
          <a:prstGeom prst="roundRect">
            <a:avLst>
              <a:gd name="adj" fmla="val 13333"/>
            </a:avLst>
          </a:prstGeom>
          <a:solidFill>
            <a:srgbClr val="D7E1F0"/>
          </a:solidFill>
          <a:ln w="9525">
            <a:solidFill>
              <a:srgbClr val="B9C7DC"/>
            </a:solidFill>
            <a:prstDash val="solid"/>
          </a:ln>
        </p:spPr>
      </p:sp>
      <p:sp>
        <p:nvSpPr>
          <p:cNvPr id="34" name="Shape 31"/>
          <p:cNvSpPr/>
          <p:nvPr/>
        </p:nvSpPr>
        <p:spPr>
          <a:xfrm>
            <a:off x="950976" y="4882896"/>
            <a:ext cx="1051560" cy="274320"/>
          </a:xfrm>
          <a:prstGeom prst="roundRect">
            <a:avLst>
              <a:gd name="adj" fmla="val 13333"/>
            </a:avLst>
          </a:prstGeom>
          <a:solidFill>
            <a:srgbClr val="D7E1F0"/>
          </a:solidFill>
          <a:ln w="9525">
            <a:solidFill>
              <a:srgbClr val="B9C7DC"/>
            </a:solidFill>
            <a:prstDash val="solid"/>
          </a:ln>
        </p:spPr>
      </p:sp>
      <p:sp>
        <p:nvSpPr>
          <p:cNvPr id="35" name="Shape 32"/>
          <p:cNvSpPr/>
          <p:nvPr/>
        </p:nvSpPr>
        <p:spPr>
          <a:xfrm>
            <a:off x="2322576" y="4882896"/>
            <a:ext cx="868680" cy="274320"/>
          </a:xfrm>
          <a:prstGeom prst="roundRect">
            <a:avLst>
              <a:gd name="adj" fmla="val 13333"/>
            </a:avLst>
          </a:prstGeom>
          <a:solidFill>
            <a:srgbClr val="D7E1F0"/>
          </a:solidFill>
          <a:ln w="9525">
            <a:solidFill>
              <a:srgbClr val="B9C7DC"/>
            </a:solidFill>
            <a:prstDash val="solid"/>
          </a:ln>
        </p:spPr>
      </p:sp>
      <p:sp>
        <p:nvSpPr>
          <p:cNvPr id="36" name="Shape 33"/>
          <p:cNvSpPr/>
          <p:nvPr/>
        </p:nvSpPr>
        <p:spPr>
          <a:xfrm>
            <a:off x="3511296" y="4882896"/>
            <a:ext cx="1188720" cy="274320"/>
          </a:xfrm>
          <a:prstGeom prst="roundRect">
            <a:avLst>
              <a:gd name="adj" fmla="val 13333"/>
            </a:avLst>
          </a:prstGeom>
          <a:solidFill>
            <a:srgbClr val="D7E1F0"/>
          </a:solidFill>
          <a:ln w="9525">
            <a:solidFill>
              <a:srgbClr val="B9C7DC"/>
            </a:solidFill>
            <a:prstDash val="solid"/>
          </a:ln>
        </p:spPr>
      </p:sp>
      <p:sp>
        <p:nvSpPr>
          <p:cNvPr id="37" name="Shape 34"/>
          <p:cNvSpPr/>
          <p:nvPr/>
        </p:nvSpPr>
        <p:spPr>
          <a:xfrm>
            <a:off x="5065776" y="4882896"/>
            <a:ext cx="731520" cy="274320"/>
          </a:xfrm>
          <a:prstGeom prst="roundRect">
            <a:avLst>
              <a:gd name="adj" fmla="val 13333"/>
            </a:avLst>
          </a:prstGeom>
          <a:solidFill>
            <a:srgbClr val="D7E1F0"/>
          </a:solidFill>
          <a:ln w="9525">
            <a:solidFill>
              <a:srgbClr val="B9C7DC"/>
            </a:solidFill>
            <a:prstDash val="solid"/>
          </a:ln>
        </p:spPr>
      </p:sp>
      <p:sp>
        <p:nvSpPr>
          <p:cNvPr id="38" name="Shape 35"/>
          <p:cNvSpPr/>
          <p:nvPr/>
        </p:nvSpPr>
        <p:spPr>
          <a:xfrm>
            <a:off x="2002536" y="4279392"/>
            <a:ext cx="320040" cy="164592"/>
          </a:xfrm>
          <a:prstGeom prst="leftRightArrow">
            <a:avLst/>
          </a:prstGeom>
          <a:solidFill>
            <a:srgbClr val="D6336C"/>
          </a:solidFill>
          <a:ln w="12700">
            <a:solidFill>
              <a:srgbClr val="15202B"/>
            </a:solidFill>
            <a:prstDash val="solid"/>
          </a:ln>
        </p:spPr>
      </p:sp>
      <p:sp>
        <p:nvSpPr>
          <p:cNvPr id="39" name="Text 36"/>
          <p:cNvSpPr/>
          <p:nvPr/>
        </p:nvSpPr>
        <p:spPr>
          <a:xfrm>
            <a:off x="2414016" y="3913632"/>
            <a:ext cx="1463040" cy="274320"/>
          </a:xfrm>
          <a:prstGeom prst="rect">
            <a:avLst/>
          </a:prstGeom>
          <a:noFill/>
          <a:ln/>
        </p:spPr>
        <p:txBody>
          <a:bodyPr wrap="square" lIns="0" tIns="0" rIns="0" bIns="0" rtlCol="0" anchor="ctr"/>
          <a:lstStyle/>
          <a:p>
            <a:pPr algn="l" indent="0" marL="0">
              <a:buNone/>
            </a:pPr>
            <a:r>
              <a:rPr lang="en-US" sz="950" b="1" dirty="0">
                <a:solidFill>
                  <a:srgbClr val="D6336C"/>
                </a:solidFill>
                <a:latin typeface="Courier New" pitchFamily="34" charset="0"/>
                <a:ea typeface="Courier New" pitchFamily="34" charset="-122"/>
                <a:cs typeface="Courier New" pitchFamily="34" charset="-120"/>
              </a:rPr>
              <a:t>word-spacing</a:t>
            </a:r>
            <a:endParaRPr lang="en-US" sz="950" dirty="0"/>
          </a:p>
        </p:txBody>
      </p:sp>
      <p:sp>
        <p:nvSpPr>
          <p:cNvPr id="40" name="Shape 37"/>
          <p:cNvSpPr/>
          <p:nvPr/>
        </p:nvSpPr>
        <p:spPr>
          <a:xfrm>
            <a:off x="2002536" y="4187952"/>
            <a:ext cx="0" cy="128016"/>
          </a:xfrm>
          <a:prstGeom prst="line">
            <a:avLst/>
          </a:prstGeom>
          <a:noFill/>
          <a:ln w="12700">
            <a:solidFill>
              <a:srgbClr val="D6336C"/>
            </a:solidFill>
            <a:prstDash val="solid"/>
          </a:ln>
        </p:spPr>
      </p:sp>
      <p:sp>
        <p:nvSpPr>
          <p:cNvPr id="41" name="Shape 38"/>
          <p:cNvSpPr/>
          <p:nvPr/>
        </p:nvSpPr>
        <p:spPr>
          <a:xfrm>
            <a:off x="2322576" y="4187952"/>
            <a:ext cx="0" cy="128016"/>
          </a:xfrm>
          <a:prstGeom prst="line">
            <a:avLst/>
          </a:prstGeom>
          <a:noFill/>
          <a:ln w="12700">
            <a:solidFill>
              <a:srgbClr val="D6336C"/>
            </a:solidFill>
            <a:prstDash val="solid"/>
          </a:ln>
        </p:spPr>
      </p:sp>
      <p:sp>
        <p:nvSpPr>
          <p:cNvPr id="42" name="Shape 39"/>
          <p:cNvSpPr/>
          <p:nvPr/>
        </p:nvSpPr>
        <p:spPr>
          <a:xfrm>
            <a:off x="5852160" y="4224528"/>
            <a:ext cx="164592" cy="932688"/>
          </a:xfrm>
          <a:prstGeom prst="upDownArrow">
            <a:avLst/>
          </a:prstGeom>
          <a:solidFill>
            <a:srgbClr val="6741D9"/>
          </a:solidFill>
          <a:ln w="12700">
            <a:solidFill>
              <a:srgbClr val="15202B"/>
            </a:solidFill>
            <a:prstDash val="solid"/>
          </a:ln>
        </p:spPr>
      </p:sp>
      <p:sp>
        <p:nvSpPr>
          <p:cNvPr id="43" name="Text 40"/>
          <p:cNvSpPr/>
          <p:nvPr/>
        </p:nvSpPr>
        <p:spPr>
          <a:xfrm>
            <a:off x="6108192" y="4553712"/>
            <a:ext cx="1371600" cy="274320"/>
          </a:xfrm>
          <a:prstGeom prst="rect">
            <a:avLst/>
          </a:prstGeom>
          <a:noFill/>
          <a:ln/>
        </p:spPr>
        <p:txBody>
          <a:bodyPr wrap="square" lIns="0" tIns="0" rIns="0" bIns="0" rtlCol="0" anchor="ctr"/>
          <a:lstStyle/>
          <a:p>
            <a:pPr algn="l" indent="0" marL="0">
              <a:buNone/>
            </a:pPr>
            <a:r>
              <a:rPr lang="en-US" sz="950" b="1" dirty="0">
                <a:solidFill>
                  <a:srgbClr val="6741D9"/>
                </a:solidFill>
                <a:latin typeface="Courier New" pitchFamily="34" charset="0"/>
                <a:ea typeface="Courier New" pitchFamily="34" charset="-122"/>
                <a:cs typeface="Courier New" pitchFamily="34" charset="-120"/>
              </a:rPr>
              <a:t>line-height</a:t>
            </a:r>
            <a:endParaRPr lang="en-US" sz="950" dirty="0"/>
          </a:p>
        </p:txBody>
      </p:sp>
      <p:sp>
        <p:nvSpPr>
          <p:cNvPr id="44" name="Shape 41"/>
          <p:cNvSpPr/>
          <p:nvPr/>
        </p:nvSpPr>
        <p:spPr>
          <a:xfrm>
            <a:off x="7680960" y="3968496"/>
            <a:ext cx="3867912" cy="1371600"/>
          </a:xfrm>
          <a:prstGeom prst="roundRect">
            <a:avLst>
              <a:gd name="adj" fmla="val 6667"/>
            </a:avLst>
          </a:prstGeom>
          <a:solidFill>
            <a:srgbClr val="111826"/>
          </a:solidFill>
          <a:ln w="12700">
            <a:solidFill>
              <a:srgbClr val="1D2637"/>
            </a:solidFill>
            <a:prstDash val="solid"/>
          </a:ln>
        </p:spPr>
      </p:sp>
      <p:sp>
        <p:nvSpPr>
          <p:cNvPr id="45" name="Text 42"/>
          <p:cNvSpPr/>
          <p:nvPr/>
        </p:nvSpPr>
        <p:spPr>
          <a:xfrm>
            <a:off x="7955280" y="4206240"/>
            <a:ext cx="3319272" cy="896112"/>
          </a:xfrm>
          <a:prstGeom prst="rect">
            <a:avLst/>
          </a:prstGeom>
          <a:noFill/>
          <a:ln/>
        </p:spPr>
        <p:txBody>
          <a:bodyPr wrap="square" lIns="0" tIns="0" rIns="0" bIns="0" rtlCol="0" anchor="t"/>
          <a:lstStyle/>
          <a:p>
            <a:pPr indent="0" marL="0">
              <a:lnSpc>
                <a:spcPts val="1900"/>
              </a:lnSpc>
              <a:buNone/>
            </a:pPr>
            <a:r>
              <a:rPr lang="en-US" sz="1100" dirty="0">
                <a:solidFill>
                  <a:srgbClr val="FFD08A"/>
                </a:solidFill>
                <a:latin typeface="Courier New" pitchFamily="34" charset="0"/>
                <a:ea typeface="Courier New" pitchFamily="34" charset="-122"/>
                <a:cs typeface="Courier New" pitchFamily="34" charset="-120"/>
              </a:rPr>
              <a:t>word-spacing</a:t>
            </a:r>
            <a:pPr indent="0" marL="0">
              <a:lnSpc>
                <a:spcPts val="1900"/>
              </a:lnSpc>
              <a:buNone/>
            </a:pPr>
            <a:r>
              <a:rPr lang="en-US" sz="1100" dirty="0">
                <a:solidFill>
                  <a:srgbClr val="9AA4B5"/>
                </a:solidFill>
                <a:latin typeface="Courier New" pitchFamily="34" charset="0"/>
                <a:ea typeface="Courier New" pitchFamily="34" charset="-122"/>
                <a:cs typeface="Courier New" pitchFamily="34" charset="-120"/>
              </a:rPr>
              <a:t>: </a:t>
            </a:r>
            <a:pPr indent="0" marL="0">
              <a:lnSpc>
                <a:spcPts val="1900"/>
              </a:lnSpc>
              <a:buNone/>
            </a:pPr>
            <a:r>
              <a:rPr lang="en-US" sz="1100" dirty="0">
                <a:solidFill>
                  <a:srgbClr val="9BD5FF"/>
                </a:solidFill>
                <a:latin typeface="Courier New" pitchFamily="34" charset="0"/>
                <a:ea typeface="Courier New" pitchFamily="34" charset="-122"/>
                <a:cs typeface="Courier New" pitchFamily="34" charset="-120"/>
              </a:rPr>
              <a:t>8px</a:t>
            </a:r>
            <a:pPr indent="0" marL="0">
              <a:lnSpc>
                <a:spcPts val="1900"/>
              </a:lnSpc>
              <a:buNone/>
            </a:pPr>
            <a:r>
              <a:rPr lang="en-US" sz="1100" dirty="0">
                <a:solidFill>
                  <a:srgbClr val="9AA4B5"/>
                </a:solidFill>
                <a:latin typeface="Courier New" pitchFamily="34" charset="0"/>
                <a:ea typeface="Courier New" pitchFamily="34" charset="-122"/>
                <a:cs typeface="Courier New" pitchFamily="34" charset="-120"/>
              </a:rPr>
              <a:t>;</a:t>
            </a:r>
            <a:pPr indent="0" marL="0">
              <a:lnSpc>
                <a:spcPts val="1900"/>
              </a:lnSpc>
              <a:buNone/>
            </a:pPr>
            <a:endParaRPr lang="en-US" sz="1100" dirty="0"/>
          </a:p>
          <a:p>
            <a:pPr indent="0" marL="0">
              <a:lnSpc>
                <a:spcPts val="1900"/>
              </a:lnSpc>
              <a:buNone/>
            </a:pPr>
            <a:r>
              <a:rPr lang="en-US" sz="1100" dirty="0">
                <a:solidFill>
                  <a:srgbClr val="FFD08A"/>
                </a:solidFill>
                <a:latin typeface="Courier New" pitchFamily="34" charset="0"/>
                <a:ea typeface="Courier New" pitchFamily="34" charset="-122"/>
                <a:cs typeface="Courier New" pitchFamily="34" charset="-120"/>
              </a:rPr>
              <a:t>line-height</a:t>
            </a:r>
            <a:pPr indent="0" marL="0">
              <a:lnSpc>
                <a:spcPts val="1900"/>
              </a:lnSpc>
              <a:buNone/>
            </a:pPr>
            <a:r>
              <a:rPr lang="en-US" sz="1100" dirty="0">
                <a:solidFill>
                  <a:srgbClr val="9AA4B5"/>
                </a:solidFill>
                <a:latin typeface="Courier New" pitchFamily="34" charset="0"/>
                <a:ea typeface="Courier New" pitchFamily="34" charset="-122"/>
                <a:cs typeface="Courier New" pitchFamily="34" charset="-120"/>
              </a:rPr>
              <a:t>: </a:t>
            </a:r>
            <a:pPr indent="0" marL="0">
              <a:lnSpc>
                <a:spcPts val="1900"/>
              </a:lnSpc>
              <a:buNone/>
            </a:pPr>
            <a:r>
              <a:rPr lang="en-US" sz="1100" dirty="0">
                <a:solidFill>
                  <a:srgbClr val="9BD5FF"/>
                </a:solidFill>
                <a:latin typeface="Courier New" pitchFamily="34" charset="0"/>
                <a:ea typeface="Courier New" pitchFamily="34" charset="-122"/>
                <a:cs typeface="Courier New" pitchFamily="34" charset="-120"/>
              </a:rPr>
              <a:t>2</a:t>
            </a:r>
            <a:pPr indent="0" marL="0">
              <a:lnSpc>
                <a:spcPts val="1900"/>
              </a:lnSpc>
              <a:buNone/>
            </a:pPr>
            <a:r>
              <a:rPr lang="en-US" sz="1100" dirty="0">
                <a:solidFill>
                  <a:srgbClr val="9AA4B5"/>
                </a:solidFill>
                <a:latin typeface="Courier New" pitchFamily="34" charset="0"/>
                <a:ea typeface="Courier New" pitchFamily="34" charset="-122"/>
                <a:cs typeface="Courier New" pitchFamily="34" charset="-120"/>
              </a:rPr>
              <a:t>;</a:t>
            </a:r>
            <a:pPr indent="0" marL="0">
              <a:lnSpc>
                <a:spcPts val="1900"/>
              </a:lnSpc>
              <a:buNone/>
            </a:pPr>
            <a:endParaRPr lang="en-US" sz="1100" dirty="0"/>
          </a:p>
          <a:p>
            <a:pPr indent="0" marL="0">
              <a:lnSpc>
                <a:spcPts val="1900"/>
              </a:lnSpc>
              <a:buNone/>
            </a:pPr>
            <a:r>
              <a:rPr lang="en-US" sz="1100" dirty="0">
                <a:solidFill>
                  <a:srgbClr val="FFD08A"/>
                </a:solidFill>
                <a:latin typeface="Courier New" pitchFamily="34" charset="0"/>
                <a:ea typeface="Courier New" pitchFamily="34" charset="-122"/>
                <a:cs typeface="Courier New" pitchFamily="34" charset="-120"/>
              </a:rPr>
              <a:t>text-align</a:t>
            </a:r>
            <a:pPr indent="0" marL="0">
              <a:lnSpc>
                <a:spcPts val="1900"/>
              </a:lnSpc>
              <a:buNone/>
            </a:pPr>
            <a:r>
              <a:rPr lang="en-US" sz="1100" dirty="0">
                <a:solidFill>
                  <a:srgbClr val="9AA4B5"/>
                </a:solidFill>
                <a:latin typeface="Courier New" pitchFamily="34" charset="0"/>
                <a:ea typeface="Courier New" pitchFamily="34" charset="-122"/>
                <a:cs typeface="Courier New" pitchFamily="34" charset="-120"/>
              </a:rPr>
              <a:t>: </a:t>
            </a:r>
            <a:pPr indent="0" marL="0">
              <a:lnSpc>
                <a:spcPts val="1900"/>
              </a:lnSpc>
              <a:buNone/>
            </a:pPr>
            <a:r>
              <a:rPr lang="en-US" sz="1100" dirty="0">
                <a:solidFill>
                  <a:srgbClr val="9BD5FF"/>
                </a:solidFill>
                <a:latin typeface="Courier New" pitchFamily="34" charset="0"/>
                <a:ea typeface="Courier New" pitchFamily="34" charset="-122"/>
                <a:cs typeface="Courier New" pitchFamily="34" charset="-120"/>
              </a:rPr>
              <a:t>center</a:t>
            </a:r>
            <a:pPr indent="0" marL="0">
              <a:lnSpc>
                <a:spcPts val="1900"/>
              </a:lnSpc>
              <a:buNone/>
            </a:pPr>
            <a:r>
              <a:rPr lang="en-US" sz="1100" dirty="0">
                <a:solidFill>
                  <a:srgbClr val="9AA4B5"/>
                </a:solidFill>
                <a:latin typeface="Courier New" pitchFamily="34" charset="0"/>
                <a:ea typeface="Courier New" pitchFamily="34" charset="-122"/>
                <a:cs typeface="Courier New" pitchFamily="34" charset="-120"/>
              </a:rPr>
              <a:t>;</a:t>
            </a:r>
            <a:endParaRPr lang="en-US" sz="1100" dirty="0"/>
          </a:p>
        </p:txBody>
      </p:sp>
      <p:sp>
        <p:nvSpPr>
          <p:cNvPr id="46" name="Shape 43"/>
          <p:cNvSpPr/>
          <p:nvPr/>
        </p:nvSpPr>
        <p:spPr>
          <a:xfrm>
            <a:off x="640080" y="5614416"/>
            <a:ext cx="10908792" cy="566928"/>
          </a:xfrm>
          <a:prstGeom prst="roundRect">
            <a:avLst>
              <a:gd name="adj" fmla="val 16129"/>
            </a:avLst>
          </a:prstGeom>
          <a:solidFill>
            <a:srgbClr val="E7EEFD"/>
          </a:solidFill>
          <a:ln w="12700">
            <a:solidFill>
              <a:srgbClr val="B6CDFA"/>
            </a:solidFill>
            <a:prstDash val="solid"/>
          </a:ln>
          <a:effectLst>
            <a:outerShdw sx="100000" sy="100000" kx="0" ky="0" algn="bl" rotWithShape="0" blurRad="177800" dist="38100" dir="5400000">
              <a:srgbClr val="000000">
                <a:alpha val="35000"/>
              </a:srgbClr>
            </a:outerShdw>
          </a:effectLst>
        </p:spPr>
      </p:sp>
      <p:sp>
        <p:nvSpPr>
          <p:cNvPr id="47" name="Text 44"/>
          <p:cNvSpPr/>
          <p:nvPr/>
        </p:nvSpPr>
        <p:spPr>
          <a:xfrm>
            <a:off x="914400" y="5614416"/>
            <a:ext cx="10360152" cy="566928"/>
          </a:xfrm>
          <a:prstGeom prst="rect">
            <a:avLst/>
          </a:prstGeom>
          <a:noFill/>
          <a:ln/>
        </p:spPr>
        <p:txBody>
          <a:bodyPr wrap="square" lIns="0" tIns="0" rIns="0" bIns="0" rtlCol="0" anchor="ctr"/>
          <a:lstStyle/>
          <a:p>
            <a:pPr algn="ctr" indent="0" marL="0">
              <a:buNone/>
            </a:pPr>
            <a:r>
              <a:rPr lang="en-US" sz="1400" b="1" dirty="0">
                <a:solidFill>
                  <a:srgbClr val="15202B"/>
                </a:solidFill>
                <a:latin typeface="Calibri" pitchFamily="34" charset="0"/>
                <a:ea typeface="Calibri" pitchFamily="34" charset="-122"/>
                <a:cs typeface="Calibri" pitchFamily="34" charset="-120"/>
              </a:rPr>
              <a:t>You cannot see spacing until something moves. Change one value at a time and watch.</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7FA"/>
        </a:solidFill>
      </p:bgPr>
    </p:bg>
    <p:spTree>
      <p:nvGrpSpPr>
        <p:cNvPr id="1" name=""/>
        <p:cNvGrpSpPr/>
        <p:nvPr/>
      </p:nvGrpSpPr>
      <p:grpSpPr>
        <a:xfrm>
          <a:off x="0" y="0"/>
          <a:ext cx="0" cy="0"/>
          <a:chOff x="0" y="0"/>
          <a:chExt cx="0" cy="0"/>
        </a:xfrm>
      </p:grpSpPr>
      <p:sp>
        <p:nvSpPr>
          <p:cNvPr id="3" name="Text 0"/>
          <p:cNvSpPr/>
          <p:nvPr/>
        </p:nvSpPr>
        <p:spPr>
          <a:xfrm>
            <a:off x="640080" y="6364224"/>
            <a:ext cx="3657600" cy="256032"/>
          </a:xfrm>
          <a:prstGeom prst="rect">
            <a:avLst/>
          </a:prstGeom>
          <a:noFill/>
          <a:ln/>
        </p:spPr>
        <p:txBody>
          <a:bodyPr wrap="square" lIns="0" tIns="0" rIns="0" bIns="0" rtlCol="0" anchor="ctr"/>
          <a:lstStyle/>
          <a:p>
            <a:pPr indent="0" marL="0">
              <a:buNone/>
            </a:pPr>
            <a:r>
              <a:rPr lang="en-US" sz="900" dirty="0">
                <a:solidFill>
                  <a:srgbClr val="939DAB"/>
                </a:solidFill>
                <a:latin typeface="Courier New" pitchFamily="34" charset="0"/>
                <a:ea typeface="Courier New" pitchFamily="34" charset="-122"/>
                <a:cs typeface="Courier New" pitchFamily="34" charset="-120"/>
              </a:rPr>
              <a:t>CLASS 03  ·  CSS</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939DAB"/>
                </a:solidFill>
                <a:latin typeface="Courier New" pitchFamily="34" charset="0"/>
                <a:ea typeface="Courier New" pitchFamily="34" charset="-122"/>
                <a:cs typeface="Courier New" pitchFamily="34" charset="-120"/>
              </a:rPr>
              <a:t>18</a:t>
            </a:r>
            <a:endParaRPr lang="en-US" sz="900" dirty="0"/>
          </a:p>
        </p:txBody>
      </p:sp>
      <p:sp>
        <p:nvSpPr>
          <p:cNvPr id="5" name="Shape 2"/>
          <p:cNvSpPr/>
          <p:nvPr/>
        </p:nvSpPr>
        <p:spPr>
          <a:xfrm>
            <a:off x="640080" y="365760"/>
            <a:ext cx="1773936" cy="347472"/>
          </a:xfrm>
          <a:prstGeom prst="roundRect">
            <a:avLst>
              <a:gd name="adj" fmla="val 21053"/>
            </a:avLst>
          </a:prstGeom>
          <a:solidFill>
            <a:srgbClr val="2C6BED"/>
          </a:solidFill>
          <a:ln w="15875">
            <a:solidFill>
              <a:srgbClr val="15202B"/>
            </a:solidFill>
            <a:prstDash val="solid"/>
          </a:ln>
        </p:spPr>
      </p:sp>
      <p:sp>
        <p:nvSpPr>
          <p:cNvPr id="6" name="Text 3"/>
          <p:cNvSpPr/>
          <p:nvPr/>
        </p:nvSpPr>
        <p:spPr>
          <a:xfrm>
            <a:off x="640080" y="365760"/>
            <a:ext cx="1773936" cy="347472"/>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YOUR TURN</a:t>
            </a:r>
            <a:endParaRPr lang="en-US" sz="1050" dirty="0"/>
          </a:p>
        </p:txBody>
      </p:sp>
      <p:sp>
        <p:nvSpPr>
          <p:cNvPr id="7" name="Text 4"/>
          <p:cNvSpPr/>
          <p:nvPr/>
        </p:nvSpPr>
        <p:spPr>
          <a:xfrm>
            <a:off x="640080" y="786384"/>
            <a:ext cx="9006840" cy="603504"/>
          </a:xfrm>
          <a:prstGeom prst="rect">
            <a:avLst/>
          </a:prstGeom>
          <a:noFill/>
          <a:ln/>
        </p:spPr>
        <p:txBody>
          <a:bodyPr wrap="square" lIns="0" tIns="0" rIns="0" bIns="0" rtlCol="0" anchor="ctr"/>
          <a:lstStyle/>
          <a:p>
            <a:pPr indent="0" marL="0">
              <a:buNone/>
            </a:pPr>
            <a:r>
              <a:rPr lang="en-US" sz="3200" b="1" dirty="0">
                <a:solidFill>
                  <a:srgbClr val="15202B"/>
                </a:solidFill>
                <a:latin typeface="Calibri" pitchFamily="34" charset="0"/>
                <a:ea typeface="Calibri" pitchFamily="34" charset="-122"/>
                <a:cs typeface="Calibri" pitchFamily="34" charset="-120"/>
              </a:rPr>
              <a:t>Give your portfolio a coat of paint</a:t>
            </a:r>
            <a:endParaRPr lang="en-US" sz="3200" dirty="0"/>
          </a:p>
        </p:txBody>
      </p:sp>
      <p:sp>
        <p:nvSpPr>
          <p:cNvPr id="8" name="Shape 5"/>
          <p:cNvSpPr/>
          <p:nvPr/>
        </p:nvSpPr>
        <p:spPr>
          <a:xfrm>
            <a:off x="9976104" y="749808"/>
            <a:ext cx="1572768" cy="512064"/>
          </a:xfrm>
          <a:prstGeom prst="roundRect">
            <a:avLst>
              <a:gd name="adj" fmla="val 17857"/>
            </a:avLst>
          </a:prstGeom>
          <a:solidFill>
            <a:srgbClr val="2C6BED"/>
          </a:solidFill>
          <a:ln w="15875">
            <a:solidFill>
              <a:srgbClr val="15202B"/>
            </a:solidFill>
            <a:prstDash val="solid"/>
          </a:ln>
        </p:spPr>
      </p:sp>
      <p:sp>
        <p:nvSpPr>
          <p:cNvPr id="9" name="Text 6"/>
          <p:cNvSpPr/>
          <p:nvPr/>
        </p:nvSpPr>
        <p:spPr>
          <a:xfrm>
            <a:off x="9976104" y="749808"/>
            <a:ext cx="1572768" cy="51206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6 min</a:t>
            </a:r>
            <a:endParaRPr lang="en-US" sz="1250" dirty="0"/>
          </a:p>
        </p:txBody>
      </p:sp>
      <p:sp>
        <p:nvSpPr>
          <p:cNvPr id="10" name="Text 7"/>
          <p:cNvSpPr/>
          <p:nvPr/>
        </p:nvSpPr>
        <p:spPr>
          <a:xfrm>
            <a:off x="640080" y="1627632"/>
            <a:ext cx="10881360" cy="365760"/>
          </a:xfrm>
          <a:prstGeom prst="rect">
            <a:avLst/>
          </a:prstGeom>
          <a:noFill/>
          <a:ln/>
        </p:spPr>
        <p:txBody>
          <a:bodyPr wrap="square" lIns="0" tIns="0" rIns="0" bIns="0" rtlCol="0" anchor="t"/>
          <a:lstStyle/>
          <a:p>
            <a:pPr algn="l" indent="0" marL="0">
              <a:lnSpc>
                <a:spcPts val="1932"/>
              </a:lnSpc>
              <a:buNone/>
            </a:pPr>
            <a:r>
              <a:rPr lang="en-US" sz="1400" dirty="0">
                <a:solidFill>
                  <a:srgbClr val="15202B"/>
                </a:solidFill>
                <a:latin typeface="Calibri" pitchFamily="34" charset="0"/>
                <a:ea typeface="Calibri" pitchFamily="34" charset="-122"/>
                <a:cs typeface="Calibri" pitchFamily="34" charset="-120"/>
              </a:rPr>
              <a:t>Open the portfolio from last class. It has structure and no styling. Fix that.</a:t>
            </a:r>
            <a:endParaRPr lang="en-US" sz="1400" dirty="0"/>
          </a:p>
        </p:txBody>
      </p:sp>
      <p:sp>
        <p:nvSpPr>
          <p:cNvPr id="11" name="Shape 8"/>
          <p:cNvSpPr/>
          <p:nvPr/>
        </p:nvSpPr>
        <p:spPr>
          <a:xfrm>
            <a:off x="640080" y="2103120"/>
            <a:ext cx="3419856" cy="2103120"/>
          </a:xfrm>
          <a:prstGeom prst="roundRect">
            <a:avLst>
              <a:gd name="adj" fmla="val 4348"/>
            </a:avLst>
          </a:prstGeom>
          <a:solidFill>
            <a:srgbClr val="FFFFFF"/>
          </a:solidFill>
          <a:ln w="12700">
            <a:solidFill>
              <a:srgbClr val="D9DEE7"/>
            </a:solidFill>
            <a:prstDash val="solid"/>
          </a:ln>
          <a:effectLst>
            <a:outerShdw sx="100000" sy="100000" kx="0" ky="0" algn="bl" rotWithShape="0" blurRad="177800" dist="38100" dir="5400000">
              <a:srgbClr val="000000">
                <a:alpha val="35000"/>
              </a:srgbClr>
            </a:outerShdw>
          </a:effectLst>
        </p:spPr>
      </p:sp>
      <p:sp>
        <p:nvSpPr>
          <p:cNvPr id="12" name="Shape 9"/>
          <p:cNvSpPr/>
          <p:nvPr/>
        </p:nvSpPr>
        <p:spPr>
          <a:xfrm>
            <a:off x="914400" y="2340864"/>
            <a:ext cx="475488" cy="475488"/>
          </a:xfrm>
          <a:prstGeom prst="ellipse">
            <a:avLst/>
          </a:prstGeom>
          <a:solidFill>
            <a:srgbClr val="E7EEFD"/>
          </a:solidFill>
          <a:ln w="12700">
            <a:solidFill>
              <a:srgbClr val="2C6BED"/>
            </a:solidFill>
            <a:prstDash val="solid"/>
          </a:ln>
        </p:spPr>
      </p:sp>
      <p:sp>
        <p:nvSpPr>
          <p:cNvPr id="13" name="Text 10"/>
          <p:cNvSpPr/>
          <p:nvPr/>
        </p:nvSpPr>
        <p:spPr>
          <a:xfrm>
            <a:off x="914400" y="2340864"/>
            <a:ext cx="475488" cy="475488"/>
          </a:xfrm>
          <a:prstGeom prst="rect">
            <a:avLst/>
          </a:prstGeom>
          <a:noFill/>
          <a:ln/>
        </p:spPr>
        <p:txBody>
          <a:bodyPr wrap="square" lIns="0" tIns="0" rIns="0" bIns="0" rtlCol="0" anchor="ctr"/>
          <a:lstStyle/>
          <a:p>
            <a:pPr algn="ctr" indent="0" marL="0">
              <a:buNone/>
            </a:pPr>
            <a:r>
              <a:rPr lang="en-US" sz="1200" b="1" dirty="0">
                <a:solidFill>
                  <a:srgbClr val="2C6BED"/>
                </a:solidFill>
                <a:latin typeface="Calibri" pitchFamily="34" charset="0"/>
                <a:ea typeface="Calibri" pitchFamily="34" charset="-122"/>
                <a:cs typeface="Calibri" pitchFamily="34" charset="-120"/>
              </a:rPr>
              <a:t>01</a:t>
            </a:r>
            <a:endParaRPr lang="en-US" sz="1200" dirty="0"/>
          </a:p>
        </p:txBody>
      </p:sp>
      <p:sp>
        <p:nvSpPr>
          <p:cNvPr id="14" name="Text 11"/>
          <p:cNvSpPr/>
          <p:nvPr/>
        </p:nvSpPr>
        <p:spPr>
          <a:xfrm>
            <a:off x="914400" y="2926080"/>
            <a:ext cx="2871216" cy="512064"/>
          </a:xfrm>
          <a:prstGeom prst="rect">
            <a:avLst/>
          </a:prstGeom>
          <a:noFill/>
          <a:ln/>
        </p:spPr>
        <p:txBody>
          <a:bodyPr wrap="square" lIns="0" tIns="0" rIns="0" bIns="0" rtlCol="0" anchor="t"/>
          <a:lstStyle/>
          <a:p>
            <a:pPr indent="0" marL="0">
              <a:lnSpc>
                <a:spcPts val="2000"/>
              </a:lnSpc>
              <a:buNone/>
            </a:pPr>
            <a:r>
              <a:rPr lang="en-US" sz="1600" b="1" dirty="0">
                <a:solidFill>
                  <a:srgbClr val="15202B"/>
                </a:solidFill>
                <a:latin typeface="Calibri" pitchFamily="34" charset="0"/>
                <a:ea typeface="Calibri" pitchFamily="34" charset="-122"/>
                <a:cs typeface="Calibri" pitchFamily="34" charset="-120"/>
              </a:rPr>
              <a:t>Link a stylesheet</a:t>
            </a:r>
            <a:endParaRPr lang="en-US" sz="1600" dirty="0"/>
          </a:p>
        </p:txBody>
      </p:sp>
      <p:sp>
        <p:nvSpPr>
          <p:cNvPr id="15" name="Text 12"/>
          <p:cNvSpPr/>
          <p:nvPr/>
        </p:nvSpPr>
        <p:spPr>
          <a:xfrm>
            <a:off x="914400" y="3456432"/>
            <a:ext cx="2871216" cy="676656"/>
          </a:xfrm>
          <a:prstGeom prst="rect">
            <a:avLst/>
          </a:prstGeom>
          <a:noFill/>
          <a:ln/>
        </p:spPr>
        <p:txBody>
          <a:bodyPr wrap="square" lIns="0" tIns="0" rIns="0" bIns="0" rtlCol="0" anchor="t"/>
          <a:lstStyle/>
          <a:p>
            <a:pPr algn="l" indent="0" marL="0">
              <a:lnSpc>
                <a:spcPts val="1600"/>
              </a:lnSpc>
              <a:buNone/>
            </a:pPr>
            <a:r>
              <a:rPr lang="en-US" sz="1200" dirty="0">
                <a:solidFill>
                  <a:srgbClr val="55616F"/>
                </a:solidFill>
                <a:latin typeface="Calibri" pitchFamily="34" charset="0"/>
                <a:ea typeface="Calibri" pitchFamily="34" charset="-122"/>
                <a:cs typeface="Calibri" pitchFamily="34" charset="-120"/>
              </a:rPr>
              <a:t>Make style.css, link it in the head, and move any inline styles you have into it.</a:t>
            </a:r>
            <a:endParaRPr lang="en-US" sz="1200" dirty="0"/>
          </a:p>
        </p:txBody>
      </p:sp>
      <p:sp>
        <p:nvSpPr>
          <p:cNvPr id="16" name="Shape 13"/>
          <p:cNvSpPr/>
          <p:nvPr/>
        </p:nvSpPr>
        <p:spPr>
          <a:xfrm>
            <a:off x="4379976" y="2103120"/>
            <a:ext cx="3419856" cy="2103120"/>
          </a:xfrm>
          <a:prstGeom prst="roundRect">
            <a:avLst>
              <a:gd name="adj" fmla="val 4348"/>
            </a:avLst>
          </a:prstGeom>
          <a:solidFill>
            <a:srgbClr val="FFFFFF"/>
          </a:solidFill>
          <a:ln w="12700">
            <a:solidFill>
              <a:srgbClr val="D9DEE7"/>
            </a:solidFill>
            <a:prstDash val="solid"/>
          </a:ln>
          <a:effectLst>
            <a:outerShdw sx="100000" sy="100000" kx="0" ky="0" algn="bl" rotWithShape="0" blurRad="177800" dist="38100" dir="5400000">
              <a:srgbClr val="000000">
                <a:alpha val="35000"/>
              </a:srgbClr>
            </a:outerShdw>
          </a:effectLst>
        </p:spPr>
      </p:sp>
      <p:sp>
        <p:nvSpPr>
          <p:cNvPr id="17" name="Shape 14"/>
          <p:cNvSpPr/>
          <p:nvPr/>
        </p:nvSpPr>
        <p:spPr>
          <a:xfrm>
            <a:off x="4654296" y="2340864"/>
            <a:ext cx="475488" cy="475488"/>
          </a:xfrm>
          <a:prstGeom prst="ellipse">
            <a:avLst/>
          </a:prstGeom>
          <a:solidFill>
            <a:srgbClr val="E7EEFD"/>
          </a:solidFill>
          <a:ln w="12700">
            <a:solidFill>
              <a:srgbClr val="2C6BED"/>
            </a:solidFill>
            <a:prstDash val="solid"/>
          </a:ln>
        </p:spPr>
      </p:sp>
      <p:sp>
        <p:nvSpPr>
          <p:cNvPr id="18" name="Text 15"/>
          <p:cNvSpPr/>
          <p:nvPr/>
        </p:nvSpPr>
        <p:spPr>
          <a:xfrm>
            <a:off x="4654296" y="2340864"/>
            <a:ext cx="475488" cy="475488"/>
          </a:xfrm>
          <a:prstGeom prst="rect">
            <a:avLst/>
          </a:prstGeom>
          <a:noFill/>
          <a:ln/>
        </p:spPr>
        <p:txBody>
          <a:bodyPr wrap="square" lIns="0" tIns="0" rIns="0" bIns="0" rtlCol="0" anchor="ctr"/>
          <a:lstStyle/>
          <a:p>
            <a:pPr algn="ctr" indent="0" marL="0">
              <a:buNone/>
            </a:pPr>
            <a:r>
              <a:rPr lang="en-US" sz="1200" b="1" dirty="0">
                <a:solidFill>
                  <a:srgbClr val="2C6BED"/>
                </a:solidFill>
                <a:latin typeface="Calibri" pitchFamily="34" charset="0"/>
                <a:ea typeface="Calibri" pitchFamily="34" charset="-122"/>
                <a:cs typeface="Calibri" pitchFamily="34" charset="-120"/>
              </a:rPr>
              <a:t>02</a:t>
            </a:r>
            <a:endParaRPr lang="en-US" sz="1200" dirty="0"/>
          </a:p>
        </p:txBody>
      </p:sp>
      <p:sp>
        <p:nvSpPr>
          <p:cNvPr id="19" name="Text 16"/>
          <p:cNvSpPr/>
          <p:nvPr/>
        </p:nvSpPr>
        <p:spPr>
          <a:xfrm>
            <a:off x="4654296" y="2926080"/>
            <a:ext cx="2871216" cy="512064"/>
          </a:xfrm>
          <a:prstGeom prst="rect">
            <a:avLst/>
          </a:prstGeom>
          <a:noFill/>
          <a:ln/>
        </p:spPr>
        <p:txBody>
          <a:bodyPr wrap="square" lIns="0" tIns="0" rIns="0" bIns="0" rtlCol="0" anchor="t"/>
          <a:lstStyle/>
          <a:p>
            <a:pPr indent="0" marL="0">
              <a:lnSpc>
                <a:spcPts val="2000"/>
              </a:lnSpc>
              <a:buNone/>
            </a:pPr>
            <a:r>
              <a:rPr lang="en-US" sz="1600" b="1" dirty="0">
                <a:solidFill>
                  <a:srgbClr val="15202B"/>
                </a:solidFill>
                <a:latin typeface="Calibri" pitchFamily="34" charset="0"/>
                <a:ea typeface="Calibri" pitchFamily="34" charset="-122"/>
                <a:cs typeface="Calibri" pitchFamily="34" charset="-120"/>
              </a:rPr>
              <a:t>Use all three selectors</a:t>
            </a:r>
            <a:endParaRPr lang="en-US" sz="1600" dirty="0"/>
          </a:p>
        </p:txBody>
      </p:sp>
      <p:sp>
        <p:nvSpPr>
          <p:cNvPr id="20" name="Text 17"/>
          <p:cNvSpPr/>
          <p:nvPr/>
        </p:nvSpPr>
        <p:spPr>
          <a:xfrm>
            <a:off x="4654296" y="3456432"/>
            <a:ext cx="2871216" cy="676656"/>
          </a:xfrm>
          <a:prstGeom prst="rect">
            <a:avLst/>
          </a:prstGeom>
          <a:noFill/>
          <a:ln/>
        </p:spPr>
        <p:txBody>
          <a:bodyPr wrap="square" lIns="0" tIns="0" rIns="0" bIns="0" rtlCol="0" anchor="t"/>
          <a:lstStyle/>
          <a:p>
            <a:pPr algn="l" indent="0" marL="0">
              <a:lnSpc>
                <a:spcPts val="1600"/>
              </a:lnSpc>
              <a:buNone/>
            </a:pPr>
            <a:r>
              <a:rPr lang="en-US" sz="1200" dirty="0">
                <a:solidFill>
                  <a:srgbClr val="55616F"/>
                </a:solidFill>
                <a:latin typeface="Calibri" pitchFamily="34" charset="0"/>
                <a:ea typeface="Calibri" pitchFamily="34" charset="-122"/>
                <a:cs typeface="Calibri" pitchFamily="34" charset="-120"/>
              </a:rPr>
              <a:t>One element rule, one class on a group, one id on a single thing.</a:t>
            </a:r>
            <a:endParaRPr lang="en-US" sz="1200" dirty="0"/>
          </a:p>
        </p:txBody>
      </p:sp>
      <p:sp>
        <p:nvSpPr>
          <p:cNvPr id="21" name="Shape 18"/>
          <p:cNvSpPr/>
          <p:nvPr/>
        </p:nvSpPr>
        <p:spPr>
          <a:xfrm>
            <a:off x="8119872" y="2103120"/>
            <a:ext cx="3419856" cy="2103120"/>
          </a:xfrm>
          <a:prstGeom prst="roundRect">
            <a:avLst>
              <a:gd name="adj" fmla="val 4348"/>
            </a:avLst>
          </a:prstGeom>
          <a:solidFill>
            <a:srgbClr val="FFFFFF"/>
          </a:solidFill>
          <a:ln w="12700">
            <a:solidFill>
              <a:srgbClr val="D9DEE7"/>
            </a:solidFill>
            <a:prstDash val="solid"/>
          </a:ln>
          <a:effectLst>
            <a:outerShdw sx="100000" sy="100000" kx="0" ky="0" algn="bl" rotWithShape="0" blurRad="177800" dist="38100" dir="5400000">
              <a:srgbClr val="000000">
                <a:alpha val="35000"/>
              </a:srgbClr>
            </a:outerShdw>
          </a:effectLst>
        </p:spPr>
      </p:sp>
      <p:sp>
        <p:nvSpPr>
          <p:cNvPr id="22" name="Shape 19"/>
          <p:cNvSpPr/>
          <p:nvPr/>
        </p:nvSpPr>
        <p:spPr>
          <a:xfrm>
            <a:off x="8394192" y="2340864"/>
            <a:ext cx="475488" cy="475488"/>
          </a:xfrm>
          <a:prstGeom prst="ellipse">
            <a:avLst/>
          </a:prstGeom>
          <a:solidFill>
            <a:srgbClr val="E7EEFD"/>
          </a:solidFill>
          <a:ln w="12700">
            <a:solidFill>
              <a:srgbClr val="2C6BED"/>
            </a:solidFill>
            <a:prstDash val="solid"/>
          </a:ln>
        </p:spPr>
      </p:sp>
      <p:sp>
        <p:nvSpPr>
          <p:cNvPr id="23" name="Text 20"/>
          <p:cNvSpPr/>
          <p:nvPr/>
        </p:nvSpPr>
        <p:spPr>
          <a:xfrm>
            <a:off x="8394192" y="2340864"/>
            <a:ext cx="475488" cy="475488"/>
          </a:xfrm>
          <a:prstGeom prst="rect">
            <a:avLst/>
          </a:prstGeom>
          <a:noFill/>
          <a:ln/>
        </p:spPr>
        <p:txBody>
          <a:bodyPr wrap="square" lIns="0" tIns="0" rIns="0" bIns="0" rtlCol="0" anchor="ctr"/>
          <a:lstStyle/>
          <a:p>
            <a:pPr algn="ctr" indent="0" marL="0">
              <a:buNone/>
            </a:pPr>
            <a:r>
              <a:rPr lang="en-US" sz="1200" b="1" dirty="0">
                <a:solidFill>
                  <a:srgbClr val="2C6BED"/>
                </a:solidFill>
                <a:latin typeface="Calibri" pitchFamily="34" charset="0"/>
                <a:ea typeface="Calibri" pitchFamily="34" charset="-122"/>
                <a:cs typeface="Calibri" pitchFamily="34" charset="-120"/>
              </a:rPr>
              <a:t>03</a:t>
            </a:r>
            <a:endParaRPr lang="en-US" sz="1200" dirty="0"/>
          </a:p>
        </p:txBody>
      </p:sp>
      <p:sp>
        <p:nvSpPr>
          <p:cNvPr id="24" name="Text 21"/>
          <p:cNvSpPr/>
          <p:nvPr/>
        </p:nvSpPr>
        <p:spPr>
          <a:xfrm>
            <a:off x="8394192" y="2926080"/>
            <a:ext cx="2871216" cy="512064"/>
          </a:xfrm>
          <a:prstGeom prst="rect">
            <a:avLst/>
          </a:prstGeom>
          <a:noFill/>
          <a:ln/>
        </p:spPr>
        <p:txBody>
          <a:bodyPr wrap="square" lIns="0" tIns="0" rIns="0" bIns="0" rtlCol="0" anchor="t"/>
          <a:lstStyle/>
          <a:p>
            <a:pPr indent="0" marL="0">
              <a:lnSpc>
                <a:spcPts val="2000"/>
              </a:lnSpc>
              <a:buNone/>
            </a:pPr>
            <a:r>
              <a:rPr lang="en-US" sz="1600" b="1" dirty="0">
                <a:solidFill>
                  <a:srgbClr val="15202B"/>
                </a:solidFill>
                <a:latin typeface="Calibri" pitchFamily="34" charset="0"/>
                <a:ea typeface="Calibri" pitchFamily="34" charset="-122"/>
                <a:cs typeface="Calibri" pitchFamily="34" charset="-120"/>
              </a:rPr>
              <a:t>Set the type</a:t>
            </a:r>
            <a:endParaRPr lang="en-US" sz="1600" dirty="0"/>
          </a:p>
        </p:txBody>
      </p:sp>
      <p:sp>
        <p:nvSpPr>
          <p:cNvPr id="25" name="Text 22"/>
          <p:cNvSpPr/>
          <p:nvPr/>
        </p:nvSpPr>
        <p:spPr>
          <a:xfrm>
            <a:off x="8394192" y="3456432"/>
            <a:ext cx="2871216" cy="676656"/>
          </a:xfrm>
          <a:prstGeom prst="rect">
            <a:avLst/>
          </a:prstGeom>
          <a:noFill/>
          <a:ln/>
        </p:spPr>
        <p:txBody>
          <a:bodyPr wrap="square" lIns="0" tIns="0" rIns="0" bIns="0" rtlCol="0" anchor="t"/>
          <a:lstStyle/>
          <a:p>
            <a:pPr algn="l" indent="0" marL="0">
              <a:lnSpc>
                <a:spcPts val="1600"/>
              </a:lnSpc>
              <a:buNone/>
            </a:pPr>
            <a:r>
              <a:rPr lang="en-US" sz="1200" dirty="0">
                <a:solidFill>
                  <a:srgbClr val="55616F"/>
                </a:solidFill>
                <a:latin typeface="Calibri" pitchFamily="34" charset="0"/>
                <a:ea typeface="Calibri" pitchFamily="34" charset="-122"/>
                <a:cs typeface="Calibri" pitchFamily="34" charset="-120"/>
              </a:rPr>
              <a:t>A font-family with a fallback, a heading weight, and a line-height on your paragraphs.</a:t>
            </a:r>
            <a:endParaRPr lang="en-US" sz="1200" dirty="0"/>
          </a:p>
        </p:txBody>
      </p:sp>
      <p:sp>
        <p:nvSpPr>
          <p:cNvPr id="26" name="Shape 23"/>
          <p:cNvSpPr/>
          <p:nvPr/>
        </p:nvSpPr>
        <p:spPr>
          <a:xfrm>
            <a:off x="640080" y="4443984"/>
            <a:ext cx="10881360" cy="1005840"/>
          </a:xfrm>
          <a:prstGeom prst="roundRect">
            <a:avLst>
              <a:gd name="adj" fmla="val 9091"/>
            </a:avLst>
          </a:prstGeom>
          <a:solidFill>
            <a:srgbClr val="E7EEFD"/>
          </a:solidFill>
          <a:ln w="12700">
            <a:solidFill>
              <a:srgbClr val="2C6BED"/>
            </a:solidFill>
            <a:prstDash val="solid"/>
          </a:ln>
          <a:effectLst>
            <a:outerShdw sx="100000" sy="100000" kx="0" ky="0" algn="bl" rotWithShape="0" blurRad="177800" dist="38100" dir="5400000">
              <a:srgbClr val="000000">
                <a:alpha val="35000"/>
              </a:srgbClr>
            </a:outerShdw>
          </a:effectLst>
        </p:spPr>
      </p:sp>
      <p:sp>
        <p:nvSpPr>
          <p:cNvPr id="27" name="Text 24"/>
          <p:cNvSpPr/>
          <p:nvPr/>
        </p:nvSpPr>
        <p:spPr>
          <a:xfrm>
            <a:off x="950976" y="4572000"/>
            <a:ext cx="9418320" cy="274320"/>
          </a:xfrm>
          <a:prstGeom prst="rect">
            <a:avLst/>
          </a:prstGeom>
          <a:noFill/>
          <a:ln/>
        </p:spPr>
        <p:txBody>
          <a:bodyPr wrap="square" lIns="0" tIns="0" rIns="0" bIns="0" rtlCol="0" anchor="ctr"/>
          <a:lstStyle/>
          <a:p>
            <a:pPr indent="0" marL="0">
              <a:buNone/>
            </a:pPr>
            <a:r>
              <a:rPr lang="en-US" sz="1000" b="1" spc="250" kern="0" dirty="0">
                <a:solidFill>
                  <a:srgbClr val="2C6BED"/>
                </a:solidFill>
                <a:latin typeface="Calibri" pitchFamily="34" charset="0"/>
                <a:ea typeface="Calibri" pitchFamily="34" charset="-122"/>
                <a:cs typeface="Calibri" pitchFamily="34" charset="-120"/>
              </a:rPr>
              <a:t>SHARE BACK</a:t>
            </a:r>
            <a:endParaRPr lang="en-US" sz="1000" dirty="0"/>
          </a:p>
        </p:txBody>
      </p:sp>
      <p:sp>
        <p:nvSpPr>
          <p:cNvPr id="28" name="Text 25"/>
          <p:cNvSpPr/>
          <p:nvPr/>
        </p:nvSpPr>
        <p:spPr>
          <a:xfrm>
            <a:off x="950976" y="4846320"/>
            <a:ext cx="10241280" cy="502920"/>
          </a:xfrm>
          <a:prstGeom prst="rect">
            <a:avLst/>
          </a:prstGeom>
          <a:noFill/>
          <a:ln/>
        </p:spPr>
        <p:txBody>
          <a:bodyPr wrap="square" lIns="0" tIns="0" rIns="0" bIns="0" rtlCol="0" anchor="t"/>
          <a:lstStyle/>
          <a:p>
            <a:pPr algn="l" indent="0" marL="0">
              <a:lnSpc>
                <a:spcPts val="1700"/>
              </a:lnSpc>
              <a:buNone/>
            </a:pPr>
            <a:r>
              <a:rPr lang="en-US" sz="1250" dirty="0">
                <a:solidFill>
                  <a:srgbClr val="15202B"/>
                </a:solidFill>
                <a:latin typeface="Calibri" pitchFamily="34" charset="0"/>
                <a:ea typeface="Calibri" pitchFamily="34" charset="-122"/>
                <a:cs typeface="Calibri" pitchFamily="34" charset="-120"/>
              </a:rPr>
              <a:t>Call out the one property that changed your page the most. I expect font-family and line-height to win.</a:t>
            </a:r>
            <a:endParaRPr lang="en-US" sz="1250" dirty="0"/>
          </a:p>
        </p:txBody>
      </p:sp>
      <p:sp>
        <p:nvSpPr>
          <p:cNvPr id="29" name="Shape 26"/>
          <p:cNvSpPr/>
          <p:nvPr/>
        </p:nvSpPr>
        <p:spPr>
          <a:xfrm>
            <a:off x="640080" y="5596128"/>
            <a:ext cx="10881360" cy="548640"/>
          </a:xfrm>
          <a:prstGeom prst="roundRect">
            <a:avLst>
              <a:gd name="adj" fmla="val 16667"/>
            </a:avLst>
          </a:prstGeom>
          <a:solidFill>
            <a:srgbClr val="FFFFFF"/>
          </a:solidFill>
          <a:ln w="12700">
            <a:solidFill>
              <a:srgbClr val="D9DEE7"/>
            </a:solidFill>
            <a:prstDash val="solid"/>
          </a:ln>
        </p:spPr>
      </p:sp>
      <p:sp>
        <p:nvSpPr>
          <p:cNvPr id="30" name="Text 27"/>
          <p:cNvSpPr/>
          <p:nvPr/>
        </p:nvSpPr>
        <p:spPr>
          <a:xfrm>
            <a:off x="914400" y="5596128"/>
            <a:ext cx="2468880" cy="548640"/>
          </a:xfrm>
          <a:prstGeom prst="rect">
            <a:avLst/>
          </a:prstGeom>
          <a:noFill/>
          <a:ln/>
        </p:spPr>
        <p:txBody>
          <a:bodyPr wrap="square" lIns="0" tIns="0" rIns="0" bIns="0" rtlCol="0" anchor="ctr"/>
          <a:lstStyle/>
          <a:p>
            <a:pPr indent="0" marL="0">
              <a:buNone/>
            </a:pPr>
            <a:r>
              <a:rPr lang="en-US" sz="950" b="1" spc="150" kern="0" dirty="0">
                <a:solidFill>
                  <a:srgbClr val="2C6BED"/>
                </a:solidFill>
                <a:latin typeface="Calibri" pitchFamily="34" charset="0"/>
                <a:ea typeface="Calibri" pitchFamily="34" charset="-122"/>
                <a:cs typeface="Calibri" pitchFamily="34" charset="-120"/>
              </a:rPr>
              <a:t>RUNNING THIS WITH 200+</a:t>
            </a:r>
            <a:endParaRPr lang="en-US" sz="950" dirty="0"/>
          </a:p>
        </p:txBody>
      </p:sp>
      <p:sp>
        <p:nvSpPr>
          <p:cNvPr id="31" name="Text 28"/>
          <p:cNvSpPr/>
          <p:nvPr/>
        </p:nvSpPr>
        <p:spPr>
          <a:xfrm>
            <a:off x="3474720" y="5596128"/>
            <a:ext cx="7772400" cy="548640"/>
          </a:xfrm>
          <a:prstGeom prst="rect">
            <a:avLst/>
          </a:prstGeom>
          <a:noFill/>
          <a:ln/>
        </p:spPr>
        <p:txBody>
          <a:bodyPr wrap="square" lIns="0" tIns="0" rIns="0" bIns="0" rtlCol="0" anchor="ctr"/>
          <a:lstStyle/>
          <a:p>
            <a:pPr algn="l" indent="0" marL="0">
              <a:lnSpc>
                <a:spcPts val="1587"/>
              </a:lnSpc>
              <a:buNone/>
            </a:pPr>
            <a:r>
              <a:rPr lang="en-US" sz="1150" dirty="0">
                <a:solidFill>
                  <a:srgbClr val="55616F"/>
                </a:solidFill>
                <a:latin typeface="Calibri" pitchFamily="34" charset="0"/>
                <a:ea typeface="Calibri" pitchFamily="34" charset="-122"/>
                <a:cs typeface="Calibri" pitchFamily="34" charset="-120"/>
              </a:rPr>
              <a:t>Solo, own laptop, nobody moves. Four or five shout-outs and we move on.</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7FA"/>
        </a:solidFill>
      </p:bgPr>
    </p:bg>
    <p:spTree>
      <p:nvGrpSpPr>
        <p:cNvPr id="1" name=""/>
        <p:cNvGrpSpPr/>
        <p:nvPr/>
      </p:nvGrpSpPr>
      <p:grpSpPr>
        <a:xfrm>
          <a:off x="0" y="0"/>
          <a:ext cx="0" cy="0"/>
          <a:chOff x="0" y="0"/>
          <a:chExt cx="0" cy="0"/>
        </a:xfrm>
      </p:grpSpPr>
      <p:sp>
        <p:nvSpPr>
          <p:cNvPr id="3" name="Text 0"/>
          <p:cNvSpPr/>
          <p:nvPr/>
        </p:nvSpPr>
        <p:spPr>
          <a:xfrm>
            <a:off x="640080" y="6364224"/>
            <a:ext cx="3657600" cy="256032"/>
          </a:xfrm>
          <a:prstGeom prst="rect">
            <a:avLst/>
          </a:prstGeom>
          <a:noFill/>
          <a:ln/>
        </p:spPr>
        <p:txBody>
          <a:bodyPr wrap="square" lIns="0" tIns="0" rIns="0" bIns="0" rtlCol="0" anchor="ctr"/>
          <a:lstStyle/>
          <a:p>
            <a:pPr indent="0" marL="0">
              <a:buNone/>
            </a:pPr>
            <a:r>
              <a:rPr lang="en-US" sz="900" dirty="0">
                <a:solidFill>
                  <a:srgbClr val="939DAB"/>
                </a:solidFill>
                <a:latin typeface="Courier New" pitchFamily="34" charset="0"/>
                <a:ea typeface="Courier New" pitchFamily="34" charset="-122"/>
                <a:cs typeface="Courier New" pitchFamily="34" charset="-120"/>
              </a:rPr>
              <a:t>CLASS 03  ·  CSS</a:t>
            </a:r>
            <a:endParaRPr lang="en-US" sz="900" dirty="0"/>
          </a:p>
        </p:txBody>
      </p:sp>
      <p:sp>
        <p:nvSpPr>
          <p:cNvPr id="4" name="Text 1"/>
          <p:cNvSpPr/>
          <p:nvPr/>
        </p:nvSpPr>
        <p:spPr>
          <a:xfrm>
            <a:off x="9966960" y="6364224"/>
            <a:ext cx="1581912" cy="256032"/>
          </a:xfrm>
          <a:prstGeom prst="rect">
            <a:avLst/>
          </a:prstGeom>
          <a:noFill/>
          <a:ln/>
        </p:spPr>
        <p:txBody>
          <a:bodyPr wrap="square" lIns="0" tIns="0" rIns="0" bIns="0" rtlCol="0" anchor="ctr"/>
          <a:lstStyle/>
          <a:p>
            <a:pPr algn="r" indent="0" marL="0">
              <a:buNone/>
            </a:pPr>
            <a:r>
              <a:rPr lang="en-US" sz="900" dirty="0">
                <a:solidFill>
                  <a:srgbClr val="939DAB"/>
                </a:solidFill>
                <a:latin typeface="Courier New" pitchFamily="34" charset="0"/>
                <a:ea typeface="Courier New" pitchFamily="34" charset="-122"/>
                <a:cs typeface="Courier New" pitchFamily="34" charset="-120"/>
              </a:rPr>
              <a:t>19</a:t>
            </a:r>
            <a:endParaRPr lang="en-US" sz="900" dirty="0"/>
          </a:p>
        </p:txBody>
      </p:sp>
      <p:sp>
        <p:nvSpPr>
          <p:cNvPr id="5" name="Shape 2"/>
          <p:cNvSpPr/>
          <p:nvPr/>
        </p:nvSpPr>
        <p:spPr>
          <a:xfrm>
            <a:off x="640080" y="365760"/>
            <a:ext cx="1481328" cy="347472"/>
          </a:xfrm>
          <a:prstGeom prst="roundRect">
            <a:avLst>
              <a:gd name="adj" fmla="val 21053"/>
            </a:avLst>
          </a:prstGeom>
          <a:solidFill>
            <a:srgbClr val="2C6BED"/>
          </a:solidFill>
          <a:ln w="15875">
            <a:solidFill>
              <a:srgbClr val="15202B"/>
            </a:solidFill>
            <a:prstDash val="solid"/>
          </a:ln>
        </p:spPr>
      </p:sp>
      <p:sp>
        <p:nvSpPr>
          <p:cNvPr id="6" name="Text 3"/>
          <p:cNvSpPr/>
          <p:nvPr/>
        </p:nvSpPr>
        <p:spPr>
          <a:xfrm>
            <a:off x="640080" y="365760"/>
            <a:ext cx="1481328" cy="347472"/>
          </a:xfrm>
          <a:prstGeom prst="rect">
            <a:avLst/>
          </a:prstGeom>
          <a:noFill/>
          <a:ln/>
        </p:spPr>
        <p:txBody>
          <a:bodyPr wrap="square" lIns="0" tIns="0" rIns="0" bIns="0" rtlCol="0" anchor="ctr"/>
          <a:lstStyle/>
          <a:p>
            <a:pPr algn="ctr" indent="0" marL="0">
              <a:buNone/>
            </a:pPr>
            <a:r>
              <a:rPr lang="en-US" sz="1050" b="1" spc="150" kern="0" dirty="0">
                <a:solidFill>
                  <a:srgbClr val="FFFFFF"/>
                </a:solidFill>
                <a:latin typeface="Calibri" pitchFamily="34" charset="0"/>
                <a:ea typeface="Calibri" pitchFamily="34" charset="-122"/>
                <a:cs typeface="Calibri" pitchFamily="34" charset="-120"/>
              </a:rPr>
              <a:t>WRAP UP</a:t>
            </a:r>
            <a:endParaRPr lang="en-US" sz="1050" dirty="0"/>
          </a:p>
        </p:txBody>
      </p:sp>
      <p:sp>
        <p:nvSpPr>
          <p:cNvPr id="7" name="Text 4"/>
          <p:cNvSpPr/>
          <p:nvPr/>
        </p:nvSpPr>
        <p:spPr>
          <a:xfrm>
            <a:off x="640080" y="786384"/>
            <a:ext cx="10881360" cy="603504"/>
          </a:xfrm>
          <a:prstGeom prst="rect">
            <a:avLst/>
          </a:prstGeom>
          <a:noFill/>
          <a:ln/>
        </p:spPr>
        <p:txBody>
          <a:bodyPr wrap="square" lIns="0" tIns="0" rIns="0" bIns="0" rtlCol="0" anchor="ctr"/>
          <a:lstStyle/>
          <a:p>
            <a:pPr indent="0" marL="0">
              <a:buNone/>
            </a:pPr>
            <a:r>
              <a:rPr lang="en-US" sz="3200" b="1" dirty="0">
                <a:solidFill>
                  <a:srgbClr val="15202B"/>
                </a:solidFill>
                <a:latin typeface="Calibri" pitchFamily="34" charset="0"/>
                <a:ea typeface="Calibri" pitchFamily="34" charset="-122"/>
                <a:cs typeface="Calibri" pitchFamily="34" charset="-120"/>
              </a:rPr>
              <a:t>One rule, three places, four ways to select</a:t>
            </a:r>
            <a:endParaRPr lang="en-US" sz="3200" dirty="0"/>
          </a:p>
        </p:txBody>
      </p:sp>
      <p:sp>
        <p:nvSpPr>
          <p:cNvPr id="8" name="Shape 5"/>
          <p:cNvSpPr/>
          <p:nvPr/>
        </p:nvSpPr>
        <p:spPr>
          <a:xfrm>
            <a:off x="640080" y="1664208"/>
            <a:ext cx="2542032" cy="3383280"/>
          </a:xfrm>
          <a:prstGeom prst="roundRect">
            <a:avLst>
              <a:gd name="adj" fmla="val 3597"/>
            </a:avLst>
          </a:prstGeom>
          <a:solidFill>
            <a:srgbClr val="E7EEFD"/>
          </a:solidFill>
          <a:ln w="12700">
            <a:solidFill>
              <a:srgbClr val="D9DEE7"/>
            </a:solidFill>
            <a:prstDash val="solid"/>
          </a:ln>
          <a:effectLst>
            <a:outerShdw sx="100000" sy="100000" kx="0" ky="0" algn="bl" rotWithShape="0" blurRad="177800" dist="38100" dir="5400000">
              <a:srgbClr val="000000">
                <a:alpha val="35000"/>
              </a:srgbClr>
            </a:outerShdw>
          </a:effectLst>
        </p:spPr>
      </p:sp>
      <p:sp>
        <p:nvSpPr>
          <p:cNvPr id="9" name="Shape 6"/>
          <p:cNvSpPr/>
          <p:nvPr/>
        </p:nvSpPr>
        <p:spPr>
          <a:xfrm>
            <a:off x="877824" y="1901952"/>
            <a:ext cx="512064" cy="512064"/>
          </a:xfrm>
          <a:prstGeom prst="roundRect">
            <a:avLst>
              <a:gd name="adj" fmla="val 17857"/>
            </a:avLst>
          </a:prstGeom>
          <a:solidFill>
            <a:srgbClr val="FFFFFF"/>
          </a:solidFill>
          <a:ln w="12700">
            <a:solidFill>
              <a:srgbClr val="2C6BED"/>
            </a:solidFill>
            <a:prstDash val="solid"/>
          </a:ln>
        </p:spPr>
      </p:sp>
      <p:pic>
        <p:nvPicPr>
          <p:cNvPr id="10" name="Image 0" descr="preencoded.png">    </p:cNvPr>
          <p:cNvPicPr>
            <a:picLocks noChangeAspect="1"/>
          </p:cNvPicPr>
          <p:nvPr/>
        </p:nvPicPr>
        <p:blipFill>
          <a:blip r:embed="rId1"/>
          <a:stretch>
            <a:fillRect/>
          </a:stretch>
        </p:blipFill>
        <p:spPr>
          <a:xfrm>
            <a:off x="1010961" y="2035089"/>
            <a:ext cx="245791" cy="245791"/>
          </a:xfrm>
          <a:prstGeom prst="rect">
            <a:avLst/>
          </a:prstGeom>
        </p:spPr>
      </p:pic>
      <p:sp>
        <p:nvSpPr>
          <p:cNvPr id="11" name="Text 7"/>
          <p:cNvSpPr/>
          <p:nvPr/>
        </p:nvSpPr>
        <p:spPr>
          <a:xfrm>
            <a:off x="1517904" y="1901952"/>
            <a:ext cx="1426464" cy="512064"/>
          </a:xfrm>
          <a:prstGeom prst="rect">
            <a:avLst/>
          </a:prstGeom>
          <a:noFill/>
          <a:ln/>
        </p:spPr>
        <p:txBody>
          <a:bodyPr wrap="square" lIns="0" tIns="0" rIns="0" bIns="0" rtlCol="0" anchor="ctr"/>
          <a:lstStyle/>
          <a:p>
            <a:pPr indent="0" marL="0">
              <a:buNone/>
            </a:pPr>
            <a:r>
              <a:rPr lang="en-US" sz="1700" b="1" dirty="0">
                <a:solidFill>
                  <a:srgbClr val="2C6BED"/>
                </a:solidFill>
                <a:latin typeface="Calibri" pitchFamily="34" charset="0"/>
                <a:ea typeface="Calibri" pitchFamily="34" charset="-122"/>
                <a:cs typeface="Calibri" pitchFamily="34" charset="-120"/>
              </a:rPr>
              <a:t>The rule</a:t>
            </a:r>
            <a:endParaRPr lang="en-US" sz="1700" dirty="0"/>
          </a:p>
        </p:txBody>
      </p:sp>
      <p:sp>
        <p:nvSpPr>
          <p:cNvPr id="12" name="Shape 8"/>
          <p:cNvSpPr/>
          <p:nvPr/>
        </p:nvSpPr>
        <p:spPr>
          <a:xfrm>
            <a:off x="896112" y="2706624"/>
            <a:ext cx="109728" cy="109728"/>
          </a:xfrm>
          <a:prstGeom prst="ellipse">
            <a:avLst/>
          </a:prstGeom>
          <a:solidFill>
            <a:srgbClr val="2C6BED"/>
          </a:solidFill>
          <a:ln w="12700">
            <a:solidFill>
              <a:srgbClr val="2C6BED"/>
            </a:solidFill>
            <a:prstDash val="solid"/>
          </a:ln>
        </p:spPr>
      </p:sp>
      <p:sp>
        <p:nvSpPr>
          <p:cNvPr id="13" name="Text 9"/>
          <p:cNvSpPr/>
          <p:nvPr/>
        </p:nvSpPr>
        <p:spPr>
          <a:xfrm>
            <a:off x="1188720" y="2596896"/>
            <a:ext cx="1719072" cy="694944"/>
          </a:xfrm>
          <a:prstGeom prst="rect">
            <a:avLst/>
          </a:prstGeom>
          <a:noFill/>
          <a:ln/>
        </p:spPr>
        <p:txBody>
          <a:bodyPr wrap="square" lIns="0" tIns="0" rIns="0" bIns="0" rtlCol="0" anchor="t"/>
          <a:lstStyle/>
          <a:p>
            <a:pPr algn="l" indent="0" marL="0">
              <a:lnSpc>
                <a:spcPts val="1500"/>
              </a:lnSpc>
              <a:buNone/>
            </a:pPr>
            <a:r>
              <a:rPr lang="en-US" sz="1150" dirty="0">
                <a:solidFill>
                  <a:srgbClr val="15202B"/>
                </a:solidFill>
                <a:latin typeface="Calibri" pitchFamily="34" charset="0"/>
                <a:ea typeface="Calibri" pitchFamily="34" charset="-122"/>
                <a:cs typeface="Calibri" pitchFamily="34" charset="-120"/>
              </a:rPr>
              <a:t>selector { property: value; }</a:t>
            </a:r>
            <a:endParaRPr lang="en-US" sz="1150" dirty="0"/>
          </a:p>
        </p:txBody>
      </p:sp>
      <p:sp>
        <p:nvSpPr>
          <p:cNvPr id="14" name="Shape 10"/>
          <p:cNvSpPr/>
          <p:nvPr/>
        </p:nvSpPr>
        <p:spPr>
          <a:xfrm>
            <a:off x="896112" y="3511296"/>
            <a:ext cx="109728" cy="109728"/>
          </a:xfrm>
          <a:prstGeom prst="ellipse">
            <a:avLst/>
          </a:prstGeom>
          <a:solidFill>
            <a:srgbClr val="2C6BED"/>
          </a:solidFill>
          <a:ln w="12700">
            <a:solidFill>
              <a:srgbClr val="2C6BED"/>
            </a:solidFill>
            <a:prstDash val="solid"/>
          </a:ln>
        </p:spPr>
      </p:sp>
      <p:sp>
        <p:nvSpPr>
          <p:cNvPr id="15" name="Text 11"/>
          <p:cNvSpPr/>
          <p:nvPr/>
        </p:nvSpPr>
        <p:spPr>
          <a:xfrm>
            <a:off x="1188720" y="3401568"/>
            <a:ext cx="1719072" cy="694944"/>
          </a:xfrm>
          <a:prstGeom prst="rect">
            <a:avLst/>
          </a:prstGeom>
          <a:noFill/>
          <a:ln/>
        </p:spPr>
        <p:txBody>
          <a:bodyPr wrap="square" lIns="0" tIns="0" rIns="0" bIns="0" rtlCol="0" anchor="t"/>
          <a:lstStyle/>
          <a:p>
            <a:pPr algn="l" indent="0" marL="0">
              <a:lnSpc>
                <a:spcPts val="1500"/>
              </a:lnSpc>
              <a:buNone/>
            </a:pPr>
            <a:r>
              <a:rPr lang="en-US" sz="1150" dirty="0">
                <a:solidFill>
                  <a:srgbClr val="15202B"/>
                </a:solidFill>
                <a:latin typeface="Calibri" pitchFamily="34" charset="0"/>
                <a:ea typeface="Calibri" pitchFamily="34" charset="-122"/>
                <a:cs typeface="Calibri" pitchFamily="34" charset="-120"/>
              </a:rPr>
              <a:t>Braces hold declarations</a:t>
            </a:r>
            <a:endParaRPr lang="en-US" sz="1150" dirty="0"/>
          </a:p>
        </p:txBody>
      </p:sp>
      <p:sp>
        <p:nvSpPr>
          <p:cNvPr id="16" name="Shape 12"/>
          <p:cNvSpPr/>
          <p:nvPr/>
        </p:nvSpPr>
        <p:spPr>
          <a:xfrm>
            <a:off x="896112" y="4315968"/>
            <a:ext cx="109728" cy="109728"/>
          </a:xfrm>
          <a:prstGeom prst="ellipse">
            <a:avLst/>
          </a:prstGeom>
          <a:solidFill>
            <a:srgbClr val="2C6BED"/>
          </a:solidFill>
          <a:ln w="12700">
            <a:solidFill>
              <a:srgbClr val="2C6BED"/>
            </a:solidFill>
            <a:prstDash val="solid"/>
          </a:ln>
        </p:spPr>
      </p:sp>
      <p:sp>
        <p:nvSpPr>
          <p:cNvPr id="17" name="Text 13"/>
          <p:cNvSpPr/>
          <p:nvPr/>
        </p:nvSpPr>
        <p:spPr>
          <a:xfrm>
            <a:off x="1188720" y="4206240"/>
            <a:ext cx="1719072" cy="694944"/>
          </a:xfrm>
          <a:prstGeom prst="rect">
            <a:avLst/>
          </a:prstGeom>
          <a:noFill/>
          <a:ln/>
        </p:spPr>
        <p:txBody>
          <a:bodyPr wrap="square" lIns="0" tIns="0" rIns="0" bIns="0" rtlCol="0" anchor="t"/>
          <a:lstStyle/>
          <a:p>
            <a:pPr algn="l" indent="0" marL="0">
              <a:lnSpc>
                <a:spcPts val="1500"/>
              </a:lnSpc>
              <a:buNone/>
            </a:pPr>
            <a:r>
              <a:rPr lang="en-US" sz="1150" dirty="0">
                <a:solidFill>
                  <a:srgbClr val="15202B"/>
                </a:solidFill>
                <a:latin typeface="Calibri" pitchFamily="34" charset="0"/>
                <a:ea typeface="Calibri" pitchFamily="34" charset="-122"/>
                <a:cs typeface="Calibri" pitchFamily="34" charset="-120"/>
              </a:rPr>
              <a:t>Every declaration ends in a semicolon</a:t>
            </a:r>
            <a:endParaRPr lang="en-US" sz="1150" dirty="0"/>
          </a:p>
        </p:txBody>
      </p:sp>
      <p:sp>
        <p:nvSpPr>
          <p:cNvPr id="18" name="Shape 14"/>
          <p:cNvSpPr/>
          <p:nvPr/>
        </p:nvSpPr>
        <p:spPr>
          <a:xfrm>
            <a:off x="3483864" y="1664208"/>
            <a:ext cx="2542032" cy="3383280"/>
          </a:xfrm>
          <a:prstGeom prst="roundRect">
            <a:avLst>
              <a:gd name="adj" fmla="val 3597"/>
            </a:avLst>
          </a:prstGeom>
          <a:solidFill>
            <a:srgbClr val="ECE7FB"/>
          </a:solidFill>
          <a:ln w="12700">
            <a:solidFill>
              <a:srgbClr val="D9DEE7"/>
            </a:solidFill>
            <a:prstDash val="solid"/>
          </a:ln>
          <a:effectLst>
            <a:outerShdw sx="100000" sy="100000" kx="0" ky="0" algn="bl" rotWithShape="0" blurRad="177800" dist="38100" dir="5400000">
              <a:srgbClr val="000000">
                <a:alpha val="35000"/>
              </a:srgbClr>
            </a:outerShdw>
          </a:effectLst>
        </p:spPr>
      </p:sp>
      <p:sp>
        <p:nvSpPr>
          <p:cNvPr id="19" name="Shape 15"/>
          <p:cNvSpPr/>
          <p:nvPr/>
        </p:nvSpPr>
        <p:spPr>
          <a:xfrm>
            <a:off x="3721608" y="1901952"/>
            <a:ext cx="512064" cy="512064"/>
          </a:xfrm>
          <a:prstGeom prst="roundRect">
            <a:avLst>
              <a:gd name="adj" fmla="val 17857"/>
            </a:avLst>
          </a:prstGeom>
          <a:solidFill>
            <a:srgbClr val="FFFFFF"/>
          </a:solidFill>
          <a:ln w="12700">
            <a:solidFill>
              <a:srgbClr val="6741D9"/>
            </a:solidFill>
            <a:prstDash val="solid"/>
          </a:ln>
        </p:spPr>
      </p:sp>
      <p:pic>
        <p:nvPicPr>
          <p:cNvPr id="20" name="Image 1" descr="preencoded.png">    </p:cNvPr>
          <p:cNvPicPr>
            <a:picLocks noChangeAspect="1"/>
          </p:cNvPicPr>
          <p:nvPr/>
        </p:nvPicPr>
        <p:blipFill>
          <a:blip r:embed="rId2"/>
          <a:stretch>
            <a:fillRect/>
          </a:stretch>
        </p:blipFill>
        <p:spPr>
          <a:xfrm>
            <a:off x="3854745" y="2035089"/>
            <a:ext cx="245791" cy="245791"/>
          </a:xfrm>
          <a:prstGeom prst="rect">
            <a:avLst/>
          </a:prstGeom>
        </p:spPr>
      </p:pic>
      <p:sp>
        <p:nvSpPr>
          <p:cNvPr id="21" name="Text 16"/>
          <p:cNvSpPr/>
          <p:nvPr/>
        </p:nvSpPr>
        <p:spPr>
          <a:xfrm>
            <a:off x="4361688" y="1901952"/>
            <a:ext cx="1426464" cy="512064"/>
          </a:xfrm>
          <a:prstGeom prst="rect">
            <a:avLst/>
          </a:prstGeom>
          <a:noFill/>
          <a:ln/>
        </p:spPr>
        <p:txBody>
          <a:bodyPr wrap="square" lIns="0" tIns="0" rIns="0" bIns="0" rtlCol="0" anchor="ctr"/>
          <a:lstStyle/>
          <a:p>
            <a:pPr indent="0" marL="0">
              <a:buNone/>
            </a:pPr>
            <a:r>
              <a:rPr lang="en-US" sz="1700" b="1" dirty="0">
                <a:solidFill>
                  <a:srgbClr val="6741D9"/>
                </a:solidFill>
                <a:latin typeface="Calibri" pitchFamily="34" charset="0"/>
                <a:ea typeface="Calibri" pitchFamily="34" charset="-122"/>
                <a:cs typeface="Calibri" pitchFamily="34" charset="-120"/>
              </a:rPr>
              <a:t>Where it lives</a:t>
            </a:r>
            <a:endParaRPr lang="en-US" sz="1700" dirty="0"/>
          </a:p>
        </p:txBody>
      </p:sp>
      <p:sp>
        <p:nvSpPr>
          <p:cNvPr id="22" name="Shape 17"/>
          <p:cNvSpPr/>
          <p:nvPr/>
        </p:nvSpPr>
        <p:spPr>
          <a:xfrm>
            <a:off x="3739896" y="2706624"/>
            <a:ext cx="109728" cy="109728"/>
          </a:xfrm>
          <a:prstGeom prst="ellipse">
            <a:avLst/>
          </a:prstGeom>
          <a:solidFill>
            <a:srgbClr val="6741D9"/>
          </a:solidFill>
          <a:ln w="12700">
            <a:solidFill>
              <a:srgbClr val="6741D9"/>
            </a:solidFill>
            <a:prstDash val="solid"/>
          </a:ln>
        </p:spPr>
      </p:sp>
      <p:sp>
        <p:nvSpPr>
          <p:cNvPr id="23" name="Text 18"/>
          <p:cNvSpPr/>
          <p:nvPr/>
        </p:nvSpPr>
        <p:spPr>
          <a:xfrm>
            <a:off x="4032504" y="2596896"/>
            <a:ext cx="1719072" cy="694944"/>
          </a:xfrm>
          <a:prstGeom prst="rect">
            <a:avLst/>
          </a:prstGeom>
          <a:noFill/>
          <a:ln/>
        </p:spPr>
        <p:txBody>
          <a:bodyPr wrap="square" lIns="0" tIns="0" rIns="0" bIns="0" rtlCol="0" anchor="t"/>
          <a:lstStyle/>
          <a:p>
            <a:pPr algn="l" indent="0" marL="0">
              <a:lnSpc>
                <a:spcPts val="1500"/>
              </a:lnSpc>
              <a:buNone/>
            </a:pPr>
            <a:r>
              <a:rPr lang="en-US" sz="1150" dirty="0">
                <a:solidFill>
                  <a:srgbClr val="15202B"/>
                </a:solidFill>
                <a:latin typeface="Calibri" pitchFamily="34" charset="0"/>
                <a:ea typeface="Calibri" pitchFamily="34" charset="-122"/>
                <a:cs typeface="Calibri" pitchFamily="34" charset="-120"/>
              </a:rPr>
              <a:t>External file, linked in the head</a:t>
            </a:r>
            <a:endParaRPr lang="en-US" sz="1150" dirty="0"/>
          </a:p>
        </p:txBody>
      </p:sp>
      <p:sp>
        <p:nvSpPr>
          <p:cNvPr id="24" name="Shape 19"/>
          <p:cNvSpPr/>
          <p:nvPr/>
        </p:nvSpPr>
        <p:spPr>
          <a:xfrm>
            <a:off x="3739896" y="3511296"/>
            <a:ext cx="109728" cy="109728"/>
          </a:xfrm>
          <a:prstGeom prst="ellipse">
            <a:avLst/>
          </a:prstGeom>
          <a:solidFill>
            <a:srgbClr val="6741D9"/>
          </a:solidFill>
          <a:ln w="12700">
            <a:solidFill>
              <a:srgbClr val="6741D9"/>
            </a:solidFill>
            <a:prstDash val="solid"/>
          </a:ln>
        </p:spPr>
      </p:sp>
      <p:sp>
        <p:nvSpPr>
          <p:cNvPr id="25" name="Text 20"/>
          <p:cNvSpPr/>
          <p:nvPr/>
        </p:nvSpPr>
        <p:spPr>
          <a:xfrm>
            <a:off x="4032504" y="3401568"/>
            <a:ext cx="1719072" cy="694944"/>
          </a:xfrm>
          <a:prstGeom prst="rect">
            <a:avLst/>
          </a:prstGeom>
          <a:noFill/>
          <a:ln/>
        </p:spPr>
        <p:txBody>
          <a:bodyPr wrap="square" lIns="0" tIns="0" rIns="0" bIns="0" rtlCol="0" anchor="t"/>
          <a:lstStyle/>
          <a:p>
            <a:pPr algn="l" indent="0" marL="0">
              <a:lnSpc>
                <a:spcPts val="1500"/>
              </a:lnSpc>
              <a:buNone/>
            </a:pPr>
            <a:r>
              <a:rPr lang="en-US" sz="1150" dirty="0">
                <a:solidFill>
                  <a:srgbClr val="15202B"/>
                </a:solidFill>
                <a:latin typeface="Calibri" pitchFamily="34" charset="0"/>
                <a:ea typeface="Calibri" pitchFamily="34" charset="-122"/>
                <a:cs typeface="Calibri" pitchFamily="34" charset="-120"/>
              </a:rPr>
              <a:t>Internal style tag</a:t>
            </a:r>
            <a:endParaRPr lang="en-US" sz="1150" dirty="0"/>
          </a:p>
        </p:txBody>
      </p:sp>
      <p:sp>
        <p:nvSpPr>
          <p:cNvPr id="26" name="Shape 21"/>
          <p:cNvSpPr/>
          <p:nvPr/>
        </p:nvSpPr>
        <p:spPr>
          <a:xfrm>
            <a:off x="3739896" y="4315968"/>
            <a:ext cx="109728" cy="109728"/>
          </a:xfrm>
          <a:prstGeom prst="ellipse">
            <a:avLst/>
          </a:prstGeom>
          <a:solidFill>
            <a:srgbClr val="6741D9"/>
          </a:solidFill>
          <a:ln w="12700">
            <a:solidFill>
              <a:srgbClr val="6741D9"/>
            </a:solidFill>
            <a:prstDash val="solid"/>
          </a:ln>
        </p:spPr>
      </p:sp>
      <p:sp>
        <p:nvSpPr>
          <p:cNvPr id="27" name="Text 22"/>
          <p:cNvSpPr/>
          <p:nvPr/>
        </p:nvSpPr>
        <p:spPr>
          <a:xfrm>
            <a:off x="4032504" y="4206240"/>
            <a:ext cx="1719072" cy="694944"/>
          </a:xfrm>
          <a:prstGeom prst="rect">
            <a:avLst/>
          </a:prstGeom>
          <a:noFill/>
          <a:ln/>
        </p:spPr>
        <p:txBody>
          <a:bodyPr wrap="square" lIns="0" tIns="0" rIns="0" bIns="0" rtlCol="0" anchor="t"/>
          <a:lstStyle/>
          <a:p>
            <a:pPr algn="l" indent="0" marL="0">
              <a:lnSpc>
                <a:spcPts val="1500"/>
              </a:lnSpc>
              <a:buNone/>
            </a:pPr>
            <a:r>
              <a:rPr lang="en-US" sz="1150" dirty="0">
                <a:solidFill>
                  <a:srgbClr val="15202B"/>
                </a:solidFill>
                <a:latin typeface="Calibri" pitchFamily="34" charset="0"/>
                <a:ea typeface="Calibri" pitchFamily="34" charset="-122"/>
                <a:cs typeface="Calibri" pitchFamily="34" charset="-120"/>
              </a:rPr>
              <a:t>Inline attribute, and it wins</a:t>
            </a:r>
            <a:endParaRPr lang="en-US" sz="1150" dirty="0"/>
          </a:p>
        </p:txBody>
      </p:sp>
      <p:sp>
        <p:nvSpPr>
          <p:cNvPr id="28" name="Shape 23"/>
          <p:cNvSpPr/>
          <p:nvPr/>
        </p:nvSpPr>
        <p:spPr>
          <a:xfrm>
            <a:off x="6327648" y="1664208"/>
            <a:ext cx="2542032" cy="3383280"/>
          </a:xfrm>
          <a:prstGeom prst="roundRect">
            <a:avLst>
              <a:gd name="adj" fmla="val 3597"/>
            </a:avLst>
          </a:prstGeom>
          <a:solidFill>
            <a:srgbClr val="FCE7EF"/>
          </a:solidFill>
          <a:ln w="12700">
            <a:solidFill>
              <a:srgbClr val="D9DEE7"/>
            </a:solidFill>
            <a:prstDash val="solid"/>
          </a:ln>
          <a:effectLst>
            <a:outerShdw sx="100000" sy="100000" kx="0" ky="0" algn="bl" rotWithShape="0" blurRad="177800" dist="38100" dir="5400000">
              <a:srgbClr val="000000">
                <a:alpha val="35000"/>
              </a:srgbClr>
            </a:outerShdw>
          </a:effectLst>
        </p:spPr>
      </p:sp>
      <p:sp>
        <p:nvSpPr>
          <p:cNvPr id="29" name="Shape 24"/>
          <p:cNvSpPr/>
          <p:nvPr/>
        </p:nvSpPr>
        <p:spPr>
          <a:xfrm>
            <a:off x="6565392" y="1901952"/>
            <a:ext cx="512064" cy="512064"/>
          </a:xfrm>
          <a:prstGeom prst="roundRect">
            <a:avLst>
              <a:gd name="adj" fmla="val 17857"/>
            </a:avLst>
          </a:prstGeom>
          <a:solidFill>
            <a:srgbClr val="FFFFFF"/>
          </a:solidFill>
          <a:ln w="12700">
            <a:solidFill>
              <a:srgbClr val="D6336C"/>
            </a:solidFill>
            <a:prstDash val="solid"/>
          </a:ln>
        </p:spPr>
      </p:sp>
      <p:pic>
        <p:nvPicPr>
          <p:cNvPr id="30" name="Image 2" descr="preencoded.png">    </p:cNvPr>
          <p:cNvPicPr>
            <a:picLocks noChangeAspect="1"/>
          </p:cNvPicPr>
          <p:nvPr/>
        </p:nvPicPr>
        <p:blipFill>
          <a:blip r:embed="rId3"/>
          <a:stretch>
            <a:fillRect/>
          </a:stretch>
        </p:blipFill>
        <p:spPr>
          <a:xfrm>
            <a:off x="6698529" y="2035089"/>
            <a:ext cx="245791" cy="245791"/>
          </a:xfrm>
          <a:prstGeom prst="rect">
            <a:avLst/>
          </a:prstGeom>
        </p:spPr>
      </p:pic>
      <p:sp>
        <p:nvSpPr>
          <p:cNvPr id="31" name="Text 25"/>
          <p:cNvSpPr/>
          <p:nvPr/>
        </p:nvSpPr>
        <p:spPr>
          <a:xfrm>
            <a:off x="7205472" y="1901952"/>
            <a:ext cx="1426464" cy="512064"/>
          </a:xfrm>
          <a:prstGeom prst="rect">
            <a:avLst/>
          </a:prstGeom>
          <a:noFill/>
          <a:ln/>
        </p:spPr>
        <p:txBody>
          <a:bodyPr wrap="square" lIns="0" tIns="0" rIns="0" bIns="0" rtlCol="0" anchor="ctr"/>
          <a:lstStyle/>
          <a:p>
            <a:pPr indent="0" marL="0">
              <a:buNone/>
            </a:pPr>
            <a:r>
              <a:rPr lang="en-US" sz="1700" b="1" dirty="0">
                <a:solidFill>
                  <a:srgbClr val="D6336C"/>
                </a:solidFill>
                <a:latin typeface="Calibri" pitchFamily="34" charset="0"/>
                <a:ea typeface="Calibri" pitchFamily="34" charset="-122"/>
                <a:cs typeface="Calibri" pitchFamily="34" charset="-120"/>
              </a:rPr>
              <a:t>Selecting</a:t>
            </a:r>
            <a:endParaRPr lang="en-US" sz="1700" dirty="0"/>
          </a:p>
        </p:txBody>
      </p:sp>
      <p:sp>
        <p:nvSpPr>
          <p:cNvPr id="32" name="Shape 26"/>
          <p:cNvSpPr/>
          <p:nvPr/>
        </p:nvSpPr>
        <p:spPr>
          <a:xfrm>
            <a:off x="6583680" y="2706624"/>
            <a:ext cx="109728" cy="109728"/>
          </a:xfrm>
          <a:prstGeom prst="ellipse">
            <a:avLst/>
          </a:prstGeom>
          <a:solidFill>
            <a:srgbClr val="D6336C"/>
          </a:solidFill>
          <a:ln w="12700">
            <a:solidFill>
              <a:srgbClr val="D6336C"/>
            </a:solidFill>
            <a:prstDash val="solid"/>
          </a:ln>
        </p:spPr>
      </p:sp>
      <p:sp>
        <p:nvSpPr>
          <p:cNvPr id="33" name="Text 27"/>
          <p:cNvSpPr/>
          <p:nvPr/>
        </p:nvSpPr>
        <p:spPr>
          <a:xfrm>
            <a:off x="6876288" y="2596896"/>
            <a:ext cx="1719072" cy="694944"/>
          </a:xfrm>
          <a:prstGeom prst="rect">
            <a:avLst/>
          </a:prstGeom>
          <a:noFill/>
          <a:ln/>
        </p:spPr>
        <p:txBody>
          <a:bodyPr wrap="square" lIns="0" tIns="0" rIns="0" bIns="0" rtlCol="0" anchor="t"/>
          <a:lstStyle/>
          <a:p>
            <a:pPr algn="l" indent="0" marL="0">
              <a:lnSpc>
                <a:spcPts val="1500"/>
              </a:lnSpc>
              <a:buNone/>
            </a:pPr>
            <a:r>
              <a:rPr lang="en-US" sz="1150" dirty="0">
                <a:solidFill>
                  <a:srgbClr val="15202B"/>
                </a:solidFill>
                <a:latin typeface="Calibri" pitchFamily="34" charset="0"/>
                <a:ea typeface="Calibri" pitchFamily="34" charset="-122"/>
                <a:cs typeface="Calibri" pitchFamily="34" charset="-120"/>
              </a:rPr>
              <a:t>tag, .class, #id</a:t>
            </a:r>
            <a:endParaRPr lang="en-US" sz="1150" dirty="0"/>
          </a:p>
        </p:txBody>
      </p:sp>
      <p:sp>
        <p:nvSpPr>
          <p:cNvPr id="34" name="Shape 28"/>
          <p:cNvSpPr/>
          <p:nvPr/>
        </p:nvSpPr>
        <p:spPr>
          <a:xfrm>
            <a:off x="6583680" y="3511296"/>
            <a:ext cx="109728" cy="109728"/>
          </a:xfrm>
          <a:prstGeom prst="ellipse">
            <a:avLst/>
          </a:prstGeom>
          <a:solidFill>
            <a:srgbClr val="D6336C"/>
          </a:solidFill>
          <a:ln w="12700">
            <a:solidFill>
              <a:srgbClr val="D6336C"/>
            </a:solidFill>
            <a:prstDash val="solid"/>
          </a:ln>
        </p:spPr>
      </p:sp>
      <p:sp>
        <p:nvSpPr>
          <p:cNvPr id="35" name="Text 29"/>
          <p:cNvSpPr/>
          <p:nvPr/>
        </p:nvSpPr>
        <p:spPr>
          <a:xfrm>
            <a:off x="6876288" y="3401568"/>
            <a:ext cx="1719072" cy="694944"/>
          </a:xfrm>
          <a:prstGeom prst="rect">
            <a:avLst/>
          </a:prstGeom>
          <a:noFill/>
          <a:ln/>
        </p:spPr>
        <p:txBody>
          <a:bodyPr wrap="square" lIns="0" tIns="0" rIns="0" bIns="0" rtlCol="0" anchor="t"/>
          <a:lstStyle/>
          <a:p>
            <a:pPr algn="l" indent="0" marL="0">
              <a:lnSpc>
                <a:spcPts val="1500"/>
              </a:lnSpc>
              <a:buNone/>
            </a:pPr>
            <a:r>
              <a:rPr lang="en-US" sz="1150" dirty="0">
                <a:solidFill>
                  <a:srgbClr val="15202B"/>
                </a:solidFill>
                <a:latin typeface="Calibri" pitchFamily="34" charset="0"/>
                <a:ea typeface="Calibri" pitchFamily="34" charset="-122"/>
                <a:cs typeface="Calibri" pitchFamily="34" charset="-120"/>
              </a:rPr>
              <a:t>space is a descendant, &gt; is a child</a:t>
            </a:r>
            <a:endParaRPr lang="en-US" sz="1150" dirty="0"/>
          </a:p>
        </p:txBody>
      </p:sp>
      <p:sp>
        <p:nvSpPr>
          <p:cNvPr id="36" name="Shape 30"/>
          <p:cNvSpPr/>
          <p:nvPr/>
        </p:nvSpPr>
        <p:spPr>
          <a:xfrm>
            <a:off x="6583680" y="4315968"/>
            <a:ext cx="109728" cy="109728"/>
          </a:xfrm>
          <a:prstGeom prst="ellipse">
            <a:avLst/>
          </a:prstGeom>
          <a:solidFill>
            <a:srgbClr val="D6336C"/>
          </a:solidFill>
          <a:ln w="12700">
            <a:solidFill>
              <a:srgbClr val="D6336C"/>
            </a:solidFill>
            <a:prstDash val="solid"/>
          </a:ln>
        </p:spPr>
      </p:sp>
      <p:sp>
        <p:nvSpPr>
          <p:cNvPr id="37" name="Text 31"/>
          <p:cNvSpPr/>
          <p:nvPr/>
        </p:nvSpPr>
        <p:spPr>
          <a:xfrm>
            <a:off x="6876288" y="4206240"/>
            <a:ext cx="1719072" cy="694944"/>
          </a:xfrm>
          <a:prstGeom prst="rect">
            <a:avLst/>
          </a:prstGeom>
          <a:noFill/>
          <a:ln/>
        </p:spPr>
        <p:txBody>
          <a:bodyPr wrap="square" lIns="0" tIns="0" rIns="0" bIns="0" rtlCol="0" anchor="t"/>
          <a:lstStyle/>
          <a:p>
            <a:pPr algn="l" indent="0" marL="0">
              <a:lnSpc>
                <a:spcPts val="1500"/>
              </a:lnSpc>
              <a:buNone/>
            </a:pPr>
            <a:r>
              <a:rPr lang="en-US" sz="1150" dirty="0">
                <a:solidFill>
                  <a:srgbClr val="15202B"/>
                </a:solidFill>
                <a:latin typeface="Calibri" pitchFamily="34" charset="0"/>
                <a:ea typeface="Calibri" pitchFamily="34" charset="-122"/>
                <a:cs typeface="Calibri" pitchFamily="34" charset="-120"/>
              </a:rPr>
              <a:t>:hover is a state, not a place</a:t>
            </a:r>
            <a:endParaRPr lang="en-US" sz="1150" dirty="0"/>
          </a:p>
        </p:txBody>
      </p:sp>
      <p:sp>
        <p:nvSpPr>
          <p:cNvPr id="38" name="Shape 32"/>
          <p:cNvSpPr/>
          <p:nvPr/>
        </p:nvSpPr>
        <p:spPr>
          <a:xfrm>
            <a:off x="9171432" y="1664208"/>
            <a:ext cx="2542032" cy="3383280"/>
          </a:xfrm>
          <a:prstGeom prst="roundRect">
            <a:avLst>
              <a:gd name="adj" fmla="val 3597"/>
            </a:avLst>
          </a:prstGeom>
          <a:solidFill>
            <a:srgbClr val="E3F3EA"/>
          </a:solidFill>
          <a:ln w="12700">
            <a:solidFill>
              <a:srgbClr val="D9DEE7"/>
            </a:solidFill>
            <a:prstDash val="solid"/>
          </a:ln>
          <a:effectLst>
            <a:outerShdw sx="100000" sy="100000" kx="0" ky="0" algn="bl" rotWithShape="0" blurRad="177800" dist="38100" dir="5400000">
              <a:srgbClr val="000000">
                <a:alpha val="35000"/>
              </a:srgbClr>
            </a:outerShdw>
          </a:effectLst>
        </p:spPr>
      </p:sp>
      <p:sp>
        <p:nvSpPr>
          <p:cNvPr id="39" name="Shape 33"/>
          <p:cNvSpPr/>
          <p:nvPr/>
        </p:nvSpPr>
        <p:spPr>
          <a:xfrm>
            <a:off x="9409176" y="1901952"/>
            <a:ext cx="512064" cy="512064"/>
          </a:xfrm>
          <a:prstGeom prst="roundRect">
            <a:avLst>
              <a:gd name="adj" fmla="val 17857"/>
            </a:avLst>
          </a:prstGeom>
          <a:solidFill>
            <a:srgbClr val="FFFFFF"/>
          </a:solidFill>
          <a:ln w="12700">
            <a:solidFill>
              <a:srgbClr val="1F8A54"/>
            </a:solidFill>
            <a:prstDash val="solid"/>
          </a:ln>
        </p:spPr>
      </p:sp>
      <p:pic>
        <p:nvPicPr>
          <p:cNvPr id="40" name="Image 3" descr="preencoded.png">    </p:cNvPr>
          <p:cNvPicPr>
            <a:picLocks noChangeAspect="1"/>
          </p:cNvPicPr>
          <p:nvPr/>
        </p:nvPicPr>
        <p:blipFill>
          <a:blip r:embed="rId4"/>
          <a:stretch>
            <a:fillRect/>
          </a:stretch>
        </p:blipFill>
        <p:spPr>
          <a:xfrm>
            <a:off x="9542313" y="2035089"/>
            <a:ext cx="245791" cy="245791"/>
          </a:xfrm>
          <a:prstGeom prst="rect">
            <a:avLst/>
          </a:prstGeom>
        </p:spPr>
      </p:pic>
      <p:sp>
        <p:nvSpPr>
          <p:cNvPr id="41" name="Text 34"/>
          <p:cNvSpPr/>
          <p:nvPr/>
        </p:nvSpPr>
        <p:spPr>
          <a:xfrm>
            <a:off x="10049256" y="1901952"/>
            <a:ext cx="1426464" cy="512064"/>
          </a:xfrm>
          <a:prstGeom prst="rect">
            <a:avLst/>
          </a:prstGeom>
          <a:noFill/>
          <a:ln/>
        </p:spPr>
        <p:txBody>
          <a:bodyPr wrap="square" lIns="0" tIns="0" rIns="0" bIns="0" rtlCol="0" anchor="ctr"/>
          <a:lstStyle/>
          <a:p>
            <a:pPr indent="0" marL="0">
              <a:buNone/>
            </a:pPr>
            <a:r>
              <a:rPr lang="en-US" sz="1700" b="1" dirty="0">
                <a:solidFill>
                  <a:srgbClr val="1F8A54"/>
                </a:solidFill>
                <a:latin typeface="Calibri" pitchFamily="34" charset="0"/>
                <a:ea typeface="Calibri" pitchFamily="34" charset="-122"/>
                <a:cs typeface="Calibri" pitchFamily="34" charset="-120"/>
              </a:rPr>
              <a:t>Painting</a:t>
            </a:r>
            <a:endParaRPr lang="en-US" sz="1700" dirty="0"/>
          </a:p>
        </p:txBody>
      </p:sp>
      <p:sp>
        <p:nvSpPr>
          <p:cNvPr id="42" name="Shape 35"/>
          <p:cNvSpPr/>
          <p:nvPr/>
        </p:nvSpPr>
        <p:spPr>
          <a:xfrm>
            <a:off x="9427464" y="2706624"/>
            <a:ext cx="109728" cy="109728"/>
          </a:xfrm>
          <a:prstGeom prst="ellipse">
            <a:avLst/>
          </a:prstGeom>
          <a:solidFill>
            <a:srgbClr val="1F8A54"/>
          </a:solidFill>
          <a:ln w="12700">
            <a:solidFill>
              <a:srgbClr val="1F8A54"/>
            </a:solidFill>
            <a:prstDash val="solid"/>
          </a:ln>
        </p:spPr>
      </p:sp>
      <p:sp>
        <p:nvSpPr>
          <p:cNvPr id="43" name="Text 36"/>
          <p:cNvSpPr/>
          <p:nvPr/>
        </p:nvSpPr>
        <p:spPr>
          <a:xfrm>
            <a:off x="9720072" y="2596896"/>
            <a:ext cx="1719072" cy="694944"/>
          </a:xfrm>
          <a:prstGeom prst="rect">
            <a:avLst/>
          </a:prstGeom>
          <a:noFill/>
          <a:ln/>
        </p:spPr>
        <p:txBody>
          <a:bodyPr wrap="square" lIns="0" tIns="0" rIns="0" bIns="0" rtlCol="0" anchor="t"/>
          <a:lstStyle/>
          <a:p>
            <a:pPr algn="l" indent="0" marL="0">
              <a:lnSpc>
                <a:spcPts val="1500"/>
              </a:lnSpc>
              <a:buNone/>
            </a:pPr>
            <a:r>
              <a:rPr lang="en-US" sz="1150" dirty="0">
                <a:solidFill>
                  <a:srgbClr val="15202B"/>
                </a:solidFill>
                <a:latin typeface="Calibri" pitchFamily="34" charset="0"/>
                <a:ea typeface="Calibri" pitchFamily="34" charset="-122"/>
                <a:cs typeface="Calibri" pitchFamily="34" charset="-120"/>
              </a:rPr>
              <a:t>color and background-color</a:t>
            </a:r>
            <a:endParaRPr lang="en-US" sz="1150" dirty="0"/>
          </a:p>
        </p:txBody>
      </p:sp>
      <p:sp>
        <p:nvSpPr>
          <p:cNvPr id="44" name="Shape 37"/>
          <p:cNvSpPr/>
          <p:nvPr/>
        </p:nvSpPr>
        <p:spPr>
          <a:xfrm>
            <a:off x="9427464" y="3511296"/>
            <a:ext cx="109728" cy="109728"/>
          </a:xfrm>
          <a:prstGeom prst="ellipse">
            <a:avLst/>
          </a:prstGeom>
          <a:solidFill>
            <a:srgbClr val="1F8A54"/>
          </a:solidFill>
          <a:ln w="12700">
            <a:solidFill>
              <a:srgbClr val="1F8A54"/>
            </a:solidFill>
            <a:prstDash val="solid"/>
          </a:ln>
        </p:spPr>
      </p:sp>
      <p:sp>
        <p:nvSpPr>
          <p:cNvPr id="45" name="Text 38"/>
          <p:cNvSpPr/>
          <p:nvPr/>
        </p:nvSpPr>
        <p:spPr>
          <a:xfrm>
            <a:off x="9720072" y="3401568"/>
            <a:ext cx="1719072" cy="694944"/>
          </a:xfrm>
          <a:prstGeom prst="rect">
            <a:avLst/>
          </a:prstGeom>
          <a:noFill/>
          <a:ln/>
        </p:spPr>
        <p:txBody>
          <a:bodyPr wrap="square" lIns="0" tIns="0" rIns="0" bIns="0" rtlCol="0" anchor="t"/>
          <a:lstStyle/>
          <a:p>
            <a:pPr algn="l" indent="0" marL="0">
              <a:lnSpc>
                <a:spcPts val="1500"/>
              </a:lnSpc>
              <a:buNone/>
            </a:pPr>
            <a:r>
              <a:rPr lang="en-US" sz="1150" dirty="0">
                <a:solidFill>
                  <a:srgbClr val="15202B"/>
                </a:solidFill>
                <a:latin typeface="Calibri" pitchFamily="34" charset="0"/>
                <a:ea typeface="Calibri" pitchFamily="34" charset="-122"/>
                <a:cs typeface="Calibri" pitchFamily="34" charset="-120"/>
              </a:rPr>
              <a:t>font-family, weight and size</a:t>
            </a:r>
            <a:endParaRPr lang="en-US" sz="1150" dirty="0"/>
          </a:p>
        </p:txBody>
      </p:sp>
      <p:sp>
        <p:nvSpPr>
          <p:cNvPr id="46" name="Shape 39"/>
          <p:cNvSpPr/>
          <p:nvPr/>
        </p:nvSpPr>
        <p:spPr>
          <a:xfrm>
            <a:off x="9427464" y="4315968"/>
            <a:ext cx="109728" cy="109728"/>
          </a:xfrm>
          <a:prstGeom prst="ellipse">
            <a:avLst/>
          </a:prstGeom>
          <a:solidFill>
            <a:srgbClr val="1F8A54"/>
          </a:solidFill>
          <a:ln w="12700">
            <a:solidFill>
              <a:srgbClr val="1F8A54"/>
            </a:solidFill>
            <a:prstDash val="solid"/>
          </a:ln>
        </p:spPr>
      </p:sp>
      <p:sp>
        <p:nvSpPr>
          <p:cNvPr id="47" name="Text 40"/>
          <p:cNvSpPr/>
          <p:nvPr/>
        </p:nvSpPr>
        <p:spPr>
          <a:xfrm>
            <a:off x="9720072" y="4206240"/>
            <a:ext cx="1719072" cy="694944"/>
          </a:xfrm>
          <a:prstGeom prst="rect">
            <a:avLst/>
          </a:prstGeom>
          <a:noFill/>
          <a:ln/>
        </p:spPr>
        <p:txBody>
          <a:bodyPr wrap="square" lIns="0" tIns="0" rIns="0" bIns="0" rtlCol="0" anchor="t"/>
          <a:lstStyle/>
          <a:p>
            <a:pPr algn="l" indent="0" marL="0">
              <a:lnSpc>
                <a:spcPts val="1500"/>
              </a:lnSpc>
              <a:buNone/>
            </a:pPr>
            <a:r>
              <a:rPr lang="en-US" sz="1150" dirty="0">
                <a:solidFill>
                  <a:srgbClr val="15202B"/>
                </a:solidFill>
                <a:latin typeface="Calibri" pitchFamily="34" charset="0"/>
                <a:ea typeface="Calibri" pitchFamily="34" charset="-122"/>
                <a:cs typeface="Calibri" pitchFamily="34" charset="-120"/>
              </a:rPr>
              <a:t>align, spacing and line-height</a:t>
            </a:r>
            <a:endParaRPr lang="en-US" sz="1150" dirty="0"/>
          </a:p>
        </p:txBody>
      </p:sp>
      <p:sp>
        <p:nvSpPr>
          <p:cNvPr id="48" name="Shape 41"/>
          <p:cNvSpPr/>
          <p:nvPr/>
        </p:nvSpPr>
        <p:spPr>
          <a:xfrm>
            <a:off x="640080" y="5230368"/>
            <a:ext cx="10908792" cy="658368"/>
          </a:xfrm>
          <a:prstGeom prst="roundRect">
            <a:avLst>
              <a:gd name="adj" fmla="val 13889"/>
            </a:avLst>
          </a:prstGeom>
          <a:solidFill>
            <a:srgbClr val="E7EEFD"/>
          </a:solidFill>
          <a:ln w="12700">
            <a:solidFill>
              <a:srgbClr val="B6CDFA"/>
            </a:solidFill>
            <a:prstDash val="solid"/>
          </a:ln>
          <a:effectLst>
            <a:outerShdw sx="100000" sy="100000" kx="0" ky="0" algn="bl" rotWithShape="0" blurRad="177800" dist="38100" dir="5400000">
              <a:srgbClr val="000000">
                <a:alpha val="35000"/>
              </a:srgbClr>
            </a:outerShdw>
          </a:effectLst>
        </p:spPr>
      </p:sp>
      <p:sp>
        <p:nvSpPr>
          <p:cNvPr id="49" name="Text 42"/>
          <p:cNvSpPr/>
          <p:nvPr/>
        </p:nvSpPr>
        <p:spPr>
          <a:xfrm>
            <a:off x="914400" y="5230368"/>
            <a:ext cx="10360152" cy="658368"/>
          </a:xfrm>
          <a:prstGeom prst="rect">
            <a:avLst/>
          </a:prstGeom>
          <a:noFill/>
          <a:ln/>
        </p:spPr>
        <p:txBody>
          <a:bodyPr wrap="square" lIns="0" tIns="0" rIns="0" bIns="0" rtlCol="0" anchor="ctr"/>
          <a:lstStyle/>
          <a:p>
            <a:pPr algn="ctr" indent="0" marL="0">
              <a:buNone/>
            </a:pPr>
            <a:r>
              <a:rPr lang="en-US" sz="1550" b="1" dirty="0">
                <a:solidFill>
                  <a:srgbClr val="15202B"/>
                </a:solidFill>
                <a:latin typeface="Calibri" pitchFamily="34" charset="0"/>
                <a:ea typeface="Calibri" pitchFamily="34" charset="-122"/>
                <a:cs typeface="Calibri" pitchFamily="34" charset="-120"/>
              </a:rPr>
              <a:t>Before next class: style your portfolio, and push style.css to the batch repository.</a:t>
            </a:r>
            <a:endParaRPr lang="en-US" sz="15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11826"/>
        </a:solidFill>
      </p:bgPr>
    </p:bg>
    <p:spTree>
      <p:nvGrpSpPr>
        <p:cNvPr id="1" name=""/>
        <p:cNvGrpSpPr/>
        <p:nvPr/>
      </p:nvGrpSpPr>
      <p:grpSpPr>
        <a:xfrm>
          <a:off x="0" y="0"/>
          <a:ext cx="0" cy="0"/>
          <a:chOff x="0" y="0"/>
          <a:chExt cx="0" cy="0"/>
        </a:xfrm>
      </p:grpSpPr>
      <p:sp>
        <p:nvSpPr>
          <p:cNvPr id="3" name="Text 0"/>
          <p:cNvSpPr/>
          <p:nvPr/>
        </p:nvSpPr>
        <p:spPr>
          <a:xfrm>
            <a:off x="0" y="2231136"/>
            <a:ext cx="12188952" cy="329184"/>
          </a:xfrm>
          <a:prstGeom prst="rect">
            <a:avLst/>
          </a:prstGeom>
          <a:noFill/>
          <a:ln/>
        </p:spPr>
        <p:txBody>
          <a:bodyPr wrap="square" lIns="0" tIns="0" rIns="0" bIns="0" rtlCol="0" anchor="ctr"/>
          <a:lstStyle/>
          <a:p>
            <a:pPr algn="ctr" indent="0" marL="0">
              <a:buNone/>
            </a:pPr>
            <a:r>
              <a:rPr lang="en-US" sz="1500" dirty="0">
                <a:solidFill>
                  <a:srgbClr val="7C8CA5"/>
                </a:solidFill>
                <a:latin typeface="Courier New" pitchFamily="34" charset="0"/>
                <a:ea typeface="Courier New" pitchFamily="34" charset="-122"/>
                <a:cs typeface="Courier New" pitchFamily="34" charset="-120"/>
              </a:rPr>
              <a:t>/* your turn */</a:t>
            </a:r>
            <a:endParaRPr lang="en-US" sz="1500" dirty="0"/>
          </a:p>
        </p:txBody>
      </p:sp>
      <p:sp>
        <p:nvSpPr>
          <p:cNvPr id="4" name="Text 1"/>
          <p:cNvSpPr/>
          <p:nvPr/>
        </p:nvSpPr>
        <p:spPr>
          <a:xfrm>
            <a:off x="0" y="2651760"/>
            <a:ext cx="12188952" cy="914400"/>
          </a:xfrm>
          <a:prstGeom prst="rect">
            <a:avLst/>
          </a:prstGeom>
          <a:noFill/>
          <a:ln/>
        </p:spPr>
        <p:txBody>
          <a:bodyPr wrap="square" lIns="0" tIns="0" rIns="0" bIns="0" rtlCol="0" anchor="ctr"/>
          <a:lstStyle/>
          <a:p>
            <a:pPr algn="ctr" indent="0" marL="0">
              <a:buNone/>
            </a:pPr>
            <a:r>
              <a:rPr lang="en-US" sz="4800" b="1" dirty="0">
                <a:solidFill>
                  <a:srgbClr val="FFFFFF"/>
                </a:solidFill>
                <a:latin typeface="Calibri" pitchFamily="34" charset="0"/>
                <a:ea typeface="Calibri" pitchFamily="34" charset="-122"/>
                <a:cs typeface="Calibri" pitchFamily="34" charset="-120"/>
              </a:rPr>
              <a:t>Doubt session</a:t>
            </a:r>
            <a:endParaRPr lang="en-US" sz="4800" dirty="0"/>
          </a:p>
        </p:txBody>
      </p:sp>
      <p:sp>
        <p:nvSpPr>
          <p:cNvPr id="5" name="Shape 2"/>
          <p:cNvSpPr/>
          <p:nvPr/>
        </p:nvSpPr>
        <p:spPr>
          <a:xfrm>
            <a:off x="5545836" y="3712464"/>
            <a:ext cx="1097280" cy="45720"/>
          </a:xfrm>
          <a:prstGeom prst="rect">
            <a:avLst/>
          </a:prstGeom>
          <a:solidFill>
            <a:srgbClr val="2C6BED"/>
          </a:solidFill>
          <a:ln w="12700">
            <a:solidFill>
              <a:srgbClr val="2C6BED"/>
            </a:solidFill>
            <a:prstDash val="solid"/>
          </a:ln>
        </p:spPr>
      </p:sp>
      <p:sp>
        <p:nvSpPr>
          <p:cNvPr id="6" name="Text 3"/>
          <p:cNvSpPr/>
          <p:nvPr/>
        </p:nvSpPr>
        <p:spPr>
          <a:xfrm>
            <a:off x="1828800" y="3950208"/>
            <a:ext cx="8531352" cy="457200"/>
          </a:xfrm>
          <a:prstGeom prst="rect">
            <a:avLst/>
          </a:prstGeom>
          <a:noFill/>
          <a:ln/>
        </p:spPr>
        <p:txBody>
          <a:bodyPr wrap="square" lIns="0" tIns="0" rIns="0" bIns="0" rtlCol="0" anchor="ctr"/>
          <a:lstStyle/>
          <a:p>
            <a:pPr algn="ctr" indent="0" marL="0">
              <a:buNone/>
            </a:pPr>
            <a:r>
              <a:rPr lang="en-US" sz="1600" dirty="0">
                <a:solidFill>
                  <a:srgbClr val="A9B4C6"/>
                </a:solidFill>
                <a:latin typeface="Calibri" pitchFamily="34" charset="0"/>
                <a:ea typeface="Calibri" pitchFamily="34" charset="-122"/>
                <a:cs typeface="Calibri" pitchFamily="34" charset="-120"/>
              </a:rPr>
              <a:t>Rules, selectors, colours, fonts, or why your CSS is not applying.</a:t>
            </a:r>
            <a:endParaRPr lang="en-US" sz="1600" dirty="0"/>
          </a:p>
        </p:txBody>
      </p:sp>
      <p:sp>
        <p:nvSpPr>
          <p:cNvPr id="7" name="Shape 4"/>
          <p:cNvSpPr/>
          <p:nvPr/>
        </p:nvSpPr>
        <p:spPr>
          <a:xfrm>
            <a:off x="3931920" y="4700016"/>
            <a:ext cx="4325112" cy="822960"/>
          </a:xfrm>
          <a:prstGeom prst="roundRect">
            <a:avLst>
              <a:gd name="adj" fmla="val 13333"/>
            </a:avLst>
          </a:prstGeom>
          <a:solidFill>
            <a:srgbClr val="1D2637"/>
          </a:solidFill>
          <a:ln w="19050">
            <a:solidFill>
              <a:srgbClr val="2A3446"/>
            </a:solidFill>
            <a:prstDash val="solid"/>
          </a:ln>
        </p:spPr>
      </p:sp>
      <p:pic>
        <p:nvPicPr>
          <p:cNvPr id="8" name="Image 0" descr="preencoded.png">    </p:cNvPr>
          <p:cNvPicPr>
            <a:picLocks noChangeAspect="1"/>
          </p:cNvPicPr>
          <p:nvPr/>
        </p:nvPicPr>
        <p:blipFill>
          <a:blip r:embed="rId1"/>
          <a:stretch>
            <a:fillRect/>
          </a:stretch>
        </p:blipFill>
        <p:spPr>
          <a:xfrm>
            <a:off x="4279392" y="4937760"/>
            <a:ext cx="329184" cy="329184"/>
          </a:xfrm>
          <a:prstGeom prst="rect">
            <a:avLst/>
          </a:prstGeom>
        </p:spPr>
      </p:pic>
      <p:sp>
        <p:nvSpPr>
          <p:cNvPr id="9" name="Text 5"/>
          <p:cNvSpPr/>
          <p:nvPr/>
        </p:nvSpPr>
        <p:spPr>
          <a:xfrm>
            <a:off x="4754880" y="4700016"/>
            <a:ext cx="3291840" cy="8229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Next class: the box model.</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CSS: Rules, Selectors and Properties</dc:title>
  <dc:subject>PptxGenJS Presentation</dc:subject>
  <dc:creator>Class 03</dc:creator>
  <cp:lastModifiedBy>Class 03</cp:lastModifiedBy>
  <cp:revision>1</cp:revision>
  <dcterms:created xsi:type="dcterms:W3CDTF">2026-08-18T08:32:12Z</dcterms:created>
  <dcterms:modified xsi:type="dcterms:W3CDTF">2026-08-18T08:32:12Z</dcterms:modified>
</cp:coreProperties>
</file>