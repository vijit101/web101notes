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2. Three things today and all three are demo heavy: lists, tables, forms. Energy matters, it is eighty minutes. Two five minute breaks are built in at slides 11 and 19. Tell them laptops open from the first live coding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clock. Eighty minutes on the wall, seventy of teaching, two five minute breaks. Saying the budget out loud is what stops the forms section getting squeezed, and it always gets squeezed.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Then the two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both lists on screen and ask the room the only question that matters: in which one does the order actually matter? Take answers. Somebody will say the grocery list has an order too, which is a good moment to say that the order is your preference, not a requirement of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 for unordered, li for list item. Every item is an li, that never changes. Show the type attribute quickly but say the honest thing: in real work you set the marker in CSS, not here. Worth knowing because they will see it in old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 for ordered. Same li inside, and that is the point worth repeating: the item tag never changes, only the container does. Numbers are automatic, so inserting a step in the middle renumbers everything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flavours of the same list. Show them fast, they are one attribute each. Roman numerals get a laugh and they are genuinely used in legal and academic documents, so it is not a useless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Pure fun, ten seconds, but land the caption. Sophistication is not clarity. The last row is a real thing people do and it is unreadable.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Emmet multiplication is the moment of the section, so slow down for it. Deleting a middle item and watching the numbers fix themselves is the demo that proves numbering is automatic. Around six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the &lt;ol&gt; tag. If hands go up for B, that is the useful mistake: li is the item, not the list. Say it out loud, because it comes back in tables with tr and 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return time as a clock time, not "back in five", because five means eight. Stay in the room. The questions people are too shy to ask in front of everyone arrive in exactly these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back up after the break. Straight into the marksheet.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start from the tags. Start from a marksheet everyone recognises, then label the parts on it. Say the sentence once and clearly: a row is a tr, a header cell is a th, a normal cell is a td. Everything else is grouping.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tags and one attribute. Go quickly, they have just seen all of them labelled on the picture. Flag the deprecated border attribute here, it turns red in the editor and somebody always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 layout-table joke is history but it is real history, and the caption is the rule they need: tables are for data, never for arranging a page. Some of them will have seen table layouts in old templates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broken-row moment is worth engineering on purpose if nobody supplies it: delete one td and let them see the shape break. Around seven minutes. Push the file to the batch repository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a table header cell. If anyone picks D, that is worth thirty seconds: HTML has no column tag at all, columns only exist because every row has cells in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break, at the section boundary rather than exactly at forty minutes. Remind them the last section is the longest and the most hands on, so laptops should be open when they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Longest section and the most hands on. Laptops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form collects input and sends it somewhere. Show the rendered form on the left and the six tags on the right, and keep pointing between them. The one idea to plant: label describes, input collects, button 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sells forms. One tag, one attribute, and the browser hands you a whole widget. Point at date and number especially, because the calendar and the spinner are entirely free and learners assume they have to build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Attributes that do work for you. Demo it live if you can: submit an email field with rubbish in it and let the browser bubble appear. Nobody wrote that message, nobody styled that bubble, it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details that beginners get wrong and that cost real marks. The for and id pair, the shared name on radios, and value being what actually reaches the server. Demo the label click, it feels like magic and it is one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longest live coding block, about eight minutes. The two moments that must happen: the label click, and the browser validation bubble. If you are short on time, drop the select and describe it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of fun, then the caption does the work. Everything on this slide is free behaviour they did not write, which is the whole argument for using the right input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assignment, done live so nobody leaves without starting it. Walk the aisles. The two errors you will see most: a label with no for, and radios with different names. Push your class files to the batch repository before you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recap, then doubts. Ask each row to name one tag from today before you open the floor, it wakes them up for the last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Take everything, including the questions people think are too basic, because those are the ones half the room also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1FE"/>
        </a:solidFill>
      </p:bgPr>
    </p:bg>
    <p:spTree>
      <p:nvGrpSpPr>
        <p:cNvPr id="1" name=""/>
        <p:cNvGrpSpPr/>
        <p:nvPr/>
      </p:nvGrpSpPr>
      <p:grpSpPr>
        <a:xfrm>
          <a:off x="0" y="0"/>
          <a:ext cx="0" cy="0"/>
          <a:chOff x="0" y="0"/>
          <a:chExt cx="0" cy="0"/>
        </a:xfrm>
      </p:grpSpPr>
      <p:sp>
        <p:nvSpPr>
          <p:cNvPr id="3" name="Text 0"/>
          <p:cNvSpPr/>
          <p:nvPr/>
        </p:nvSpPr>
        <p:spPr>
          <a:xfrm rot="-480000">
            <a:off x="1005840" y="1005840"/>
            <a:ext cx="1371600" cy="365760"/>
          </a:xfrm>
          <a:prstGeom prst="rect">
            <a:avLst/>
          </a:prstGeom>
          <a:noFill/>
          <a:ln/>
        </p:spPr>
        <p:txBody>
          <a:bodyPr wrap="square" lIns="0" tIns="0" rIns="0" bIns="0" rtlCol="0" anchor="ctr"/>
          <a:lstStyle/>
          <a:p>
            <a:pPr algn="ctr" indent="0" marL="0">
              <a:buNone/>
            </a:pPr>
            <a:r>
              <a:rPr lang="en-US" sz="1500" b="1" dirty="0">
                <a:solidFill>
                  <a:srgbClr val="6C3BF5"/>
                </a:solidFill>
                <a:latin typeface="Courier New" pitchFamily="34" charset="0"/>
                <a:ea typeface="Courier New" pitchFamily="34" charset="-122"/>
                <a:cs typeface="Courier New" pitchFamily="34" charset="-120"/>
              </a:rPr>
              <a:t>&lt;ul&gt;</a:t>
            </a:r>
            <a:endParaRPr lang="en-US" sz="1500" dirty="0"/>
          </a:p>
        </p:txBody>
      </p:sp>
      <p:sp>
        <p:nvSpPr>
          <p:cNvPr id="4" name="Text 1"/>
          <p:cNvSpPr/>
          <p:nvPr/>
        </p:nvSpPr>
        <p:spPr>
          <a:xfrm rot="420000">
            <a:off x="10332720" y="1371600"/>
            <a:ext cx="1371600" cy="365760"/>
          </a:xfrm>
          <a:prstGeom prst="rect">
            <a:avLst/>
          </a:prstGeom>
          <a:noFill/>
          <a:ln/>
        </p:spPr>
        <p:txBody>
          <a:bodyPr wrap="square" lIns="0" tIns="0" rIns="0" bIns="0" rtlCol="0" anchor="ctr"/>
          <a:lstStyle/>
          <a:p>
            <a:pPr algn="ctr" indent="0" marL="0">
              <a:buNone/>
            </a:pPr>
            <a:r>
              <a:rPr lang="en-US" sz="1500" b="1" dirty="0">
                <a:solidFill>
                  <a:srgbClr val="6C3BF5"/>
                </a:solidFill>
                <a:latin typeface="Courier New" pitchFamily="34" charset="0"/>
                <a:ea typeface="Courier New" pitchFamily="34" charset="-122"/>
                <a:cs typeface="Courier New" pitchFamily="34" charset="-120"/>
              </a:rPr>
              <a:t>&lt;ol&gt;</a:t>
            </a:r>
            <a:endParaRPr lang="en-US" sz="1500" dirty="0"/>
          </a:p>
        </p:txBody>
      </p:sp>
      <p:sp>
        <p:nvSpPr>
          <p:cNvPr id="5" name="Text 2"/>
          <p:cNvSpPr/>
          <p:nvPr/>
        </p:nvSpPr>
        <p:spPr>
          <a:xfrm rot="360000">
            <a:off x="822960" y="4937760"/>
            <a:ext cx="1371600" cy="365760"/>
          </a:xfrm>
          <a:prstGeom prst="rect">
            <a:avLst/>
          </a:prstGeom>
          <a:noFill/>
          <a:ln/>
        </p:spPr>
        <p:txBody>
          <a:bodyPr wrap="square" lIns="0" tIns="0" rIns="0" bIns="0" rtlCol="0" anchor="ctr"/>
          <a:lstStyle/>
          <a:p>
            <a:pPr algn="ctr" indent="0" marL="0">
              <a:buNone/>
            </a:pPr>
            <a:r>
              <a:rPr lang="en-US" sz="1500" b="1" dirty="0">
                <a:solidFill>
                  <a:srgbClr val="0090AB"/>
                </a:solidFill>
                <a:latin typeface="Courier New" pitchFamily="34" charset="0"/>
                <a:ea typeface="Courier New" pitchFamily="34" charset="-122"/>
                <a:cs typeface="Courier New" pitchFamily="34" charset="-120"/>
              </a:rPr>
              <a:t>&lt;td&gt;</a:t>
            </a:r>
            <a:endParaRPr lang="en-US" sz="1500" dirty="0"/>
          </a:p>
        </p:txBody>
      </p:sp>
      <p:sp>
        <p:nvSpPr>
          <p:cNvPr id="6" name="Text 3"/>
          <p:cNvSpPr/>
          <p:nvPr/>
        </p:nvSpPr>
        <p:spPr>
          <a:xfrm rot="-540000">
            <a:off x="10972800" y="4572000"/>
            <a:ext cx="1371600" cy="365760"/>
          </a:xfrm>
          <a:prstGeom prst="rect">
            <a:avLst/>
          </a:prstGeom>
          <a:noFill/>
          <a:ln/>
        </p:spPr>
        <p:txBody>
          <a:bodyPr wrap="square" lIns="0" tIns="0" rIns="0" bIns="0" rtlCol="0" anchor="ctr"/>
          <a:lstStyle/>
          <a:p>
            <a:pPr algn="ctr" indent="0" marL="0">
              <a:buNone/>
            </a:pPr>
            <a:r>
              <a:rPr lang="en-US" sz="1500" b="1" dirty="0">
                <a:solidFill>
                  <a:srgbClr val="0090AB"/>
                </a:solidFill>
                <a:latin typeface="Courier New" pitchFamily="34" charset="0"/>
                <a:ea typeface="Courier New" pitchFamily="34" charset="-122"/>
                <a:cs typeface="Courier New" pitchFamily="34" charset="-120"/>
              </a:rPr>
              <a:t>&lt;tr&gt;</a:t>
            </a:r>
            <a:endParaRPr lang="en-US" sz="1500" dirty="0"/>
          </a:p>
        </p:txBody>
      </p:sp>
      <p:sp>
        <p:nvSpPr>
          <p:cNvPr id="7" name="Text 4"/>
          <p:cNvSpPr/>
          <p:nvPr/>
        </p:nvSpPr>
        <p:spPr>
          <a:xfrm rot="-300000">
            <a:off x="1463040" y="5760720"/>
            <a:ext cx="1371600" cy="365760"/>
          </a:xfrm>
          <a:prstGeom prst="rect">
            <a:avLst/>
          </a:prstGeom>
          <a:noFill/>
          <a:ln/>
        </p:spPr>
        <p:txBody>
          <a:bodyPr wrap="square" lIns="0" tIns="0" rIns="0" bIns="0" rtlCol="0" anchor="ctr"/>
          <a:lstStyle/>
          <a:p>
            <a:pPr algn="ctr" indent="0" marL="0">
              <a:buNone/>
            </a:pPr>
            <a:r>
              <a:rPr lang="en-US" sz="1500" b="1" dirty="0">
                <a:solidFill>
                  <a:srgbClr val="FF3D8B"/>
                </a:solidFill>
                <a:latin typeface="Courier New" pitchFamily="34" charset="0"/>
                <a:ea typeface="Courier New" pitchFamily="34" charset="-122"/>
                <a:cs typeface="Courier New" pitchFamily="34" charset="-120"/>
              </a:rPr>
              <a:t>&lt;input&gt;</a:t>
            </a:r>
            <a:endParaRPr lang="en-US" sz="1500" dirty="0"/>
          </a:p>
        </p:txBody>
      </p:sp>
      <p:sp>
        <p:nvSpPr>
          <p:cNvPr id="8" name="Text 5"/>
          <p:cNvSpPr/>
          <p:nvPr/>
        </p:nvSpPr>
        <p:spPr>
          <a:xfrm rot="480000">
            <a:off x="9966960" y="5852160"/>
            <a:ext cx="1371600" cy="365760"/>
          </a:xfrm>
          <a:prstGeom prst="rect">
            <a:avLst/>
          </a:prstGeom>
          <a:noFill/>
          <a:ln/>
        </p:spPr>
        <p:txBody>
          <a:bodyPr wrap="square" lIns="0" tIns="0" rIns="0" bIns="0" rtlCol="0" anchor="ctr"/>
          <a:lstStyle/>
          <a:p>
            <a:pPr algn="ctr" indent="0" marL="0">
              <a:buNone/>
            </a:pPr>
            <a:r>
              <a:rPr lang="en-US" sz="1500" b="1" dirty="0">
                <a:solidFill>
                  <a:srgbClr val="FF3D8B"/>
                </a:solidFill>
                <a:latin typeface="Courier New" pitchFamily="34" charset="0"/>
                <a:ea typeface="Courier New" pitchFamily="34" charset="-122"/>
                <a:cs typeface="Courier New" pitchFamily="34" charset="-120"/>
              </a:rPr>
              <a:t>&lt;form&gt;</a:t>
            </a:r>
            <a:endParaRPr lang="en-US" sz="1500" dirty="0"/>
          </a:p>
        </p:txBody>
      </p:sp>
      <p:sp>
        <p:nvSpPr>
          <p:cNvPr id="9" name="Text 6"/>
          <p:cNvSpPr/>
          <p:nvPr/>
        </p:nvSpPr>
        <p:spPr>
          <a:xfrm rot="720000">
            <a:off x="2194560" y="1828800"/>
            <a:ext cx="1371600" cy="365760"/>
          </a:xfrm>
          <a:prstGeom prst="rect">
            <a:avLst/>
          </a:prstGeom>
          <a:noFill/>
          <a:ln/>
        </p:spPr>
        <p:txBody>
          <a:bodyPr wrap="square" lIns="0" tIns="0" rIns="0" bIns="0" rtlCol="0" anchor="ctr"/>
          <a:lstStyle/>
          <a:p>
            <a:pPr algn="ctr" indent="0" marL="0">
              <a:buNone/>
            </a:pPr>
            <a:r>
              <a:rPr lang="en-US" sz="1500" b="1" dirty="0">
                <a:solidFill>
                  <a:srgbClr val="6FA800"/>
                </a:solidFill>
                <a:latin typeface="Courier New" pitchFamily="34" charset="0"/>
                <a:ea typeface="Courier New" pitchFamily="34" charset="-122"/>
                <a:cs typeface="Courier New" pitchFamily="34" charset="-120"/>
              </a:rPr>
              <a:t>&lt;li&gt;</a:t>
            </a:r>
            <a:endParaRPr lang="en-US" sz="1500" dirty="0"/>
          </a:p>
        </p:txBody>
      </p:sp>
      <p:sp>
        <p:nvSpPr>
          <p:cNvPr id="10" name="Text 7"/>
          <p:cNvSpPr/>
          <p:nvPr/>
        </p:nvSpPr>
        <p:spPr>
          <a:xfrm rot="-720000">
            <a:off x="10058400" y="2377440"/>
            <a:ext cx="1371600" cy="365760"/>
          </a:xfrm>
          <a:prstGeom prst="rect">
            <a:avLst/>
          </a:prstGeom>
          <a:noFill/>
          <a:ln/>
        </p:spPr>
        <p:txBody>
          <a:bodyPr wrap="square" lIns="0" tIns="0" rIns="0" bIns="0" rtlCol="0" anchor="ctr"/>
          <a:lstStyle/>
          <a:p>
            <a:pPr algn="ctr" indent="0" marL="0">
              <a:buNone/>
            </a:pPr>
            <a:r>
              <a:rPr lang="en-US" sz="1500" b="1" dirty="0">
                <a:solidFill>
                  <a:srgbClr val="C97F00"/>
                </a:solidFill>
                <a:latin typeface="Courier New" pitchFamily="34" charset="0"/>
                <a:ea typeface="Courier New" pitchFamily="34" charset="-122"/>
                <a:cs typeface="Courier New" pitchFamily="34" charset="-120"/>
              </a:rPr>
              <a:t>&lt;th&gt;</a:t>
            </a:r>
            <a:endParaRPr lang="en-US" sz="1500" dirty="0"/>
          </a:p>
        </p:txBody>
      </p:sp>
      <p:sp>
        <p:nvSpPr>
          <p:cNvPr id="11" name="Shape 8"/>
          <p:cNvSpPr/>
          <p:nvPr/>
        </p:nvSpPr>
        <p:spPr>
          <a:xfrm>
            <a:off x="4585716" y="1481328"/>
            <a:ext cx="3017520" cy="420624"/>
          </a:xfrm>
          <a:prstGeom prst="roundRect">
            <a:avLst>
              <a:gd name="adj" fmla="val 17391"/>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12" name="Text 9"/>
          <p:cNvSpPr/>
          <p:nvPr/>
        </p:nvSpPr>
        <p:spPr>
          <a:xfrm>
            <a:off x="4585716" y="1481328"/>
            <a:ext cx="301752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CLASS 02  ·  HTML</a:t>
            </a:r>
            <a:endParaRPr lang="en-US" sz="1200" dirty="0"/>
          </a:p>
        </p:txBody>
      </p:sp>
      <p:sp>
        <p:nvSpPr>
          <p:cNvPr id="13" name="Text 10"/>
          <p:cNvSpPr/>
          <p:nvPr/>
        </p:nvSpPr>
        <p:spPr>
          <a:xfrm>
            <a:off x="1097280" y="2011680"/>
            <a:ext cx="9994392" cy="1828800"/>
          </a:xfrm>
          <a:prstGeom prst="rect">
            <a:avLst/>
          </a:prstGeom>
          <a:noFill/>
          <a:ln/>
        </p:spPr>
        <p:txBody>
          <a:bodyPr wrap="square" lIns="0" tIns="0" rIns="0" bIns="0" rtlCol="0" anchor="ctr"/>
          <a:lstStyle/>
          <a:p>
            <a:pPr algn="ctr" indent="0" marL="0">
              <a:lnSpc>
                <a:spcPts val="6600"/>
              </a:lnSpc>
              <a:buNone/>
            </a:pPr>
            <a:r>
              <a:rPr lang="en-US" sz="6200" b="1" dirty="0">
                <a:solidFill>
                  <a:srgbClr val="191333"/>
                </a:solidFill>
                <a:latin typeface="Calibri" pitchFamily="34" charset="0"/>
                <a:ea typeface="Calibri" pitchFamily="34" charset="-122"/>
                <a:cs typeface="Calibri" pitchFamily="34" charset="-120"/>
              </a:rPr>
              <a:t>Lists, Tables</a:t>
            </a:r>
            <a:endParaRPr lang="en-US" sz="6200" dirty="0"/>
          </a:p>
          <a:p>
            <a:pPr algn="ctr" indent="0" marL="0">
              <a:lnSpc>
                <a:spcPts val="6600"/>
              </a:lnSpc>
              <a:buNone/>
            </a:pPr>
            <a:r>
              <a:rPr lang="en-US" sz="6200" b="1" dirty="0">
                <a:solidFill>
                  <a:srgbClr val="191333"/>
                </a:solidFill>
                <a:latin typeface="Calibri" pitchFamily="34" charset="0"/>
                <a:ea typeface="Calibri" pitchFamily="34" charset="-122"/>
                <a:cs typeface="Calibri" pitchFamily="34" charset="-120"/>
              </a:rPr>
              <a:t>&amp; Forms</a:t>
            </a:r>
            <a:endParaRPr lang="en-US" sz="6200" dirty="0"/>
          </a:p>
        </p:txBody>
      </p:sp>
      <p:sp>
        <p:nvSpPr>
          <p:cNvPr id="14" name="Shape 11"/>
          <p:cNvSpPr/>
          <p:nvPr/>
        </p:nvSpPr>
        <p:spPr>
          <a:xfrm rot="-60000">
            <a:off x="3108960" y="3931920"/>
            <a:ext cx="5971032" cy="566928"/>
          </a:xfrm>
          <a:prstGeom prst="roundRect">
            <a:avLst>
              <a:gd name="adj" fmla="val 19355"/>
            </a:avLst>
          </a:prstGeom>
          <a:solidFill>
            <a:srgbClr val="F0FBD8"/>
          </a:solidFill>
          <a:ln w="19050">
            <a:solidFill>
              <a:srgbClr val="191333"/>
            </a:solidFill>
            <a:prstDash val="solid"/>
          </a:ln>
          <a:effectLst>
            <a:outerShdw sx="100000" sy="100000" kx="0" ky="0" algn="bl" rotWithShape="0" blurRad="1290320000" dist="483870000" dir="162000000000">
              <a:srgbClr val="191333">
                <a:alpha val="10000000000"/>
              </a:srgbClr>
            </a:outerShdw>
          </a:effectLst>
        </p:spPr>
      </p:sp>
      <p:sp>
        <p:nvSpPr>
          <p:cNvPr id="15" name="Text 12"/>
          <p:cNvSpPr/>
          <p:nvPr/>
        </p:nvSpPr>
        <p:spPr>
          <a:xfrm rot="-60000">
            <a:off x="3108960" y="3931920"/>
            <a:ext cx="5971032" cy="566928"/>
          </a:xfrm>
          <a:prstGeom prst="rect">
            <a:avLst/>
          </a:prstGeom>
          <a:noFill/>
          <a:ln/>
        </p:spPr>
        <p:txBody>
          <a:bodyPr wrap="square" lIns="0" tIns="0" rIns="0" bIns="0" rtlCol="0" anchor="ctr"/>
          <a:lstStyle/>
          <a:p>
            <a:pPr algn="ctr" indent="0" marL="0">
              <a:buNone/>
            </a:pPr>
            <a:r>
              <a:rPr lang="en-US" sz="1500" b="1" dirty="0">
                <a:solidFill>
                  <a:srgbClr val="191333"/>
                </a:solidFill>
                <a:latin typeface="Calibri" pitchFamily="34" charset="0"/>
                <a:ea typeface="Calibri" pitchFamily="34" charset="-122"/>
                <a:cs typeface="Calibri" pitchFamily="34" charset="-120"/>
              </a:rPr>
              <a:t>The three tags that store every bit of data on the web.</a:t>
            </a:r>
            <a:endParaRPr lang="en-US" sz="1500" dirty="0"/>
          </a:p>
        </p:txBody>
      </p:sp>
      <p:sp>
        <p:nvSpPr>
          <p:cNvPr id="16" name="Shape 13"/>
          <p:cNvSpPr/>
          <p:nvPr/>
        </p:nvSpPr>
        <p:spPr>
          <a:xfrm rot="-120000">
            <a:off x="2391156" y="4892040"/>
            <a:ext cx="2286000" cy="548640"/>
          </a:xfrm>
          <a:prstGeom prst="roundRect">
            <a:avLst>
              <a:gd name="adj" fmla="val 13333"/>
            </a:avLst>
          </a:prstGeom>
          <a:solidFill>
            <a:srgbClr val="6C3BF5"/>
          </a:solidFill>
          <a:ln w="15875">
            <a:solidFill>
              <a:srgbClr val="191333"/>
            </a:solidFill>
            <a:prstDash val="solid"/>
          </a:ln>
          <a:effectLst>
            <a:outerShdw sx="100000" sy="100000" kx="0" ky="0" algn="bl" rotWithShape="0" blurRad="16387064000000" dist="6145149000000" dir="9720000000000000">
              <a:srgbClr val="191333">
                <a:alpha val="1000000000000000"/>
              </a:srgbClr>
            </a:outerShdw>
          </a:effectLst>
        </p:spPr>
      </p:sp>
      <p:sp>
        <p:nvSpPr>
          <p:cNvPr id="17" name="Text 14"/>
          <p:cNvSpPr/>
          <p:nvPr/>
        </p:nvSpPr>
        <p:spPr>
          <a:xfrm rot="-120000">
            <a:off x="2391156" y="489204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LISTS</a:t>
            </a:r>
            <a:endParaRPr lang="en-US" sz="1400" dirty="0"/>
          </a:p>
        </p:txBody>
      </p:sp>
      <p:sp>
        <p:nvSpPr>
          <p:cNvPr id="18" name="Shape 15"/>
          <p:cNvSpPr/>
          <p:nvPr/>
        </p:nvSpPr>
        <p:spPr>
          <a:xfrm>
            <a:off x="4951476" y="4892040"/>
            <a:ext cx="2286000" cy="548640"/>
          </a:xfrm>
          <a:prstGeom prst="roundRect">
            <a:avLst>
              <a:gd name="adj" fmla="val 13333"/>
            </a:avLst>
          </a:prstGeom>
          <a:solidFill>
            <a:srgbClr val="0090AB"/>
          </a:solidFill>
          <a:ln w="15875">
            <a:solidFill>
              <a:srgbClr val="191333"/>
            </a:solidFill>
            <a:prstDash val="solid"/>
          </a:ln>
          <a:effectLst>
            <a:outerShdw sx="100000" sy="100000" kx="0" ky="0" algn="bl" rotWithShape="0" blurRad="208115712800000000" dist="78043392300000000" dir="583200000000000000000">
              <a:srgbClr val="191333">
                <a:alpha val="100000000000000000000"/>
              </a:srgbClr>
            </a:outerShdw>
          </a:effectLst>
        </p:spPr>
      </p:sp>
      <p:sp>
        <p:nvSpPr>
          <p:cNvPr id="19" name="Text 16"/>
          <p:cNvSpPr/>
          <p:nvPr/>
        </p:nvSpPr>
        <p:spPr>
          <a:xfrm>
            <a:off x="4951476" y="489204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TABLES</a:t>
            </a:r>
            <a:endParaRPr lang="en-US" sz="1400" dirty="0"/>
          </a:p>
        </p:txBody>
      </p:sp>
      <p:sp>
        <p:nvSpPr>
          <p:cNvPr id="20" name="Shape 17"/>
          <p:cNvSpPr/>
          <p:nvPr/>
        </p:nvSpPr>
        <p:spPr>
          <a:xfrm rot="120000">
            <a:off x="7511796" y="4892040"/>
            <a:ext cx="2286000" cy="548640"/>
          </a:xfrm>
          <a:prstGeom prst="roundRect">
            <a:avLst>
              <a:gd name="adj" fmla="val 13333"/>
            </a:avLst>
          </a:prstGeom>
          <a:solidFill>
            <a:srgbClr val="FF3D8B"/>
          </a:solidFill>
          <a:ln w="15875">
            <a:solidFill>
              <a:srgbClr val="191333"/>
            </a:solidFill>
            <a:prstDash val="solid"/>
          </a:ln>
          <a:effectLst>
            <a:outerShdw sx="100000" sy="100000" kx="0" ky="0" algn="bl" rotWithShape="0" blurRad="2.64306955256e+21" dist="991151082210000000000" dir="3.4992e+25">
              <a:srgbClr val="191333">
                <a:alpha val="1e+25"/>
              </a:srgbClr>
            </a:outerShdw>
          </a:effectLst>
        </p:spPr>
      </p:sp>
      <p:sp>
        <p:nvSpPr>
          <p:cNvPr id="21" name="Text 18"/>
          <p:cNvSpPr/>
          <p:nvPr/>
        </p:nvSpPr>
        <p:spPr>
          <a:xfrm rot="120000">
            <a:off x="7511796" y="489204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01</a:t>
            </a:r>
            <a:endParaRPr lang="en-US" sz="900" dirty="0"/>
          </a:p>
        </p:txBody>
      </p:sp>
      <p:sp>
        <p:nvSpPr>
          <p:cNvPr id="5" name="Shape 2"/>
          <p:cNvSpPr/>
          <p:nvPr/>
        </p:nvSpPr>
        <p:spPr>
          <a:xfrm>
            <a:off x="640080" y="365760"/>
            <a:ext cx="1773936"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RUN SHEET</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Eighty minutes, and where the breaks land</a:t>
            </a:r>
            <a:endParaRPr lang="en-US" sz="3200" dirty="0"/>
          </a:p>
        </p:txBody>
      </p:sp>
      <p:sp>
        <p:nvSpPr>
          <p:cNvPr id="8" name="Shape 5"/>
          <p:cNvSpPr/>
          <p:nvPr/>
        </p:nvSpPr>
        <p:spPr>
          <a:xfrm>
            <a:off x="640080" y="1682496"/>
            <a:ext cx="10881360" cy="493776"/>
          </a:xfrm>
          <a:prstGeom prst="roundRect">
            <a:avLst>
              <a:gd name="adj" fmla="val 14815"/>
            </a:avLst>
          </a:prstGeom>
          <a:solidFill>
            <a:srgbClr val="FFFFFF"/>
          </a:solidFill>
          <a:ln w="15875">
            <a:solidFill>
              <a:srgbClr val="191333"/>
            </a:solidFill>
            <a:prstDash val="solid"/>
          </a:ln>
        </p:spPr>
      </p:sp>
      <p:sp>
        <p:nvSpPr>
          <p:cNvPr id="9" name="Shape 6"/>
          <p:cNvSpPr/>
          <p:nvPr/>
        </p:nvSpPr>
        <p:spPr>
          <a:xfrm>
            <a:off x="4297680" y="1783080"/>
            <a:ext cx="798022" cy="292608"/>
          </a:xfrm>
          <a:prstGeom prst="roundRect">
            <a:avLst>
              <a:gd name="adj" fmla="val 18750"/>
            </a:avLst>
          </a:prstGeom>
          <a:solidFill>
            <a:srgbClr val="5C5580"/>
          </a:solidFill>
          <a:ln w="12700">
            <a:solidFill>
              <a:srgbClr val="191333"/>
            </a:solidFill>
            <a:prstDash val="solid"/>
          </a:ln>
        </p:spPr>
      </p:sp>
      <p:sp>
        <p:nvSpPr>
          <p:cNvPr id="10" name="Text 7"/>
          <p:cNvSpPr/>
          <p:nvPr/>
        </p:nvSpPr>
        <p:spPr>
          <a:xfrm>
            <a:off x="896112" y="1682496"/>
            <a:ext cx="1097280" cy="493776"/>
          </a:xfrm>
          <a:prstGeom prst="rect">
            <a:avLst/>
          </a:prstGeom>
          <a:noFill/>
          <a:ln/>
        </p:spPr>
        <p:txBody>
          <a:bodyPr wrap="square" lIns="0" tIns="0" rIns="0" bIns="0" rtlCol="0" anchor="ctr"/>
          <a:lstStyle/>
          <a:p>
            <a:pPr indent="0" marL="0">
              <a:buNone/>
            </a:pPr>
            <a:r>
              <a:rPr lang="en-US" sz="1150" b="1" dirty="0">
                <a:solidFill>
                  <a:srgbClr val="5C5580"/>
                </a:solidFill>
                <a:latin typeface="Courier New" pitchFamily="34" charset="0"/>
                <a:ea typeface="Courier New" pitchFamily="34" charset="-122"/>
                <a:cs typeface="Courier New" pitchFamily="34" charset="-120"/>
              </a:rPr>
              <a:t>03 min</a:t>
            </a:r>
            <a:endParaRPr lang="en-US" sz="1150" dirty="0"/>
          </a:p>
        </p:txBody>
      </p:sp>
      <p:sp>
        <p:nvSpPr>
          <p:cNvPr id="11" name="Text 8"/>
          <p:cNvSpPr/>
          <p:nvPr/>
        </p:nvSpPr>
        <p:spPr>
          <a:xfrm>
            <a:off x="2103120" y="1682496"/>
            <a:ext cx="2103120" cy="493776"/>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Warm up and the plan</a:t>
            </a:r>
            <a:endParaRPr lang="en-US" sz="1350" dirty="0"/>
          </a:p>
        </p:txBody>
      </p:sp>
      <p:sp>
        <p:nvSpPr>
          <p:cNvPr id="12" name="Shape 9"/>
          <p:cNvSpPr/>
          <p:nvPr/>
        </p:nvSpPr>
        <p:spPr>
          <a:xfrm>
            <a:off x="640080" y="2217420"/>
            <a:ext cx="10881360" cy="493776"/>
          </a:xfrm>
          <a:prstGeom prst="roundRect">
            <a:avLst>
              <a:gd name="adj" fmla="val 14815"/>
            </a:avLst>
          </a:prstGeom>
          <a:solidFill>
            <a:srgbClr val="FFFFFF"/>
          </a:solidFill>
          <a:ln w="15875">
            <a:solidFill>
              <a:srgbClr val="191333"/>
            </a:solidFill>
            <a:prstDash val="solid"/>
          </a:ln>
        </p:spPr>
      </p:sp>
      <p:sp>
        <p:nvSpPr>
          <p:cNvPr id="13" name="Shape 10"/>
          <p:cNvSpPr/>
          <p:nvPr/>
        </p:nvSpPr>
        <p:spPr>
          <a:xfrm>
            <a:off x="4297680" y="2318004"/>
            <a:ext cx="4522124" cy="292608"/>
          </a:xfrm>
          <a:prstGeom prst="roundRect">
            <a:avLst>
              <a:gd name="adj" fmla="val 18750"/>
            </a:avLst>
          </a:prstGeom>
          <a:solidFill>
            <a:srgbClr val="6C3BF5"/>
          </a:solidFill>
          <a:ln w="12700">
            <a:solidFill>
              <a:srgbClr val="191333"/>
            </a:solidFill>
            <a:prstDash val="solid"/>
          </a:ln>
        </p:spPr>
      </p:sp>
      <p:sp>
        <p:nvSpPr>
          <p:cNvPr id="14" name="Text 11"/>
          <p:cNvSpPr/>
          <p:nvPr/>
        </p:nvSpPr>
        <p:spPr>
          <a:xfrm>
            <a:off x="896112" y="2217420"/>
            <a:ext cx="1097280" cy="493776"/>
          </a:xfrm>
          <a:prstGeom prst="rect">
            <a:avLst/>
          </a:prstGeom>
          <a:noFill/>
          <a:ln/>
        </p:spPr>
        <p:txBody>
          <a:bodyPr wrap="square" lIns="0" tIns="0" rIns="0" bIns="0" rtlCol="0" anchor="ctr"/>
          <a:lstStyle/>
          <a:p>
            <a:pPr indent="0" marL="0">
              <a:buNone/>
            </a:pPr>
            <a:r>
              <a:rPr lang="en-US" sz="1150" b="1" dirty="0">
                <a:solidFill>
                  <a:srgbClr val="6C3BF5"/>
                </a:solidFill>
                <a:latin typeface="Courier New" pitchFamily="34" charset="0"/>
                <a:ea typeface="Courier New" pitchFamily="34" charset="-122"/>
                <a:cs typeface="Courier New" pitchFamily="34" charset="-120"/>
              </a:rPr>
              <a:t>17 min</a:t>
            </a:r>
            <a:endParaRPr lang="en-US" sz="1150" dirty="0"/>
          </a:p>
        </p:txBody>
      </p:sp>
      <p:sp>
        <p:nvSpPr>
          <p:cNvPr id="15" name="Text 12"/>
          <p:cNvSpPr/>
          <p:nvPr/>
        </p:nvSpPr>
        <p:spPr>
          <a:xfrm>
            <a:off x="2103120" y="2217420"/>
            <a:ext cx="2103120" cy="493776"/>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Lists</a:t>
            </a:r>
            <a:endParaRPr lang="en-US" sz="1350" dirty="0"/>
          </a:p>
        </p:txBody>
      </p:sp>
      <p:sp>
        <p:nvSpPr>
          <p:cNvPr id="16" name="Shape 13"/>
          <p:cNvSpPr/>
          <p:nvPr/>
        </p:nvSpPr>
        <p:spPr>
          <a:xfrm>
            <a:off x="640080" y="2752344"/>
            <a:ext cx="10881360" cy="493776"/>
          </a:xfrm>
          <a:prstGeom prst="roundRect">
            <a:avLst>
              <a:gd name="adj" fmla="val 14815"/>
            </a:avLst>
          </a:prstGeom>
          <a:solidFill>
            <a:srgbClr val="FFF1D6"/>
          </a:solidFill>
          <a:ln w="15875">
            <a:solidFill>
              <a:srgbClr val="191333"/>
            </a:solidFill>
            <a:prstDash val="solid"/>
          </a:ln>
        </p:spPr>
      </p:sp>
      <p:sp>
        <p:nvSpPr>
          <p:cNvPr id="17" name="Shape 14"/>
          <p:cNvSpPr/>
          <p:nvPr/>
        </p:nvSpPr>
        <p:spPr>
          <a:xfrm>
            <a:off x="4297680" y="2852928"/>
            <a:ext cx="1330036" cy="292608"/>
          </a:xfrm>
          <a:prstGeom prst="roundRect">
            <a:avLst>
              <a:gd name="adj" fmla="val 18750"/>
            </a:avLst>
          </a:prstGeom>
          <a:solidFill>
            <a:srgbClr val="C97F00"/>
          </a:solidFill>
          <a:ln w="12700">
            <a:solidFill>
              <a:srgbClr val="191333"/>
            </a:solidFill>
            <a:prstDash val="solid"/>
          </a:ln>
        </p:spPr>
      </p:sp>
      <p:sp>
        <p:nvSpPr>
          <p:cNvPr id="18" name="Text 15"/>
          <p:cNvSpPr/>
          <p:nvPr/>
        </p:nvSpPr>
        <p:spPr>
          <a:xfrm>
            <a:off x="896112" y="2752344"/>
            <a:ext cx="1097280" cy="493776"/>
          </a:xfrm>
          <a:prstGeom prst="rect">
            <a:avLst/>
          </a:prstGeom>
          <a:noFill/>
          <a:ln/>
        </p:spPr>
        <p:txBody>
          <a:bodyPr wrap="square" lIns="0" tIns="0" rIns="0" bIns="0" rtlCol="0" anchor="ctr"/>
          <a:lstStyle/>
          <a:p>
            <a:pPr indent="0" marL="0">
              <a:buNone/>
            </a:pPr>
            <a:r>
              <a:rPr lang="en-US" sz="1150" b="1" dirty="0">
                <a:solidFill>
                  <a:srgbClr val="C97F00"/>
                </a:solidFill>
                <a:latin typeface="Courier New" pitchFamily="34" charset="0"/>
                <a:ea typeface="Courier New" pitchFamily="34" charset="-122"/>
                <a:cs typeface="Courier New" pitchFamily="34" charset="-120"/>
              </a:rPr>
              <a:t>05 min</a:t>
            </a:r>
            <a:endParaRPr lang="en-US" sz="1150" dirty="0"/>
          </a:p>
        </p:txBody>
      </p:sp>
      <p:sp>
        <p:nvSpPr>
          <p:cNvPr id="19" name="Text 16"/>
          <p:cNvSpPr/>
          <p:nvPr/>
        </p:nvSpPr>
        <p:spPr>
          <a:xfrm>
            <a:off x="2103120" y="2752344"/>
            <a:ext cx="2103120" cy="493776"/>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Break</a:t>
            </a:r>
            <a:endParaRPr lang="en-US" sz="1350" dirty="0"/>
          </a:p>
        </p:txBody>
      </p:sp>
      <p:sp>
        <p:nvSpPr>
          <p:cNvPr id="20" name="Shape 17"/>
          <p:cNvSpPr/>
          <p:nvPr/>
        </p:nvSpPr>
        <p:spPr>
          <a:xfrm>
            <a:off x="640080" y="3287268"/>
            <a:ext cx="10881360" cy="493776"/>
          </a:xfrm>
          <a:prstGeom prst="roundRect">
            <a:avLst>
              <a:gd name="adj" fmla="val 14815"/>
            </a:avLst>
          </a:prstGeom>
          <a:solidFill>
            <a:srgbClr val="FFFFFF"/>
          </a:solidFill>
          <a:ln w="15875">
            <a:solidFill>
              <a:srgbClr val="191333"/>
            </a:solidFill>
            <a:prstDash val="solid"/>
          </a:ln>
        </p:spPr>
      </p:sp>
      <p:sp>
        <p:nvSpPr>
          <p:cNvPr id="21" name="Shape 18"/>
          <p:cNvSpPr/>
          <p:nvPr/>
        </p:nvSpPr>
        <p:spPr>
          <a:xfrm>
            <a:off x="4297680" y="3387852"/>
            <a:ext cx="4788131" cy="292608"/>
          </a:xfrm>
          <a:prstGeom prst="roundRect">
            <a:avLst>
              <a:gd name="adj" fmla="val 18750"/>
            </a:avLst>
          </a:prstGeom>
          <a:solidFill>
            <a:srgbClr val="0090AB"/>
          </a:solidFill>
          <a:ln w="12700">
            <a:solidFill>
              <a:srgbClr val="191333"/>
            </a:solidFill>
            <a:prstDash val="solid"/>
          </a:ln>
        </p:spPr>
      </p:sp>
      <p:sp>
        <p:nvSpPr>
          <p:cNvPr id="22" name="Text 19"/>
          <p:cNvSpPr/>
          <p:nvPr/>
        </p:nvSpPr>
        <p:spPr>
          <a:xfrm>
            <a:off x="896112" y="3287268"/>
            <a:ext cx="1097280" cy="493776"/>
          </a:xfrm>
          <a:prstGeom prst="rect">
            <a:avLst/>
          </a:prstGeom>
          <a:noFill/>
          <a:ln/>
        </p:spPr>
        <p:txBody>
          <a:bodyPr wrap="square" lIns="0" tIns="0" rIns="0" bIns="0" rtlCol="0" anchor="ctr"/>
          <a:lstStyle/>
          <a:p>
            <a:pPr indent="0" marL="0">
              <a:buNone/>
            </a:pPr>
            <a:r>
              <a:rPr lang="en-US" sz="1150" b="1" dirty="0">
                <a:solidFill>
                  <a:srgbClr val="0090AB"/>
                </a:solidFill>
                <a:latin typeface="Courier New" pitchFamily="34" charset="0"/>
                <a:ea typeface="Courier New" pitchFamily="34" charset="-122"/>
                <a:cs typeface="Courier New" pitchFamily="34" charset="-120"/>
              </a:rPr>
              <a:t>18 min</a:t>
            </a:r>
            <a:endParaRPr lang="en-US" sz="1150" dirty="0"/>
          </a:p>
        </p:txBody>
      </p:sp>
      <p:sp>
        <p:nvSpPr>
          <p:cNvPr id="23" name="Text 20"/>
          <p:cNvSpPr/>
          <p:nvPr/>
        </p:nvSpPr>
        <p:spPr>
          <a:xfrm>
            <a:off x="2103120" y="3287268"/>
            <a:ext cx="2103120" cy="493776"/>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Tables</a:t>
            </a:r>
            <a:endParaRPr lang="en-US" sz="1350" dirty="0"/>
          </a:p>
        </p:txBody>
      </p:sp>
      <p:sp>
        <p:nvSpPr>
          <p:cNvPr id="24" name="Shape 21"/>
          <p:cNvSpPr/>
          <p:nvPr/>
        </p:nvSpPr>
        <p:spPr>
          <a:xfrm>
            <a:off x="640080" y="3822192"/>
            <a:ext cx="10881360" cy="493776"/>
          </a:xfrm>
          <a:prstGeom prst="roundRect">
            <a:avLst>
              <a:gd name="adj" fmla="val 14815"/>
            </a:avLst>
          </a:prstGeom>
          <a:solidFill>
            <a:srgbClr val="FFF1D6"/>
          </a:solidFill>
          <a:ln w="15875">
            <a:solidFill>
              <a:srgbClr val="191333"/>
            </a:solidFill>
            <a:prstDash val="solid"/>
          </a:ln>
        </p:spPr>
      </p:sp>
      <p:sp>
        <p:nvSpPr>
          <p:cNvPr id="25" name="Shape 22"/>
          <p:cNvSpPr/>
          <p:nvPr/>
        </p:nvSpPr>
        <p:spPr>
          <a:xfrm>
            <a:off x="4297680" y="3922776"/>
            <a:ext cx="1330036" cy="292608"/>
          </a:xfrm>
          <a:prstGeom prst="roundRect">
            <a:avLst>
              <a:gd name="adj" fmla="val 18750"/>
            </a:avLst>
          </a:prstGeom>
          <a:solidFill>
            <a:srgbClr val="C97F00"/>
          </a:solidFill>
          <a:ln w="12700">
            <a:solidFill>
              <a:srgbClr val="191333"/>
            </a:solidFill>
            <a:prstDash val="solid"/>
          </a:ln>
        </p:spPr>
      </p:sp>
      <p:sp>
        <p:nvSpPr>
          <p:cNvPr id="26" name="Text 23"/>
          <p:cNvSpPr/>
          <p:nvPr/>
        </p:nvSpPr>
        <p:spPr>
          <a:xfrm>
            <a:off x="896112" y="3822192"/>
            <a:ext cx="1097280" cy="493776"/>
          </a:xfrm>
          <a:prstGeom prst="rect">
            <a:avLst/>
          </a:prstGeom>
          <a:noFill/>
          <a:ln/>
        </p:spPr>
        <p:txBody>
          <a:bodyPr wrap="square" lIns="0" tIns="0" rIns="0" bIns="0" rtlCol="0" anchor="ctr"/>
          <a:lstStyle/>
          <a:p>
            <a:pPr indent="0" marL="0">
              <a:buNone/>
            </a:pPr>
            <a:r>
              <a:rPr lang="en-US" sz="1150" b="1" dirty="0">
                <a:solidFill>
                  <a:srgbClr val="C97F00"/>
                </a:solidFill>
                <a:latin typeface="Courier New" pitchFamily="34" charset="0"/>
                <a:ea typeface="Courier New" pitchFamily="34" charset="-122"/>
                <a:cs typeface="Courier New" pitchFamily="34" charset="-120"/>
              </a:rPr>
              <a:t>05 min</a:t>
            </a:r>
            <a:endParaRPr lang="en-US" sz="1150" dirty="0"/>
          </a:p>
        </p:txBody>
      </p:sp>
      <p:sp>
        <p:nvSpPr>
          <p:cNvPr id="27" name="Text 24"/>
          <p:cNvSpPr/>
          <p:nvPr/>
        </p:nvSpPr>
        <p:spPr>
          <a:xfrm>
            <a:off x="2103120" y="3822192"/>
            <a:ext cx="2103120" cy="493776"/>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Break</a:t>
            </a:r>
            <a:endParaRPr lang="en-US" sz="1350" dirty="0"/>
          </a:p>
        </p:txBody>
      </p:sp>
      <p:sp>
        <p:nvSpPr>
          <p:cNvPr id="28" name="Shape 25"/>
          <p:cNvSpPr/>
          <p:nvPr/>
        </p:nvSpPr>
        <p:spPr>
          <a:xfrm>
            <a:off x="640080" y="4357116"/>
            <a:ext cx="10881360" cy="493776"/>
          </a:xfrm>
          <a:prstGeom prst="roundRect">
            <a:avLst>
              <a:gd name="adj" fmla="val 14815"/>
            </a:avLst>
          </a:prstGeom>
          <a:solidFill>
            <a:srgbClr val="FFFFFF"/>
          </a:solidFill>
          <a:ln w="15875">
            <a:solidFill>
              <a:srgbClr val="191333"/>
            </a:solidFill>
            <a:prstDash val="solid"/>
          </a:ln>
        </p:spPr>
      </p:sp>
      <p:sp>
        <p:nvSpPr>
          <p:cNvPr id="29" name="Shape 26"/>
          <p:cNvSpPr/>
          <p:nvPr/>
        </p:nvSpPr>
        <p:spPr>
          <a:xfrm>
            <a:off x="4297680" y="4457700"/>
            <a:ext cx="5852160" cy="292608"/>
          </a:xfrm>
          <a:prstGeom prst="roundRect">
            <a:avLst>
              <a:gd name="adj" fmla="val 18750"/>
            </a:avLst>
          </a:prstGeom>
          <a:solidFill>
            <a:srgbClr val="FF3D8B"/>
          </a:solidFill>
          <a:ln w="12700">
            <a:solidFill>
              <a:srgbClr val="191333"/>
            </a:solidFill>
            <a:prstDash val="solid"/>
          </a:ln>
        </p:spPr>
      </p:sp>
      <p:sp>
        <p:nvSpPr>
          <p:cNvPr id="30" name="Text 27"/>
          <p:cNvSpPr/>
          <p:nvPr/>
        </p:nvSpPr>
        <p:spPr>
          <a:xfrm>
            <a:off x="896112" y="4357116"/>
            <a:ext cx="1097280" cy="493776"/>
          </a:xfrm>
          <a:prstGeom prst="rect">
            <a:avLst/>
          </a:prstGeom>
          <a:noFill/>
          <a:ln/>
        </p:spPr>
        <p:txBody>
          <a:bodyPr wrap="square" lIns="0" tIns="0" rIns="0" bIns="0" rtlCol="0" anchor="ctr"/>
          <a:lstStyle/>
          <a:p>
            <a:pPr indent="0" marL="0">
              <a:buNone/>
            </a:pPr>
            <a:r>
              <a:rPr lang="en-US" sz="1150" b="1" dirty="0">
                <a:solidFill>
                  <a:srgbClr val="FF3D8B"/>
                </a:solidFill>
                <a:latin typeface="Courier New" pitchFamily="34" charset="0"/>
                <a:ea typeface="Courier New" pitchFamily="34" charset="-122"/>
                <a:cs typeface="Courier New" pitchFamily="34" charset="-120"/>
              </a:rPr>
              <a:t>22 min</a:t>
            </a:r>
            <a:endParaRPr lang="en-US" sz="1150" dirty="0"/>
          </a:p>
        </p:txBody>
      </p:sp>
      <p:sp>
        <p:nvSpPr>
          <p:cNvPr id="31" name="Text 28"/>
          <p:cNvSpPr/>
          <p:nvPr/>
        </p:nvSpPr>
        <p:spPr>
          <a:xfrm>
            <a:off x="2103120" y="4357116"/>
            <a:ext cx="2103120" cy="493776"/>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Forms</a:t>
            </a:r>
            <a:endParaRPr lang="en-US" sz="1350" dirty="0"/>
          </a:p>
        </p:txBody>
      </p:sp>
      <p:sp>
        <p:nvSpPr>
          <p:cNvPr id="32" name="Shape 29"/>
          <p:cNvSpPr/>
          <p:nvPr/>
        </p:nvSpPr>
        <p:spPr>
          <a:xfrm>
            <a:off x="640080" y="4892040"/>
            <a:ext cx="10881360" cy="493776"/>
          </a:xfrm>
          <a:prstGeom prst="roundRect">
            <a:avLst>
              <a:gd name="adj" fmla="val 14815"/>
            </a:avLst>
          </a:prstGeom>
          <a:solidFill>
            <a:srgbClr val="FFFFFF"/>
          </a:solidFill>
          <a:ln w="15875">
            <a:solidFill>
              <a:srgbClr val="191333"/>
            </a:solidFill>
            <a:prstDash val="solid"/>
          </a:ln>
        </p:spPr>
      </p:sp>
      <p:sp>
        <p:nvSpPr>
          <p:cNvPr id="33" name="Shape 30"/>
          <p:cNvSpPr/>
          <p:nvPr/>
        </p:nvSpPr>
        <p:spPr>
          <a:xfrm>
            <a:off x="4297680" y="4992624"/>
            <a:ext cx="1596044" cy="292608"/>
          </a:xfrm>
          <a:prstGeom prst="roundRect">
            <a:avLst>
              <a:gd name="adj" fmla="val 18750"/>
            </a:avLst>
          </a:prstGeom>
          <a:solidFill>
            <a:srgbClr val="5C5580"/>
          </a:solidFill>
          <a:ln w="12700">
            <a:solidFill>
              <a:srgbClr val="191333"/>
            </a:solidFill>
            <a:prstDash val="solid"/>
          </a:ln>
        </p:spPr>
      </p:sp>
      <p:sp>
        <p:nvSpPr>
          <p:cNvPr id="34" name="Text 31"/>
          <p:cNvSpPr/>
          <p:nvPr/>
        </p:nvSpPr>
        <p:spPr>
          <a:xfrm>
            <a:off x="896112" y="4892040"/>
            <a:ext cx="1097280" cy="493776"/>
          </a:xfrm>
          <a:prstGeom prst="rect">
            <a:avLst/>
          </a:prstGeom>
          <a:noFill/>
          <a:ln/>
        </p:spPr>
        <p:txBody>
          <a:bodyPr wrap="square" lIns="0" tIns="0" rIns="0" bIns="0" rtlCol="0" anchor="ctr"/>
          <a:lstStyle/>
          <a:p>
            <a:pPr indent="0" marL="0">
              <a:buNone/>
            </a:pPr>
            <a:r>
              <a:rPr lang="en-US" sz="1150" b="1" dirty="0">
                <a:solidFill>
                  <a:srgbClr val="5C5580"/>
                </a:solidFill>
                <a:latin typeface="Courier New" pitchFamily="34" charset="0"/>
                <a:ea typeface="Courier New" pitchFamily="34" charset="-122"/>
                <a:cs typeface="Courier New" pitchFamily="34" charset="-120"/>
              </a:rPr>
              <a:t>06 min</a:t>
            </a:r>
            <a:endParaRPr lang="en-US" sz="1150" dirty="0"/>
          </a:p>
        </p:txBody>
      </p:sp>
      <p:sp>
        <p:nvSpPr>
          <p:cNvPr id="35" name="Text 32"/>
          <p:cNvSpPr/>
          <p:nvPr/>
        </p:nvSpPr>
        <p:spPr>
          <a:xfrm>
            <a:off x="2103120" y="4892040"/>
            <a:ext cx="2103120" cy="493776"/>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Build it, wrap, doubts</a:t>
            </a:r>
            <a:endParaRPr lang="en-US" sz="1350" dirty="0"/>
          </a:p>
        </p:txBody>
      </p:sp>
      <p:sp>
        <p:nvSpPr>
          <p:cNvPr id="36" name="Shape 33"/>
          <p:cNvSpPr/>
          <p:nvPr/>
        </p:nvSpPr>
        <p:spPr>
          <a:xfrm>
            <a:off x="640080" y="5541264"/>
            <a:ext cx="2542032" cy="640080"/>
          </a:xfrm>
          <a:prstGeom prst="roundRect">
            <a:avLst>
              <a:gd name="adj" fmla="val 11429"/>
            </a:avLst>
          </a:prstGeom>
          <a:solidFill>
            <a:srgbClr val="FFFFFF"/>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37" name="Text 34"/>
          <p:cNvSpPr/>
          <p:nvPr/>
        </p:nvSpPr>
        <p:spPr>
          <a:xfrm>
            <a:off x="859536" y="5541264"/>
            <a:ext cx="731520" cy="640080"/>
          </a:xfrm>
          <a:prstGeom prst="rect">
            <a:avLst/>
          </a:prstGeom>
          <a:noFill/>
          <a:ln/>
        </p:spPr>
        <p:txBody>
          <a:bodyPr wrap="square" lIns="0" tIns="0" rIns="0" bIns="0" rtlCol="0" anchor="ctr"/>
          <a:lstStyle/>
          <a:p>
            <a:pPr indent="0" marL="0">
              <a:buNone/>
            </a:pPr>
            <a:r>
              <a:rPr lang="en-US" sz="2000" b="1" dirty="0">
                <a:solidFill>
                  <a:srgbClr val="6C3BF5"/>
                </a:solidFill>
                <a:latin typeface="Arial Black" pitchFamily="34" charset="0"/>
                <a:ea typeface="Arial Black" pitchFamily="34" charset="-122"/>
                <a:cs typeface="Arial Black" pitchFamily="34" charset="-120"/>
              </a:rPr>
              <a:t>80</a:t>
            </a:r>
            <a:endParaRPr lang="en-US" sz="2000" dirty="0"/>
          </a:p>
        </p:txBody>
      </p:sp>
      <p:sp>
        <p:nvSpPr>
          <p:cNvPr id="38" name="Text 35"/>
          <p:cNvSpPr/>
          <p:nvPr/>
        </p:nvSpPr>
        <p:spPr>
          <a:xfrm>
            <a:off x="1609344" y="5541264"/>
            <a:ext cx="1353312" cy="640080"/>
          </a:xfrm>
          <a:prstGeom prst="rect">
            <a:avLst/>
          </a:prstGeom>
          <a:noFill/>
          <a:ln/>
        </p:spPr>
        <p:txBody>
          <a:bodyPr wrap="square" lIns="0" tIns="0" rIns="0" bIns="0" rtlCol="0" anchor="ctr"/>
          <a:lstStyle/>
          <a:p>
            <a:pPr algn="l" indent="0" marL="0">
              <a:lnSpc>
                <a:spcPts val="1400"/>
              </a:lnSpc>
              <a:buNone/>
            </a:pPr>
            <a:r>
              <a:rPr lang="en-US" sz="1100" dirty="0">
                <a:solidFill>
                  <a:srgbClr val="5C5580"/>
                </a:solidFill>
                <a:latin typeface="Calibri" pitchFamily="34" charset="0"/>
                <a:ea typeface="Calibri" pitchFamily="34" charset="-122"/>
                <a:cs typeface="Calibri" pitchFamily="34" charset="-120"/>
              </a:rPr>
              <a:t>minutes on the clock</a:t>
            </a:r>
            <a:endParaRPr lang="en-US" sz="1100" dirty="0"/>
          </a:p>
        </p:txBody>
      </p:sp>
      <p:sp>
        <p:nvSpPr>
          <p:cNvPr id="39" name="Shape 36"/>
          <p:cNvSpPr/>
          <p:nvPr/>
        </p:nvSpPr>
        <p:spPr>
          <a:xfrm>
            <a:off x="3483864" y="5541264"/>
            <a:ext cx="2542032" cy="640080"/>
          </a:xfrm>
          <a:prstGeom prst="roundRect">
            <a:avLst>
              <a:gd name="adj" fmla="val 11429"/>
            </a:avLst>
          </a:prstGeom>
          <a:solidFill>
            <a:srgbClr val="FFFFFF"/>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40" name="Text 37"/>
          <p:cNvSpPr/>
          <p:nvPr/>
        </p:nvSpPr>
        <p:spPr>
          <a:xfrm>
            <a:off x="3703320" y="5541264"/>
            <a:ext cx="731520" cy="640080"/>
          </a:xfrm>
          <a:prstGeom prst="rect">
            <a:avLst/>
          </a:prstGeom>
          <a:noFill/>
          <a:ln/>
        </p:spPr>
        <p:txBody>
          <a:bodyPr wrap="square" lIns="0" tIns="0" rIns="0" bIns="0" rtlCol="0" anchor="ctr"/>
          <a:lstStyle/>
          <a:p>
            <a:pPr indent="0" marL="0">
              <a:buNone/>
            </a:pPr>
            <a:r>
              <a:rPr lang="en-US" sz="2000" b="1" dirty="0">
                <a:solidFill>
                  <a:srgbClr val="6C3BF5"/>
                </a:solidFill>
                <a:latin typeface="Arial Black" pitchFamily="34" charset="0"/>
                <a:ea typeface="Arial Black" pitchFamily="34" charset="-122"/>
                <a:cs typeface="Arial Black" pitchFamily="34" charset="-120"/>
              </a:rPr>
              <a:t>70</a:t>
            </a:r>
            <a:endParaRPr lang="en-US" sz="2000" dirty="0"/>
          </a:p>
        </p:txBody>
      </p:sp>
      <p:sp>
        <p:nvSpPr>
          <p:cNvPr id="41" name="Text 38"/>
          <p:cNvSpPr/>
          <p:nvPr/>
        </p:nvSpPr>
        <p:spPr>
          <a:xfrm>
            <a:off x="4453128" y="5541264"/>
            <a:ext cx="1353312" cy="640080"/>
          </a:xfrm>
          <a:prstGeom prst="rect">
            <a:avLst/>
          </a:prstGeom>
          <a:noFill/>
          <a:ln/>
        </p:spPr>
        <p:txBody>
          <a:bodyPr wrap="square" lIns="0" tIns="0" rIns="0" bIns="0" rtlCol="0" anchor="ctr"/>
          <a:lstStyle/>
          <a:p>
            <a:pPr algn="l" indent="0" marL="0">
              <a:lnSpc>
                <a:spcPts val="1400"/>
              </a:lnSpc>
              <a:buNone/>
            </a:pPr>
            <a:r>
              <a:rPr lang="en-US" sz="1100" dirty="0">
                <a:solidFill>
                  <a:srgbClr val="5C5580"/>
                </a:solidFill>
                <a:latin typeface="Calibri" pitchFamily="34" charset="0"/>
                <a:ea typeface="Calibri" pitchFamily="34" charset="-122"/>
                <a:cs typeface="Calibri" pitchFamily="34" charset="-120"/>
              </a:rPr>
              <a:t>minutes of teaching</a:t>
            </a:r>
            <a:endParaRPr lang="en-US" sz="1100" dirty="0"/>
          </a:p>
        </p:txBody>
      </p:sp>
      <p:sp>
        <p:nvSpPr>
          <p:cNvPr id="42" name="Shape 39"/>
          <p:cNvSpPr/>
          <p:nvPr/>
        </p:nvSpPr>
        <p:spPr>
          <a:xfrm>
            <a:off x="6327648" y="5541264"/>
            <a:ext cx="2542032" cy="640080"/>
          </a:xfrm>
          <a:prstGeom prst="roundRect">
            <a:avLst>
              <a:gd name="adj" fmla="val 11429"/>
            </a:avLst>
          </a:prstGeom>
          <a:solidFill>
            <a:srgbClr val="FFF1D6"/>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43" name="Text 40"/>
          <p:cNvSpPr/>
          <p:nvPr/>
        </p:nvSpPr>
        <p:spPr>
          <a:xfrm>
            <a:off x="6547104" y="5541264"/>
            <a:ext cx="731520" cy="640080"/>
          </a:xfrm>
          <a:prstGeom prst="rect">
            <a:avLst/>
          </a:prstGeom>
          <a:noFill/>
          <a:ln/>
        </p:spPr>
        <p:txBody>
          <a:bodyPr wrap="square" lIns="0" tIns="0" rIns="0" bIns="0" rtlCol="0" anchor="ctr"/>
          <a:lstStyle/>
          <a:p>
            <a:pPr indent="0" marL="0">
              <a:buNone/>
            </a:pPr>
            <a:r>
              <a:rPr lang="en-US" sz="2000" b="1" dirty="0">
                <a:solidFill>
                  <a:srgbClr val="C97F00"/>
                </a:solidFill>
                <a:latin typeface="Arial Black" pitchFamily="34" charset="0"/>
                <a:ea typeface="Arial Black" pitchFamily="34" charset="-122"/>
                <a:cs typeface="Arial Black" pitchFamily="34" charset="-120"/>
              </a:rPr>
              <a:t>02</a:t>
            </a:r>
            <a:endParaRPr lang="en-US" sz="2000" dirty="0"/>
          </a:p>
        </p:txBody>
      </p:sp>
      <p:sp>
        <p:nvSpPr>
          <p:cNvPr id="44" name="Text 41"/>
          <p:cNvSpPr/>
          <p:nvPr/>
        </p:nvSpPr>
        <p:spPr>
          <a:xfrm>
            <a:off x="7296912" y="5541264"/>
            <a:ext cx="1353312" cy="640080"/>
          </a:xfrm>
          <a:prstGeom prst="rect">
            <a:avLst/>
          </a:prstGeom>
          <a:noFill/>
          <a:ln/>
        </p:spPr>
        <p:txBody>
          <a:bodyPr wrap="square" lIns="0" tIns="0" rIns="0" bIns="0" rtlCol="0" anchor="ctr"/>
          <a:lstStyle/>
          <a:p>
            <a:pPr algn="l" indent="0" marL="0">
              <a:lnSpc>
                <a:spcPts val="1400"/>
              </a:lnSpc>
              <a:buNone/>
            </a:pPr>
            <a:r>
              <a:rPr lang="en-US" sz="1100" dirty="0">
                <a:solidFill>
                  <a:srgbClr val="5C5580"/>
                </a:solidFill>
                <a:latin typeface="Calibri" pitchFamily="34" charset="0"/>
                <a:ea typeface="Calibri" pitchFamily="34" charset="-122"/>
                <a:cs typeface="Calibri" pitchFamily="34" charset="-120"/>
              </a:rPr>
              <a:t>five minute breaks</a:t>
            </a:r>
            <a:endParaRPr lang="en-US" sz="1100" dirty="0"/>
          </a:p>
        </p:txBody>
      </p:sp>
      <p:sp>
        <p:nvSpPr>
          <p:cNvPr id="45" name="Shape 42"/>
          <p:cNvSpPr/>
          <p:nvPr/>
        </p:nvSpPr>
        <p:spPr>
          <a:xfrm>
            <a:off x="9171432" y="5541264"/>
            <a:ext cx="2542032" cy="640080"/>
          </a:xfrm>
          <a:prstGeom prst="roundRect">
            <a:avLst>
              <a:gd name="adj" fmla="val 11429"/>
            </a:avLst>
          </a:prstGeom>
          <a:solidFill>
            <a:srgbClr val="FFFFFF"/>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46" name="Text 43"/>
          <p:cNvSpPr/>
          <p:nvPr/>
        </p:nvSpPr>
        <p:spPr>
          <a:xfrm>
            <a:off x="9390888" y="5541264"/>
            <a:ext cx="731520" cy="640080"/>
          </a:xfrm>
          <a:prstGeom prst="rect">
            <a:avLst/>
          </a:prstGeom>
          <a:noFill/>
          <a:ln/>
        </p:spPr>
        <p:txBody>
          <a:bodyPr wrap="square" lIns="0" tIns="0" rIns="0" bIns="0" rtlCol="0" anchor="ctr"/>
          <a:lstStyle/>
          <a:p>
            <a:pPr indent="0" marL="0">
              <a:buNone/>
            </a:pPr>
            <a:r>
              <a:rPr lang="en-US" sz="2000" b="1" dirty="0">
                <a:solidFill>
                  <a:srgbClr val="6C3BF5"/>
                </a:solidFill>
                <a:latin typeface="Arial Black" pitchFamily="34" charset="0"/>
                <a:ea typeface="Arial Black" pitchFamily="34" charset="-122"/>
                <a:cs typeface="Arial Black" pitchFamily="34" charset="-120"/>
              </a:rPr>
              <a:t>03</a:t>
            </a:r>
            <a:endParaRPr lang="en-US" sz="2000" dirty="0"/>
          </a:p>
        </p:txBody>
      </p:sp>
      <p:sp>
        <p:nvSpPr>
          <p:cNvPr id="47" name="Text 44"/>
          <p:cNvSpPr/>
          <p:nvPr/>
        </p:nvSpPr>
        <p:spPr>
          <a:xfrm>
            <a:off x="10140696" y="5541264"/>
            <a:ext cx="1353312" cy="640080"/>
          </a:xfrm>
          <a:prstGeom prst="rect">
            <a:avLst/>
          </a:prstGeom>
          <a:noFill/>
          <a:ln/>
        </p:spPr>
        <p:txBody>
          <a:bodyPr wrap="square" lIns="0" tIns="0" rIns="0" bIns="0" rtlCol="0" anchor="ctr"/>
          <a:lstStyle/>
          <a:p>
            <a:pPr algn="l" indent="0" marL="0">
              <a:lnSpc>
                <a:spcPts val="1400"/>
              </a:lnSpc>
              <a:buNone/>
            </a:pPr>
            <a:r>
              <a:rPr lang="en-US" sz="1100" dirty="0">
                <a:solidFill>
                  <a:srgbClr val="5C5580"/>
                </a:solidFill>
                <a:latin typeface="Calibri" pitchFamily="34" charset="0"/>
                <a:ea typeface="Calibri" pitchFamily="34" charset="-122"/>
                <a:cs typeface="Calibri" pitchFamily="34" charset="-120"/>
              </a:rPr>
              <a:t>live coding sections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0" y="1737360"/>
            <a:ext cx="12188952" cy="1371600"/>
          </a:xfrm>
          <a:prstGeom prst="rect">
            <a:avLst/>
          </a:prstGeom>
          <a:noFill/>
          <a:ln/>
        </p:spPr>
        <p:txBody>
          <a:bodyPr wrap="square" lIns="0" tIns="0" rIns="0" bIns="0" rtlCol="0" anchor="ctr"/>
          <a:lstStyle/>
          <a:p>
            <a:pPr algn="ctr" indent="0" marL="0">
              <a:buNone/>
            </a:pPr>
            <a:r>
              <a:rPr lang="en-US" sz="10400" b="1" dirty="0">
                <a:solidFill>
                  <a:srgbClr val="2A2450"/>
                </a:solidFill>
                <a:latin typeface="Calibri" pitchFamily="34" charset="0"/>
                <a:ea typeface="Calibri" pitchFamily="34" charset="-122"/>
                <a:cs typeface="Calibri" pitchFamily="34" charset="-120"/>
              </a:rPr>
              <a:t>01</a:t>
            </a:r>
            <a:endParaRPr lang="en-US" sz="10400" dirty="0"/>
          </a:p>
        </p:txBody>
      </p:sp>
      <p:sp>
        <p:nvSpPr>
          <p:cNvPr id="4" name="Text 1"/>
          <p:cNvSpPr/>
          <p:nvPr/>
        </p:nvSpPr>
        <p:spPr>
          <a:xfrm>
            <a:off x="1097280" y="3072384"/>
            <a:ext cx="99943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Lists</a:t>
            </a:r>
            <a:endParaRPr lang="en-US" sz="4000" dirty="0"/>
          </a:p>
        </p:txBody>
      </p:sp>
      <p:sp>
        <p:nvSpPr>
          <p:cNvPr id="5" name="Shape 2"/>
          <p:cNvSpPr/>
          <p:nvPr/>
        </p:nvSpPr>
        <p:spPr>
          <a:xfrm>
            <a:off x="5545836" y="4059936"/>
            <a:ext cx="1097280" cy="45720"/>
          </a:xfrm>
          <a:prstGeom prst="rect">
            <a:avLst/>
          </a:prstGeom>
          <a:solidFill>
            <a:srgbClr val="6C3BF5"/>
          </a:solidFill>
          <a:ln w="12700">
            <a:solidFill>
              <a:srgbClr val="6C3BF5"/>
            </a:solidFill>
            <a:prstDash val="solid"/>
          </a:ln>
        </p:spPr>
      </p:sp>
      <p:sp>
        <p:nvSpPr>
          <p:cNvPr id="6" name="Text 3"/>
          <p:cNvSpPr/>
          <p:nvPr/>
        </p:nvSpPr>
        <p:spPr>
          <a:xfrm>
            <a:off x="1828800" y="4297680"/>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Two tags, and one question that decides which you reach for.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02</a:t>
            </a:r>
            <a:endParaRPr lang="en-US" sz="900" dirty="0"/>
          </a:p>
        </p:txBody>
      </p:sp>
      <p:sp>
        <p:nvSpPr>
          <p:cNvPr id="5" name="Shape 2"/>
          <p:cNvSpPr/>
          <p:nvPr/>
        </p:nvSpPr>
        <p:spPr>
          <a:xfrm>
            <a:off x="640080" y="365760"/>
            <a:ext cx="1188720"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LISTS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Two lists. One question.</a:t>
            </a:r>
            <a:endParaRPr lang="en-US" sz="3200" dirty="0"/>
          </a:p>
        </p:txBody>
      </p:sp>
      <p:sp>
        <p:nvSpPr>
          <p:cNvPr id="8" name="Text 5"/>
          <p:cNvSpPr/>
          <p:nvPr/>
        </p:nvSpPr>
        <p:spPr>
          <a:xfrm>
            <a:off x="640080" y="1517904"/>
            <a:ext cx="10881360" cy="329184"/>
          </a:xfrm>
          <a:prstGeom prst="rect">
            <a:avLst/>
          </a:prstGeom>
          <a:noFill/>
          <a:ln/>
        </p:spPr>
        <p:txBody>
          <a:bodyPr wrap="square" lIns="0" tIns="0" rIns="0" bIns="0" rtlCol="0" anchor="t"/>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Look at both of these and tell me where the order matters, and where it does not.</a:t>
            </a:r>
            <a:endParaRPr lang="en-US" sz="1400" dirty="0"/>
          </a:p>
        </p:txBody>
      </p:sp>
      <p:sp>
        <p:nvSpPr>
          <p:cNvPr id="9" name="Shape 6"/>
          <p:cNvSpPr/>
          <p:nvPr/>
        </p:nvSpPr>
        <p:spPr>
          <a:xfrm>
            <a:off x="640080" y="1938528"/>
            <a:ext cx="5212080" cy="2926080"/>
          </a:xfrm>
          <a:prstGeom prst="roundRect">
            <a:avLst>
              <a:gd name="adj" fmla="val 3125"/>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0" name="Shape 7"/>
          <p:cNvSpPr/>
          <p:nvPr/>
        </p:nvSpPr>
        <p:spPr>
          <a:xfrm>
            <a:off x="914400" y="2176272"/>
            <a:ext cx="548640" cy="548640"/>
          </a:xfrm>
          <a:prstGeom prst="roundRect">
            <a:avLst>
              <a:gd name="adj" fmla="val 16667"/>
            </a:avLst>
          </a:prstGeom>
          <a:solidFill>
            <a:srgbClr val="EDE7FF"/>
          </a:solidFill>
          <a:ln w="15875">
            <a:solidFill>
              <a:srgbClr val="191333"/>
            </a:solidFill>
            <a:prstDash val="solid"/>
          </a:ln>
        </p:spPr>
      </p:sp>
      <p:pic>
        <p:nvPicPr>
          <p:cNvPr id="11" name="Image 0" descr="preencoded.png">    </p:cNvPr>
          <p:cNvPicPr>
            <a:picLocks noChangeAspect="1"/>
          </p:cNvPicPr>
          <p:nvPr/>
        </p:nvPicPr>
        <p:blipFill>
          <a:blip r:embed="rId1"/>
          <a:stretch>
            <a:fillRect/>
          </a:stretch>
        </p:blipFill>
        <p:spPr>
          <a:xfrm>
            <a:off x="1057046" y="2318918"/>
            <a:ext cx="263347" cy="263347"/>
          </a:xfrm>
          <a:prstGeom prst="rect">
            <a:avLst/>
          </a:prstGeom>
        </p:spPr>
      </p:pic>
      <p:sp>
        <p:nvSpPr>
          <p:cNvPr id="12" name="Text 8"/>
          <p:cNvSpPr/>
          <p:nvPr/>
        </p:nvSpPr>
        <p:spPr>
          <a:xfrm>
            <a:off x="1609344" y="2176272"/>
            <a:ext cx="3931920" cy="548640"/>
          </a:xfrm>
          <a:prstGeom prst="rect">
            <a:avLst/>
          </a:prstGeom>
          <a:noFill/>
          <a:ln/>
        </p:spPr>
        <p:txBody>
          <a:bodyPr wrap="square" lIns="0" tIns="0" rIns="0" bIns="0" rtlCol="0" anchor="ctr"/>
          <a:lstStyle/>
          <a:p>
            <a:pPr indent="0" marL="0">
              <a:buNone/>
            </a:pPr>
            <a:r>
              <a:rPr lang="en-US" sz="1900" b="1" dirty="0">
                <a:solidFill>
                  <a:srgbClr val="191333"/>
                </a:solidFill>
                <a:latin typeface="Calibri" pitchFamily="34" charset="0"/>
                <a:ea typeface="Calibri" pitchFamily="34" charset="-122"/>
                <a:cs typeface="Calibri" pitchFamily="34" charset="-120"/>
              </a:rPr>
              <a:t>Grocery list</a:t>
            </a:r>
            <a:endParaRPr lang="en-US" sz="1900" dirty="0"/>
          </a:p>
        </p:txBody>
      </p:sp>
      <p:sp>
        <p:nvSpPr>
          <p:cNvPr id="13" name="Shape 9"/>
          <p:cNvSpPr/>
          <p:nvPr/>
        </p:nvSpPr>
        <p:spPr>
          <a:xfrm>
            <a:off x="1097280" y="2898648"/>
            <a:ext cx="128016" cy="128016"/>
          </a:xfrm>
          <a:prstGeom prst="ellipse">
            <a:avLst/>
          </a:prstGeom>
          <a:solidFill>
            <a:srgbClr val="6C3BF5"/>
          </a:solidFill>
          <a:ln w="12700">
            <a:solidFill>
              <a:srgbClr val="6C3BF5"/>
            </a:solidFill>
            <a:prstDash val="solid"/>
          </a:ln>
        </p:spPr>
      </p:sp>
      <p:sp>
        <p:nvSpPr>
          <p:cNvPr id="14" name="Text 10"/>
          <p:cNvSpPr/>
          <p:nvPr/>
        </p:nvSpPr>
        <p:spPr>
          <a:xfrm>
            <a:off x="1481328" y="2779776"/>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Banana</a:t>
            </a:r>
            <a:endParaRPr lang="en-US" sz="1400" dirty="0"/>
          </a:p>
        </p:txBody>
      </p:sp>
      <p:sp>
        <p:nvSpPr>
          <p:cNvPr id="15" name="Shape 11"/>
          <p:cNvSpPr/>
          <p:nvPr/>
        </p:nvSpPr>
        <p:spPr>
          <a:xfrm>
            <a:off x="1097280" y="3319272"/>
            <a:ext cx="128016" cy="128016"/>
          </a:xfrm>
          <a:prstGeom prst="ellipse">
            <a:avLst/>
          </a:prstGeom>
          <a:solidFill>
            <a:srgbClr val="6C3BF5"/>
          </a:solidFill>
          <a:ln w="12700">
            <a:solidFill>
              <a:srgbClr val="6C3BF5"/>
            </a:solidFill>
            <a:prstDash val="solid"/>
          </a:ln>
        </p:spPr>
      </p:sp>
      <p:sp>
        <p:nvSpPr>
          <p:cNvPr id="16" name="Text 12"/>
          <p:cNvSpPr/>
          <p:nvPr/>
        </p:nvSpPr>
        <p:spPr>
          <a:xfrm>
            <a:off x="1481328" y="3200400"/>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Apple</a:t>
            </a:r>
            <a:endParaRPr lang="en-US" sz="1400" dirty="0"/>
          </a:p>
        </p:txBody>
      </p:sp>
      <p:sp>
        <p:nvSpPr>
          <p:cNvPr id="17" name="Shape 13"/>
          <p:cNvSpPr/>
          <p:nvPr/>
        </p:nvSpPr>
        <p:spPr>
          <a:xfrm>
            <a:off x="1097280" y="3739896"/>
            <a:ext cx="128016" cy="128016"/>
          </a:xfrm>
          <a:prstGeom prst="ellipse">
            <a:avLst/>
          </a:prstGeom>
          <a:solidFill>
            <a:srgbClr val="6C3BF5"/>
          </a:solidFill>
          <a:ln w="12700">
            <a:solidFill>
              <a:srgbClr val="6C3BF5"/>
            </a:solidFill>
            <a:prstDash val="solid"/>
          </a:ln>
        </p:spPr>
      </p:sp>
      <p:sp>
        <p:nvSpPr>
          <p:cNvPr id="18" name="Text 14"/>
          <p:cNvSpPr/>
          <p:nvPr/>
        </p:nvSpPr>
        <p:spPr>
          <a:xfrm>
            <a:off x="1481328" y="3621024"/>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Strawberry</a:t>
            </a:r>
            <a:endParaRPr lang="en-US" sz="1400" dirty="0"/>
          </a:p>
        </p:txBody>
      </p:sp>
      <p:sp>
        <p:nvSpPr>
          <p:cNvPr id="19" name="Shape 15"/>
          <p:cNvSpPr/>
          <p:nvPr/>
        </p:nvSpPr>
        <p:spPr>
          <a:xfrm>
            <a:off x="1097280" y="4160520"/>
            <a:ext cx="128016" cy="128016"/>
          </a:xfrm>
          <a:prstGeom prst="ellipse">
            <a:avLst/>
          </a:prstGeom>
          <a:solidFill>
            <a:srgbClr val="6C3BF5"/>
          </a:solidFill>
          <a:ln w="12700">
            <a:solidFill>
              <a:srgbClr val="6C3BF5"/>
            </a:solidFill>
            <a:prstDash val="solid"/>
          </a:ln>
        </p:spPr>
      </p:sp>
      <p:sp>
        <p:nvSpPr>
          <p:cNvPr id="20" name="Text 16"/>
          <p:cNvSpPr/>
          <p:nvPr/>
        </p:nvSpPr>
        <p:spPr>
          <a:xfrm>
            <a:off x="1481328" y="4041648"/>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Milk</a:t>
            </a:r>
            <a:endParaRPr lang="en-US" sz="1400" dirty="0"/>
          </a:p>
        </p:txBody>
      </p:sp>
      <p:sp>
        <p:nvSpPr>
          <p:cNvPr id="21" name="Shape 17"/>
          <p:cNvSpPr/>
          <p:nvPr/>
        </p:nvSpPr>
        <p:spPr>
          <a:xfrm>
            <a:off x="914400" y="4535424"/>
            <a:ext cx="2926080" cy="329184"/>
          </a:xfrm>
          <a:prstGeom prst="roundRect">
            <a:avLst>
              <a:gd name="adj" fmla="val 22222"/>
            </a:avLst>
          </a:prstGeom>
          <a:solidFill>
            <a:srgbClr val="6FA800"/>
          </a:solidFill>
          <a:ln w="15875">
            <a:solidFill>
              <a:srgbClr val="191333"/>
            </a:solidFill>
            <a:prstDash val="solid"/>
          </a:ln>
          <a:effectLst>
            <a:outerShdw sx="100000" sy="100000" kx="0" ky="0" algn="bl" rotWithShape="0" blurRad="3.3566983317512e+25" dist="1.2587618744067e+25" dir="2.09952e+30">
              <a:srgbClr val="191333">
                <a:alpha val="1.0000000000000002e+30"/>
              </a:srgbClr>
            </a:outerShdw>
          </a:effectLst>
        </p:spPr>
      </p:sp>
      <p:sp>
        <p:nvSpPr>
          <p:cNvPr id="22" name="Text 18"/>
          <p:cNvSpPr/>
          <p:nvPr/>
        </p:nvSpPr>
        <p:spPr>
          <a:xfrm>
            <a:off x="914400" y="4535424"/>
            <a:ext cx="292608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ORDER DOES NOT MATTER</a:t>
            </a:r>
            <a:endParaRPr lang="en-US" sz="950" dirty="0"/>
          </a:p>
        </p:txBody>
      </p:sp>
      <p:sp>
        <p:nvSpPr>
          <p:cNvPr id="23" name="Shape 19"/>
          <p:cNvSpPr/>
          <p:nvPr/>
        </p:nvSpPr>
        <p:spPr>
          <a:xfrm>
            <a:off x="6336792" y="1938528"/>
            <a:ext cx="5212080" cy="2926080"/>
          </a:xfrm>
          <a:prstGeom prst="roundRect">
            <a:avLst>
              <a:gd name="adj" fmla="val 3125"/>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4" name="Shape 20"/>
          <p:cNvSpPr/>
          <p:nvPr/>
        </p:nvSpPr>
        <p:spPr>
          <a:xfrm>
            <a:off x="6611112" y="2176272"/>
            <a:ext cx="548640" cy="548640"/>
          </a:xfrm>
          <a:prstGeom prst="roundRect">
            <a:avLst>
              <a:gd name="adj" fmla="val 16667"/>
            </a:avLst>
          </a:prstGeom>
          <a:solidFill>
            <a:srgbClr val="EDE7FF"/>
          </a:solidFill>
          <a:ln w="15875">
            <a:solidFill>
              <a:srgbClr val="191333"/>
            </a:solidFill>
            <a:prstDash val="solid"/>
          </a:ln>
        </p:spPr>
      </p:sp>
      <p:pic>
        <p:nvPicPr>
          <p:cNvPr id="25" name="Image 1" descr="preencoded.png">    </p:cNvPr>
          <p:cNvPicPr>
            <a:picLocks noChangeAspect="1"/>
          </p:cNvPicPr>
          <p:nvPr/>
        </p:nvPicPr>
        <p:blipFill>
          <a:blip r:embed="rId2"/>
          <a:stretch>
            <a:fillRect/>
          </a:stretch>
        </p:blipFill>
        <p:spPr>
          <a:xfrm>
            <a:off x="6753758" y="2318918"/>
            <a:ext cx="263347" cy="263347"/>
          </a:xfrm>
          <a:prstGeom prst="rect">
            <a:avLst/>
          </a:prstGeom>
        </p:spPr>
      </p:pic>
      <p:sp>
        <p:nvSpPr>
          <p:cNvPr id="26" name="Text 21"/>
          <p:cNvSpPr/>
          <p:nvPr/>
        </p:nvSpPr>
        <p:spPr>
          <a:xfrm>
            <a:off x="7306056" y="2176272"/>
            <a:ext cx="3931920" cy="548640"/>
          </a:xfrm>
          <a:prstGeom prst="rect">
            <a:avLst/>
          </a:prstGeom>
          <a:noFill/>
          <a:ln/>
        </p:spPr>
        <p:txBody>
          <a:bodyPr wrap="square" lIns="0" tIns="0" rIns="0" bIns="0" rtlCol="0" anchor="ctr"/>
          <a:lstStyle/>
          <a:p>
            <a:pPr indent="0" marL="0">
              <a:buNone/>
            </a:pPr>
            <a:r>
              <a:rPr lang="en-US" sz="1900" b="1" dirty="0">
                <a:solidFill>
                  <a:srgbClr val="191333"/>
                </a:solidFill>
                <a:latin typeface="Calibri" pitchFamily="34" charset="0"/>
                <a:ea typeface="Calibri" pitchFamily="34" charset="-122"/>
                <a:cs typeface="Calibri" pitchFamily="34" charset="-120"/>
              </a:rPr>
              <a:t>Installing software</a:t>
            </a:r>
            <a:endParaRPr lang="en-US" sz="1900" dirty="0"/>
          </a:p>
        </p:txBody>
      </p:sp>
      <p:sp>
        <p:nvSpPr>
          <p:cNvPr id="27" name="Shape 22"/>
          <p:cNvSpPr/>
          <p:nvPr/>
        </p:nvSpPr>
        <p:spPr>
          <a:xfrm>
            <a:off x="6793992" y="2816352"/>
            <a:ext cx="292608" cy="292608"/>
          </a:xfrm>
          <a:prstGeom prst="roundRect">
            <a:avLst>
              <a:gd name="adj" fmla="val 18750"/>
            </a:avLst>
          </a:prstGeom>
          <a:solidFill>
            <a:srgbClr val="6C3BF5"/>
          </a:solidFill>
          <a:ln w="12700">
            <a:solidFill>
              <a:srgbClr val="191333"/>
            </a:solidFill>
            <a:prstDash val="solid"/>
          </a:ln>
        </p:spPr>
      </p:sp>
      <p:sp>
        <p:nvSpPr>
          <p:cNvPr id="28" name="Text 23"/>
          <p:cNvSpPr/>
          <p:nvPr/>
        </p:nvSpPr>
        <p:spPr>
          <a:xfrm>
            <a:off x="6793992" y="28163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9" name="Text 24"/>
          <p:cNvSpPr/>
          <p:nvPr/>
        </p:nvSpPr>
        <p:spPr>
          <a:xfrm>
            <a:off x="7242048" y="2779776"/>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Download the installer</a:t>
            </a:r>
            <a:endParaRPr lang="en-US" sz="1400" dirty="0"/>
          </a:p>
        </p:txBody>
      </p:sp>
      <p:sp>
        <p:nvSpPr>
          <p:cNvPr id="30" name="Shape 25"/>
          <p:cNvSpPr/>
          <p:nvPr/>
        </p:nvSpPr>
        <p:spPr>
          <a:xfrm>
            <a:off x="6793992" y="3236976"/>
            <a:ext cx="292608" cy="292608"/>
          </a:xfrm>
          <a:prstGeom prst="roundRect">
            <a:avLst>
              <a:gd name="adj" fmla="val 18750"/>
            </a:avLst>
          </a:prstGeom>
          <a:solidFill>
            <a:srgbClr val="6C3BF5"/>
          </a:solidFill>
          <a:ln w="12700">
            <a:solidFill>
              <a:srgbClr val="191333"/>
            </a:solidFill>
            <a:prstDash val="solid"/>
          </a:ln>
        </p:spPr>
      </p:sp>
      <p:sp>
        <p:nvSpPr>
          <p:cNvPr id="31" name="Text 26"/>
          <p:cNvSpPr/>
          <p:nvPr/>
        </p:nvSpPr>
        <p:spPr>
          <a:xfrm>
            <a:off x="6793992" y="323697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2" name="Text 27"/>
          <p:cNvSpPr/>
          <p:nvPr/>
        </p:nvSpPr>
        <p:spPr>
          <a:xfrm>
            <a:off x="7242048" y="3200400"/>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Scan it for viruses</a:t>
            </a:r>
            <a:endParaRPr lang="en-US" sz="1400" dirty="0"/>
          </a:p>
        </p:txBody>
      </p:sp>
      <p:sp>
        <p:nvSpPr>
          <p:cNvPr id="33" name="Shape 28"/>
          <p:cNvSpPr/>
          <p:nvPr/>
        </p:nvSpPr>
        <p:spPr>
          <a:xfrm>
            <a:off x="6793992" y="3657600"/>
            <a:ext cx="292608" cy="292608"/>
          </a:xfrm>
          <a:prstGeom prst="roundRect">
            <a:avLst>
              <a:gd name="adj" fmla="val 18750"/>
            </a:avLst>
          </a:prstGeom>
          <a:solidFill>
            <a:srgbClr val="6C3BF5"/>
          </a:solidFill>
          <a:ln w="12700">
            <a:solidFill>
              <a:srgbClr val="191333"/>
            </a:solidFill>
            <a:prstDash val="solid"/>
          </a:ln>
        </p:spPr>
      </p:sp>
      <p:sp>
        <p:nvSpPr>
          <p:cNvPr id="34" name="Text 29"/>
          <p:cNvSpPr/>
          <p:nvPr/>
        </p:nvSpPr>
        <p:spPr>
          <a:xfrm>
            <a:off x="6793992" y="36576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5" name="Text 30"/>
          <p:cNvSpPr/>
          <p:nvPr/>
        </p:nvSpPr>
        <p:spPr>
          <a:xfrm>
            <a:off x="7242048" y="3621024"/>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Run it</a:t>
            </a:r>
            <a:endParaRPr lang="en-US" sz="1400" dirty="0"/>
          </a:p>
        </p:txBody>
      </p:sp>
      <p:sp>
        <p:nvSpPr>
          <p:cNvPr id="36" name="Shape 31"/>
          <p:cNvSpPr/>
          <p:nvPr/>
        </p:nvSpPr>
        <p:spPr>
          <a:xfrm>
            <a:off x="6793992" y="4078224"/>
            <a:ext cx="292608" cy="292608"/>
          </a:xfrm>
          <a:prstGeom prst="roundRect">
            <a:avLst>
              <a:gd name="adj" fmla="val 18750"/>
            </a:avLst>
          </a:prstGeom>
          <a:solidFill>
            <a:srgbClr val="6C3BF5"/>
          </a:solidFill>
          <a:ln w="12700">
            <a:solidFill>
              <a:srgbClr val="191333"/>
            </a:solidFill>
            <a:prstDash val="solid"/>
          </a:ln>
        </p:spPr>
      </p:sp>
      <p:sp>
        <p:nvSpPr>
          <p:cNvPr id="37" name="Text 32"/>
          <p:cNvSpPr/>
          <p:nvPr/>
        </p:nvSpPr>
        <p:spPr>
          <a:xfrm>
            <a:off x="6793992" y="40782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8" name="Text 33"/>
          <p:cNvSpPr/>
          <p:nvPr/>
        </p:nvSpPr>
        <p:spPr>
          <a:xfrm>
            <a:off x="7242048" y="4041648"/>
            <a:ext cx="402336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Restart if asked</a:t>
            </a:r>
            <a:endParaRPr lang="en-US" sz="1400" dirty="0"/>
          </a:p>
        </p:txBody>
      </p:sp>
      <p:sp>
        <p:nvSpPr>
          <p:cNvPr id="39" name="Shape 34"/>
          <p:cNvSpPr/>
          <p:nvPr/>
        </p:nvSpPr>
        <p:spPr>
          <a:xfrm>
            <a:off x="6611112" y="4535424"/>
            <a:ext cx="2926080" cy="329184"/>
          </a:xfrm>
          <a:prstGeom prst="roundRect">
            <a:avLst>
              <a:gd name="adj" fmla="val 22222"/>
            </a:avLst>
          </a:prstGeom>
          <a:solidFill>
            <a:srgbClr val="FF3D8B"/>
          </a:solidFill>
          <a:ln w="15875">
            <a:solidFill>
              <a:srgbClr val="191333"/>
            </a:solidFill>
            <a:prstDash val="solid"/>
          </a:ln>
          <a:effectLst>
            <a:outerShdw sx="100000" sy="100000" kx="0" ky="0" algn="bl" rotWithShape="0" blurRad="4.2630068813240236e+29" dist="1.598627580496509e+29" dir="1.259712e+35">
              <a:srgbClr val="191333">
                <a:alpha val="1.0000000000000002e+35"/>
              </a:srgbClr>
            </a:outerShdw>
          </a:effectLst>
        </p:spPr>
      </p:sp>
      <p:sp>
        <p:nvSpPr>
          <p:cNvPr id="40" name="Text 35"/>
          <p:cNvSpPr/>
          <p:nvPr/>
        </p:nvSpPr>
        <p:spPr>
          <a:xfrm>
            <a:off x="6611112" y="4535424"/>
            <a:ext cx="292608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ORDER IS THE WHOLE POINT</a:t>
            </a:r>
            <a:endParaRPr lang="en-US" sz="950" dirty="0"/>
          </a:p>
        </p:txBody>
      </p:sp>
      <p:sp>
        <p:nvSpPr>
          <p:cNvPr id="41" name="Shape 36"/>
          <p:cNvSpPr/>
          <p:nvPr/>
        </p:nvSpPr>
        <p:spPr>
          <a:xfrm>
            <a:off x="640080" y="5029200"/>
            <a:ext cx="10908792" cy="621792"/>
          </a:xfrm>
          <a:prstGeom prst="roundRect">
            <a:avLst>
              <a:gd name="adj" fmla="val 14706"/>
            </a:avLst>
          </a:prstGeom>
          <a:solidFill>
            <a:srgbClr val="EDE7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42" name="Text 37"/>
          <p:cNvSpPr/>
          <p:nvPr/>
        </p:nvSpPr>
        <p:spPr>
          <a:xfrm>
            <a:off x="640080" y="5029200"/>
            <a:ext cx="10908792" cy="621792"/>
          </a:xfrm>
          <a:prstGeom prst="rect">
            <a:avLst/>
          </a:prstGeom>
          <a:noFill/>
          <a:ln/>
        </p:spPr>
        <p:txBody>
          <a:bodyPr wrap="square" lIns="0" tIns="0" rIns="0" bIns="0" rtlCol="0" anchor="ctr"/>
          <a:lstStyle/>
          <a:p>
            <a:pPr algn="ctr" indent="0" marL="0">
              <a:buNone/>
            </a:pPr>
            <a:r>
              <a:rPr lang="en-US" sz="1500" b="1" dirty="0">
                <a:solidFill>
                  <a:srgbClr val="191333"/>
                </a:solidFill>
                <a:latin typeface="Calibri" pitchFamily="34" charset="0"/>
                <a:ea typeface="Calibri" pitchFamily="34" charset="-122"/>
                <a:cs typeface="Calibri" pitchFamily="34" charset="-120"/>
              </a:rPr>
              <a:t>Scan for viruses after you run it and you have not scanned anything, you have just installed it.</a:t>
            </a:r>
            <a:endParaRPr lang="en-US" sz="1500" dirty="0"/>
          </a:p>
        </p:txBody>
      </p:sp>
      <p:sp>
        <p:nvSpPr>
          <p:cNvPr id="43" name="Shape 38"/>
          <p:cNvSpPr/>
          <p:nvPr/>
        </p:nvSpPr>
        <p:spPr>
          <a:xfrm>
            <a:off x="640080" y="5760720"/>
            <a:ext cx="10908792" cy="512064"/>
          </a:xfrm>
          <a:prstGeom prst="roundRect">
            <a:avLst>
              <a:gd name="adj" fmla="val 14286"/>
            </a:avLst>
          </a:prstGeom>
          <a:solidFill>
            <a:srgbClr val="FFF1D6"/>
          </a:solidFill>
          <a:ln w="12700">
            <a:solidFill>
              <a:srgbClr val="F5CE8A"/>
            </a:solidFill>
            <a:prstDash val="solid"/>
          </a:ln>
        </p:spPr>
      </p:sp>
      <p:sp>
        <p:nvSpPr>
          <p:cNvPr id="44" name="Text 39"/>
          <p:cNvSpPr/>
          <p:nvPr/>
        </p:nvSpPr>
        <p:spPr>
          <a:xfrm>
            <a:off x="859536" y="5760720"/>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HTML has a tag for each. it does not have a tag for the list you wrote and then ignored.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03</a:t>
            </a:r>
            <a:endParaRPr lang="en-US" sz="900" dirty="0"/>
          </a:p>
        </p:txBody>
      </p:sp>
      <p:sp>
        <p:nvSpPr>
          <p:cNvPr id="5" name="Shape 2"/>
          <p:cNvSpPr/>
          <p:nvPr/>
        </p:nvSpPr>
        <p:spPr>
          <a:xfrm>
            <a:off x="640080" y="365760"/>
            <a:ext cx="1188720"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LISTS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Unordered list: &lt;ul&gt;</a:t>
            </a:r>
            <a:endParaRPr lang="en-US" sz="3200" dirty="0"/>
          </a:p>
        </p:txBody>
      </p:sp>
      <p:sp>
        <p:nvSpPr>
          <p:cNvPr id="8" name="Shape 5"/>
          <p:cNvSpPr/>
          <p:nvPr/>
        </p:nvSpPr>
        <p:spPr>
          <a:xfrm>
            <a:off x="640080" y="1572768"/>
            <a:ext cx="5577840" cy="2286000"/>
          </a:xfrm>
          <a:prstGeom prst="roundRect">
            <a:avLst>
              <a:gd name="adj" fmla="val 4000"/>
            </a:avLst>
          </a:prstGeom>
          <a:solidFill>
            <a:srgbClr val="141033"/>
          </a:solidFill>
          <a:ln w="12700">
            <a:solidFill>
              <a:srgbClr val="241C4D"/>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a:off x="877824" y="1792224"/>
            <a:ext cx="109728" cy="109728"/>
          </a:xfrm>
          <a:prstGeom prst="ellipse">
            <a:avLst/>
          </a:prstGeom>
          <a:solidFill>
            <a:srgbClr val="FF5F57"/>
          </a:solidFill>
          <a:ln w="6350">
            <a:solidFill>
              <a:srgbClr val="FF5F57"/>
            </a:solidFill>
            <a:prstDash val="solid"/>
          </a:ln>
        </p:spPr>
      </p:sp>
      <p:sp>
        <p:nvSpPr>
          <p:cNvPr id="10" name="Shape 7"/>
          <p:cNvSpPr/>
          <p:nvPr/>
        </p:nvSpPr>
        <p:spPr>
          <a:xfrm>
            <a:off x="1078992" y="1792224"/>
            <a:ext cx="109728" cy="109728"/>
          </a:xfrm>
          <a:prstGeom prst="ellipse">
            <a:avLst/>
          </a:prstGeom>
          <a:solidFill>
            <a:srgbClr val="FEBC2E"/>
          </a:solidFill>
          <a:ln w="6350">
            <a:solidFill>
              <a:srgbClr val="FEBC2E"/>
            </a:solidFill>
            <a:prstDash val="solid"/>
          </a:ln>
        </p:spPr>
      </p:sp>
      <p:sp>
        <p:nvSpPr>
          <p:cNvPr id="11" name="Shape 8"/>
          <p:cNvSpPr/>
          <p:nvPr/>
        </p:nvSpPr>
        <p:spPr>
          <a:xfrm>
            <a:off x="1280160" y="1792224"/>
            <a:ext cx="109728" cy="109728"/>
          </a:xfrm>
          <a:prstGeom prst="ellipse">
            <a:avLst/>
          </a:prstGeom>
          <a:solidFill>
            <a:srgbClr val="28C840"/>
          </a:solidFill>
          <a:ln w="6350">
            <a:solidFill>
              <a:srgbClr val="28C840"/>
            </a:solidFill>
            <a:prstDash val="solid"/>
          </a:ln>
        </p:spPr>
      </p:sp>
      <p:sp>
        <p:nvSpPr>
          <p:cNvPr id="12" name="Text 9"/>
          <p:cNvSpPr/>
          <p:nvPr/>
        </p:nvSpPr>
        <p:spPr>
          <a:xfrm>
            <a:off x="1609344" y="1700784"/>
            <a:ext cx="4297680" cy="292608"/>
          </a:xfrm>
          <a:prstGeom prst="rect">
            <a:avLst/>
          </a:prstGeom>
          <a:noFill/>
          <a:ln/>
        </p:spPr>
        <p:txBody>
          <a:bodyPr wrap="square" lIns="0" tIns="0" rIns="0" bIns="0" rtlCol="0" anchor="ctr"/>
          <a:lstStyle/>
          <a:p>
            <a:pPr indent="0" marL="0">
              <a:buNone/>
            </a:pPr>
            <a:r>
              <a:rPr lang="en-US" sz="1050" dirty="0">
                <a:solidFill>
                  <a:srgbClr val="8C93A0"/>
                </a:solidFill>
                <a:latin typeface="Courier New" pitchFamily="34" charset="0"/>
                <a:ea typeface="Courier New" pitchFamily="34" charset="-122"/>
                <a:cs typeface="Courier New" pitchFamily="34" charset="-120"/>
              </a:rPr>
              <a:t>lists.html</a:t>
            </a:r>
            <a:endParaRPr lang="en-US" sz="1050" dirty="0"/>
          </a:p>
        </p:txBody>
      </p:sp>
      <p:sp>
        <p:nvSpPr>
          <p:cNvPr id="13" name="Text 10"/>
          <p:cNvSpPr/>
          <p:nvPr/>
        </p:nvSpPr>
        <p:spPr>
          <a:xfrm>
            <a:off x="914400" y="2139696"/>
            <a:ext cx="5029200" cy="1463040"/>
          </a:xfrm>
          <a:prstGeom prst="rect">
            <a:avLst/>
          </a:prstGeom>
          <a:noFill/>
          <a:ln/>
        </p:spPr>
        <p:txBody>
          <a:bodyPr wrap="square" lIns="0" tIns="0" rIns="0" bIns="0" rtlCol="0" anchor="t"/>
          <a:lstStyle/>
          <a:p>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ul</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200"/>
              </a:lnSpc>
              <a:buNone/>
            </a:pPr>
            <a:endParaRPr lang="en-US" sz="1300" dirty="0"/>
          </a:p>
          <a:p>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  &lt;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li</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200"/>
              </a:lnSpc>
              <a:buNone/>
            </a:pPr>
            <a:r>
              <a:rPr lang="en-US" sz="1300" dirty="0">
                <a:solidFill>
                  <a:srgbClr val="E8E6F5"/>
                </a:solidFill>
                <a:latin typeface="Courier New" pitchFamily="34" charset="0"/>
                <a:ea typeface="Courier New" pitchFamily="34" charset="-122"/>
                <a:cs typeface="Courier New" pitchFamily="34" charset="-120"/>
              </a:rPr>
              <a:t>Banana</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li</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200"/>
              </a:lnSpc>
              <a:buNone/>
            </a:pPr>
            <a:endParaRPr lang="en-US" sz="1300" dirty="0"/>
          </a:p>
          <a:p>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  &lt;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li</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200"/>
              </a:lnSpc>
              <a:buNone/>
            </a:pPr>
            <a:r>
              <a:rPr lang="en-US" sz="1300" dirty="0">
                <a:solidFill>
                  <a:srgbClr val="E8E6F5"/>
                </a:solidFill>
                <a:latin typeface="Courier New" pitchFamily="34" charset="0"/>
                <a:ea typeface="Courier New" pitchFamily="34" charset="-122"/>
                <a:cs typeface="Courier New" pitchFamily="34" charset="-120"/>
              </a:rPr>
              <a:t>Apple</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li</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200"/>
              </a:lnSpc>
              <a:buNone/>
            </a:pPr>
            <a:endParaRPr lang="en-US" sz="1300" dirty="0"/>
          </a:p>
          <a:p>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  &lt;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li</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200"/>
              </a:lnSpc>
              <a:buNone/>
            </a:pPr>
            <a:r>
              <a:rPr lang="en-US" sz="1300" dirty="0">
                <a:solidFill>
                  <a:srgbClr val="E8E6F5"/>
                </a:solidFill>
                <a:latin typeface="Courier New" pitchFamily="34" charset="0"/>
                <a:ea typeface="Courier New" pitchFamily="34" charset="-122"/>
                <a:cs typeface="Courier New" pitchFamily="34" charset="-120"/>
              </a:rPr>
              <a:t>Strawberry</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li</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200"/>
              </a:lnSpc>
              <a:buNone/>
            </a:pPr>
            <a:endParaRPr lang="en-US" sz="1300" dirty="0"/>
          </a:p>
          <a:p>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&lt;/</a:t>
            </a:r>
            <a:pPr indent="0" marL="0">
              <a:lnSpc>
                <a:spcPts val="2200"/>
              </a:lnSpc>
              <a:buNone/>
            </a:pPr>
            <a:r>
              <a:rPr lang="en-US" sz="1300" dirty="0">
                <a:solidFill>
                  <a:srgbClr val="FF8FB8"/>
                </a:solidFill>
                <a:latin typeface="Courier New" pitchFamily="34" charset="0"/>
                <a:ea typeface="Courier New" pitchFamily="34" charset="-122"/>
                <a:cs typeface="Courier New" pitchFamily="34" charset="-120"/>
              </a:rPr>
              <a:t>ul</a:t>
            </a:r>
            <a:pPr indent="0" marL="0">
              <a:lnSpc>
                <a:spcPts val="2200"/>
              </a:lnSpc>
              <a:buNone/>
            </a:pPr>
            <a:r>
              <a:rPr lang="en-US" sz="1300" dirty="0">
                <a:solidFill>
                  <a:srgbClr val="A9A2CC"/>
                </a:solidFill>
                <a:latin typeface="Courier New" pitchFamily="34" charset="0"/>
                <a:ea typeface="Courier New" pitchFamily="34" charset="-122"/>
                <a:cs typeface="Courier New" pitchFamily="34" charset="-120"/>
              </a:rPr>
              <a:t>&gt;</a:t>
            </a:r>
            <a:endParaRPr lang="en-US" sz="1300" dirty="0"/>
          </a:p>
        </p:txBody>
      </p:sp>
      <p:sp>
        <p:nvSpPr>
          <p:cNvPr id="14" name="Shape 11"/>
          <p:cNvSpPr/>
          <p:nvPr/>
        </p:nvSpPr>
        <p:spPr>
          <a:xfrm>
            <a:off x="6583680" y="1572768"/>
            <a:ext cx="4965192" cy="2286000"/>
          </a:xfrm>
          <a:prstGeom prst="roundRect">
            <a:avLst>
              <a:gd name="adj" fmla="val 4000"/>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5" name="Shape 12"/>
          <p:cNvSpPr/>
          <p:nvPr/>
        </p:nvSpPr>
        <p:spPr>
          <a:xfrm>
            <a:off x="6583680" y="1572768"/>
            <a:ext cx="4965192" cy="310896"/>
          </a:xfrm>
          <a:prstGeom prst="roundRect">
            <a:avLst>
              <a:gd name="adj" fmla="val 29412"/>
            </a:avLst>
          </a:prstGeom>
          <a:solidFill>
            <a:srgbClr val="F0FBD8"/>
          </a:solidFill>
          <a:ln w="15875">
            <a:solidFill>
              <a:srgbClr val="191333"/>
            </a:solidFill>
            <a:prstDash val="solid"/>
          </a:ln>
        </p:spPr>
      </p:sp>
      <p:sp>
        <p:nvSpPr>
          <p:cNvPr id="16" name="Text 13"/>
          <p:cNvSpPr/>
          <p:nvPr/>
        </p:nvSpPr>
        <p:spPr>
          <a:xfrm>
            <a:off x="6766560" y="1572768"/>
            <a:ext cx="4599432" cy="310896"/>
          </a:xfrm>
          <a:prstGeom prst="rect">
            <a:avLst/>
          </a:prstGeom>
          <a:noFill/>
          <a:ln/>
        </p:spPr>
        <p:txBody>
          <a:bodyPr wrap="square" lIns="0" tIns="0" rIns="0" bIns="0" rtlCol="0" anchor="ctr"/>
          <a:lstStyle/>
          <a:p>
            <a:pPr indent="0" marL="0">
              <a:buNone/>
            </a:pPr>
            <a:r>
              <a:rPr lang="en-US" sz="850" b="1" spc="120" kern="0" dirty="0">
                <a:solidFill>
                  <a:srgbClr val="191333"/>
                </a:solidFill>
                <a:latin typeface="Calibri" pitchFamily="34" charset="0"/>
                <a:ea typeface="Calibri" pitchFamily="34" charset="-122"/>
                <a:cs typeface="Calibri" pitchFamily="34" charset="-120"/>
              </a:rPr>
              <a:t>WHAT THE BROWSER SHOWS</a:t>
            </a:r>
            <a:endParaRPr lang="en-US" sz="850" dirty="0"/>
          </a:p>
        </p:txBody>
      </p:sp>
      <p:sp>
        <p:nvSpPr>
          <p:cNvPr id="17" name="Shape 14"/>
          <p:cNvSpPr/>
          <p:nvPr/>
        </p:nvSpPr>
        <p:spPr>
          <a:xfrm>
            <a:off x="7086600" y="2203704"/>
            <a:ext cx="118872" cy="118872"/>
          </a:xfrm>
          <a:prstGeom prst="ellipse">
            <a:avLst/>
          </a:prstGeom>
          <a:solidFill>
            <a:srgbClr val="191333"/>
          </a:solidFill>
          <a:ln w="12700">
            <a:solidFill>
              <a:srgbClr val="191333"/>
            </a:solidFill>
            <a:prstDash val="solid"/>
          </a:ln>
        </p:spPr>
      </p:sp>
      <p:sp>
        <p:nvSpPr>
          <p:cNvPr id="18" name="Text 15"/>
          <p:cNvSpPr/>
          <p:nvPr/>
        </p:nvSpPr>
        <p:spPr>
          <a:xfrm>
            <a:off x="7406640" y="2084832"/>
            <a:ext cx="384048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Banana</a:t>
            </a:r>
            <a:endParaRPr lang="en-US" sz="1400" dirty="0"/>
          </a:p>
        </p:txBody>
      </p:sp>
      <p:sp>
        <p:nvSpPr>
          <p:cNvPr id="19" name="Shape 16"/>
          <p:cNvSpPr/>
          <p:nvPr/>
        </p:nvSpPr>
        <p:spPr>
          <a:xfrm>
            <a:off x="7086600" y="2660904"/>
            <a:ext cx="118872" cy="118872"/>
          </a:xfrm>
          <a:prstGeom prst="ellipse">
            <a:avLst/>
          </a:prstGeom>
          <a:solidFill>
            <a:srgbClr val="191333"/>
          </a:solidFill>
          <a:ln w="12700">
            <a:solidFill>
              <a:srgbClr val="191333"/>
            </a:solidFill>
            <a:prstDash val="solid"/>
          </a:ln>
        </p:spPr>
      </p:sp>
      <p:sp>
        <p:nvSpPr>
          <p:cNvPr id="20" name="Text 17"/>
          <p:cNvSpPr/>
          <p:nvPr/>
        </p:nvSpPr>
        <p:spPr>
          <a:xfrm>
            <a:off x="7406640" y="2542032"/>
            <a:ext cx="384048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Apple</a:t>
            </a:r>
            <a:endParaRPr lang="en-US" sz="1400" dirty="0"/>
          </a:p>
        </p:txBody>
      </p:sp>
      <p:sp>
        <p:nvSpPr>
          <p:cNvPr id="21" name="Shape 18"/>
          <p:cNvSpPr/>
          <p:nvPr/>
        </p:nvSpPr>
        <p:spPr>
          <a:xfrm>
            <a:off x="7086600" y="3118104"/>
            <a:ext cx="118872" cy="118872"/>
          </a:xfrm>
          <a:prstGeom prst="ellipse">
            <a:avLst/>
          </a:prstGeom>
          <a:solidFill>
            <a:srgbClr val="191333"/>
          </a:solidFill>
          <a:ln w="12700">
            <a:solidFill>
              <a:srgbClr val="191333"/>
            </a:solidFill>
            <a:prstDash val="solid"/>
          </a:ln>
        </p:spPr>
      </p:sp>
      <p:sp>
        <p:nvSpPr>
          <p:cNvPr id="22" name="Text 19"/>
          <p:cNvSpPr/>
          <p:nvPr/>
        </p:nvSpPr>
        <p:spPr>
          <a:xfrm>
            <a:off x="7406640" y="2999232"/>
            <a:ext cx="3840480" cy="365760"/>
          </a:xfrm>
          <a:prstGeom prst="rect">
            <a:avLst/>
          </a:prstGeom>
          <a:noFill/>
          <a:ln/>
        </p:spPr>
        <p:txBody>
          <a:bodyPr wrap="square" lIns="0" tIns="0" rIns="0" bIns="0" rtlCol="0" anchor="ctr"/>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Strawberry</a:t>
            </a:r>
            <a:endParaRPr lang="en-US" sz="1400" dirty="0"/>
          </a:p>
        </p:txBody>
      </p:sp>
      <p:sp>
        <p:nvSpPr>
          <p:cNvPr id="23" name="Shape 20"/>
          <p:cNvSpPr/>
          <p:nvPr/>
        </p:nvSpPr>
        <p:spPr>
          <a:xfrm>
            <a:off x="640080" y="4078224"/>
            <a:ext cx="3419856" cy="1207008"/>
          </a:xfrm>
          <a:prstGeom prst="roundRect">
            <a:avLst>
              <a:gd name="adj" fmla="val 7576"/>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4" name="Shape 21"/>
          <p:cNvSpPr/>
          <p:nvPr/>
        </p:nvSpPr>
        <p:spPr>
          <a:xfrm>
            <a:off x="932688" y="4389120"/>
            <a:ext cx="237744" cy="237744"/>
          </a:xfrm>
          <a:prstGeom prst="ellipse">
            <a:avLst/>
          </a:prstGeom>
          <a:solidFill>
            <a:srgbClr val="191333"/>
          </a:solidFill>
          <a:ln w="12700">
            <a:solidFill>
              <a:srgbClr val="191333"/>
            </a:solidFill>
            <a:prstDash val="solid"/>
          </a:ln>
        </p:spPr>
      </p:sp>
      <p:sp>
        <p:nvSpPr>
          <p:cNvPr id="25" name="Text 22"/>
          <p:cNvSpPr/>
          <p:nvPr/>
        </p:nvSpPr>
        <p:spPr>
          <a:xfrm>
            <a:off x="1353312" y="4315968"/>
            <a:ext cx="2560320" cy="365760"/>
          </a:xfrm>
          <a:prstGeom prst="rect">
            <a:avLst/>
          </a:prstGeom>
          <a:noFill/>
          <a:ln/>
        </p:spPr>
        <p:txBody>
          <a:bodyPr wrap="square" lIns="0" tIns="0" rIns="0" bIns="0" rtlCol="0" anchor="ctr"/>
          <a:lstStyle/>
          <a:p>
            <a:pPr indent="0" marL="0">
              <a:buNone/>
            </a:pPr>
            <a:r>
              <a:rPr lang="en-US" sz="1250" b="1" dirty="0">
                <a:solidFill>
                  <a:srgbClr val="6C3BF5"/>
                </a:solidFill>
                <a:latin typeface="Courier New" pitchFamily="34" charset="0"/>
                <a:ea typeface="Courier New" pitchFamily="34" charset="-122"/>
                <a:cs typeface="Courier New" pitchFamily="34" charset="-120"/>
              </a:rPr>
              <a:t>type="disc"</a:t>
            </a:r>
            <a:endParaRPr lang="en-US" sz="1250" dirty="0"/>
          </a:p>
        </p:txBody>
      </p:sp>
      <p:sp>
        <p:nvSpPr>
          <p:cNvPr id="26" name="Text 23"/>
          <p:cNvSpPr/>
          <p:nvPr/>
        </p:nvSpPr>
        <p:spPr>
          <a:xfrm>
            <a:off x="932688" y="4773168"/>
            <a:ext cx="2834640" cy="365760"/>
          </a:xfrm>
          <a:prstGeom prst="rect">
            <a:avLst/>
          </a:prstGeom>
          <a:noFill/>
          <a:ln/>
        </p:spPr>
        <p:txBody>
          <a:bodyPr wrap="square" lIns="0" tIns="0" rIns="0" bIns="0" rtlCol="0" anchor="t"/>
          <a:lstStyle/>
          <a:p>
            <a:pPr algn="l" indent="0" marL="0">
              <a:lnSpc>
                <a:spcPts val="1656"/>
              </a:lnSpc>
              <a:buNone/>
            </a:pPr>
            <a:r>
              <a:rPr lang="en-US" sz="1200" dirty="0">
                <a:solidFill>
                  <a:srgbClr val="5C5580"/>
                </a:solidFill>
                <a:latin typeface="Calibri" pitchFamily="34" charset="0"/>
                <a:ea typeface="Calibri" pitchFamily="34" charset="-122"/>
                <a:cs typeface="Calibri" pitchFamily="34" charset="-120"/>
              </a:rPr>
              <a:t>filled circle, the default</a:t>
            </a:r>
            <a:endParaRPr lang="en-US" sz="1200" dirty="0"/>
          </a:p>
        </p:txBody>
      </p:sp>
      <p:sp>
        <p:nvSpPr>
          <p:cNvPr id="27" name="Shape 24"/>
          <p:cNvSpPr/>
          <p:nvPr/>
        </p:nvSpPr>
        <p:spPr>
          <a:xfrm>
            <a:off x="4379976" y="4078224"/>
            <a:ext cx="3419856" cy="1207008"/>
          </a:xfrm>
          <a:prstGeom prst="roundRect">
            <a:avLst>
              <a:gd name="adj" fmla="val 7576"/>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8" name="Shape 25"/>
          <p:cNvSpPr/>
          <p:nvPr/>
        </p:nvSpPr>
        <p:spPr>
          <a:xfrm>
            <a:off x="4672584" y="4389120"/>
            <a:ext cx="237744" cy="237744"/>
          </a:xfrm>
          <a:prstGeom prst="ellipse">
            <a:avLst/>
          </a:prstGeom>
          <a:solidFill>
            <a:srgbClr val="FFFFFF"/>
          </a:solidFill>
          <a:ln w="19050">
            <a:solidFill>
              <a:srgbClr val="191333"/>
            </a:solidFill>
            <a:prstDash val="solid"/>
          </a:ln>
        </p:spPr>
      </p:sp>
      <p:sp>
        <p:nvSpPr>
          <p:cNvPr id="29" name="Text 26"/>
          <p:cNvSpPr/>
          <p:nvPr/>
        </p:nvSpPr>
        <p:spPr>
          <a:xfrm>
            <a:off x="5093208" y="4315968"/>
            <a:ext cx="2560320" cy="365760"/>
          </a:xfrm>
          <a:prstGeom prst="rect">
            <a:avLst/>
          </a:prstGeom>
          <a:noFill/>
          <a:ln/>
        </p:spPr>
        <p:txBody>
          <a:bodyPr wrap="square" lIns="0" tIns="0" rIns="0" bIns="0" rtlCol="0" anchor="ctr"/>
          <a:lstStyle/>
          <a:p>
            <a:pPr indent="0" marL="0">
              <a:buNone/>
            </a:pPr>
            <a:r>
              <a:rPr lang="en-US" sz="1250" b="1" dirty="0">
                <a:solidFill>
                  <a:srgbClr val="6C3BF5"/>
                </a:solidFill>
                <a:latin typeface="Courier New" pitchFamily="34" charset="0"/>
                <a:ea typeface="Courier New" pitchFamily="34" charset="-122"/>
                <a:cs typeface="Courier New" pitchFamily="34" charset="-120"/>
              </a:rPr>
              <a:t>type="circle"</a:t>
            </a:r>
            <a:endParaRPr lang="en-US" sz="1250" dirty="0"/>
          </a:p>
        </p:txBody>
      </p:sp>
      <p:sp>
        <p:nvSpPr>
          <p:cNvPr id="30" name="Text 27"/>
          <p:cNvSpPr/>
          <p:nvPr/>
        </p:nvSpPr>
        <p:spPr>
          <a:xfrm>
            <a:off x="4672584" y="4773168"/>
            <a:ext cx="2834640" cy="365760"/>
          </a:xfrm>
          <a:prstGeom prst="rect">
            <a:avLst/>
          </a:prstGeom>
          <a:noFill/>
          <a:ln/>
        </p:spPr>
        <p:txBody>
          <a:bodyPr wrap="square" lIns="0" tIns="0" rIns="0" bIns="0" rtlCol="0" anchor="t"/>
          <a:lstStyle/>
          <a:p>
            <a:pPr algn="l" indent="0" marL="0">
              <a:lnSpc>
                <a:spcPts val="1656"/>
              </a:lnSpc>
              <a:buNone/>
            </a:pPr>
            <a:r>
              <a:rPr lang="en-US" sz="1200" dirty="0">
                <a:solidFill>
                  <a:srgbClr val="5C5580"/>
                </a:solidFill>
                <a:latin typeface="Calibri" pitchFamily="34" charset="0"/>
                <a:ea typeface="Calibri" pitchFamily="34" charset="-122"/>
                <a:cs typeface="Calibri" pitchFamily="34" charset="-120"/>
              </a:rPr>
              <a:t>hollow circle</a:t>
            </a:r>
            <a:endParaRPr lang="en-US" sz="1200" dirty="0"/>
          </a:p>
        </p:txBody>
      </p:sp>
      <p:sp>
        <p:nvSpPr>
          <p:cNvPr id="31" name="Shape 28"/>
          <p:cNvSpPr/>
          <p:nvPr/>
        </p:nvSpPr>
        <p:spPr>
          <a:xfrm>
            <a:off x="8119872" y="4078224"/>
            <a:ext cx="3419856" cy="1207008"/>
          </a:xfrm>
          <a:prstGeom prst="roundRect">
            <a:avLst>
              <a:gd name="adj" fmla="val 7576"/>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2" name="Shape 29"/>
          <p:cNvSpPr/>
          <p:nvPr/>
        </p:nvSpPr>
        <p:spPr>
          <a:xfrm>
            <a:off x="8412480" y="4389120"/>
            <a:ext cx="237744" cy="237744"/>
          </a:xfrm>
          <a:prstGeom prst="rect">
            <a:avLst/>
          </a:prstGeom>
          <a:solidFill>
            <a:srgbClr val="191333"/>
          </a:solidFill>
          <a:ln w="12700">
            <a:solidFill>
              <a:srgbClr val="191333"/>
            </a:solidFill>
            <a:prstDash val="solid"/>
          </a:ln>
        </p:spPr>
      </p:sp>
      <p:sp>
        <p:nvSpPr>
          <p:cNvPr id="33" name="Text 30"/>
          <p:cNvSpPr/>
          <p:nvPr/>
        </p:nvSpPr>
        <p:spPr>
          <a:xfrm>
            <a:off x="8833104" y="4315968"/>
            <a:ext cx="2560320" cy="365760"/>
          </a:xfrm>
          <a:prstGeom prst="rect">
            <a:avLst/>
          </a:prstGeom>
          <a:noFill/>
          <a:ln/>
        </p:spPr>
        <p:txBody>
          <a:bodyPr wrap="square" lIns="0" tIns="0" rIns="0" bIns="0" rtlCol="0" anchor="ctr"/>
          <a:lstStyle/>
          <a:p>
            <a:pPr indent="0" marL="0">
              <a:buNone/>
            </a:pPr>
            <a:r>
              <a:rPr lang="en-US" sz="1250" b="1" dirty="0">
                <a:solidFill>
                  <a:srgbClr val="6C3BF5"/>
                </a:solidFill>
                <a:latin typeface="Courier New" pitchFamily="34" charset="0"/>
                <a:ea typeface="Courier New" pitchFamily="34" charset="-122"/>
                <a:cs typeface="Courier New" pitchFamily="34" charset="-120"/>
              </a:rPr>
              <a:t>type="square"</a:t>
            </a:r>
            <a:endParaRPr lang="en-US" sz="1250" dirty="0"/>
          </a:p>
        </p:txBody>
      </p:sp>
      <p:sp>
        <p:nvSpPr>
          <p:cNvPr id="34" name="Text 31"/>
          <p:cNvSpPr/>
          <p:nvPr/>
        </p:nvSpPr>
        <p:spPr>
          <a:xfrm>
            <a:off x="8412480" y="4773168"/>
            <a:ext cx="2834640" cy="365760"/>
          </a:xfrm>
          <a:prstGeom prst="rect">
            <a:avLst/>
          </a:prstGeom>
          <a:noFill/>
          <a:ln/>
        </p:spPr>
        <p:txBody>
          <a:bodyPr wrap="square" lIns="0" tIns="0" rIns="0" bIns="0" rtlCol="0" anchor="t"/>
          <a:lstStyle/>
          <a:p>
            <a:pPr algn="l" indent="0" marL="0">
              <a:lnSpc>
                <a:spcPts val="1656"/>
              </a:lnSpc>
              <a:buNone/>
            </a:pPr>
            <a:r>
              <a:rPr lang="en-US" sz="1200" dirty="0">
                <a:solidFill>
                  <a:srgbClr val="5C5580"/>
                </a:solidFill>
                <a:latin typeface="Calibri" pitchFamily="34" charset="0"/>
                <a:ea typeface="Calibri" pitchFamily="34" charset="-122"/>
                <a:cs typeface="Calibri" pitchFamily="34" charset="-120"/>
              </a:rPr>
              <a:t>filled square</a:t>
            </a:r>
            <a:endParaRPr lang="en-US" sz="1200" dirty="0"/>
          </a:p>
        </p:txBody>
      </p:sp>
      <p:sp>
        <p:nvSpPr>
          <p:cNvPr id="35" name="Shape 32"/>
          <p:cNvSpPr/>
          <p:nvPr/>
        </p:nvSpPr>
        <p:spPr>
          <a:xfrm>
            <a:off x="640080" y="5486400"/>
            <a:ext cx="10908792" cy="512064"/>
          </a:xfrm>
          <a:prstGeom prst="roundRect">
            <a:avLst>
              <a:gd name="adj" fmla="val 14286"/>
            </a:avLst>
          </a:prstGeom>
          <a:solidFill>
            <a:srgbClr val="FFF1D6"/>
          </a:solidFill>
          <a:ln w="12700">
            <a:solidFill>
              <a:srgbClr val="F5CE8A"/>
            </a:solidFill>
            <a:prstDash val="solid"/>
          </a:ln>
        </p:spPr>
      </p:sp>
      <p:sp>
        <p:nvSpPr>
          <p:cNvPr id="36" name="Text 33"/>
          <p:cNvSpPr/>
          <p:nvPr/>
        </p:nvSpPr>
        <p:spPr>
          <a:xfrm>
            <a:off x="859536" y="5486400"/>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CSS does this better. the type attribute is here so you recognise it in someone else’s 2011 code.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04</a:t>
            </a:r>
            <a:endParaRPr lang="en-US" sz="900" dirty="0"/>
          </a:p>
        </p:txBody>
      </p:sp>
      <p:sp>
        <p:nvSpPr>
          <p:cNvPr id="5" name="Shape 2"/>
          <p:cNvSpPr/>
          <p:nvPr/>
        </p:nvSpPr>
        <p:spPr>
          <a:xfrm>
            <a:off x="640080" y="365760"/>
            <a:ext cx="1188720"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LISTS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Ordered list: &lt;ol&gt;</a:t>
            </a:r>
            <a:endParaRPr lang="en-US" sz="3200" dirty="0"/>
          </a:p>
        </p:txBody>
      </p:sp>
      <p:sp>
        <p:nvSpPr>
          <p:cNvPr id="8" name="Shape 5"/>
          <p:cNvSpPr/>
          <p:nvPr/>
        </p:nvSpPr>
        <p:spPr>
          <a:xfrm>
            <a:off x="640080" y="1572768"/>
            <a:ext cx="5577840" cy="2468880"/>
          </a:xfrm>
          <a:prstGeom prst="roundRect">
            <a:avLst>
              <a:gd name="adj" fmla="val 3704"/>
            </a:avLst>
          </a:prstGeom>
          <a:solidFill>
            <a:srgbClr val="141033"/>
          </a:solidFill>
          <a:ln w="12700">
            <a:solidFill>
              <a:srgbClr val="241C4D"/>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a:off x="877824" y="1792224"/>
            <a:ext cx="109728" cy="109728"/>
          </a:xfrm>
          <a:prstGeom prst="ellipse">
            <a:avLst/>
          </a:prstGeom>
          <a:solidFill>
            <a:srgbClr val="FF5F57"/>
          </a:solidFill>
          <a:ln w="6350">
            <a:solidFill>
              <a:srgbClr val="FF5F57"/>
            </a:solidFill>
            <a:prstDash val="solid"/>
          </a:ln>
        </p:spPr>
      </p:sp>
      <p:sp>
        <p:nvSpPr>
          <p:cNvPr id="10" name="Shape 7"/>
          <p:cNvSpPr/>
          <p:nvPr/>
        </p:nvSpPr>
        <p:spPr>
          <a:xfrm>
            <a:off x="1078992" y="1792224"/>
            <a:ext cx="109728" cy="109728"/>
          </a:xfrm>
          <a:prstGeom prst="ellipse">
            <a:avLst/>
          </a:prstGeom>
          <a:solidFill>
            <a:srgbClr val="FEBC2E"/>
          </a:solidFill>
          <a:ln w="6350">
            <a:solidFill>
              <a:srgbClr val="FEBC2E"/>
            </a:solidFill>
            <a:prstDash val="solid"/>
          </a:ln>
        </p:spPr>
      </p:sp>
      <p:sp>
        <p:nvSpPr>
          <p:cNvPr id="11" name="Shape 8"/>
          <p:cNvSpPr/>
          <p:nvPr/>
        </p:nvSpPr>
        <p:spPr>
          <a:xfrm>
            <a:off x="1280160" y="1792224"/>
            <a:ext cx="109728" cy="109728"/>
          </a:xfrm>
          <a:prstGeom prst="ellipse">
            <a:avLst/>
          </a:prstGeom>
          <a:solidFill>
            <a:srgbClr val="28C840"/>
          </a:solidFill>
          <a:ln w="6350">
            <a:solidFill>
              <a:srgbClr val="28C840"/>
            </a:solidFill>
            <a:prstDash val="solid"/>
          </a:ln>
        </p:spPr>
      </p:sp>
      <p:sp>
        <p:nvSpPr>
          <p:cNvPr id="12" name="Text 9"/>
          <p:cNvSpPr/>
          <p:nvPr/>
        </p:nvSpPr>
        <p:spPr>
          <a:xfrm>
            <a:off x="1609344" y="1700784"/>
            <a:ext cx="4297680" cy="292608"/>
          </a:xfrm>
          <a:prstGeom prst="rect">
            <a:avLst/>
          </a:prstGeom>
          <a:noFill/>
          <a:ln/>
        </p:spPr>
        <p:txBody>
          <a:bodyPr wrap="square" lIns="0" tIns="0" rIns="0" bIns="0" rtlCol="0" anchor="ctr"/>
          <a:lstStyle/>
          <a:p>
            <a:pPr indent="0" marL="0">
              <a:buNone/>
            </a:pPr>
            <a:r>
              <a:rPr lang="en-US" sz="1050" dirty="0">
                <a:solidFill>
                  <a:srgbClr val="8C93A0"/>
                </a:solidFill>
                <a:latin typeface="Courier New" pitchFamily="34" charset="0"/>
                <a:ea typeface="Courier New" pitchFamily="34" charset="-122"/>
                <a:cs typeface="Courier New" pitchFamily="34" charset="-120"/>
              </a:rPr>
              <a:t>lists.html</a:t>
            </a:r>
            <a:endParaRPr lang="en-US" sz="1050" dirty="0"/>
          </a:p>
        </p:txBody>
      </p:sp>
      <p:sp>
        <p:nvSpPr>
          <p:cNvPr id="13" name="Text 10"/>
          <p:cNvSpPr/>
          <p:nvPr/>
        </p:nvSpPr>
        <p:spPr>
          <a:xfrm>
            <a:off x="914400" y="2139696"/>
            <a:ext cx="5029200" cy="1645920"/>
          </a:xfrm>
          <a:prstGeom prst="rect">
            <a:avLst/>
          </a:prstGeom>
          <a:noFill/>
          <a:ln/>
        </p:spPr>
        <p:txBody>
          <a:bodyPr wrap="square" lIns="0" tIns="0" rIns="0" bIns="0" rtlCol="0" anchor="t"/>
          <a:lstStyle/>
          <a:p>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ol</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r>
              <a:rPr lang="en-US" sz="1200" dirty="0">
                <a:solidFill>
                  <a:srgbClr val="E8E6F5"/>
                </a:solidFill>
                <a:latin typeface="Courier New" pitchFamily="34" charset="0"/>
                <a:ea typeface="Courier New" pitchFamily="34" charset="-122"/>
                <a:cs typeface="Courier New" pitchFamily="34" charset="-120"/>
              </a:rPr>
              <a:t>Download the installer</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r>
              <a:rPr lang="en-US" sz="1200" dirty="0">
                <a:solidFill>
                  <a:srgbClr val="E8E6F5"/>
                </a:solidFill>
                <a:latin typeface="Courier New" pitchFamily="34" charset="0"/>
                <a:ea typeface="Courier New" pitchFamily="34" charset="-122"/>
                <a:cs typeface="Courier New" pitchFamily="34" charset="-120"/>
              </a:rPr>
              <a:t>Scan it for viruses</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r>
              <a:rPr lang="en-US" sz="1200" dirty="0">
                <a:solidFill>
                  <a:srgbClr val="E8E6F5"/>
                </a:solidFill>
                <a:latin typeface="Courier New" pitchFamily="34" charset="0"/>
                <a:ea typeface="Courier New" pitchFamily="34" charset="-122"/>
                <a:cs typeface="Courier New" pitchFamily="34" charset="-120"/>
              </a:rPr>
              <a:t>Run the installer</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r>
              <a:rPr lang="en-US" sz="1200" dirty="0">
                <a:solidFill>
                  <a:srgbClr val="E8E6F5"/>
                </a:solidFill>
                <a:latin typeface="Courier New" pitchFamily="34" charset="0"/>
                <a:ea typeface="Courier New" pitchFamily="34" charset="-122"/>
                <a:cs typeface="Courier New" pitchFamily="34" charset="-120"/>
              </a:rPr>
              <a:t>Restart if prompted</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100"/>
              </a:lnSpc>
              <a:buNone/>
            </a:pPr>
            <a:endParaRPr lang="en-US" sz="1200" dirty="0"/>
          </a:p>
          <a:p>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100"/>
              </a:lnSpc>
              <a:buNone/>
            </a:pPr>
            <a:r>
              <a:rPr lang="en-US" sz="1200" dirty="0">
                <a:solidFill>
                  <a:srgbClr val="FF8FB8"/>
                </a:solidFill>
                <a:latin typeface="Courier New" pitchFamily="34" charset="0"/>
                <a:ea typeface="Courier New" pitchFamily="34" charset="-122"/>
                <a:cs typeface="Courier New" pitchFamily="34" charset="-120"/>
              </a:rPr>
              <a:t>ol</a:t>
            </a:r>
            <a:pPr indent="0" marL="0">
              <a:lnSpc>
                <a:spcPts val="2100"/>
              </a:lnSpc>
              <a:buNone/>
            </a:pPr>
            <a:r>
              <a:rPr lang="en-US" sz="1200" dirty="0">
                <a:solidFill>
                  <a:srgbClr val="A9A2CC"/>
                </a:solidFill>
                <a:latin typeface="Courier New" pitchFamily="34" charset="0"/>
                <a:ea typeface="Courier New" pitchFamily="34" charset="-122"/>
                <a:cs typeface="Courier New" pitchFamily="34" charset="-120"/>
              </a:rPr>
              <a:t>&gt;</a:t>
            </a:r>
            <a:endParaRPr lang="en-US" sz="1200" dirty="0"/>
          </a:p>
        </p:txBody>
      </p:sp>
      <p:sp>
        <p:nvSpPr>
          <p:cNvPr id="14" name="Shape 11"/>
          <p:cNvSpPr/>
          <p:nvPr/>
        </p:nvSpPr>
        <p:spPr>
          <a:xfrm>
            <a:off x="6583680" y="1572768"/>
            <a:ext cx="4965192" cy="2468880"/>
          </a:xfrm>
          <a:prstGeom prst="roundRect">
            <a:avLst>
              <a:gd name="adj" fmla="val 3704"/>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5" name="Shape 12"/>
          <p:cNvSpPr/>
          <p:nvPr/>
        </p:nvSpPr>
        <p:spPr>
          <a:xfrm>
            <a:off x="6583680" y="1572768"/>
            <a:ext cx="4965192" cy="310896"/>
          </a:xfrm>
          <a:prstGeom prst="roundRect">
            <a:avLst>
              <a:gd name="adj" fmla="val 29412"/>
            </a:avLst>
          </a:prstGeom>
          <a:solidFill>
            <a:srgbClr val="F0FBD8"/>
          </a:solidFill>
          <a:ln w="15875">
            <a:solidFill>
              <a:srgbClr val="191333"/>
            </a:solidFill>
            <a:prstDash val="solid"/>
          </a:ln>
        </p:spPr>
      </p:sp>
      <p:sp>
        <p:nvSpPr>
          <p:cNvPr id="16" name="Text 13"/>
          <p:cNvSpPr/>
          <p:nvPr/>
        </p:nvSpPr>
        <p:spPr>
          <a:xfrm>
            <a:off x="6766560" y="1572768"/>
            <a:ext cx="4599432" cy="310896"/>
          </a:xfrm>
          <a:prstGeom prst="rect">
            <a:avLst/>
          </a:prstGeom>
          <a:noFill/>
          <a:ln/>
        </p:spPr>
        <p:txBody>
          <a:bodyPr wrap="square" lIns="0" tIns="0" rIns="0" bIns="0" rtlCol="0" anchor="ctr"/>
          <a:lstStyle/>
          <a:p>
            <a:pPr indent="0" marL="0">
              <a:buNone/>
            </a:pPr>
            <a:r>
              <a:rPr lang="en-US" sz="850" b="1" spc="120" kern="0" dirty="0">
                <a:solidFill>
                  <a:srgbClr val="191333"/>
                </a:solidFill>
                <a:latin typeface="Calibri" pitchFamily="34" charset="0"/>
                <a:ea typeface="Calibri" pitchFamily="34" charset="-122"/>
                <a:cs typeface="Calibri" pitchFamily="34" charset="-120"/>
              </a:rPr>
              <a:t>WHAT THE BROWSER SHOWS</a:t>
            </a:r>
            <a:endParaRPr lang="en-US" sz="850" dirty="0"/>
          </a:p>
        </p:txBody>
      </p:sp>
      <p:sp>
        <p:nvSpPr>
          <p:cNvPr id="17" name="Text 14"/>
          <p:cNvSpPr/>
          <p:nvPr/>
        </p:nvSpPr>
        <p:spPr>
          <a:xfrm>
            <a:off x="6949440" y="2048256"/>
            <a:ext cx="365760" cy="365760"/>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1.</a:t>
            </a:r>
            <a:endParaRPr lang="en-US" sz="1350" dirty="0"/>
          </a:p>
        </p:txBody>
      </p:sp>
      <p:sp>
        <p:nvSpPr>
          <p:cNvPr id="18" name="Text 15"/>
          <p:cNvSpPr/>
          <p:nvPr/>
        </p:nvSpPr>
        <p:spPr>
          <a:xfrm>
            <a:off x="7360920" y="2048256"/>
            <a:ext cx="3931920" cy="365760"/>
          </a:xfrm>
          <a:prstGeom prst="rect">
            <a:avLst/>
          </a:prstGeom>
          <a:noFill/>
          <a:ln/>
        </p:spPr>
        <p:txBody>
          <a:bodyPr wrap="square" lIns="0" tIns="0" rIns="0" bIns="0" rtlCol="0" anchor="ctr"/>
          <a:lstStyle/>
          <a:p>
            <a:pPr algn="l" indent="0" marL="0">
              <a:lnSpc>
                <a:spcPts val="1794"/>
              </a:lnSpc>
              <a:buNone/>
            </a:pPr>
            <a:r>
              <a:rPr lang="en-US" sz="1300" dirty="0">
                <a:solidFill>
                  <a:srgbClr val="191333"/>
                </a:solidFill>
                <a:latin typeface="Calibri" pitchFamily="34" charset="0"/>
                <a:ea typeface="Calibri" pitchFamily="34" charset="-122"/>
                <a:cs typeface="Calibri" pitchFamily="34" charset="-120"/>
              </a:rPr>
              <a:t>Download the installer</a:t>
            </a:r>
            <a:endParaRPr lang="en-US" sz="1300" dirty="0"/>
          </a:p>
        </p:txBody>
      </p:sp>
      <p:sp>
        <p:nvSpPr>
          <p:cNvPr id="19" name="Text 16"/>
          <p:cNvSpPr/>
          <p:nvPr/>
        </p:nvSpPr>
        <p:spPr>
          <a:xfrm>
            <a:off x="6949440" y="2487168"/>
            <a:ext cx="365760" cy="365760"/>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2.</a:t>
            </a:r>
            <a:endParaRPr lang="en-US" sz="1350" dirty="0"/>
          </a:p>
        </p:txBody>
      </p:sp>
      <p:sp>
        <p:nvSpPr>
          <p:cNvPr id="20" name="Text 17"/>
          <p:cNvSpPr/>
          <p:nvPr/>
        </p:nvSpPr>
        <p:spPr>
          <a:xfrm>
            <a:off x="7360920" y="2487168"/>
            <a:ext cx="3931920" cy="365760"/>
          </a:xfrm>
          <a:prstGeom prst="rect">
            <a:avLst/>
          </a:prstGeom>
          <a:noFill/>
          <a:ln/>
        </p:spPr>
        <p:txBody>
          <a:bodyPr wrap="square" lIns="0" tIns="0" rIns="0" bIns="0" rtlCol="0" anchor="ctr"/>
          <a:lstStyle/>
          <a:p>
            <a:pPr algn="l" indent="0" marL="0">
              <a:lnSpc>
                <a:spcPts val="1794"/>
              </a:lnSpc>
              <a:buNone/>
            </a:pPr>
            <a:r>
              <a:rPr lang="en-US" sz="1300" dirty="0">
                <a:solidFill>
                  <a:srgbClr val="191333"/>
                </a:solidFill>
                <a:latin typeface="Calibri" pitchFamily="34" charset="0"/>
                <a:ea typeface="Calibri" pitchFamily="34" charset="-122"/>
                <a:cs typeface="Calibri" pitchFamily="34" charset="-120"/>
              </a:rPr>
              <a:t>Scan it for viruses</a:t>
            </a:r>
            <a:endParaRPr lang="en-US" sz="1300" dirty="0"/>
          </a:p>
        </p:txBody>
      </p:sp>
      <p:sp>
        <p:nvSpPr>
          <p:cNvPr id="21" name="Text 18"/>
          <p:cNvSpPr/>
          <p:nvPr/>
        </p:nvSpPr>
        <p:spPr>
          <a:xfrm>
            <a:off x="6949440" y="2926080"/>
            <a:ext cx="365760" cy="365760"/>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3.</a:t>
            </a:r>
            <a:endParaRPr lang="en-US" sz="1350" dirty="0"/>
          </a:p>
        </p:txBody>
      </p:sp>
      <p:sp>
        <p:nvSpPr>
          <p:cNvPr id="22" name="Text 19"/>
          <p:cNvSpPr/>
          <p:nvPr/>
        </p:nvSpPr>
        <p:spPr>
          <a:xfrm>
            <a:off x="7360920" y="2926080"/>
            <a:ext cx="3931920" cy="365760"/>
          </a:xfrm>
          <a:prstGeom prst="rect">
            <a:avLst/>
          </a:prstGeom>
          <a:noFill/>
          <a:ln/>
        </p:spPr>
        <p:txBody>
          <a:bodyPr wrap="square" lIns="0" tIns="0" rIns="0" bIns="0" rtlCol="0" anchor="ctr"/>
          <a:lstStyle/>
          <a:p>
            <a:pPr algn="l" indent="0" marL="0">
              <a:lnSpc>
                <a:spcPts val="1794"/>
              </a:lnSpc>
              <a:buNone/>
            </a:pPr>
            <a:r>
              <a:rPr lang="en-US" sz="1300" dirty="0">
                <a:solidFill>
                  <a:srgbClr val="191333"/>
                </a:solidFill>
                <a:latin typeface="Calibri" pitchFamily="34" charset="0"/>
                <a:ea typeface="Calibri" pitchFamily="34" charset="-122"/>
                <a:cs typeface="Calibri" pitchFamily="34" charset="-120"/>
              </a:rPr>
              <a:t>Run the installer</a:t>
            </a:r>
            <a:endParaRPr lang="en-US" sz="1300" dirty="0"/>
          </a:p>
        </p:txBody>
      </p:sp>
      <p:sp>
        <p:nvSpPr>
          <p:cNvPr id="23" name="Text 20"/>
          <p:cNvSpPr/>
          <p:nvPr/>
        </p:nvSpPr>
        <p:spPr>
          <a:xfrm>
            <a:off x="6949440" y="3364992"/>
            <a:ext cx="365760" cy="365760"/>
          </a:xfrm>
          <a:prstGeom prst="rect">
            <a:avLst/>
          </a:prstGeom>
          <a:noFill/>
          <a:ln/>
        </p:spPr>
        <p:txBody>
          <a:bodyPr wrap="square" lIns="0" tIns="0" rIns="0" bIns="0" rtlCol="0" anchor="ctr"/>
          <a:lstStyle/>
          <a:p>
            <a:pPr indent="0" marL="0">
              <a:buNone/>
            </a:pPr>
            <a:r>
              <a:rPr lang="en-US" sz="1350" b="1" dirty="0">
                <a:solidFill>
                  <a:srgbClr val="191333"/>
                </a:solidFill>
                <a:latin typeface="Calibri" pitchFamily="34" charset="0"/>
                <a:ea typeface="Calibri" pitchFamily="34" charset="-122"/>
                <a:cs typeface="Calibri" pitchFamily="34" charset="-120"/>
              </a:rPr>
              <a:t>4.</a:t>
            </a:r>
            <a:endParaRPr lang="en-US" sz="1350" dirty="0"/>
          </a:p>
        </p:txBody>
      </p:sp>
      <p:sp>
        <p:nvSpPr>
          <p:cNvPr id="24" name="Text 21"/>
          <p:cNvSpPr/>
          <p:nvPr/>
        </p:nvSpPr>
        <p:spPr>
          <a:xfrm>
            <a:off x="7360920" y="3364992"/>
            <a:ext cx="3931920" cy="365760"/>
          </a:xfrm>
          <a:prstGeom prst="rect">
            <a:avLst/>
          </a:prstGeom>
          <a:noFill/>
          <a:ln/>
        </p:spPr>
        <p:txBody>
          <a:bodyPr wrap="square" lIns="0" tIns="0" rIns="0" bIns="0" rtlCol="0" anchor="ctr"/>
          <a:lstStyle/>
          <a:p>
            <a:pPr algn="l" indent="0" marL="0">
              <a:lnSpc>
                <a:spcPts val="1794"/>
              </a:lnSpc>
              <a:buNone/>
            </a:pPr>
            <a:r>
              <a:rPr lang="en-US" sz="1300" dirty="0">
                <a:solidFill>
                  <a:srgbClr val="191333"/>
                </a:solidFill>
                <a:latin typeface="Calibri" pitchFamily="34" charset="0"/>
                <a:ea typeface="Calibri" pitchFamily="34" charset="-122"/>
                <a:cs typeface="Calibri" pitchFamily="34" charset="-120"/>
              </a:rPr>
              <a:t>Restart if prompted</a:t>
            </a:r>
            <a:endParaRPr lang="en-US" sz="1300" dirty="0"/>
          </a:p>
        </p:txBody>
      </p:sp>
      <p:sp>
        <p:nvSpPr>
          <p:cNvPr id="25" name="Shape 22"/>
          <p:cNvSpPr/>
          <p:nvPr/>
        </p:nvSpPr>
        <p:spPr>
          <a:xfrm>
            <a:off x="640080" y="4261104"/>
            <a:ext cx="3419856" cy="1371600"/>
          </a:xfrm>
          <a:prstGeom prst="roundRect">
            <a:avLst>
              <a:gd name="adj" fmla="val 6667"/>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6" name="Shape 23"/>
          <p:cNvSpPr/>
          <p:nvPr/>
        </p:nvSpPr>
        <p:spPr>
          <a:xfrm>
            <a:off x="896112" y="4480560"/>
            <a:ext cx="457200" cy="457200"/>
          </a:xfrm>
          <a:prstGeom prst="roundRect">
            <a:avLst>
              <a:gd name="adj" fmla="val 20000"/>
            </a:avLst>
          </a:prstGeom>
          <a:solidFill>
            <a:srgbClr val="EDE7FF"/>
          </a:solidFill>
          <a:ln w="15875">
            <a:solidFill>
              <a:srgbClr val="191333"/>
            </a:solidFill>
            <a:prstDash val="solid"/>
          </a:ln>
        </p:spPr>
      </p:sp>
      <p:pic>
        <p:nvPicPr>
          <p:cNvPr id="27" name="Image 0" descr="preencoded.png">    </p:cNvPr>
          <p:cNvPicPr>
            <a:picLocks noChangeAspect="1"/>
          </p:cNvPicPr>
          <p:nvPr/>
        </p:nvPicPr>
        <p:blipFill>
          <a:blip r:embed="rId1"/>
          <a:stretch>
            <a:fillRect/>
          </a:stretch>
        </p:blipFill>
        <p:spPr>
          <a:xfrm>
            <a:off x="1014984" y="4599432"/>
            <a:ext cx="219456" cy="219456"/>
          </a:xfrm>
          <a:prstGeom prst="rect">
            <a:avLst/>
          </a:prstGeom>
        </p:spPr>
      </p:pic>
      <p:sp>
        <p:nvSpPr>
          <p:cNvPr id="28" name="Text 24"/>
          <p:cNvSpPr/>
          <p:nvPr/>
        </p:nvSpPr>
        <p:spPr>
          <a:xfrm>
            <a:off x="1463040" y="4480560"/>
            <a:ext cx="2359152" cy="457200"/>
          </a:xfrm>
          <a:prstGeom prst="rect">
            <a:avLst/>
          </a:prstGeom>
          <a:noFill/>
          <a:ln/>
        </p:spPr>
        <p:txBody>
          <a:bodyPr wrap="square" lIns="0" tIns="0" rIns="0" bIns="0" rtlCol="0" anchor="ctr"/>
          <a:lstStyle/>
          <a:p>
            <a:pPr indent="0" marL="0">
              <a:buNone/>
            </a:pPr>
            <a:r>
              <a:rPr lang="en-US" sz="1400" b="1" dirty="0">
                <a:solidFill>
                  <a:srgbClr val="191333"/>
                </a:solidFill>
                <a:latin typeface="Calibri" pitchFamily="34" charset="0"/>
                <a:ea typeface="Calibri" pitchFamily="34" charset="-122"/>
                <a:cs typeface="Calibri" pitchFamily="34" charset="-120"/>
              </a:rPr>
              <a:t>Same &lt;li&gt; inside</a:t>
            </a:r>
            <a:endParaRPr lang="en-US" sz="1400" dirty="0"/>
          </a:p>
        </p:txBody>
      </p:sp>
      <p:sp>
        <p:nvSpPr>
          <p:cNvPr id="29" name="Text 25"/>
          <p:cNvSpPr/>
          <p:nvPr/>
        </p:nvSpPr>
        <p:spPr>
          <a:xfrm>
            <a:off x="896112" y="5029200"/>
            <a:ext cx="2907792" cy="548640"/>
          </a:xfrm>
          <a:prstGeom prst="rect">
            <a:avLst/>
          </a:prstGeom>
          <a:noFill/>
          <a:ln/>
        </p:spPr>
        <p:txBody>
          <a:bodyPr wrap="square" lIns="0" tIns="0" rIns="0" bIns="0" rtlCol="0" anchor="t"/>
          <a:lstStyle/>
          <a:p>
            <a:pPr algn="l" indent="0" marL="0">
              <a:lnSpc>
                <a:spcPts val="1500"/>
              </a:lnSpc>
              <a:buNone/>
            </a:pPr>
            <a:r>
              <a:rPr lang="en-US" sz="1150" dirty="0">
                <a:solidFill>
                  <a:srgbClr val="5C5580"/>
                </a:solidFill>
                <a:latin typeface="Calibri" pitchFamily="34" charset="0"/>
                <a:ea typeface="Calibri" pitchFamily="34" charset="-122"/>
                <a:cs typeface="Calibri" pitchFamily="34" charset="-120"/>
              </a:rPr>
              <a:t>The item tag never changes. Only the container decides whether it is numbered.</a:t>
            </a:r>
            <a:endParaRPr lang="en-US" sz="1150" dirty="0"/>
          </a:p>
        </p:txBody>
      </p:sp>
      <p:sp>
        <p:nvSpPr>
          <p:cNvPr id="30" name="Shape 26"/>
          <p:cNvSpPr/>
          <p:nvPr/>
        </p:nvSpPr>
        <p:spPr>
          <a:xfrm>
            <a:off x="4379976" y="4261104"/>
            <a:ext cx="3419856" cy="1371600"/>
          </a:xfrm>
          <a:prstGeom prst="roundRect">
            <a:avLst>
              <a:gd name="adj" fmla="val 6667"/>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1" name="Shape 27"/>
          <p:cNvSpPr/>
          <p:nvPr/>
        </p:nvSpPr>
        <p:spPr>
          <a:xfrm>
            <a:off x="4636008" y="4480560"/>
            <a:ext cx="457200" cy="457200"/>
          </a:xfrm>
          <a:prstGeom prst="roundRect">
            <a:avLst>
              <a:gd name="adj" fmla="val 20000"/>
            </a:avLst>
          </a:prstGeom>
          <a:solidFill>
            <a:srgbClr val="EDE7FF"/>
          </a:solidFill>
          <a:ln w="15875">
            <a:solidFill>
              <a:srgbClr val="191333"/>
            </a:solidFill>
            <a:prstDash val="solid"/>
          </a:ln>
        </p:spPr>
      </p:sp>
      <p:pic>
        <p:nvPicPr>
          <p:cNvPr id="32" name="Image 1" descr="preencoded.png">    </p:cNvPr>
          <p:cNvPicPr>
            <a:picLocks noChangeAspect="1"/>
          </p:cNvPicPr>
          <p:nvPr/>
        </p:nvPicPr>
        <p:blipFill>
          <a:blip r:embed="rId2"/>
          <a:stretch>
            <a:fillRect/>
          </a:stretch>
        </p:blipFill>
        <p:spPr>
          <a:xfrm>
            <a:off x="4754880" y="4599432"/>
            <a:ext cx="219456" cy="219456"/>
          </a:xfrm>
          <a:prstGeom prst="rect">
            <a:avLst/>
          </a:prstGeom>
        </p:spPr>
      </p:pic>
      <p:sp>
        <p:nvSpPr>
          <p:cNvPr id="33" name="Text 28"/>
          <p:cNvSpPr/>
          <p:nvPr/>
        </p:nvSpPr>
        <p:spPr>
          <a:xfrm>
            <a:off x="5202936" y="4480560"/>
            <a:ext cx="2359152" cy="457200"/>
          </a:xfrm>
          <a:prstGeom prst="rect">
            <a:avLst/>
          </a:prstGeom>
          <a:noFill/>
          <a:ln/>
        </p:spPr>
        <p:txBody>
          <a:bodyPr wrap="square" lIns="0" tIns="0" rIns="0" bIns="0" rtlCol="0" anchor="ctr"/>
          <a:lstStyle/>
          <a:p>
            <a:pPr indent="0" marL="0">
              <a:buNone/>
            </a:pPr>
            <a:r>
              <a:rPr lang="en-US" sz="1400" b="1" dirty="0">
                <a:solidFill>
                  <a:srgbClr val="191333"/>
                </a:solidFill>
                <a:latin typeface="Calibri" pitchFamily="34" charset="0"/>
                <a:ea typeface="Calibri" pitchFamily="34" charset="-122"/>
                <a:cs typeface="Calibri" pitchFamily="34" charset="-120"/>
              </a:rPr>
              <a:t>Numbering is automatic</a:t>
            </a:r>
            <a:endParaRPr lang="en-US" sz="1400" dirty="0"/>
          </a:p>
        </p:txBody>
      </p:sp>
      <p:sp>
        <p:nvSpPr>
          <p:cNvPr id="34" name="Text 29"/>
          <p:cNvSpPr/>
          <p:nvPr/>
        </p:nvSpPr>
        <p:spPr>
          <a:xfrm>
            <a:off x="4636008" y="5029200"/>
            <a:ext cx="2907792" cy="548640"/>
          </a:xfrm>
          <a:prstGeom prst="rect">
            <a:avLst/>
          </a:prstGeom>
          <a:noFill/>
          <a:ln/>
        </p:spPr>
        <p:txBody>
          <a:bodyPr wrap="square" lIns="0" tIns="0" rIns="0" bIns="0" rtlCol="0" anchor="t"/>
          <a:lstStyle/>
          <a:p>
            <a:pPr algn="l" indent="0" marL="0">
              <a:lnSpc>
                <a:spcPts val="1500"/>
              </a:lnSpc>
              <a:buNone/>
            </a:pPr>
            <a:r>
              <a:rPr lang="en-US" sz="1150" dirty="0">
                <a:solidFill>
                  <a:srgbClr val="5C5580"/>
                </a:solidFill>
                <a:latin typeface="Calibri" pitchFamily="34" charset="0"/>
                <a:ea typeface="Calibri" pitchFamily="34" charset="-122"/>
                <a:cs typeface="Calibri" pitchFamily="34" charset="-120"/>
              </a:rPr>
              <a:t>Insert a step in the middle and everything below renumbers itself. No typing.</a:t>
            </a:r>
            <a:endParaRPr lang="en-US" sz="1150" dirty="0"/>
          </a:p>
        </p:txBody>
      </p:sp>
      <p:sp>
        <p:nvSpPr>
          <p:cNvPr id="35" name="Shape 30"/>
          <p:cNvSpPr/>
          <p:nvPr/>
        </p:nvSpPr>
        <p:spPr>
          <a:xfrm>
            <a:off x="8119872" y="4261104"/>
            <a:ext cx="3419856" cy="1371600"/>
          </a:xfrm>
          <a:prstGeom prst="roundRect">
            <a:avLst>
              <a:gd name="adj" fmla="val 6667"/>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6" name="Shape 31"/>
          <p:cNvSpPr/>
          <p:nvPr/>
        </p:nvSpPr>
        <p:spPr>
          <a:xfrm>
            <a:off x="8375904" y="4480560"/>
            <a:ext cx="457200" cy="457200"/>
          </a:xfrm>
          <a:prstGeom prst="roundRect">
            <a:avLst>
              <a:gd name="adj" fmla="val 20000"/>
            </a:avLst>
          </a:prstGeom>
          <a:solidFill>
            <a:srgbClr val="EDE7FF"/>
          </a:solidFill>
          <a:ln w="15875">
            <a:solidFill>
              <a:srgbClr val="191333"/>
            </a:solidFill>
            <a:prstDash val="solid"/>
          </a:ln>
        </p:spPr>
      </p:sp>
      <p:pic>
        <p:nvPicPr>
          <p:cNvPr id="37" name="Image 2" descr="preencoded.png">    </p:cNvPr>
          <p:cNvPicPr>
            <a:picLocks noChangeAspect="1"/>
          </p:cNvPicPr>
          <p:nvPr/>
        </p:nvPicPr>
        <p:blipFill>
          <a:blip r:embed="rId3"/>
          <a:stretch>
            <a:fillRect/>
          </a:stretch>
        </p:blipFill>
        <p:spPr>
          <a:xfrm>
            <a:off x="8494776" y="4599432"/>
            <a:ext cx="219456" cy="219456"/>
          </a:xfrm>
          <a:prstGeom prst="rect">
            <a:avLst/>
          </a:prstGeom>
        </p:spPr>
      </p:pic>
      <p:sp>
        <p:nvSpPr>
          <p:cNvPr id="38" name="Text 32"/>
          <p:cNvSpPr/>
          <p:nvPr/>
        </p:nvSpPr>
        <p:spPr>
          <a:xfrm>
            <a:off x="8942832" y="4480560"/>
            <a:ext cx="2359152" cy="457200"/>
          </a:xfrm>
          <a:prstGeom prst="rect">
            <a:avLst/>
          </a:prstGeom>
          <a:noFill/>
          <a:ln/>
        </p:spPr>
        <p:txBody>
          <a:bodyPr wrap="square" lIns="0" tIns="0" rIns="0" bIns="0" rtlCol="0" anchor="ctr"/>
          <a:lstStyle/>
          <a:p>
            <a:pPr indent="0" marL="0">
              <a:buNone/>
            </a:pPr>
            <a:r>
              <a:rPr lang="en-US" sz="1400" b="1" dirty="0">
                <a:solidFill>
                  <a:srgbClr val="191333"/>
                </a:solidFill>
                <a:latin typeface="Calibri" pitchFamily="34" charset="0"/>
                <a:ea typeface="Calibri" pitchFamily="34" charset="-122"/>
                <a:cs typeface="Calibri" pitchFamily="34" charset="-120"/>
              </a:rPr>
              <a:t>Meaning, not looks</a:t>
            </a:r>
            <a:endParaRPr lang="en-US" sz="1400" dirty="0"/>
          </a:p>
        </p:txBody>
      </p:sp>
      <p:sp>
        <p:nvSpPr>
          <p:cNvPr id="39" name="Text 33"/>
          <p:cNvSpPr/>
          <p:nvPr/>
        </p:nvSpPr>
        <p:spPr>
          <a:xfrm>
            <a:off x="8375904" y="5029200"/>
            <a:ext cx="2907792" cy="548640"/>
          </a:xfrm>
          <a:prstGeom prst="rect">
            <a:avLst/>
          </a:prstGeom>
          <a:noFill/>
          <a:ln/>
        </p:spPr>
        <p:txBody>
          <a:bodyPr wrap="square" lIns="0" tIns="0" rIns="0" bIns="0" rtlCol="0" anchor="t"/>
          <a:lstStyle/>
          <a:p>
            <a:pPr algn="l" indent="0" marL="0">
              <a:lnSpc>
                <a:spcPts val="1500"/>
              </a:lnSpc>
              <a:buNone/>
            </a:pPr>
            <a:r>
              <a:rPr lang="en-US" sz="1150" dirty="0">
                <a:solidFill>
                  <a:srgbClr val="5C5580"/>
                </a:solidFill>
                <a:latin typeface="Calibri" pitchFamily="34" charset="0"/>
                <a:ea typeface="Calibri" pitchFamily="34" charset="-122"/>
                <a:cs typeface="Calibri" pitchFamily="34" charset="-120"/>
              </a:rPr>
              <a:t>You are telling the browser these steps have a sequence. That is data, not decoration.</a:t>
            </a:r>
            <a:endParaRPr lang="en-US" sz="1150" dirty="0"/>
          </a:p>
        </p:txBody>
      </p:sp>
      <p:sp>
        <p:nvSpPr>
          <p:cNvPr id="40" name="Shape 34"/>
          <p:cNvSpPr/>
          <p:nvPr/>
        </p:nvSpPr>
        <p:spPr>
          <a:xfrm>
            <a:off x="640080" y="5815584"/>
            <a:ext cx="10908792" cy="512064"/>
          </a:xfrm>
          <a:prstGeom prst="roundRect">
            <a:avLst>
              <a:gd name="adj" fmla="val 14286"/>
            </a:avLst>
          </a:prstGeom>
          <a:solidFill>
            <a:srgbClr val="FFF1D6"/>
          </a:solidFill>
          <a:ln w="12700">
            <a:solidFill>
              <a:srgbClr val="F5CE8A"/>
            </a:solidFill>
            <a:prstDash val="solid"/>
          </a:ln>
        </p:spPr>
      </p:sp>
      <p:sp>
        <p:nvSpPr>
          <p:cNvPr id="41" name="Text 35"/>
          <p:cNvSpPr/>
          <p:nvPr/>
        </p:nvSpPr>
        <p:spPr>
          <a:xfrm>
            <a:off x="859536" y="5815584"/>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renumbering a list by hand is a rite of passage. doing it twice is a choice.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05</a:t>
            </a:r>
            <a:endParaRPr lang="en-US" sz="900" dirty="0"/>
          </a:p>
        </p:txBody>
      </p:sp>
      <p:sp>
        <p:nvSpPr>
          <p:cNvPr id="5" name="Shape 2"/>
          <p:cNvSpPr/>
          <p:nvPr/>
        </p:nvSpPr>
        <p:spPr>
          <a:xfrm>
            <a:off x="640080" y="365760"/>
            <a:ext cx="1188720"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LISTS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Same list, four numbering styles</a:t>
            </a:r>
            <a:endParaRPr lang="en-US" sz="3200" dirty="0"/>
          </a:p>
        </p:txBody>
      </p:sp>
      <p:sp>
        <p:nvSpPr>
          <p:cNvPr id="8" name="Text 5"/>
          <p:cNvSpPr/>
          <p:nvPr/>
        </p:nvSpPr>
        <p:spPr>
          <a:xfrm>
            <a:off x="640080" y="1517904"/>
            <a:ext cx="10881360" cy="329184"/>
          </a:xfrm>
          <a:prstGeom prst="rect">
            <a:avLst/>
          </a:prstGeom>
          <a:noFill/>
          <a:ln/>
        </p:spPr>
        <p:txBody>
          <a:bodyPr wrap="square" lIns="0" tIns="0" rIns="0" bIns="0" rtlCol="0" anchor="t"/>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One attribute on the &lt;ol&gt; changes the whole sequence. The list items do not change at all.</a:t>
            </a:r>
            <a:endParaRPr lang="en-US" sz="1400" dirty="0"/>
          </a:p>
        </p:txBody>
      </p:sp>
      <p:sp>
        <p:nvSpPr>
          <p:cNvPr id="9" name="Shape 6"/>
          <p:cNvSpPr/>
          <p:nvPr/>
        </p:nvSpPr>
        <p:spPr>
          <a:xfrm>
            <a:off x="640080" y="1975104"/>
            <a:ext cx="2542032" cy="2926080"/>
          </a:xfrm>
          <a:prstGeom prst="roundRect">
            <a:avLst>
              <a:gd name="adj" fmla="val 3597"/>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0" name="Shape 7"/>
          <p:cNvSpPr/>
          <p:nvPr/>
        </p:nvSpPr>
        <p:spPr>
          <a:xfrm>
            <a:off x="877824" y="2194560"/>
            <a:ext cx="2066544" cy="365760"/>
          </a:xfrm>
          <a:prstGeom prst="roundRect">
            <a:avLst>
              <a:gd name="adj" fmla="val 20000"/>
            </a:avLst>
          </a:prstGeom>
          <a:solidFill>
            <a:srgbClr val="6C3BF5"/>
          </a:solidFill>
          <a:ln w="15875">
            <a:solidFill>
              <a:srgbClr val="191333"/>
            </a:solidFill>
            <a:prstDash val="solid"/>
          </a:ln>
        </p:spPr>
      </p:sp>
      <p:sp>
        <p:nvSpPr>
          <p:cNvPr id="11" name="Text 8"/>
          <p:cNvSpPr/>
          <p:nvPr/>
        </p:nvSpPr>
        <p:spPr>
          <a:xfrm>
            <a:off x="877824" y="2194560"/>
            <a:ext cx="20665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(default)</a:t>
            </a:r>
            <a:endParaRPr lang="en-US" sz="1100" dirty="0"/>
          </a:p>
        </p:txBody>
      </p:sp>
      <p:sp>
        <p:nvSpPr>
          <p:cNvPr id="12" name="Text 9"/>
          <p:cNvSpPr/>
          <p:nvPr/>
        </p:nvSpPr>
        <p:spPr>
          <a:xfrm>
            <a:off x="950976" y="2834640"/>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1.</a:t>
            </a:r>
            <a:endParaRPr lang="en-US" sz="1600" dirty="0"/>
          </a:p>
        </p:txBody>
      </p:sp>
      <p:sp>
        <p:nvSpPr>
          <p:cNvPr id="13" name="Shape 10"/>
          <p:cNvSpPr/>
          <p:nvPr/>
        </p:nvSpPr>
        <p:spPr>
          <a:xfrm>
            <a:off x="1572768" y="2944368"/>
            <a:ext cx="1298448" cy="146304"/>
          </a:xfrm>
          <a:prstGeom prst="roundRect">
            <a:avLst>
              <a:gd name="adj" fmla="val 25000"/>
            </a:avLst>
          </a:prstGeom>
          <a:solidFill>
            <a:srgbClr val="DCD8EE"/>
          </a:solidFill>
          <a:ln w="12700">
            <a:solidFill>
              <a:srgbClr val="DCD8EE"/>
            </a:solidFill>
            <a:prstDash val="solid"/>
          </a:ln>
        </p:spPr>
      </p:sp>
      <p:sp>
        <p:nvSpPr>
          <p:cNvPr id="14" name="Text 11"/>
          <p:cNvSpPr/>
          <p:nvPr/>
        </p:nvSpPr>
        <p:spPr>
          <a:xfrm>
            <a:off x="950976" y="3310128"/>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2.</a:t>
            </a:r>
            <a:endParaRPr lang="en-US" sz="1600" dirty="0"/>
          </a:p>
        </p:txBody>
      </p:sp>
      <p:sp>
        <p:nvSpPr>
          <p:cNvPr id="15" name="Shape 12"/>
          <p:cNvSpPr/>
          <p:nvPr/>
        </p:nvSpPr>
        <p:spPr>
          <a:xfrm>
            <a:off x="1572768" y="3419856"/>
            <a:ext cx="1298448" cy="146304"/>
          </a:xfrm>
          <a:prstGeom prst="roundRect">
            <a:avLst>
              <a:gd name="adj" fmla="val 25000"/>
            </a:avLst>
          </a:prstGeom>
          <a:solidFill>
            <a:srgbClr val="DCD8EE"/>
          </a:solidFill>
          <a:ln w="12700">
            <a:solidFill>
              <a:srgbClr val="DCD8EE"/>
            </a:solidFill>
            <a:prstDash val="solid"/>
          </a:ln>
        </p:spPr>
      </p:sp>
      <p:sp>
        <p:nvSpPr>
          <p:cNvPr id="16" name="Text 13"/>
          <p:cNvSpPr/>
          <p:nvPr/>
        </p:nvSpPr>
        <p:spPr>
          <a:xfrm>
            <a:off x="950976" y="3785616"/>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3.</a:t>
            </a:r>
            <a:endParaRPr lang="en-US" sz="1600" dirty="0"/>
          </a:p>
        </p:txBody>
      </p:sp>
      <p:sp>
        <p:nvSpPr>
          <p:cNvPr id="17" name="Shape 14"/>
          <p:cNvSpPr/>
          <p:nvPr/>
        </p:nvSpPr>
        <p:spPr>
          <a:xfrm>
            <a:off x="1572768" y="3895344"/>
            <a:ext cx="1298448" cy="146304"/>
          </a:xfrm>
          <a:prstGeom prst="roundRect">
            <a:avLst>
              <a:gd name="adj" fmla="val 25000"/>
            </a:avLst>
          </a:prstGeom>
          <a:solidFill>
            <a:srgbClr val="DCD8EE"/>
          </a:solidFill>
          <a:ln w="12700">
            <a:solidFill>
              <a:srgbClr val="DCD8EE"/>
            </a:solidFill>
            <a:prstDash val="solid"/>
          </a:ln>
        </p:spPr>
      </p:sp>
      <p:sp>
        <p:nvSpPr>
          <p:cNvPr id="18" name="Text 15"/>
          <p:cNvSpPr/>
          <p:nvPr/>
        </p:nvSpPr>
        <p:spPr>
          <a:xfrm>
            <a:off x="896112" y="4315968"/>
            <a:ext cx="2029968" cy="502920"/>
          </a:xfrm>
          <a:prstGeom prst="rect">
            <a:avLst/>
          </a:prstGeom>
          <a:noFill/>
          <a:ln/>
        </p:spPr>
        <p:txBody>
          <a:bodyPr wrap="square" lIns="0" tIns="0" rIns="0" bIns="0" rtlCol="0" anchor="t"/>
          <a:lstStyle/>
          <a:p>
            <a:pPr algn="l" indent="0" marL="0">
              <a:lnSpc>
                <a:spcPts val="1500"/>
              </a:lnSpc>
              <a:buNone/>
            </a:pPr>
            <a:r>
              <a:rPr lang="en-US" sz="1150" dirty="0">
                <a:solidFill>
                  <a:srgbClr val="5C5580"/>
                </a:solidFill>
                <a:latin typeface="Calibri" pitchFamily="34" charset="0"/>
                <a:ea typeface="Calibri" pitchFamily="34" charset="-122"/>
                <a:cs typeface="Calibri" pitchFamily="34" charset="-120"/>
              </a:rPr>
              <a:t>Numbers. What you get if you say nothing.</a:t>
            </a:r>
            <a:endParaRPr lang="en-US" sz="1150" dirty="0"/>
          </a:p>
        </p:txBody>
      </p:sp>
      <p:sp>
        <p:nvSpPr>
          <p:cNvPr id="19" name="Shape 16"/>
          <p:cNvSpPr/>
          <p:nvPr/>
        </p:nvSpPr>
        <p:spPr>
          <a:xfrm>
            <a:off x="3483864" y="1975104"/>
            <a:ext cx="2542032" cy="2926080"/>
          </a:xfrm>
          <a:prstGeom prst="roundRect">
            <a:avLst>
              <a:gd name="adj" fmla="val 3597"/>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0" name="Shape 17"/>
          <p:cNvSpPr/>
          <p:nvPr/>
        </p:nvSpPr>
        <p:spPr>
          <a:xfrm>
            <a:off x="3721608" y="2194560"/>
            <a:ext cx="2066544" cy="365760"/>
          </a:xfrm>
          <a:prstGeom prst="roundRect">
            <a:avLst>
              <a:gd name="adj" fmla="val 20000"/>
            </a:avLst>
          </a:prstGeom>
          <a:solidFill>
            <a:srgbClr val="6C3BF5"/>
          </a:solidFill>
          <a:ln w="15875">
            <a:solidFill>
              <a:srgbClr val="191333"/>
            </a:solidFill>
            <a:prstDash val="solid"/>
          </a:ln>
        </p:spPr>
      </p:sp>
      <p:sp>
        <p:nvSpPr>
          <p:cNvPr id="21" name="Text 18"/>
          <p:cNvSpPr/>
          <p:nvPr/>
        </p:nvSpPr>
        <p:spPr>
          <a:xfrm>
            <a:off x="3721608" y="2194560"/>
            <a:ext cx="20665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type="A"</a:t>
            </a:r>
            <a:endParaRPr lang="en-US" sz="1100" dirty="0"/>
          </a:p>
        </p:txBody>
      </p:sp>
      <p:sp>
        <p:nvSpPr>
          <p:cNvPr id="22" name="Text 19"/>
          <p:cNvSpPr/>
          <p:nvPr/>
        </p:nvSpPr>
        <p:spPr>
          <a:xfrm>
            <a:off x="3794760" y="2834640"/>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A.</a:t>
            </a:r>
            <a:endParaRPr lang="en-US" sz="1600" dirty="0"/>
          </a:p>
        </p:txBody>
      </p:sp>
      <p:sp>
        <p:nvSpPr>
          <p:cNvPr id="23" name="Shape 20"/>
          <p:cNvSpPr/>
          <p:nvPr/>
        </p:nvSpPr>
        <p:spPr>
          <a:xfrm>
            <a:off x="4416552" y="2944368"/>
            <a:ext cx="1298448" cy="146304"/>
          </a:xfrm>
          <a:prstGeom prst="roundRect">
            <a:avLst>
              <a:gd name="adj" fmla="val 25000"/>
            </a:avLst>
          </a:prstGeom>
          <a:solidFill>
            <a:srgbClr val="DCD8EE"/>
          </a:solidFill>
          <a:ln w="12700">
            <a:solidFill>
              <a:srgbClr val="DCD8EE"/>
            </a:solidFill>
            <a:prstDash val="solid"/>
          </a:ln>
        </p:spPr>
      </p:sp>
      <p:sp>
        <p:nvSpPr>
          <p:cNvPr id="24" name="Text 21"/>
          <p:cNvSpPr/>
          <p:nvPr/>
        </p:nvSpPr>
        <p:spPr>
          <a:xfrm>
            <a:off x="3794760" y="3310128"/>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B.</a:t>
            </a:r>
            <a:endParaRPr lang="en-US" sz="1600" dirty="0"/>
          </a:p>
        </p:txBody>
      </p:sp>
      <p:sp>
        <p:nvSpPr>
          <p:cNvPr id="25" name="Shape 22"/>
          <p:cNvSpPr/>
          <p:nvPr/>
        </p:nvSpPr>
        <p:spPr>
          <a:xfrm>
            <a:off x="4416552" y="3419856"/>
            <a:ext cx="1298448" cy="146304"/>
          </a:xfrm>
          <a:prstGeom prst="roundRect">
            <a:avLst>
              <a:gd name="adj" fmla="val 25000"/>
            </a:avLst>
          </a:prstGeom>
          <a:solidFill>
            <a:srgbClr val="DCD8EE"/>
          </a:solidFill>
          <a:ln w="12700">
            <a:solidFill>
              <a:srgbClr val="DCD8EE"/>
            </a:solidFill>
            <a:prstDash val="solid"/>
          </a:ln>
        </p:spPr>
      </p:sp>
      <p:sp>
        <p:nvSpPr>
          <p:cNvPr id="26" name="Text 23"/>
          <p:cNvSpPr/>
          <p:nvPr/>
        </p:nvSpPr>
        <p:spPr>
          <a:xfrm>
            <a:off x="3794760" y="3785616"/>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C.</a:t>
            </a:r>
            <a:endParaRPr lang="en-US" sz="1600" dirty="0"/>
          </a:p>
        </p:txBody>
      </p:sp>
      <p:sp>
        <p:nvSpPr>
          <p:cNvPr id="27" name="Shape 24"/>
          <p:cNvSpPr/>
          <p:nvPr/>
        </p:nvSpPr>
        <p:spPr>
          <a:xfrm>
            <a:off x="4416552" y="3895344"/>
            <a:ext cx="1298448" cy="146304"/>
          </a:xfrm>
          <a:prstGeom prst="roundRect">
            <a:avLst>
              <a:gd name="adj" fmla="val 25000"/>
            </a:avLst>
          </a:prstGeom>
          <a:solidFill>
            <a:srgbClr val="DCD8EE"/>
          </a:solidFill>
          <a:ln w="12700">
            <a:solidFill>
              <a:srgbClr val="DCD8EE"/>
            </a:solidFill>
            <a:prstDash val="solid"/>
          </a:ln>
        </p:spPr>
      </p:sp>
      <p:sp>
        <p:nvSpPr>
          <p:cNvPr id="28" name="Text 25"/>
          <p:cNvSpPr/>
          <p:nvPr/>
        </p:nvSpPr>
        <p:spPr>
          <a:xfrm>
            <a:off x="3739896" y="4315968"/>
            <a:ext cx="2029968" cy="502920"/>
          </a:xfrm>
          <a:prstGeom prst="rect">
            <a:avLst/>
          </a:prstGeom>
          <a:noFill/>
          <a:ln/>
        </p:spPr>
        <p:txBody>
          <a:bodyPr wrap="square" lIns="0" tIns="0" rIns="0" bIns="0" rtlCol="0" anchor="t"/>
          <a:lstStyle/>
          <a:p>
            <a:pPr algn="l" indent="0" marL="0">
              <a:lnSpc>
                <a:spcPts val="1500"/>
              </a:lnSpc>
              <a:buNone/>
            </a:pPr>
            <a:r>
              <a:rPr lang="en-US" sz="1150" dirty="0">
                <a:solidFill>
                  <a:srgbClr val="5C5580"/>
                </a:solidFill>
                <a:latin typeface="Calibri" pitchFamily="34" charset="0"/>
                <a:ea typeface="Calibri" pitchFamily="34" charset="-122"/>
                <a:cs typeface="Calibri" pitchFamily="34" charset="-120"/>
              </a:rPr>
              <a:t>Capital letters.</a:t>
            </a:r>
            <a:endParaRPr lang="en-US" sz="1150" dirty="0"/>
          </a:p>
        </p:txBody>
      </p:sp>
      <p:sp>
        <p:nvSpPr>
          <p:cNvPr id="29" name="Shape 26"/>
          <p:cNvSpPr/>
          <p:nvPr/>
        </p:nvSpPr>
        <p:spPr>
          <a:xfrm>
            <a:off x="6327648" y="1975104"/>
            <a:ext cx="2542032" cy="2926080"/>
          </a:xfrm>
          <a:prstGeom prst="roundRect">
            <a:avLst>
              <a:gd name="adj" fmla="val 3597"/>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0" name="Shape 27"/>
          <p:cNvSpPr/>
          <p:nvPr/>
        </p:nvSpPr>
        <p:spPr>
          <a:xfrm>
            <a:off x="6565392" y="2194560"/>
            <a:ext cx="2066544" cy="365760"/>
          </a:xfrm>
          <a:prstGeom prst="roundRect">
            <a:avLst>
              <a:gd name="adj" fmla="val 20000"/>
            </a:avLst>
          </a:prstGeom>
          <a:solidFill>
            <a:srgbClr val="6C3BF5"/>
          </a:solidFill>
          <a:ln w="15875">
            <a:solidFill>
              <a:srgbClr val="191333"/>
            </a:solidFill>
            <a:prstDash val="solid"/>
          </a:ln>
        </p:spPr>
      </p:sp>
      <p:sp>
        <p:nvSpPr>
          <p:cNvPr id="31" name="Text 28"/>
          <p:cNvSpPr/>
          <p:nvPr/>
        </p:nvSpPr>
        <p:spPr>
          <a:xfrm>
            <a:off x="6565392" y="2194560"/>
            <a:ext cx="20665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type="a"</a:t>
            </a:r>
            <a:endParaRPr lang="en-US" sz="1100" dirty="0"/>
          </a:p>
        </p:txBody>
      </p:sp>
      <p:sp>
        <p:nvSpPr>
          <p:cNvPr id="32" name="Text 29"/>
          <p:cNvSpPr/>
          <p:nvPr/>
        </p:nvSpPr>
        <p:spPr>
          <a:xfrm>
            <a:off x="6638544" y="2834640"/>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a.</a:t>
            </a:r>
            <a:endParaRPr lang="en-US" sz="1600" dirty="0"/>
          </a:p>
        </p:txBody>
      </p:sp>
      <p:sp>
        <p:nvSpPr>
          <p:cNvPr id="33" name="Shape 30"/>
          <p:cNvSpPr/>
          <p:nvPr/>
        </p:nvSpPr>
        <p:spPr>
          <a:xfrm>
            <a:off x="7260336" y="2944368"/>
            <a:ext cx="1298448" cy="146304"/>
          </a:xfrm>
          <a:prstGeom prst="roundRect">
            <a:avLst>
              <a:gd name="adj" fmla="val 25000"/>
            </a:avLst>
          </a:prstGeom>
          <a:solidFill>
            <a:srgbClr val="DCD8EE"/>
          </a:solidFill>
          <a:ln w="12700">
            <a:solidFill>
              <a:srgbClr val="DCD8EE"/>
            </a:solidFill>
            <a:prstDash val="solid"/>
          </a:ln>
        </p:spPr>
      </p:sp>
      <p:sp>
        <p:nvSpPr>
          <p:cNvPr id="34" name="Text 31"/>
          <p:cNvSpPr/>
          <p:nvPr/>
        </p:nvSpPr>
        <p:spPr>
          <a:xfrm>
            <a:off x="6638544" y="3310128"/>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b.</a:t>
            </a:r>
            <a:endParaRPr lang="en-US" sz="1600" dirty="0"/>
          </a:p>
        </p:txBody>
      </p:sp>
      <p:sp>
        <p:nvSpPr>
          <p:cNvPr id="35" name="Shape 32"/>
          <p:cNvSpPr/>
          <p:nvPr/>
        </p:nvSpPr>
        <p:spPr>
          <a:xfrm>
            <a:off x="7260336" y="3419856"/>
            <a:ext cx="1298448" cy="146304"/>
          </a:xfrm>
          <a:prstGeom prst="roundRect">
            <a:avLst>
              <a:gd name="adj" fmla="val 25000"/>
            </a:avLst>
          </a:prstGeom>
          <a:solidFill>
            <a:srgbClr val="DCD8EE"/>
          </a:solidFill>
          <a:ln w="12700">
            <a:solidFill>
              <a:srgbClr val="DCD8EE"/>
            </a:solidFill>
            <a:prstDash val="solid"/>
          </a:ln>
        </p:spPr>
      </p:sp>
      <p:sp>
        <p:nvSpPr>
          <p:cNvPr id="36" name="Text 33"/>
          <p:cNvSpPr/>
          <p:nvPr/>
        </p:nvSpPr>
        <p:spPr>
          <a:xfrm>
            <a:off x="6638544" y="3785616"/>
            <a:ext cx="566928" cy="384048"/>
          </a:xfrm>
          <a:prstGeom prst="rect">
            <a:avLst/>
          </a:prstGeom>
          <a:noFill/>
          <a:ln/>
        </p:spPr>
        <p:txBody>
          <a:bodyPr wrap="square" lIns="0" tIns="0" rIns="0" bIns="0" rtlCol="0" anchor="ctr"/>
          <a:lstStyle/>
          <a:p>
            <a:pPr indent="0" marL="0">
              <a:buNone/>
            </a:pPr>
            <a:r>
              <a:rPr lang="en-US" sz="1600" b="1" dirty="0">
                <a:solidFill>
                  <a:srgbClr val="6C3BF5"/>
                </a:solidFill>
                <a:latin typeface="Calibri" pitchFamily="34" charset="0"/>
                <a:ea typeface="Calibri" pitchFamily="34" charset="-122"/>
                <a:cs typeface="Calibri" pitchFamily="34" charset="-120"/>
              </a:rPr>
              <a:t>c.</a:t>
            </a:r>
            <a:endParaRPr lang="en-US" sz="1600" dirty="0"/>
          </a:p>
        </p:txBody>
      </p:sp>
      <p:sp>
        <p:nvSpPr>
          <p:cNvPr id="37" name="Shape 34"/>
          <p:cNvSpPr/>
          <p:nvPr/>
        </p:nvSpPr>
        <p:spPr>
          <a:xfrm>
            <a:off x="7260336" y="3895344"/>
            <a:ext cx="1298448" cy="146304"/>
          </a:xfrm>
          <a:prstGeom prst="roundRect">
            <a:avLst>
              <a:gd name="adj" fmla="val 25000"/>
            </a:avLst>
          </a:prstGeom>
          <a:solidFill>
            <a:srgbClr val="DCD8EE"/>
          </a:solidFill>
          <a:ln w="12700">
            <a:solidFill>
              <a:srgbClr val="DCD8EE"/>
            </a:solidFill>
            <a:prstDash val="solid"/>
          </a:ln>
        </p:spPr>
      </p:sp>
      <p:sp>
        <p:nvSpPr>
          <p:cNvPr id="38" name="Text 35"/>
          <p:cNvSpPr/>
          <p:nvPr/>
        </p:nvSpPr>
        <p:spPr>
          <a:xfrm>
            <a:off x="6583680" y="4315968"/>
            <a:ext cx="2029968" cy="502920"/>
          </a:xfrm>
          <a:prstGeom prst="rect">
            <a:avLst/>
          </a:prstGeom>
          <a:noFill/>
          <a:ln/>
        </p:spPr>
        <p:txBody>
          <a:bodyPr wrap="square" lIns="0" tIns="0" rIns="0" bIns="0" rtlCol="0" anchor="t"/>
          <a:lstStyle/>
          <a:p>
            <a:pPr algn="l" indent="0" marL="0">
              <a:lnSpc>
                <a:spcPts val="1500"/>
              </a:lnSpc>
              <a:buNone/>
            </a:pPr>
            <a:r>
              <a:rPr lang="en-US" sz="1150" dirty="0">
                <a:solidFill>
                  <a:srgbClr val="5C5580"/>
                </a:solidFill>
                <a:latin typeface="Calibri" pitchFamily="34" charset="0"/>
                <a:ea typeface="Calibri" pitchFamily="34" charset="-122"/>
                <a:cs typeface="Calibri" pitchFamily="34" charset="-120"/>
              </a:rPr>
              <a:t>Small letters.</a:t>
            </a:r>
            <a:endParaRPr lang="en-US" sz="1150" dirty="0"/>
          </a:p>
        </p:txBody>
      </p:sp>
      <p:sp>
        <p:nvSpPr>
          <p:cNvPr id="39" name="Shape 36"/>
          <p:cNvSpPr/>
          <p:nvPr/>
        </p:nvSpPr>
        <p:spPr>
          <a:xfrm>
            <a:off x="9171432" y="1975104"/>
            <a:ext cx="2542032" cy="2926080"/>
          </a:xfrm>
          <a:prstGeom prst="roundRect">
            <a:avLst>
              <a:gd name="adj" fmla="val 3597"/>
            </a:avLst>
          </a:prstGeom>
          <a:solidFill>
            <a:srgbClr val="FFF1D6"/>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40" name="Shape 37"/>
          <p:cNvSpPr/>
          <p:nvPr/>
        </p:nvSpPr>
        <p:spPr>
          <a:xfrm>
            <a:off x="9409176" y="2194560"/>
            <a:ext cx="2066544" cy="365760"/>
          </a:xfrm>
          <a:prstGeom prst="roundRect">
            <a:avLst>
              <a:gd name="adj" fmla="val 20000"/>
            </a:avLst>
          </a:prstGeom>
          <a:solidFill>
            <a:srgbClr val="C97F00"/>
          </a:solidFill>
          <a:ln w="15875">
            <a:solidFill>
              <a:srgbClr val="191333"/>
            </a:solidFill>
            <a:prstDash val="solid"/>
          </a:ln>
        </p:spPr>
      </p:sp>
      <p:sp>
        <p:nvSpPr>
          <p:cNvPr id="41" name="Text 38"/>
          <p:cNvSpPr/>
          <p:nvPr/>
        </p:nvSpPr>
        <p:spPr>
          <a:xfrm>
            <a:off x="9409176" y="2194560"/>
            <a:ext cx="20665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type="I"</a:t>
            </a:r>
            <a:endParaRPr lang="en-US" sz="1100" dirty="0"/>
          </a:p>
        </p:txBody>
      </p:sp>
      <p:sp>
        <p:nvSpPr>
          <p:cNvPr id="42" name="Text 39"/>
          <p:cNvSpPr/>
          <p:nvPr/>
        </p:nvSpPr>
        <p:spPr>
          <a:xfrm>
            <a:off x="9482328" y="2834640"/>
            <a:ext cx="566928" cy="384048"/>
          </a:xfrm>
          <a:prstGeom prst="rect">
            <a:avLst/>
          </a:prstGeom>
          <a:noFill/>
          <a:ln/>
        </p:spPr>
        <p:txBody>
          <a:bodyPr wrap="square" lIns="0" tIns="0" rIns="0" bIns="0" rtlCol="0" anchor="ctr"/>
          <a:lstStyle/>
          <a:p>
            <a:pPr indent="0" marL="0">
              <a:buNone/>
            </a:pPr>
            <a:r>
              <a:rPr lang="en-US" sz="1600" b="1" dirty="0">
                <a:solidFill>
                  <a:srgbClr val="C97F00"/>
                </a:solidFill>
                <a:latin typeface="Calibri" pitchFamily="34" charset="0"/>
                <a:ea typeface="Calibri" pitchFamily="34" charset="-122"/>
                <a:cs typeface="Calibri" pitchFamily="34" charset="-120"/>
              </a:rPr>
              <a:t>I.</a:t>
            </a:r>
            <a:endParaRPr lang="en-US" sz="1600" dirty="0"/>
          </a:p>
        </p:txBody>
      </p:sp>
      <p:sp>
        <p:nvSpPr>
          <p:cNvPr id="43" name="Shape 40"/>
          <p:cNvSpPr/>
          <p:nvPr/>
        </p:nvSpPr>
        <p:spPr>
          <a:xfrm>
            <a:off x="10104120" y="2944368"/>
            <a:ext cx="1298448" cy="146304"/>
          </a:xfrm>
          <a:prstGeom prst="roundRect">
            <a:avLst>
              <a:gd name="adj" fmla="val 25000"/>
            </a:avLst>
          </a:prstGeom>
          <a:solidFill>
            <a:srgbClr val="DCD8EE"/>
          </a:solidFill>
          <a:ln w="12700">
            <a:solidFill>
              <a:srgbClr val="DCD8EE"/>
            </a:solidFill>
            <a:prstDash val="solid"/>
          </a:ln>
        </p:spPr>
      </p:sp>
      <p:sp>
        <p:nvSpPr>
          <p:cNvPr id="44" name="Text 41"/>
          <p:cNvSpPr/>
          <p:nvPr/>
        </p:nvSpPr>
        <p:spPr>
          <a:xfrm>
            <a:off x="9482328" y="3310128"/>
            <a:ext cx="566928" cy="384048"/>
          </a:xfrm>
          <a:prstGeom prst="rect">
            <a:avLst/>
          </a:prstGeom>
          <a:noFill/>
          <a:ln/>
        </p:spPr>
        <p:txBody>
          <a:bodyPr wrap="square" lIns="0" tIns="0" rIns="0" bIns="0" rtlCol="0" anchor="ctr"/>
          <a:lstStyle/>
          <a:p>
            <a:pPr indent="0" marL="0">
              <a:buNone/>
            </a:pPr>
            <a:r>
              <a:rPr lang="en-US" sz="1600" b="1" dirty="0">
                <a:solidFill>
                  <a:srgbClr val="C97F00"/>
                </a:solidFill>
                <a:latin typeface="Calibri" pitchFamily="34" charset="0"/>
                <a:ea typeface="Calibri" pitchFamily="34" charset="-122"/>
                <a:cs typeface="Calibri" pitchFamily="34" charset="-120"/>
              </a:rPr>
              <a:t>II.</a:t>
            </a:r>
            <a:endParaRPr lang="en-US" sz="1600" dirty="0"/>
          </a:p>
        </p:txBody>
      </p:sp>
      <p:sp>
        <p:nvSpPr>
          <p:cNvPr id="45" name="Shape 42"/>
          <p:cNvSpPr/>
          <p:nvPr/>
        </p:nvSpPr>
        <p:spPr>
          <a:xfrm>
            <a:off x="10104120" y="3419856"/>
            <a:ext cx="1298448" cy="146304"/>
          </a:xfrm>
          <a:prstGeom prst="roundRect">
            <a:avLst>
              <a:gd name="adj" fmla="val 25000"/>
            </a:avLst>
          </a:prstGeom>
          <a:solidFill>
            <a:srgbClr val="DCD8EE"/>
          </a:solidFill>
          <a:ln w="12700">
            <a:solidFill>
              <a:srgbClr val="DCD8EE"/>
            </a:solidFill>
            <a:prstDash val="solid"/>
          </a:ln>
        </p:spPr>
      </p:sp>
      <p:sp>
        <p:nvSpPr>
          <p:cNvPr id="46" name="Text 43"/>
          <p:cNvSpPr/>
          <p:nvPr/>
        </p:nvSpPr>
        <p:spPr>
          <a:xfrm>
            <a:off x="9482328" y="3785616"/>
            <a:ext cx="566928" cy="384048"/>
          </a:xfrm>
          <a:prstGeom prst="rect">
            <a:avLst/>
          </a:prstGeom>
          <a:noFill/>
          <a:ln/>
        </p:spPr>
        <p:txBody>
          <a:bodyPr wrap="square" lIns="0" tIns="0" rIns="0" bIns="0" rtlCol="0" anchor="ctr"/>
          <a:lstStyle/>
          <a:p>
            <a:pPr indent="0" marL="0">
              <a:buNone/>
            </a:pPr>
            <a:r>
              <a:rPr lang="en-US" sz="1600" b="1" dirty="0">
                <a:solidFill>
                  <a:srgbClr val="C97F00"/>
                </a:solidFill>
                <a:latin typeface="Calibri" pitchFamily="34" charset="0"/>
                <a:ea typeface="Calibri" pitchFamily="34" charset="-122"/>
                <a:cs typeface="Calibri" pitchFamily="34" charset="-120"/>
              </a:rPr>
              <a:t>III.</a:t>
            </a:r>
            <a:endParaRPr lang="en-US" sz="1600" dirty="0"/>
          </a:p>
        </p:txBody>
      </p:sp>
      <p:sp>
        <p:nvSpPr>
          <p:cNvPr id="47" name="Shape 44"/>
          <p:cNvSpPr/>
          <p:nvPr/>
        </p:nvSpPr>
        <p:spPr>
          <a:xfrm>
            <a:off x="10104120" y="3895344"/>
            <a:ext cx="1298448" cy="146304"/>
          </a:xfrm>
          <a:prstGeom prst="roundRect">
            <a:avLst>
              <a:gd name="adj" fmla="val 25000"/>
            </a:avLst>
          </a:prstGeom>
          <a:solidFill>
            <a:srgbClr val="DCD8EE"/>
          </a:solidFill>
          <a:ln w="12700">
            <a:solidFill>
              <a:srgbClr val="DCD8EE"/>
            </a:solidFill>
            <a:prstDash val="solid"/>
          </a:ln>
        </p:spPr>
      </p:sp>
      <p:sp>
        <p:nvSpPr>
          <p:cNvPr id="48" name="Text 45"/>
          <p:cNvSpPr/>
          <p:nvPr/>
        </p:nvSpPr>
        <p:spPr>
          <a:xfrm>
            <a:off x="9427464" y="4315968"/>
            <a:ext cx="2029968" cy="502920"/>
          </a:xfrm>
          <a:prstGeom prst="rect">
            <a:avLst/>
          </a:prstGeom>
          <a:noFill/>
          <a:ln/>
        </p:spPr>
        <p:txBody>
          <a:bodyPr wrap="square" lIns="0" tIns="0" rIns="0" bIns="0" rtlCol="0" anchor="t"/>
          <a:lstStyle/>
          <a:p>
            <a:pPr algn="l" indent="0" marL="0">
              <a:lnSpc>
                <a:spcPts val="1500"/>
              </a:lnSpc>
              <a:buNone/>
            </a:pPr>
            <a:r>
              <a:rPr lang="en-US" sz="1150" dirty="0">
                <a:solidFill>
                  <a:srgbClr val="5C5580"/>
                </a:solidFill>
                <a:latin typeface="Calibri" pitchFamily="34" charset="0"/>
                <a:ea typeface="Calibri" pitchFamily="34" charset="-122"/>
                <a:cs typeface="Calibri" pitchFamily="34" charset="-120"/>
              </a:rPr>
              <a:t>Roman numerals, for when it is serious.</a:t>
            </a:r>
            <a:endParaRPr lang="en-US" sz="1150" dirty="0"/>
          </a:p>
        </p:txBody>
      </p:sp>
      <p:sp>
        <p:nvSpPr>
          <p:cNvPr id="49" name="Shape 46"/>
          <p:cNvSpPr/>
          <p:nvPr/>
        </p:nvSpPr>
        <p:spPr>
          <a:xfrm>
            <a:off x="640080" y="5084064"/>
            <a:ext cx="10881360" cy="786384"/>
          </a:xfrm>
          <a:prstGeom prst="roundRect">
            <a:avLst>
              <a:gd name="adj" fmla="val 11628"/>
            </a:avLst>
          </a:prstGeom>
          <a:solidFill>
            <a:srgbClr val="141033"/>
          </a:solidFill>
          <a:ln w="12700">
            <a:solidFill>
              <a:srgbClr val="241C4D"/>
            </a:solidFill>
            <a:prstDash val="solid"/>
          </a:ln>
          <a:effectLst>
            <a:outerShdw sx="100000" sy="100000" kx="0" ky="0" algn="bl" rotWithShape="0" blurRad="101600" dist="38100" dir="2700000">
              <a:srgbClr val="191333">
                <a:alpha val="100000"/>
              </a:srgbClr>
            </a:outerShdw>
          </a:effectLst>
        </p:spPr>
      </p:sp>
      <p:sp>
        <p:nvSpPr>
          <p:cNvPr id="50" name="Text 47"/>
          <p:cNvSpPr/>
          <p:nvPr/>
        </p:nvSpPr>
        <p:spPr>
          <a:xfrm>
            <a:off x="914400" y="5321808"/>
            <a:ext cx="10332720" cy="310896"/>
          </a:xfrm>
          <a:prstGeom prst="rect">
            <a:avLst/>
          </a:prstGeom>
          <a:noFill/>
          <a:ln/>
        </p:spPr>
        <p:txBody>
          <a:bodyPr wrap="square" lIns="0" tIns="0" rIns="0" bIns="0" rtlCol="0" anchor="t"/>
          <a:lstStyle/>
          <a:p>
            <a:pPr indent="0" marL="0">
              <a:lnSpc>
                <a:spcPts val="2000"/>
              </a:lnSpc>
              <a:buNone/>
            </a:pPr>
            <a:r>
              <a:rPr lang="en-US" sz="1300" dirty="0">
                <a:solidFill>
                  <a:srgbClr val="A9A2CC"/>
                </a:solidFill>
                <a:latin typeface="Courier New" pitchFamily="34" charset="0"/>
                <a:ea typeface="Courier New" pitchFamily="34" charset="-122"/>
                <a:cs typeface="Courier New" pitchFamily="34" charset="-120"/>
              </a:rPr>
              <a:t>&lt;</a:t>
            </a:r>
            <a:pPr indent="0" marL="0">
              <a:lnSpc>
                <a:spcPts val="2000"/>
              </a:lnSpc>
              <a:buNone/>
            </a:pPr>
            <a:r>
              <a:rPr lang="en-US" sz="1300" dirty="0">
                <a:solidFill>
                  <a:srgbClr val="FF8FB8"/>
                </a:solidFill>
                <a:latin typeface="Courier New" pitchFamily="34" charset="0"/>
                <a:ea typeface="Courier New" pitchFamily="34" charset="-122"/>
                <a:cs typeface="Courier New" pitchFamily="34" charset="-120"/>
              </a:rPr>
              <a:t>ol</a:t>
            </a:r>
            <a:pPr indent="0" marL="0">
              <a:lnSpc>
                <a:spcPts val="2000"/>
              </a:lnSpc>
              <a:buNone/>
            </a:pPr>
            <a:r>
              <a:rPr lang="en-US" sz="1300" dirty="0">
                <a:solidFill>
                  <a:srgbClr val="E8E6F5"/>
                </a:solidFill>
                <a:latin typeface="Courier New" pitchFamily="34" charset="0"/>
                <a:ea typeface="Courier New" pitchFamily="34" charset="-122"/>
                <a:cs typeface="Courier New" pitchFamily="34" charset="-120"/>
              </a:rPr>
              <a:t> </a:t>
            </a:r>
            <a:pPr indent="0" marL="0">
              <a:lnSpc>
                <a:spcPts val="2000"/>
              </a:lnSpc>
              <a:buNone/>
            </a:pPr>
            <a:r>
              <a:rPr lang="en-US" sz="1300" dirty="0">
                <a:solidFill>
                  <a:srgbClr val="FFC96B"/>
                </a:solidFill>
                <a:latin typeface="Courier New" pitchFamily="34" charset="0"/>
                <a:ea typeface="Courier New" pitchFamily="34" charset="-122"/>
                <a:cs typeface="Courier New" pitchFamily="34" charset="-120"/>
              </a:rPr>
              <a:t>type</a:t>
            </a:r>
            <a:pPr indent="0" marL="0">
              <a:lnSpc>
                <a:spcPts val="2000"/>
              </a:lnSpc>
              <a:buNone/>
            </a:pPr>
            <a:r>
              <a:rPr lang="en-US" sz="1300" dirty="0">
                <a:solidFill>
                  <a:srgbClr val="A9A2CC"/>
                </a:solidFill>
                <a:latin typeface="Courier New" pitchFamily="34" charset="0"/>
                <a:ea typeface="Courier New" pitchFamily="34" charset="-122"/>
                <a:cs typeface="Courier New" pitchFamily="34" charset="-120"/>
              </a:rPr>
              <a:t>=</a:t>
            </a:r>
            <a:pPr indent="0" marL="0">
              <a:lnSpc>
                <a:spcPts val="2000"/>
              </a:lnSpc>
              <a:buNone/>
            </a:pPr>
            <a:r>
              <a:rPr lang="en-US" sz="1300" dirty="0">
                <a:solidFill>
                  <a:srgbClr val="8FE3A8"/>
                </a:solidFill>
                <a:latin typeface="Courier New" pitchFamily="34" charset="0"/>
                <a:ea typeface="Courier New" pitchFamily="34" charset="-122"/>
                <a:cs typeface="Courier New" pitchFamily="34" charset="-120"/>
              </a:rPr>
              <a:t>"I"</a:t>
            </a:r>
            <a:pPr indent="0" marL="0">
              <a:lnSpc>
                <a:spcPts val="2000"/>
              </a:lnSpc>
              <a:buNone/>
            </a:pPr>
            <a:r>
              <a:rPr lang="en-US" sz="1300" dirty="0">
                <a:solidFill>
                  <a:srgbClr val="A9A2CC"/>
                </a:solidFill>
                <a:latin typeface="Courier New" pitchFamily="34" charset="0"/>
                <a:ea typeface="Courier New" pitchFamily="34" charset="-122"/>
                <a:cs typeface="Courier New" pitchFamily="34" charset="-120"/>
              </a:rPr>
              <a:t>&gt;</a:t>
            </a:r>
            <a:pPr indent="0" marL="0">
              <a:lnSpc>
                <a:spcPts val="2000"/>
              </a:lnSpc>
              <a:buNone/>
            </a:pPr>
            <a:r>
              <a:rPr lang="en-US" sz="1300" dirty="0">
                <a:solidFill>
                  <a:srgbClr val="E8E6F5"/>
                </a:solidFill>
                <a:latin typeface="Courier New" pitchFamily="34" charset="0"/>
                <a:ea typeface="Courier New" pitchFamily="34" charset="-122"/>
                <a:cs typeface="Courier New" pitchFamily="34" charset="-120"/>
              </a:rPr>
              <a:t>   ...same list items, roman numerals now...   </a:t>
            </a:r>
            <a:pPr indent="0" marL="0">
              <a:lnSpc>
                <a:spcPts val="2000"/>
              </a:lnSpc>
              <a:buNone/>
            </a:pPr>
            <a:r>
              <a:rPr lang="en-US" sz="1300" dirty="0">
                <a:solidFill>
                  <a:srgbClr val="A9A2CC"/>
                </a:solidFill>
                <a:latin typeface="Courier New" pitchFamily="34" charset="0"/>
                <a:ea typeface="Courier New" pitchFamily="34" charset="-122"/>
                <a:cs typeface="Courier New" pitchFamily="34" charset="-120"/>
              </a:rPr>
              <a:t>&lt;/</a:t>
            </a:r>
            <a:pPr indent="0" marL="0">
              <a:lnSpc>
                <a:spcPts val="2000"/>
              </a:lnSpc>
              <a:buNone/>
            </a:pPr>
            <a:r>
              <a:rPr lang="en-US" sz="1300" dirty="0">
                <a:solidFill>
                  <a:srgbClr val="FF8FB8"/>
                </a:solidFill>
                <a:latin typeface="Courier New" pitchFamily="34" charset="0"/>
                <a:ea typeface="Courier New" pitchFamily="34" charset="-122"/>
                <a:cs typeface="Courier New" pitchFamily="34" charset="-120"/>
              </a:rPr>
              <a:t>ol</a:t>
            </a:r>
            <a:pPr indent="0" marL="0">
              <a:lnSpc>
                <a:spcPts val="2000"/>
              </a:lnSpc>
              <a:buNone/>
            </a:pPr>
            <a:r>
              <a:rPr lang="en-US" sz="1300" dirty="0">
                <a:solidFill>
                  <a:srgbClr val="A9A2CC"/>
                </a:solidFill>
                <a:latin typeface="Courier New" pitchFamily="34" charset="0"/>
                <a:ea typeface="Courier New" pitchFamily="34" charset="-122"/>
                <a:cs typeface="Courier New" pitchFamily="34" charset="-120"/>
              </a:rPr>
              <a:t>&gt;</a:t>
            </a:r>
            <a:endParaRPr lang="en-US" sz="1300" dirty="0"/>
          </a:p>
        </p:txBody>
      </p:sp>
      <p:sp>
        <p:nvSpPr>
          <p:cNvPr id="51" name="Shape 48"/>
          <p:cNvSpPr/>
          <p:nvPr/>
        </p:nvSpPr>
        <p:spPr>
          <a:xfrm>
            <a:off x="640080" y="5943600"/>
            <a:ext cx="10908792" cy="512064"/>
          </a:xfrm>
          <a:prstGeom prst="roundRect">
            <a:avLst>
              <a:gd name="adj" fmla="val 14286"/>
            </a:avLst>
          </a:prstGeom>
          <a:solidFill>
            <a:srgbClr val="FFF1D6"/>
          </a:solidFill>
          <a:ln w="12700">
            <a:solidFill>
              <a:srgbClr val="F5CE8A"/>
            </a:solidFill>
            <a:prstDash val="solid"/>
          </a:ln>
        </p:spPr>
      </p:sp>
      <p:sp>
        <p:nvSpPr>
          <p:cNvPr id="52" name="Text 49"/>
          <p:cNvSpPr/>
          <p:nvPr/>
        </p:nvSpPr>
        <p:spPr>
          <a:xfrm>
            <a:off x="859536" y="5943600"/>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nobody has ever needed type="I". everybody has used it once, on purpose, to feel powerful.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06</a:t>
            </a:r>
            <a:endParaRPr lang="en-US" sz="900" dirty="0"/>
          </a:p>
        </p:txBody>
      </p:sp>
      <p:sp>
        <p:nvSpPr>
          <p:cNvPr id="5" name="Shape 2"/>
          <p:cNvSpPr/>
          <p:nvPr/>
        </p:nvSpPr>
        <p:spPr>
          <a:xfrm>
            <a:off x="640080" y="365760"/>
            <a:ext cx="1920240"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MEME BREAK</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The list enlightenment ladder</a:t>
            </a:r>
            <a:endParaRPr lang="en-US" sz="3200" dirty="0"/>
          </a:p>
        </p:txBody>
      </p:sp>
      <p:sp>
        <p:nvSpPr>
          <p:cNvPr id="8" name="Shape 5"/>
          <p:cNvSpPr/>
          <p:nvPr/>
        </p:nvSpPr>
        <p:spPr>
          <a:xfrm rot="-36000">
            <a:off x="640080" y="1536192"/>
            <a:ext cx="10881360" cy="960120"/>
          </a:xfrm>
          <a:prstGeom prst="roundRect">
            <a:avLst>
              <a:gd name="adj" fmla="val 9524"/>
            </a:avLst>
          </a:prstGeom>
          <a:solidFill>
            <a:srgbClr val="EDE7FF"/>
          </a:solidFill>
          <a:ln w="25400">
            <a:solidFill>
              <a:srgbClr val="191333"/>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rot="-36000">
            <a:off x="1348283" y="1714043"/>
            <a:ext cx="595274" cy="595274"/>
          </a:xfrm>
          <a:prstGeom prst="ellipse">
            <a:avLst/>
          </a:prstGeom>
          <a:solidFill>
            <a:srgbClr val="C9C2EA">
              <a:alpha val="28000"/>
            </a:srgbClr>
          </a:solidFill>
          <a:ln w="12700">
            <a:solidFill>
              <a:srgbClr val="C9C2EA"/>
            </a:solidFill>
            <a:prstDash val="solid"/>
          </a:ln>
        </p:spPr>
      </p:sp>
      <p:sp>
        <p:nvSpPr>
          <p:cNvPr id="10" name="Shape 7"/>
          <p:cNvSpPr/>
          <p:nvPr/>
        </p:nvSpPr>
        <p:spPr>
          <a:xfrm rot="-36000">
            <a:off x="1415491" y="1781251"/>
            <a:ext cx="460858" cy="460858"/>
          </a:xfrm>
          <a:prstGeom prst="ellipse">
            <a:avLst/>
          </a:prstGeom>
          <a:solidFill>
            <a:srgbClr val="C9C2EA">
              <a:alpha val="55000"/>
            </a:srgbClr>
          </a:solidFill>
          <a:ln w="12700">
            <a:solidFill>
              <a:srgbClr val="C9C2EA"/>
            </a:solidFill>
            <a:prstDash val="solid"/>
          </a:ln>
        </p:spPr>
      </p:sp>
      <p:sp>
        <p:nvSpPr>
          <p:cNvPr id="11" name="Shape 8"/>
          <p:cNvSpPr/>
          <p:nvPr/>
        </p:nvSpPr>
        <p:spPr>
          <a:xfrm rot="-36000">
            <a:off x="1453896" y="1819656"/>
            <a:ext cx="384048" cy="384048"/>
          </a:xfrm>
          <a:prstGeom prst="ellipse">
            <a:avLst/>
          </a:prstGeom>
          <a:solidFill>
            <a:srgbClr val="C9C2EA"/>
          </a:solidFill>
          <a:ln w="15875">
            <a:solidFill>
              <a:srgbClr val="191333"/>
            </a:solidFill>
            <a:prstDash val="solid"/>
          </a:ln>
        </p:spPr>
      </p:sp>
      <p:sp>
        <p:nvSpPr>
          <p:cNvPr id="12" name="Text 9"/>
          <p:cNvSpPr/>
          <p:nvPr/>
        </p:nvSpPr>
        <p:spPr>
          <a:xfrm rot="-36000">
            <a:off x="2651760" y="1536192"/>
            <a:ext cx="8595360" cy="960120"/>
          </a:xfrm>
          <a:prstGeom prst="rect">
            <a:avLst/>
          </a:prstGeom>
          <a:noFill/>
          <a:ln/>
        </p:spPr>
        <p:txBody>
          <a:bodyPr wrap="square" lIns="0" tIns="0" rIns="0" bIns="0" rtlCol="0" anchor="ctr"/>
          <a:lstStyle/>
          <a:p>
            <a:pPr algn="l" indent="0" marL="0">
              <a:lnSpc>
                <a:spcPts val="1750"/>
              </a:lnSpc>
              <a:buNone/>
            </a:pPr>
            <a:r>
              <a:rPr lang="en-US" sz="1400" b="1" spc="50" kern="0" dirty="0">
                <a:solidFill>
                  <a:srgbClr val="191333"/>
                </a:solidFill>
                <a:latin typeface="Arial Black" pitchFamily="34" charset="0"/>
                <a:ea typeface="Arial Black" pitchFamily="34" charset="-122"/>
                <a:cs typeface="Arial Black" pitchFamily="34" charset="-120"/>
              </a:rPr>
              <a:t>&lt;UL&gt; FOR A SHOPPING LIST</a:t>
            </a:r>
            <a:endParaRPr lang="en-US" sz="1400" dirty="0"/>
          </a:p>
        </p:txBody>
      </p:sp>
      <p:sp>
        <p:nvSpPr>
          <p:cNvPr id="13" name="Shape 10"/>
          <p:cNvSpPr/>
          <p:nvPr/>
        </p:nvSpPr>
        <p:spPr>
          <a:xfrm rot="36000">
            <a:off x="640080" y="2578608"/>
            <a:ext cx="10881360" cy="960120"/>
          </a:xfrm>
          <a:prstGeom prst="roundRect">
            <a:avLst>
              <a:gd name="adj" fmla="val 9524"/>
            </a:avLst>
          </a:prstGeom>
          <a:solidFill>
            <a:srgbClr val="E3DAFF"/>
          </a:solidFill>
          <a:ln w="25400">
            <a:solidFill>
              <a:srgbClr val="191333"/>
            </a:solidFill>
            <a:prstDash val="solid"/>
          </a:ln>
          <a:effectLst>
            <a:outerShdw sx="100000" sy="100000" kx="0" ky="0" algn="bl" rotWithShape="0" blurRad="101600" dist="38100" dir="2700000">
              <a:srgbClr val="191333">
                <a:alpha val="100000"/>
              </a:srgbClr>
            </a:outerShdw>
          </a:effectLst>
        </p:spPr>
      </p:sp>
      <p:sp>
        <p:nvSpPr>
          <p:cNvPr id="14" name="Shape 11"/>
          <p:cNvSpPr/>
          <p:nvPr/>
        </p:nvSpPr>
        <p:spPr>
          <a:xfrm rot="36000">
            <a:off x="1263244" y="2671420"/>
            <a:ext cx="765353" cy="765353"/>
          </a:xfrm>
          <a:prstGeom prst="ellipse">
            <a:avLst/>
          </a:prstGeom>
          <a:solidFill>
            <a:srgbClr val="A98FF0">
              <a:alpha val="28000"/>
            </a:srgbClr>
          </a:solidFill>
          <a:ln w="12700">
            <a:solidFill>
              <a:srgbClr val="A98FF0"/>
            </a:solidFill>
            <a:prstDash val="solid"/>
          </a:ln>
        </p:spPr>
      </p:sp>
      <p:sp>
        <p:nvSpPr>
          <p:cNvPr id="15" name="Shape 12"/>
          <p:cNvSpPr/>
          <p:nvPr/>
        </p:nvSpPr>
        <p:spPr>
          <a:xfrm rot="36000">
            <a:off x="1349654" y="2757830"/>
            <a:ext cx="592531" cy="592531"/>
          </a:xfrm>
          <a:prstGeom prst="ellipse">
            <a:avLst/>
          </a:prstGeom>
          <a:solidFill>
            <a:srgbClr val="A98FF0">
              <a:alpha val="55000"/>
            </a:srgbClr>
          </a:solidFill>
          <a:ln w="12700">
            <a:solidFill>
              <a:srgbClr val="A98FF0"/>
            </a:solidFill>
            <a:prstDash val="solid"/>
          </a:ln>
        </p:spPr>
      </p:sp>
      <p:sp>
        <p:nvSpPr>
          <p:cNvPr id="16" name="Shape 13"/>
          <p:cNvSpPr/>
          <p:nvPr/>
        </p:nvSpPr>
        <p:spPr>
          <a:xfrm rot="36000">
            <a:off x="1399032" y="2807208"/>
            <a:ext cx="493776" cy="493776"/>
          </a:xfrm>
          <a:prstGeom prst="ellipse">
            <a:avLst/>
          </a:prstGeom>
          <a:solidFill>
            <a:srgbClr val="A98FF0"/>
          </a:solidFill>
          <a:ln w="15875">
            <a:solidFill>
              <a:srgbClr val="191333"/>
            </a:solidFill>
            <a:prstDash val="solid"/>
          </a:ln>
        </p:spPr>
      </p:sp>
      <p:sp>
        <p:nvSpPr>
          <p:cNvPr id="17" name="Text 14"/>
          <p:cNvSpPr/>
          <p:nvPr/>
        </p:nvSpPr>
        <p:spPr>
          <a:xfrm rot="36000">
            <a:off x="2651760" y="2578608"/>
            <a:ext cx="8595360" cy="960120"/>
          </a:xfrm>
          <a:prstGeom prst="rect">
            <a:avLst/>
          </a:prstGeom>
          <a:noFill/>
          <a:ln/>
        </p:spPr>
        <p:txBody>
          <a:bodyPr wrap="square" lIns="0" tIns="0" rIns="0" bIns="0" rtlCol="0" anchor="ctr"/>
          <a:lstStyle/>
          <a:p>
            <a:pPr algn="l" indent="0" marL="0">
              <a:lnSpc>
                <a:spcPts val="1750"/>
              </a:lnSpc>
              <a:buNone/>
            </a:pPr>
            <a:r>
              <a:rPr lang="en-US" sz="1400" b="1" spc="50" kern="0" dirty="0">
                <a:solidFill>
                  <a:srgbClr val="191333"/>
                </a:solidFill>
                <a:latin typeface="Arial Black" pitchFamily="34" charset="0"/>
                <a:ea typeface="Arial Black" pitchFamily="34" charset="-122"/>
                <a:cs typeface="Arial Black" pitchFamily="34" charset="-120"/>
              </a:rPr>
              <a:t>&lt;OL&gt; FOR INSTALL STEPS</a:t>
            </a:r>
            <a:endParaRPr lang="en-US" sz="1400" dirty="0"/>
          </a:p>
        </p:txBody>
      </p:sp>
      <p:sp>
        <p:nvSpPr>
          <p:cNvPr id="18" name="Shape 15"/>
          <p:cNvSpPr/>
          <p:nvPr/>
        </p:nvSpPr>
        <p:spPr>
          <a:xfrm rot="-36000">
            <a:off x="640080" y="3621024"/>
            <a:ext cx="10881360" cy="960120"/>
          </a:xfrm>
          <a:prstGeom prst="roundRect">
            <a:avLst>
              <a:gd name="adj" fmla="val 9524"/>
            </a:avLst>
          </a:prstGeom>
          <a:solidFill>
            <a:srgbClr val="DCCEFF"/>
          </a:solidFill>
          <a:ln w="25400">
            <a:solidFill>
              <a:srgbClr val="191333"/>
            </a:solidFill>
            <a:prstDash val="solid"/>
          </a:ln>
          <a:effectLst>
            <a:outerShdw sx="100000" sy="100000" kx="0" ky="0" algn="bl" rotWithShape="0" blurRad="101600" dist="38100" dir="2700000">
              <a:srgbClr val="191333">
                <a:alpha val="100000"/>
              </a:srgbClr>
            </a:outerShdw>
          </a:effectLst>
        </p:spPr>
      </p:sp>
      <p:sp>
        <p:nvSpPr>
          <p:cNvPr id="19" name="Shape 16"/>
          <p:cNvSpPr/>
          <p:nvPr/>
        </p:nvSpPr>
        <p:spPr>
          <a:xfrm rot="-36000">
            <a:off x="1178204" y="3628796"/>
            <a:ext cx="935431" cy="935431"/>
          </a:xfrm>
          <a:prstGeom prst="ellipse">
            <a:avLst/>
          </a:prstGeom>
          <a:solidFill>
            <a:srgbClr val="8358F5">
              <a:alpha val="28000"/>
            </a:srgbClr>
          </a:solidFill>
          <a:ln w="12700">
            <a:solidFill>
              <a:srgbClr val="8358F5"/>
            </a:solidFill>
            <a:prstDash val="solid"/>
          </a:ln>
        </p:spPr>
      </p:sp>
      <p:sp>
        <p:nvSpPr>
          <p:cNvPr id="20" name="Shape 17"/>
          <p:cNvSpPr/>
          <p:nvPr/>
        </p:nvSpPr>
        <p:spPr>
          <a:xfrm rot="-36000">
            <a:off x="1283818" y="3734410"/>
            <a:ext cx="724205" cy="724205"/>
          </a:xfrm>
          <a:prstGeom prst="ellipse">
            <a:avLst/>
          </a:prstGeom>
          <a:solidFill>
            <a:srgbClr val="8358F5">
              <a:alpha val="55000"/>
            </a:srgbClr>
          </a:solidFill>
          <a:ln w="12700">
            <a:solidFill>
              <a:srgbClr val="8358F5"/>
            </a:solidFill>
            <a:prstDash val="solid"/>
          </a:ln>
        </p:spPr>
      </p:sp>
      <p:sp>
        <p:nvSpPr>
          <p:cNvPr id="21" name="Shape 18"/>
          <p:cNvSpPr/>
          <p:nvPr/>
        </p:nvSpPr>
        <p:spPr>
          <a:xfrm rot="-36000">
            <a:off x="1344168" y="3794760"/>
            <a:ext cx="603504" cy="603504"/>
          </a:xfrm>
          <a:prstGeom prst="ellipse">
            <a:avLst/>
          </a:prstGeom>
          <a:solidFill>
            <a:srgbClr val="8358F5"/>
          </a:solidFill>
          <a:ln w="15875">
            <a:solidFill>
              <a:srgbClr val="191333"/>
            </a:solidFill>
            <a:prstDash val="solid"/>
          </a:ln>
        </p:spPr>
      </p:sp>
      <p:sp>
        <p:nvSpPr>
          <p:cNvPr id="22" name="Text 19"/>
          <p:cNvSpPr/>
          <p:nvPr/>
        </p:nvSpPr>
        <p:spPr>
          <a:xfrm rot="-36000">
            <a:off x="2651760" y="3621024"/>
            <a:ext cx="8595360" cy="960120"/>
          </a:xfrm>
          <a:prstGeom prst="rect">
            <a:avLst/>
          </a:prstGeom>
          <a:noFill/>
          <a:ln/>
        </p:spPr>
        <p:txBody>
          <a:bodyPr wrap="square" lIns="0" tIns="0" rIns="0" bIns="0" rtlCol="0" anchor="ctr"/>
          <a:lstStyle/>
          <a:p>
            <a:pPr algn="l" indent="0" marL="0">
              <a:lnSpc>
                <a:spcPts val="1750"/>
              </a:lnSpc>
              <a:buNone/>
            </a:pPr>
            <a:r>
              <a:rPr lang="en-US" sz="1400" b="1" spc="50" kern="0" dirty="0">
                <a:solidFill>
                  <a:srgbClr val="191333"/>
                </a:solidFill>
                <a:latin typeface="Arial Black" pitchFamily="34" charset="0"/>
                <a:ea typeface="Arial Black" pitchFamily="34" charset="-122"/>
                <a:cs typeface="Arial Black" pitchFamily="34" charset="-120"/>
              </a:rPr>
              <a:t>&lt;OL TYPE="I"&gt; BECAUSE ROMAN NUMERALS LOOK OFFICIAL</a:t>
            </a:r>
            <a:endParaRPr lang="en-US" sz="1400" dirty="0"/>
          </a:p>
        </p:txBody>
      </p:sp>
      <p:sp>
        <p:nvSpPr>
          <p:cNvPr id="23" name="Shape 20"/>
          <p:cNvSpPr/>
          <p:nvPr/>
        </p:nvSpPr>
        <p:spPr>
          <a:xfrm rot="36000">
            <a:off x="640080" y="4663440"/>
            <a:ext cx="10881360" cy="960120"/>
          </a:xfrm>
          <a:prstGeom prst="roundRect">
            <a:avLst>
              <a:gd name="adj" fmla="val 9524"/>
            </a:avLst>
          </a:prstGeom>
          <a:solidFill>
            <a:srgbClr val="D2BEFF"/>
          </a:solidFill>
          <a:ln w="25400">
            <a:solidFill>
              <a:srgbClr val="191333"/>
            </a:solidFill>
            <a:prstDash val="solid"/>
          </a:ln>
          <a:effectLst>
            <a:outerShdw sx="100000" sy="100000" kx="0" ky="0" algn="bl" rotWithShape="0" blurRad="101600" dist="38100" dir="2700000">
              <a:srgbClr val="191333">
                <a:alpha val="100000"/>
              </a:srgbClr>
            </a:outerShdw>
          </a:effectLst>
        </p:spPr>
      </p:sp>
      <p:sp>
        <p:nvSpPr>
          <p:cNvPr id="24" name="Shape 21"/>
          <p:cNvSpPr/>
          <p:nvPr/>
        </p:nvSpPr>
        <p:spPr>
          <a:xfrm rot="36000">
            <a:off x="1078992" y="4572000"/>
            <a:ext cx="1133856" cy="1133856"/>
          </a:xfrm>
          <a:prstGeom prst="ellipse">
            <a:avLst/>
          </a:prstGeom>
          <a:solidFill>
            <a:srgbClr val="6C3BF5">
              <a:alpha val="28000"/>
            </a:srgbClr>
          </a:solidFill>
          <a:ln w="12700">
            <a:solidFill>
              <a:srgbClr val="6C3BF5"/>
            </a:solidFill>
            <a:prstDash val="solid"/>
          </a:ln>
        </p:spPr>
      </p:sp>
      <p:sp>
        <p:nvSpPr>
          <p:cNvPr id="25" name="Shape 22"/>
          <p:cNvSpPr/>
          <p:nvPr/>
        </p:nvSpPr>
        <p:spPr>
          <a:xfrm rot="36000">
            <a:off x="1207008" y="4700016"/>
            <a:ext cx="877824" cy="877824"/>
          </a:xfrm>
          <a:prstGeom prst="ellipse">
            <a:avLst/>
          </a:prstGeom>
          <a:solidFill>
            <a:srgbClr val="6C3BF5">
              <a:alpha val="55000"/>
            </a:srgbClr>
          </a:solidFill>
          <a:ln w="12700">
            <a:solidFill>
              <a:srgbClr val="6C3BF5"/>
            </a:solidFill>
            <a:prstDash val="solid"/>
          </a:ln>
        </p:spPr>
      </p:sp>
      <p:sp>
        <p:nvSpPr>
          <p:cNvPr id="26" name="Shape 23"/>
          <p:cNvSpPr/>
          <p:nvPr/>
        </p:nvSpPr>
        <p:spPr>
          <a:xfrm rot="36000">
            <a:off x="1280160" y="4773168"/>
            <a:ext cx="731520" cy="731520"/>
          </a:xfrm>
          <a:prstGeom prst="ellipse">
            <a:avLst/>
          </a:prstGeom>
          <a:solidFill>
            <a:srgbClr val="6C3BF5"/>
          </a:solidFill>
          <a:ln w="15875">
            <a:solidFill>
              <a:srgbClr val="191333"/>
            </a:solidFill>
            <a:prstDash val="solid"/>
          </a:ln>
        </p:spPr>
      </p:sp>
      <p:sp>
        <p:nvSpPr>
          <p:cNvPr id="27" name="Text 24"/>
          <p:cNvSpPr/>
          <p:nvPr/>
        </p:nvSpPr>
        <p:spPr>
          <a:xfrm rot="36000">
            <a:off x="2651760" y="4663440"/>
            <a:ext cx="8595360" cy="960120"/>
          </a:xfrm>
          <a:prstGeom prst="rect">
            <a:avLst/>
          </a:prstGeom>
          <a:noFill/>
          <a:ln/>
        </p:spPr>
        <p:txBody>
          <a:bodyPr wrap="square" lIns="0" tIns="0" rIns="0" bIns="0" rtlCol="0" anchor="ctr"/>
          <a:lstStyle/>
          <a:p>
            <a:pPr algn="l" indent="0" marL="0">
              <a:lnSpc>
                <a:spcPts val="1625"/>
              </a:lnSpc>
              <a:buNone/>
            </a:pPr>
            <a:r>
              <a:rPr lang="en-US" sz="1300" b="1" spc="50" kern="0" dirty="0">
                <a:solidFill>
                  <a:srgbClr val="191333"/>
                </a:solidFill>
                <a:latin typeface="Arial Black" pitchFamily="34" charset="0"/>
                <a:ea typeface="Arial Black" pitchFamily="34" charset="-122"/>
                <a:cs typeface="Arial Black" pitchFamily="34" charset="-120"/>
              </a:rPr>
              <a:t>&lt;OL&gt; INSIDE A &lt;UL&gt; INSIDE ANOTHER &lt;OL&gt;, FOUR LEVELS DEEP, AT 2AM</a:t>
            </a:r>
            <a:endParaRPr lang="en-US" sz="1300" dirty="0"/>
          </a:p>
        </p:txBody>
      </p:sp>
      <p:sp>
        <p:nvSpPr>
          <p:cNvPr id="28" name="Shape 25"/>
          <p:cNvSpPr/>
          <p:nvPr/>
        </p:nvSpPr>
        <p:spPr>
          <a:xfrm>
            <a:off x="640080" y="5760720"/>
            <a:ext cx="10908792" cy="548640"/>
          </a:xfrm>
          <a:prstGeom prst="roundRect">
            <a:avLst>
              <a:gd name="adj" fmla="val 16667"/>
            </a:avLst>
          </a:prstGeom>
          <a:solidFill>
            <a:srgbClr val="F0FBD8"/>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9" name="Text 26"/>
          <p:cNvSpPr/>
          <p:nvPr/>
        </p:nvSpPr>
        <p:spPr>
          <a:xfrm>
            <a:off x="640080" y="5760720"/>
            <a:ext cx="10908792" cy="548640"/>
          </a:xfrm>
          <a:prstGeom prst="rect">
            <a:avLst/>
          </a:prstGeom>
          <a:noFill/>
          <a:ln/>
        </p:spPr>
        <p:txBody>
          <a:bodyPr wrap="square" lIns="0" tIns="0" rIns="0" bIns="0" rtlCol="0" anchor="ctr"/>
          <a:lstStyle/>
          <a:p>
            <a:pPr algn="ctr" indent="0" marL="0">
              <a:buNone/>
            </a:pPr>
            <a:r>
              <a:rPr lang="en-US" sz="1450" b="1" dirty="0">
                <a:solidFill>
                  <a:srgbClr val="191333"/>
                </a:solidFill>
                <a:latin typeface="Calibri" pitchFamily="34" charset="0"/>
                <a:ea typeface="Calibri" pitchFamily="34" charset="-122"/>
                <a:cs typeface="Calibri" pitchFamily="34" charset="-120"/>
              </a:rPr>
              <a:t>Sophistication is not the same as clarity. Pick the list that matches the data, then stop.</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6E67A0"/>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6E67A0"/>
                </a:solidFill>
                <a:latin typeface="Courier New" pitchFamily="34" charset="0"/>
                <a:ea typeface="Courier New" pitchFamily="34" charset="-122"/>
                <a:cs typeface="Courier New" pitchFamily="34" charset="-120"/>
              </a:rPr>
              <a:t>07</a:t>
            </a:r>
            <a:endParaRPr lang="en-US" sz="900" dirty="0"/>
          </a:p>
        </p:txBody>
      </p:sp>
      <p:sp>
        <p:nvSpPr>
          <p:cNvPr id="5" name="Shape 2"/>
          <p:cNvSpPr/>
          <p:nvPr/>
        </p:nvSpPr>
        <p:spPr>
          <a:xfrm>
            <a:off x="640080" y="384048"/>
            <a:ext cx="1508760" cy="329184"/>
          </a:xfrm>
          <a:prstGeom prst="roundRect">
            <a:avLst>
              <a:gd name="adj" fmla="val 22222"/>
            </a:avLst>
          </a:prstGeom>
          <a:solidFill>
            <a:srgbClr val="6C3BF5"/>
          </a:solidFill>
          <a:ln w="12700">
            <a:solidFill>
              <a:srgbClr val="6C3BF5"/>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FFC96B"/>
                </a:solidFill>
                <a:latin typeface="Courier New" pitchFamily="34" charset="0"/>
                <a:ea typeface="Courier New" pitchFamily="34" charset="-122"/>
                <a:cs typeface="Courier New" pitchFamily="34" charset="-120"/>
              </a:rPr>
              <a:t>lists.html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Both lists, live</a:t>
            </a:r>
            <a:endParaRPr lang="en-US" sz="2900" dirty="0"/>
          </a:p>
        </p:txBody>
      </p:sp>
      <p:sp>
        <p:nvSpPr>
          <p:cNvPr id="9" name="Shape 6"/>
          <p:cNvSpPr/>
          <p:nvPr/>
        </p:nvSpPr>
        <p:spPr>
          <a:xfrm>
            <a:off x="640080" y="1517904"/>
            <a:ext cx="6858000" cy="4023360"/>
          </a:xfrm>
          <a:prstGeom prst="roundRect">
            <a:avLst>
              <a:gd name="adj" fmla="val 2273"/>
            </a:avLst>
          </a:prstGeom>
          <a:solidFill>
            <a:srgbClr val="0F0C26"/>
          </a:solidFill>
          <a:ln w="12700">
            <a:solidFill>
              <a:srgbClr val="241C4D"/>
            </a:solidFill>
            <a:prstDash val="solid"/>
          </a:ln>
        </p:spPr>
      </p:sp>
      <p:sp>
        <p:nvSpPr>
          <p:cNvPr id="10" name="Text 7"/>
          <p:cNvSpPr/>
          <p:nvPr/>
        </p:nvSpPr>
        <p:spPr>
          <a:xfrm>
            <a:off x="914400" y="1755648"/>
            <a:ext cx="6309360" cy="3547872"/>
          </a:xfrm>
          <a:prstGeom prst="rect">
            <a:avLst/>
          </a:prstGeom>
          <a:noFill/>
          <a:ln/>
        </p:spPr>
        <p:txBody>
          <a:bodyPr wrap="square" lIns="0" tIns="0" rIns="0" bIns="0" rtlCol="0" anchor="t"/>
          <a:lstStyle/>
          <a:p>
            <a:pPr indent="0" marL="0">
              <a:lnSpc>
                <a:spcPts val="2050"/>
              </a:lnSpc>
              <a:buNone/>
            </a:pPr>
            <a:r>
              <a:rPr lang="en-US" sz="1200" dirty="0">
                <a:solidFill>
                  <a:srgbClr val="8B84B8"/>
                </a:solidFill>
                <a:latin typeface="Courier New" pitchFamily="34" charset="0"/>
                <a:ea typeface="Courier New" pitchFamily="34" charset="-122"/>
                <a:cs typeface="Courier New" pitchFamily="34" charset="-120"/>
              </a:rPr>
              <a:t>&lt;!-- order does not matter --&gt;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ul</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r>
              <a:rPr lang="en-US" sz="1200" dirty="0">
                <a:solidFill>
                  <a:srgbClr val="E8E6F5"/>
                </a:solidFill>
                <a:latin typeface="Courier New" pitchFamily="34" charset="0"/>
                <a:ea typeface="Courier New" pitchFamily="34" charset="-122"/>
                <a:cs typeface="Courier New" pitchFamily="34" charset="-120"/>
              </a:rPr>
              <a:t>Banana</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r>
              <a:rPr lang="en-US" sz="1200" dirty="0">
                <a:solidFill>
                  <a:srgbClr val="E8E6F5"/>
                </a:solidFill>
                <a:latin typeface="Courier New" pitchFamily="34" charset="0"/>
                <a:ea typeface="Courier New" pitchFamily="34" charset="-122"/>
                <a:cs typeface="Courier New" pitchFamily="34" charset="-120"/>
              </a:rPr>
              <a:t>Apple</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ul</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endParaRPr lang="en-US" sz="1200" dirty="0"/>
          </a:p>
          <a:p>
            <a:pPr indent="0" marL="0">
              <a:lnSpc>
                <a:spcPts val="2050"/>
              </a:lnSpc>
              <a:buNone/>
            </a:pPr>
            <a:r>
              <a:rPr lang="en-US" sz="1200" dirty="0">
                <a:solidFill>
                  <a:srgbClr val="8B84B8"/>
                </a:solidFill>
                <a:latin typeface="Courier New" pitchFamily="34" charset="0"/>
                <a:ea typeface="Courier New" pitchFamily="34" charset="-122"/>
                <a:cs typeface="Courier New" pitchFamily="34" charset="-120"/>
              </a:rPr>
              <a:t>&lt;!-- order is the whole point --&gt;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ol</a:t>
            </a:r>
            <a:pPr indent="0" marL="0">
              <a:lnSpc>
                <a:spcPts val="2050"/>
              </a:lnSpc>
              <a:buNone/>
            </a:pPr>
            <a:r>
              <a:rPr lang="en-US" sz="1200" dirty="0">
                <a:solidFill>
                  <a:srgbClr val="E8E6F5"/>
                </a:solidFill>
                <a:latin typeface="Courier New" pitchFamily="34" charset="0"/>
                <a:ea typeface="Courier New" pitchFamily="34" charset="-122"/>
                <a:cs typeface="Courier New" pitchFamily="34" charset="-120"/>
              </a:rPr>
              <a:t> </a:t>
            </a:r>
            <a:pPr indent="0" marL="0">
              <a:lnSpc>
                <a:spcPts val="2050"/>
              </a:lnSpc>
              <a:buNone/>
            </a:pPr>
            <a:r>
              <a:rPr lang="en-US" sz="1200" dirty="0">
                <a:solidFill>
                  <a:srgbClr val="FFC96B"/>
                </a:solidFill>
                <a:latin typeface="Courier New" pitchFamily="34" charset="0"/>
                <a:ea typeface="Courier New" pitchFamily="34" charset="-122"/>
                <a:cs typeface="Courier New" pitchFamily="34" charset="-120"/>
              </a:rPr>
              <a:t>type</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a:t>
            </a:r>
            <a:pPr indent="0" marL="0">
              <a:lnSpc>
                <a:spcPts val="2050"/>
              </a:lnSpc>
              <a:buNone/>
            </a:pPr>
            <a:r>
              <a:rPr lang="en-US" sz="1200" dirty="0">
                <a:solidFill>
                  <a:srgbClr val="8FE3A8"/>
                </a:solidFill>
                <a:latin typeface="Courier New" pitchFamily="34" charset="0"/>
                <a:ea typeface="Courier New" pitchFamily="34" charset="-122"/>
                <a:cs typeface="Courier New" pitchFamily="34" charset="-120"/>
              </a:rPr>
              <a:t>"A"</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r>
              <a:rPr lang="en-US" sz="1200" dirty="0">
                <a:solidFill>
                  <a:srgbClr val="E8E6F5"/>
                </a:solidFill>
                <a:latin typeface="Courier New" pitchFamily="34" charset="0"/>
                <a:ea typeface="Courier New" pitchFamily="34" charset="-122"/>
                <a:cs typeface="Courier New" pitchFamily="34" charset="-120"/>
              </a:rPr>
              <a:t>Download it</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r>
              <a:rPr lang="en-US" sz="1200" dirty="0">
                <a:solidFill>
                  <a:srgbClr val="E8E6F5"/>
                </a:solidFill>
                <a:latin typeface="Courier New" pitchFamily="34" charset="0"/>
                <a:ea typeface="Courier New" pitchFamily="34" charset="-122"/>
                <a:cs typeface="Courier New" pitchFamily="34" charset="-120"/>
              </a:rPr>
              <a:t>Scan it</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  &lt;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r>
              <a:rPr lang="en-US" sz="1200" dirty="0">
                <a:solidFill>
                  <a:srgbClr val="E8E6F5"/>
                </a:solidFill>
                <a:latin typeface="Courier New" pitchFamily="34" charset="0"/>
                <a:ea typeface="Courier New" pitchFamily="34" charset="-122"/>
                <a:cs typeface="Courier New" pitchFamily="34" charset="-120"/>
              </a:rPr>
              <a:t>Run it</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li</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pPr indent="0" marL="0">
              <a:lnSpc>
                <a:spcPts val="2050"/>
              </a:lnSpc>
              <a:buNone/>
            </a:pPr>
            <a:endParaRPr lang="en-US" sz="1200" dirty="0"/>
          </a:p>
          <a:p>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&lt;/</a:t>
            </a:r>
            <a:pPr indent="0" marL="0">
              <a:lnSpc>
                <a:spcPts val="2050"/>
              </a:lnSpc>
              <a:buNone/>
            </a:pPr>
            <a:r>
              <a:rPr lang="en-US" sz="1200" dirty="0">
                <a:solidFill>
                  <a:srgbClr val="FF8FB8"/>
                </a:solidFill>
                <a:latin typeface="Courier New" pitchFamily="34" charset="0"/>
                <a:ea typeface="Courier New" pitchFamily="34" charset="-122"/>
                <a:cs typeface="Courier New" pitchFamily="34" charset="-120"/>
              </a:rPr>
              <a:t>ol</a:t>
            </a:r>
            <a:pPr indent="0" marL="0">
              <a:lnSpc>
                <a:spcPts val="2050"/>
              </a:lnSpc>
              <a:buNone/>
            </a:pPr>
            <a:r>
              <a:rPr lang="en-US" sz="1200" dirty="0">
                <a:solidFill>
                  <a:srgbClr val="A9A2CC"/>
                </a:solidFill>
                <a:latin typeface="Courier New" pitchFamily="34" charset="0"/>
                <a:ea typeface="Courier New" pitchFamily="34" charset="-122"/>
                <a:cs typeface="Courier New" pitchFamily="34" charset="-120"/>
              </a:rPr>
              <a:t>&gt;</a:t>
            </a:r>
            <a:endParaRPr lang="en-US" sz="1200" dirty="0"/>
          </a:p>
        </p:txBody>
      </p:sp>
      <p:sp>
        <p:nvSpPr>
          <p:cNvPr id="11" name="Text 8"/>
          <p:cNvSpPr/>
          <p:nvPr/>
        </p:nvSpPr>
        <p:spPr>
          <a:xfrm>
            <a:off x="7863840" y="1517904"/>
            <a:ext cx="3685032" cy="292608"/>
          </a:xfrm>
          <a:prstGeom prst="rect">
            <a:avLst/>
          </a:prstGeom>
          <a:noFill/>
          <a:ln/>
        </p:spPr>
        <p:txBody>
          <a:bodyPr wrap="square" lIns="0" tIns="0" rIns="0" bIns="0" rtlCol="0" anchor="ctr"/>
          <a:lstStyle/>
          <a:p>
            <a:pPr indent="0" marL="0">
              <a:buNone/>
            </a:pPr>
            <a:r>
              <a:rPr lang="en-US" sz="1050" b="1" spc="200" kern="0" dirty="0">
                <a:solidFill>
                  <a:srgbClr val="FF8FB8"/>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01952"/>
            <a:ext cx="3685032" cy="658368"/>
          </a:xfrm>
          <a:prstGeom prst="roundRect">
            <a:avLst>
              <a:gd name="adj" fmla="val 11111"/>
            </a:avLst>
          </a:prstGeom>
          <a:solidFill>
            <a:srgbClr val="241C4D"/>
          </a:solidFill>
          <a:ln w="12700">
            <a:solidFill>
              <a:srgbClr val="2E2A50"/>
            </a:solidFill>
            <a:prstDash val="solid"/>
          </a:ln>
        </p:spPr>
      </p:sp>
      <p:sp>
        <p:nvSpPr>
          <p:cNvPr id="13" name="Text 10"/>
          <p:cNvSpPr/>
          <p:nvPr/>
        </p:nvSpPr>
        <p:spPr>
          <a:xfrm>
            <a:off x="8065008" y="1901952"/>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Type ul then press Tab. Emmet gives you the container. Then li and Tab inside it.</a:t>
            </a:r>
            <a:endParaRPr lang="en-US" sz="1150" dirty="0"/>
          </a:p>
        </p:txBody>
      </p:sp>
      <p:sp>
        <p:nvSpPr>
          <p:cNvPr id="14" name="Shape 11"/>
          <p:cNvSpPr/>
          <p:nvPr/>
        </p:nvSpPr>
        <p:spPr>
          <a:xfrm>
            <a:off x="7863840" y="2651760"/>
            <a:ext cx="3685032" cy="658368"/>
          </a:xfrm>
          <a:prstGeom prst="roundRect">
            <a:avLst>
              <a:gd name="adj" fmla="val 11111"/>
            </a:avLst>
          </a:prstGeom>
          <a:solidFill>
            <a:srgbClr val="241C4D"/>
          </a:solidFill>
          <a:ln w="12700">
            <a:solidFill>
              <a:srgbClr val="2E2A50"/>
            </a:solidFill>
            <a:prstDash val="solid"/>
          </a:ln>
        </p:spPr>
      </p:sp>
      <p:sp>
        <p:nvSpPr>
          <p:cNvPr id="15" name="Text 12"/>
          <p:cNvSpPr/>
          <p:nvPr/>
        </p:nvSpPr>
        <p:spPr>
          <a:xfrm>
            <a:off x="8065008" y="2651760"/>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Faster: type ul&gt;li*3 and press Tab. Three list items, one keystroke. Let that land.</a:t>
            </a:r>
            <a:endParaRPr lang="en-US" sz="1150" dirty="0"/>
          </a:p>
        </p:txBody>
      </p:sp>
      <p:sp>
        <p:nvSpPr>
          <p:cNvPr id="16" name="Shape 13"/>
          <p:cNvSpPr/>
          <p:nvPr/>
        </p:nvSpPr>
        <p:spPr>
          <a:xfrm>
            <a:off x="7863840" y="3401568"/>
            <a:ext cx="3685032" cy="658368"/>
          </a:xfrm>
          <a:prstGeom prst="roundRect">
            <a:avLst>
              <a:gd name="adj" fmla="val 11111"/>
            </a:avLst>
          </a:prstGeom>
          <a:solidFill>
            <a:srgbClr val="241C4D"/>
          </a:solidFill>
          <a:ln w="12700">
            <a:solidFill>
              <a:srgbClr val="2E2A50"/>
            </a:solidFill>
            <a:prstDash val="solid"/>
          </a:ln>
        </p:spPr>
      </p:sp>
      <p:sp>
        <p:nvSpPr>
          <p:cNvPr id="17" name="Text 14"/>
          <p:cNvSpPr/>
          <p:nvPr/>
        </p:nvSpPr>
        <p:spPr>
          <a:xfrm>
            <a:off x="8065008" y="3401568"/>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Now switch the ul to an ol without touching the li tags. Same items, numbers appear.</a:t>
            </a:r>
            <a:endParaRPr lang="en-US" sz="1150" dirty="0"/>
          </a:p>
        </p:txBody>
      </p:sp>
      <p:sp>
        <p:nvSpPr>
          <p:cNvPr id="18" name="Shape 15"/>
          <p:cNvSpPr/>
          <p:nvPr/>
        </p:nvSpPr>
        <p:spPr>
          <a:xfrm>
            <a:off x="7863840" y="4151376"/>
            <a:ext cx="3685032" cy="658368"/>
          </a:xfrm>
          <a:prstGeom prst="roundRect">
            <a:avLst>
              <a:gd name="adj" fmla="val 11111"/>
            </a:avLst>
          </a:prstGeom>
          <a:solidFill>
            <a:srgbClr val="241C4D"/>
          </a:solidFill>
          <a:ln w="12700">
            <a:solidFill>
              <a:srgbClr val="2E2A50"/>
            </a:solidFill>
            <a:prstDash val="solid"/>
          </a:ln>
        </p:spPr>
      </p:sp>
      <p:sp>
        <p:nvSpPr>
          <p:cNvPr id="19" name="Text 16"/>
          <p:cNvSpPr/>
          <p:nvPr/>
        </p:nvSpPr>
        <p:spPr>
          <a:xfrm>
            <a:off x="8065008" y="4151376"/>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Add type="A" and save. Then delete a middle item and show the renumbering happen live.</a:t>
            </a:r>
            <a:endParaRPr lang="en-US" sz="1150" dirty="0"/>
          </a:p>
        </p:txBody>
      </p:sp>
      <p:sp>
        <p:nvSpPr>
          <p:cNvPr id="20" name="Shape 17"/>
          <p:cNvSpPr/>
          <p:nvPr/>
        </p:nvSpPr>
        <p:spPr>
          <a:xfrm>
            <a:off x="7863840" y="5486400"/>
            <a:ext cx="3685032" cy="658368"/>
          </a:xfrm>
          <a:prstGeom prst="roundRect">
            <a:avLst>
              <a:gd name="adj" fmla="val 11111"/>
            </a:avLst>
          </a:prstGeom>
          <a:solidFill>
            <a:srgbClr val="241C4D"/>
          </a:solidFill>
          <a:ln w="12700">
            <a:solidFill>
              <a:srgbClr val="2E2A50"/>
            </a:solidFill>
            <a:prstDash val="solid"/>
          </a:ln>
        </p:spPr>
      </p:sp>
      <p:sp>
        <p:nvSpPr>
          <p:cNvPr id="21" name="Text 18"/>
          <p:cNvSpPr/>
          <p:nvPr/>
        </p:nvSpPr>
        <p:spPr>
          <a:xfrm>
            <a:off x="8065008" y="5486400"/>
            <a:ext cx="3282696" cy="658368"/>
          </a:xfrm>
          <a:prstGeom prst="rect">
            <a:avLst/>
          </a:prstGeom>
          <a:noFill/>
          <a:ln/>
        </p:spPr>
        <p:txBody>
          <a:bodyPr wrap="square" lIns="0" tIns="0" rIns="0" bIns="0" rtlCol="0" anchor="ctr"/>
          <a:lstStyle/>
          <a:p>
            <a:pPr indent="0" marL="0">
              <a:lnSpc>
                <a:spcPts val="1400"/>
              </a:lnSpc>
              <a:buNone/>
            </a:pPr>
            <a:r>
              <a:rPr lang="en-US" sz="1000" dirty="0">
                <a:solidFill>
                  <a:srgbClr val="8B84B8"/>
                </a:solidFill>
                <a:latin typeface="Courier New" pitchFamily="34" charset="0"/>
                <a:ea typeface="Courier New" pitchFamily="34" charset="-122"/>
                <a:cs typeface="Courier New" pitchFamily="34" charset="-120"/>
              </a:rPr>
              <a:t>ul&gt;li*3 is the closest thing HTML has to a cheat code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08</a:t>
            </a:r>
            <a:endParaRPr lang="en-US" sz="900" dirty="0"/>
          </a:p>
        </p:txBody>
      </p:sp>
      <p:sp>
        <p:nvSpPr>
          <p:cNvPr id="5" name="Shape 2"/>
          <p:cNvSpPr/>
          <p:nvPr/>
        </p:nvSpPr>
        <p:spPr>
          <a:xfrm>
            <a:off x="640080" y="365760"/>
            <a:ext cx="1481328"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481328"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QUIZ 01</a:t>
            </a:r>
            <a:endParaRPr lang="en-US" sz="1050" dirty="0"/>
          </a:p>
        </p:txBody>
      </p:sp>
      <p:sp>
        <p:nvSpPr>
          <p:cNvPr id="7" name="Text 4"/>
          <p:cNvSpPr/>
          <p:nvPr/>
        </p:nvSpPr>
        <p:spPr>
          <a:xfrm>
            <a:off x="640080" y="786384"/>
            <a:ext cx="10881360" cy="822960"/>
          </a:xfrm>
          <a:prstGeom prst="rect">
            <a:avLst/>
          </a:prstGeom>
          <a:noFill/>
          <a:ln/>
        </p:spPr>
        <p:txBody>
          <a:bodyPr wrap="square" lIns="0" tIns="0" rIns="0" bIns="0" rtlCol="0" anchor="ctr"/>
          <a:lstStyle/>
          <a:p>
            <a:pPr indent="0" marL="0">
              <a:buNone/>
            </a:pPr>
            <a:r>
              <a:rPr lang="en-US" sz="2600" b="1" dirty="0">
                <a:solidFill>
                  <a:srgbClr val="191333"/>
                </a:solidFill>
                <a:latin typeface="Calibri" pitchFamily="34" charset="0"/>
                <a:ea typeface="Calibri" pitchFamily="34" charset="-122"/>
                <a:cs typeface="Calibri" pitchFamily="34" charset="-120"/>
              </a:rPr>
              <a:t>Which HTML tag creates an ordered list?</a:t>
            </a:r>
            <a:endParaRPr lang="en-US" sz="2600" dirty="0"/>
          </a:p>
        </p:txBody>
      </p:sp>
      <p:sp>
        <p:nvSpPr>
          <p:cNvPr id="8" name="Shape 5"/>
          <p:cNvSpPr/>
          <p:nvPr/>
        </p:nvSpPr>
        <p:spPr>
          <a:xfrm>
            <a:off x="640080" y="2212848"/>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a:off x="914400" y="2569464"/>
            <a:ext cx="457200" cy="457200"/>
          </a:xfrm>
          <a:prstGeom prst="ellipse">
            <a:avLst/>
          </a:prstGeom>
          <a:solidFill>
            <a:srgbClr val="EDE7FF"/>
          </a:solidFill>
          <a:ln w="12700">
            <a:solidFill>
              <a:srgbClr val="6C3BF5"/>
            </a:solidFill>
            <a:prstDash val="solid"/>
          </a:ln>
        </p:spPr>
      </p:sp>
      <p:sp>
        <p:nvSpPr>
          <p:cNvPr id="10" name="Text 7"/>
          <p:cNvSpPr/>
          <p:nvPr/>
        </p:nvSpPr>
        <p:spPr>
          <a:xfrm>
            <a:off x="914400" y="2569464"/>
            <a:ext cx="457200" cy="457200"/>
          </a:xfrm>
          <a:prstGeom prst="rect">
            <a:avLst/>
          </a:prstGeom>
          <a:noFill/>
          <a:ln/>
        </p:spPr>
        <p:txBody>
          <a:bodyPr wrap="square" lIns="0" tIns="0" rIns="0" bIns="0" rtlCol="0" anchor="ctr"/>
          <a:lstStyle/>
          <a:p>
            <a:pPr algn="ctr" indent="0" marL="0">
              <a:buNone/>
            </a:pPr>
            <a:r>
              <a:rPr lang="en-US" sz="1500" b="1" dirty="0">
                <a:solidFill>
                  <a:srgbClr val="6C3BF5"/>
                </a:solidFill>
                <a:latin typeface="Calibri" pitchFamily="34" charset="0"/>
                <a:ea typeface="Calibri" pitchFamily="34" charset="-122"/>
                <a:cs typeface="Calibri" pitchFamily="34" charset="-120"/>
              </a:rPr>
              <a:t>A</a:t>
            </a:r>
            <a:endParaRPr lang="en-US" sz="1500" dirty="0"/>
          </a:p>
        </p:txBody>
      </p:sp>
      <p:sp>
        <p:nvSpPr>
          <p:cNvPr id="11" name="Text 8"/>
          <p:cNvSpPr/>
          <p:nvPr/>
        </p:nvSpPr>
        <p:spPr>
          <a:xfrm>
            <a:off x="1554480" y="2212848"/>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&lt;ul&gt;</a:t>
            </a:r>
            <a:endParaRPr lang="en-US" sz="1350" dirty="0"/>
          </a:p>
        </p:txBody>
      </p:sp>
      <p:sp>
        <p:nvSpPr>
          <p:cNvPr id="12" name="Shape 9"/>
          <p:cNvSpPr/>
          <p:nvPr/>
        </p:nvSpPr>
        <p:spPr>
          <a:xfrm>
            <a:off x="6336792" y="2212848"/>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3" name="Shape 10"/>
          <p:cNvSpPr/>
          <p:nvPr/>
        </p:nvSpPr>
        <p:spPr>
          <a:xfrm>
            <a:off x="6611112" y="2569464"/>
            <a:ext cx="457200" cy="457200"/>
          </a:xfrm>
          <a:prstGeom prst="ellipse">
            <a:avLst/>
          </a:prstGeom>
          <a:solidFill>
            <a:srgbClr val="EDE7FF"/>
          </a:solidFill>
          <a:ln w="12700">
            <a:solidFill>
              <a:srgbClr val="6C3BF5"/>
            </a:solidFill>
            <a:prstDash val="solid"/>
          </a:ln>
        </p:spPr>
      </p:sp>
      <p:sp>
        <p:nvSpPr>
          <p:cNvPr id="14" name="Text 11"/>
          <p:cNvSpPr/>
          <p:nvPr/>
        </p:nvSpPr>
        <p:spPr>
          <a:xfrm>
            <a:off x="6611112" y="2569464"/>
            <a:ext cx="457200" cy="457200"/>
          </a:xfrm>
          <a:prstGeom prst="rect">
            <a:avLst/>
          </a:prstGeom>
          <a:noFill/>
          <a:ln/>
        </p:spPr>
        <p:txBody>
          <a:bodyPr wrap="square" lIns="0" tIns="0" rIns="0" bIns="0" rtlCol="0" anchor="ctr"/>
          <a:lstStyle/>
          <a:p>
            <a:pPr algn="ctr" indent="0" marL="0">
              <a:buNone/>
            </a:pPr>
            <a:r>
              <a:rPr lang="en-US" sz="1500" b="1" dirty="0">
                <a:solidFill>
                  <a:srgbClr val="6C3BF5"/>
                </a:solidFill>
                <a:latin typeface="Calibri" pitchFamily="34" charset="0"/>
                <a:ea typeface="Calibri" pitchFamily="34" charset="-122"/>
                <a:cs typeface="Calibri" pitchFamily="34" charset="-120"/>
              </a:rPr>
              <a:t>B</a:t>
            </a:r>
            <a:endParaRPr lang="en-US" sz="1500" dirty="0"/>
          </a:p>
        </p:txBody>
      </p:sp>
      <p:sp>
        <p:nvSpPr>
          <p:cNvPr id="15" name="Text 12"/>
          <p:cNvSpPr/>
          <p:nvPr/>
        </p:nvSpPr>
        <p:spPr>
          <a:xfrm>
            <a:off x="7251192" y="2212848"/>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&lt;li&gt;</a:t>
            </a:r>
            <a:endParaRPr lang="en-US" sz="1350" dirty="0"/>
          </a:p>
        </p:txBody>
      </p:sp>
      <p:sp>
        <p:nvSpPr>
          <p:cNvPr id="16" name="Shape 13"/>
          <p:cNvSpPr/>
          <p:nvPr/>
        </p:nvSpPr>
        <p:spPr>
          <a:xfrm>
            <a:off x="640080" y="3621024"/>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7" name="Shape 14"/>
          <p:cNvSpPr/>
          <p:nvPr/>
        </p:nvSpPr>
        <p:spPr>
          <a:xfrm>
            <a:off x="914400" y="3977640"/>
            <a:ext cx="457200" cy="457200"/>
          </a:xfrm>
          <a:prstGeom prst="ellipse">
            <a:avLst/>
          </a:prstGeom>
          <a:solidFill>
            <a:srgbClr val="EDE7FF"/>
          </a:solidFill>
          <a:ln w="12700">
            <a:solidFill>
              <a:srgbClr val="6C3BF5"/>
            </a:solidFill>
            <a:prstDash val="solid"/>
          </a:ln>
        </p:spPr>
      </p:sp>
      <p:sp>
        <p:nvSpPr>
          <p:cNvPr id="18" name="Text 15"/>
          <p:cNvSpPr/>
          <p:nvPr/>
        </p:nvSpPr>
        <p:spPr>
          <a:xfrm>
            <a:off x="914400" y="3977640"/>
            <a:ext cx="457200" cy="457200"/>
          </a:xfrm>
          <a:prstGeom prst="rect">
            <a:avLst/>
          </a:prstGeom>
          <a:noFill/>
          <a:ln/>
        </p:spPr>
        <p:txBody>
          <a:bodyPr wrap="square" lIns="0" tIns="0" rIns="0" bIns="0" rtlCol="0" anchor="ctr"/>
          <a:lstStyle/>
          <a:p>
            <a:pPr algn="ctr" indent="0" marL="0">
              <a:buNone/>
            </a:pPr>
            <a:r>
              <a:rPr lang="en-US" sz="1500" b="1" dirty="0">
                <a:solidFill>
                  <a:srgbClr val="6C3BF5"/>
                </a:solidFill>
                <a:latin typeface="Calibri" pitchFamily="34" charset="0"/>
                <a:ea typeface="Calibri" pitchFamily="34" charset="-122"/>
                <a:cs typeface="Calibri" pitchFamily="34" charset="-120"/>
              </a:rPr>
              <a:t>C</a:t>
            </a:r>
            <a:endParaRPr lang="en-US" sz="1500" dirty="0"/>
          </a:p>
        </p:txBody>
      </p:sp>
      <p:sp>
        <p:nvSpPr>
          <p:cNvPr id="19" name="Text 16"/>
          <p:cNvSpPr/>
          <p:nvPr/>
        </p:nvSpPr>
        <p:spPr>
          <a:xfrm>
            <a:off x="1554480" y="3621024"/>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&lt;ol&gt;</a:t>
            </a:r>
            <a:endParaRPr lang="en-US" sz="1350" dirty="0"/>
          </a:p>
        </p:txBody>
      </p:sp>
      <p:sp>
        <p:nvSpPr>
          <p:cNvPr id="20" name="Shape 17"/>
          <p:cNvSpPr/>
          <p:nvPr/>
        </p:nvSpPr>
        <p:spPr>
          <a:xfrm>
            <a:off x="6336792" y="3621024"/>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1" name="Shape 18"/>
          <p:cNvSpPr/>
          <p:nvPr/>
        </p:nvSpPr>
        <p:spPr>
          <a:xfrm>
            <a:off x="6611112" y="3977640"/>
            <a:ext cx="457200" cy="457200"/>
          </a:xfrm>
          <a:prstGeom prst="ellipse">
            <a:avLst/>
          </a:prstGeom>
          <a:solidFill>
            <a:srgbClr val="EDE7FF"/>
          </a:solidFill>
          <a:ln w="12700">
            <a:solidFill>
              <a:srgbClr val="6C3BF5"/>
            </a:solidFill>
            <a:prstDash val="solid"/>
          </a:ln>
        </p:spPr>
      </p:sp>
      <p:sp>
        <p:nvSpPr>
          <p:cNvPr id="22" name="Text 19"/>
          <p:cNvSpPr/>
          <p:nvPr/>
        </p:nvSpPr>
        <p:spPr>
          <a:xfrm>
            <a:off x="6611112" y="3977640"/>
            <a:ext cx="457200" cy="457200"/>
          </a:xfrm>
          <a:prstGeom prst="rect">
            <a:avLst/>
          </a:prstGeom>
          <a:noFill/>
          <a:ln/>
        </p:spPr>
        <p:txBody>
          <a:bodyPr wrap="square" lIns="0" tIns="0" rIns="0" bIns="0" rtlCol="0" anchor="ctr"/>
          <a:lstStyle/>
          <a:p>
            <a:pPr algn="ctr" indent="0" marL="0">
              <a:buNone/>
            </a:pPr>
            <a:r>
              <a:rPr lang="en-US" sz="1500" b="1" dirty="0">
                <a:solidFill>
                  <a:srgbClr val="6C3BF5"/>
                </a:solidFill>
                <a:latin typeface="Calibri" pitchFamily="34" charset="0"/>
                <a:ea typeface="Calibri" pitchFamily="34" charset="-122"/>
                <a:cs typeface="Calibri" pitchFamily="34" charset="-120"/>
              </a:rPr>
              <a:t>D</a:t>
            </a:r>
            <a:endParaRPr lang="en-US" sz="1500" dirty="0"/>
          </a:p>
        </p:txBody>
      </p:sp>
      <p:sp>
        <p:nvSpPr>
          <p:cNvPr id="23" name="Text 20"/>
          <p:cNvSpPr/>
          <p:nvPr/>
        </p:nvSpPr>
        <p:spPr>
          <a:xfrm>
            <a:off x="7251192" y="3621024"/>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&lt;dl&gt;</a:t>
            </a:r>
            <a:endParaRPr lang="en-US" sz="1350" dirty="0"/>
          </a:p>
        </p:txBody>
      </p:sp>
      <p:sp>
        <p:nvSpPr>
          <p:cNvPr id="24" name="Shape 21"/>
          <p:cNvSpPr/>
          <p:nvPr/>
        </p:nvSpPr>
        <p:spPr>
          <a:xfrm>
            <a:off x="640080" y="5230368"/>
            <a:ext cx="10881360" cy="822960"/>
          </a:xfrm>
          <a:prstGeom prst="roundRect">
            <a:avLst>
              <a:gd name="adj" fmla="val 11111"/>
            </a:avLst>
          </a:prstGeom>
          <a:solidFill>
            <a:srgbClr val="EDE7FF"/>
          </a:solidFill>
          <a:ln w="19050">
            <a:solidFill>
              <a:srgbClr val="6C3BF5"/>
            </a:solidFill>
            <a:prstDash val="solid"/>
          </a:ln>
          <a:effectLst>
            <a:outerShdw sx="100000" sy="100000" kx="0" ky="0" algn="bl" rotWithShape="0" blurRad="101600" dist="38100" dir="2700000">
              <a:srgbClr val="191333">
                <a:alpha val="100000"/>
              </a:srgbClr>
            </a:outerShdw>
          </a:effectLst>
        </p:spPr>
      </p:sp>
      <p:sp>
        <p:nvSpPr>
          <p:cNvPr id="25" name="Text 22"/>
          <p:cNvSpPr/>
          <p:nvPr/>
        </p:nvSpPr>
        <p:spPr>
          <a:xfrm>
            <a:off x="640080" y="5230368"/>
            <a:ext cx="10881360" cy="822960"/>
          </a:xfrm>
          <a:prstGeom prst="rect">
            <a:avLst/>
          </a:prstGeom>
          <a:noFill/>
          <a:ln/>
        </p:spPr>
        <p:txBody>
          <a:bodyPr wrap="square" lIns="0" tIns="0" rIns="0" bIns="0" rtlCol="0" anchor="ctr"/>
          <a:lstStyle/>
          <a:p>
            <a:pPr algn="ctr" indent="0" marL="0">
              <a:buNone/>
            </a:pPr>
            <a:r>
              <a:rPr lang="en-US" sz="1300" i="1" dirty="0">
                <a:solidFill>
                  <a:srgbClr val="191333"/>
                </a:solidFill>
                <a:latin typeface="Calibri" pitchFamily="34" charset="0"/>
                <a:ea typeface="Calibri" pitchFamily="34" charset="-122"/>
                <a:cs typeface="Calibri" pitchFamily="34" charset="-120"/>
              </a:rPr>
              <a:t>Hands up for A, then B, then C, then D. Shout the tag name with me.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0" y="1417320"/>
            <a:ext cx="12188952" cy="2194560"/>
          </a:xfrm>
          <a:prstGeom prst="rect">
            <a:avLst/>
          </a:prstGeom>
          <a:noFill/>
          <a:ln/>
        </p:spPr>
        <p:txBody>
          <a:bodyPr wrap="square" lIns="0" tIns="0" rIns="0" bIns="0" rtlCol="0" anchor="ctr"/>
          <a:lstStyle/>
          <a:p>
            <a:pPr algn="ctr" indent="0" marL="0">
              <a:buNone/>
            </a:pPr>
            <a:r>
              <a:rPr lang="en-US" sz="15000" b="1" dirty="0">
                <a:solidFill>
                  <a:srgbClr val="FFB020"/>
                </a:solidFill>
                <a:latin typeface="Arial Black" pitchFamily="34" charset="0"/>
                <a:ea typeface="Arial Black" pitchFamily="34" charset="-122"/>
                <a:cs typeface="Arial Black" pitchFamily="34" charset="-120"/>
              </a:rPr>
              <a:t>5</a:t>
            </a:r>
            <a:endParaRPr lang="en-US" sz="15000" dirty="0"/>
          </a:p>
        </p:txBody>
      </p:sp>
      <p:sp>
        <p:nvSpPr>
          <p:cNvPr id="4" name="Text 1"/>
          <p:cNvSpPr/>
          <p:nvPr/>
        </p:nvSpPr>
        <p:spPr>
          <a:xfrm>
            <a:off x="0" y="3429000"/>
            <a:ext cx="12188952" cy="457200"/>
          </a:xfrm>
          <a:prstGeom prst="rect">
            <a:avLst/>
          </a:prstGeom>
          <a:noFill/>
          <a:ln/>
        </p:spPr>
        <p:txBody>
          <a:bodyPr wrap="square" lIns="0" tIns="0" rIns="0" bIns="0" rtlCol="0" anchor="ctr"/>
          <a:lstStyle/>
          <a:p>
            <a:pPr algn="ctr" indent="0" marL="0">
              <a:buNone/>
            </a:pPr>
            <a:r>
              <a:rPr lang="en-US" sz="2600" b="1" spc="600" kern="0" dirty="0">
                <a:solidFill>
                  <a:srgbClr val="FFFFFF"/>
                </a:solidFill>
                <a:latin typeface="Arial Black" pitchFamily="34" charset="0"/>
                <a:ea typeface="Arial Black" pitchFamily="34" charset="-122"/>
                <a:cs typeface="Arial Black" pitchFamily="34" charset="-120"/>
              </a:rPr>
              <a:t>MINUTE BREAK</a:t>
            </a:r>
            <a:endParaRPr lang="en-US" sz="2600" dirty="0"/>
          </a:p>
        </p:txBody>
      </p:sp>
      <p:sp>
        <p:nvSpPr>
          <p:cNvPr id="5" name="Text 2"/>
          <p:cNvSpPr/>
          <p:nvPr/>
        </p:nvSpPr>
        <p:spPr>
          <a:xfrm>
            <a:off x="0" y="3977640"/>
            <a:ext cx="12188952" cy="365760"/>
          </a:xfrm>
          <a:prstGeom prst="rect">
            <a:avLst/>
          </a:prstGeom>
          <a:noFill/>
          <a:ln/>
        </p:spPr>
        <p:txBody>
          <a:bodyPr wrap="square" lIns="0" tIns="0" rIns="0" bIns="0" rtlCol="0" anchor="ctr"/>
          <a:lstStyle/>
          <a:p>
            <a:pPr algn="ctr" indent="0" marL="0">
              <a:buNone/>
            </a:pPr>
            <a:r>
              <a:rPr lang="en-US" sz="1400" dirty="0">
                <a:solidFill>
                  <a:srgbClr val="C3BEE4"/>
                </a:solidFill>
                <a:latin typeface="Courier New" pitchFamily="34" charset="0"/>
                <a:ea typeface="Courier New" pitchFamily="34" charset="-122"/>
                <a:cs typeface="Courier New" pitchFamily="34" charset="-120"/>
              </a:rPr>
              <a:t>back at  __ : __     (say the actual clock time out loud)</a:t>
            </a:r>
            <a:endParaRPr lang="en-US" sz="1400" dirty="0"/>
          </a:p>
        </p:txBody>
      </p:sp>
      <p:sp>
        <p:nvSpPr>
          <p:cNvPr id="6" name="Shape 3"/>
          <p:cNvSpPr/>
          <p:nvPr/>
        </p:nvSpPr>
        <p:spPr>
          <a:xfrm>
            <a:off x="2153412" y="4526280"/>
            <a:ext cx="2468880" cy="502920"/>
          </a:xfrm>
          <a:prstGeom prst="roundRect">
            <a:avLst>
              <a:gd name="adj" fmla="val 18182"/>
            </a:avLst>
          </a:prstGeom>
          <a:solidFill>
            <a:srgbClr val="241C4D"/>
          </a:solidFill>
          <a:ln w="12700">
            <a:solidFill>
              <a:srgbClr val="3B3470"/>
            </a:solidFill>
            <a:prstDash val="solid"/>
          </a:ln>
        </p:spPr>
      </p:sp>
      <p:sp>
        <p:nvSpPr>
          <p:cNvPr id="7" name="Text 4"/>
          <p:cNvSpPr/>
          <p:nvPr/>
        </p:nvSpPr>
        <p:spPr>
          <a:xfrm>
            <a:off x="2153412"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Stand up</a:t>
            </a:r>
            <a:endParaRPr lang="en-US" sz="1150" dirty="0"/>
          </a:p>
        </p:txBody>
      </p:sp>
      <p:sp>
        <p:nvSpPr>
          <p:cNvPr id="8" name="Shape 5"/>
          <p:cNvSpPr/>
          <p:nvPr/>
        </p:nvSpPr>
        <p:spPr>
          <a:xfrm>
            <a:off x="4860036" y="4526280"/>
            <a:ext cx="2468880" cy="502920"/>
          </a:xfrm>
          <a:prstGeom prst="roundRect">
            <a:avLst>
              <a:gd name="adj" fmla="val 18182"/>
            </a:avLst>
          </a:prstGeom>
          <a:solidFill>
            <a:srgbClr val="241C4D"/>
          </a:solidFill>
          <a:ln w="12700">
            <a:solidFill>
              <a:srgbClr val="3B3470"/>
            </a:solidFill>
            <a:prstDash val="solid"/>
          </a:ln>
        </p:spPr>
      </p:sp>
      <p:sp>
        <p:nvSpPr>
          <p:cNvPr id="9" name="Text 6"/>
          <p:cNvSpPr/>
          <p:nvPr/>
        </p:nvSpPr>
        <p:spPr>
          <a:xfrm>
            <a:off x="4860036"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Water</a:t>
            </a:r>
            <a:endParaRPr lang="en-US" sz="1150" dirty="0"/>
          </a:p>
        </p:txBody>
      </p:sp>
      <p:sp>
        <p:nvSpPr>
          <p:cNvPr id="10" name="Shape 7"/>
          <p:cNvSpPr/>
          <p:nvPr/>
        </p:nvSpPr>
        <p:spPr>
          <a:xfrm>
            <a:off x="7566660" y="4526280"/>
            <a:ext cx="2468880" cy="502920"/>
          </a:xfrm>
          <a:prstGeom prst="roundRect">
            <a:avLst>
              <a:gd name="adj" fmla="val 18182"/>
            </a:avLst>
          </a:prstGeom>
          <a:solidFill>
            <a:srgbClr val="241C4D"/>
          </a:solidFill>
          <a:ln w="12700">
            <a:solidFill>
              <a:srgbClr val="3B3470"/>
            </a:solidFill>
            <a:prstDash val="solid"/>
          </a:ln>
        </p:spPr>
      </p:sp>
      <p:sp>
        <p:nvSpPr>
          <p:cNvPr id="11" name="Text 8"/>
          <p:cNvSpPr/>
          <p:nvPr/>
        </p:nvSpPr>
        <p:spPr>
          <a:xfrm>
            <a:off x="7566660"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Look at something far away</a:t>
            </a:r>
            <a:endParaRPr lang="en-US" sz="1150" dirty="0"/>
          </a:p>
        </p:txBody>
      </p:sp>
      <p:sp>
        <p:nvSpPr>
          <p:cNvPr id="12" name="Text 9"/>
          <p:cNvSpPr/>
          <p:nvPr/>
        </p:nvSpPr>
        <p:spPr>
          <a:xfrm>
            <a:off x="0" y="5303520"/>
            <a:ext cx="12188952" cy="365760"/>
          </a:xfrm>
          <a:prstGeom prst="rect">
            <a:avLst/>
          </a:prstGeom>
          <a:noFill/>
          <a:ln/>
        </p:spPr>
        <p:txBody>
          <a:bodyPr wrap="square" lIns="0" tIns="0" rIns="0" bIns="0" rtlCol="0" anchor="ctr"/>
          <a:lstStyle/>
          <a:p>
            <a:pPr algn="ctr" indent="0" marL="0">
              <a:buNone/>
            </a:pPr>
            <a:r>
              <a:rPr lang="en-US" sz="1200" b="1" spc="300" kern="0" dirty="0">
                <a:solidFill>
                  <a:srgbClr val="FFB020"/>
                </a:solidFill>
                <a:latin typeface="Calibri" pitchFamily="34" charset="0"/>
                <a:ea typeface="Calibri" pitchFamily="34" charset="-122"/>
                <a:cs typeface="Calibri" pitchFamily="34" charset="-120"/>
              </a:rPr>
              <a:t>UP NEXT:  TABLES</a:t>
            </a:r>
            <a:endParaRPr lang="en-US" sz="1200" dirty="0"/>
          </a:p>
        </p:txBody>
      </p:sp>
      <p:sp>
        <p:nvSpPr>
          <p:cNvPr id="13" name="Text 10"/>
          <p:cNvSpPr/>
          <p:nvPr/>
        </p:nvSpPr>
        <p:spPr>
          <a:xfrm>
            <a:off x="1828800" y="5760720"/>
            <a:ext cx="8531352" cy="365760"/>
          </a:xfrm>
          <a:prstGeom prst="rect">
            <a:avLst/>
          </a:prstGeom>
          <a:noFill/>
          <a:ln/>
        </p:spPr>
        <p:txBody>
          <a:bodyPr wrap="square" lIns="0" tIns="0" rIns="0" bIns="0" rtlCol="0" anchor="ctr"/>
          <a:lstStyle/>
          <a:p>
            <a:pPr algn="ctr" indent="0" marL="0">
              <a:buNone/>
            </a:pPr>
            <a:r>
              <a:rPr lang="en-US" sz="1200" i="1" dirty="0">
                <a:solidFill>
                  <a:srgbClr val="8981B8"/>
                </a:solidFill>
                <a:latin typeface="Calibri" pitchFamily="34" charset="0"/>
                <a:ea typeface="Calibri" pitchFamily="34" charset="-122"/>
                <a:cs typeface="Calibri" pitchFamily="34" charset="-120"/>
              </a:rPr>
              <a:t>your eyes have been focused at 50cm for twenty minutes. they would like a word.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0" y="1737360"/>
            <a:ext cx="12188952" cy="1371600"/>
          </a:xfrm>
          <a:prstGeom prst="rect">
            <a:avLst/>
          </a:prstGeom>
          <a:noFill/>
          <a:ln/>
        </p:spPr>
        <p:txBody>
          <a:bodyPr wrap="square" lIns="0" tIns="0" rIns="0" bIns="0" rtlCol="0" anchor="ctr"/>
          <a:lstStyle/>
          <a:p>
            <a:pPr algn="ctr" indent="0" marL="0">
              <a:buNone/>
            </a:pPr>
            <a:r>
              <a:rPr lang="en-US" sz="10400" b="1" dirty="0">
                <a:solidFill>
                  <a:srgbClr val="2A2450"/>
                </a:solidFill>
                <a:latin typeface="Calibri" pitchFamily="34" charset="0"/>
                <a:ea typeface="Calibri" pitchFamily="34" charset="-122"/>
                <a:cs typeface="Calibri" pitchFamily="34" charset="-120"/>
              </a:rPr>
              <a:t>02</a:t>
            </a:r>
            <a:endParaRPr lang="en-US" sz="10400" dirty="0"/>
          </a:p>
        </p:txBody>
      </p:sp>
      <p:sp>
        <p:nvSpPr>
          <p:cNvPr id="4" name="Text 1"/>
          <p:cNvSpPr/>
          <p:nvPr/>
        </p:nvSpPr>
        <p:spPr>
          <a:xfrm>
            <a:off x="1097280" y="3072384"/>
            <a:ext cx="99943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Tables</a:t>
            </a:r>
            <a:endParaRPr lang="en-US" sz="4000" dirty="0"/>
          </a:p>
        </p:txBody>
      </p:sp>
      <p:sp>
        <p:nvSpPr>
          <p:cNvPr id="5" name="Shape 2"/>
          <p:cNvSpPr/>
          <p:nvPr/>
        </p:nvSpPr>
        <p:spPr>
          <a:xfrm>
            <a:off x="5545836" y="4059936"/>
            <a:ext cx="1097280" cy="45720"/>
          </a:xfrm>
          <a:prstGeom prst="rect">
            <a:avLst/>
          </a:prstGeom>
          <a:solidFill>
            <a:srgbClr val="0090AB"/>
          </a:solidFill>
          <a:ln w="12700">
            <a:solidFill>
              <a:srgbClr val="0090AB"/>
            </a:solidFill>
            <a:prstDash val="solid"/>
          </a:ln>
        </p:spPr>
      </p:sp>
      <p:sp>
        <p:nvSpPr>
          <p:cNvPr id="6" name="Text 3"/>
          <p:cNvSpPr/>
          <p:nvPr/>
        </p:nvSpPr>
        <p:spPr>
          <a:xfrm>
            <a:off x="1828800" y="4297680"/>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Rows, columns, and the one thing tables must never be used for.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09</a:t>
            </a:r>
            <a:endParaRPr lang="en-US" sz="900" dirty="0"/>
          </a:p>
        </p:txBody>
      </p:sp>
      <p:sp>
        <p:nvSpPr>
          <p:cNvPr id="5" name="Shape 2"/>
          <p:cNvSpPr/>
          <p:nvPr/>
        </p:nvSpPr>
        <p:spPr>
          <a:xfrm>
            <a:off x="640080" y="365760"/>
            <a:ext cx="1335024" cy="347472"/>
          </a:xfrm>
          <a:prstGeom prst="roundRect">
            <a:avLst>
              <a:gd name="adj" fmla="val 21053"/>
            </a:avLst>
          </a:prstGeom>
          <a:solidFill>
            <a:srgbClr val="0090A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335024"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TABLES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Anatomy of a table</a:t>
            </a:r>
            <a:endParaRPr lang="en-US" sz="3200" dirty="0"/>
          </a:p>
        </p:txBody>
      </p:sp>
      <p:sp>
        <p:nvSpPr>
          <p:cNvPr id="8" name="Shape 5"/>
          <p:cNvSpPr/>
          <p:nvPr/>
        </p:nvSpPr>
        <p:spPr>
          <a:xfrm>
            <a:off x="2331720" y="1645920"/>
            <a:ext cx="5852160" cy="384048"/>
          </a:xfrm>
          <a:prstGeom prst="roundRect">
            <a:avLst>
              <a:gd name="adj" fmla="val 14286"/>
            </a:avLst>
          </a:prstGeom>
          <a:solidFill>
            <a:srgbClr val="FFFFFF"/>
          </a:solidFill>
          <a:ln w="15875">
            <a:solidFill>
              <a:srgbClr val="191333"/>
            </a:solidFill>
            <a:prstDash val="solid"/>
          </a:ln>
        </p:spPr>
      </p:sp>
      <p:sp>
        <p:nvSpPr>
          <p:cNvPr id="9" name="Text 6"/>
          <p:cNvSpPr/>
          <p:nvPr/>
        </p:nvSpPr>
        <p:spPr>
          <a:xfrm>
            <a:off x="2331720" y="1645920"/>
            <a:ext cx="5852160" cy="384048"/>
          </a:xfrm>
          <a:prstGeom prst="rect">
            <a:avLst/>
          </a:prstGeom>
          <a:noFill/>
          <a:ln/>
        </p:spPr>
        <p:txBody>
          <a:bodyPr wrap="square" lIns="0" tIns="0" rIns="0" bIns="0" rtlCol="0" anchor="ctr"/>
          <a:lstStyle/>
          <a:p>
            <a:pPr algn="ctr" indent="0" marL="0">
              <a:buNone/>
            </a:pPr>
            <a:r>
              <a:rPr lang="en-US" sz="1300" b="1" dirty="0">
                <a:solidFill>
                  <a:srgbClr val="191333"/>
                </a:solidFill>
                <a:latin typeface="Calibri" pitchFamily="34" charset="0"/>
                <a:ea typeface="Calibri" pitchFamily="34" charset="-122"/>
                <a:cs typeface="Calibri" pitchFamily="34" charset="-120"/>
              </a:rPr>
              <a:t>Student’s Marksheet</a:t>
            </a:r>
            <a:endParaRPr lang="en-US" sz="1300" dirty="0"/>
          </a:p>
        </p:txBody>
      </p:sp>
      <p:sp>
        <p:nvSpPr>
          <p:cNvPr id="10" name="Shape 7"/>
          <p:cNvSpPr/>
          <p:nvPr/>
        </p:nvSpPr>
        <p:spPr>
          <a:xfrm>
            <a:off x="2331720" y="2103120"/>
            <a:ext cx="2286000" cy="475488"/>
          </a:xfrm>
          <a:prstGeom prst="rect">
            <a:avLst/>
          </a:prstGeom>
          <a:solidFill>
            <a:srgbClr val="DEF6FA"/>
          </a:solidFill>
          <a:ln w="15875">
            <a:solidFill>
              <a:srgbClr val="191333"/>
            </a:solidFill>
            <a:prstDash val="solid"/>
          </a:ln>
        </p:spPr>
      </p:sp>
      <p:sp>
        <p:nvSpPr>
          <p:cNvPr id="11" name="Text 8"/>
          <p:cNvSpPr/>
          <p:nvPr/>
        </p:nvSpPr>
        <p:spPr>
          <a:xfrm>
            <a:off x="2331720" y="2103120"/>
            <a:ext cx="2286000" cy="475488"/>
          </a:xfrm>
          <a:prstGeom prst="rect">
            <a:avLst/>
          </a:prstGeom>
          <a:noFill/>
          <a:ln/>
        </p:spPr>
        <p:txBody>
          <a:bodyPr wrap="square" lIns="0" tIns="0" rIns="0" bIns="0" rtlCol="0" anchor="ctr"/>
          <a:lstStyle/>
          <a:p>
            <a:pPr algn="ctr" indent="0" marL="0">
              <a:buNone/>
            </a:pPr>
            <a:r>
              <a:rPr lang="en-US" sz="1250" b="1" dirty="0">
                <a:solidFill>
                  <a:srgbClr val="191333"/>
                </a:solidFill>
                <a:latin typeface="Calibri" pitchFamily="34" charset="0"/>
                <a:ea typeface="Calibri" pitchFamily="34" charset="-122"/>
                <a:cs typeface="Calibri" pitchFamily="34" charset="-120"/>
              </a:rPr>
              <a:t>Student</a:t>
            </a:r>
            <a:endParaRPr lang="en-US" sz="1250" dirty="0"/>
          </a:p>
        </p:txBody>
      </p:sp>
      <p:sp>
        <p:nvSpPr>
          <p:cNvPr id="12" name="Shape 9"/>
          <p:cNvSpPr/>
          <p:nvPr/>
        </p:nvSpPr>
        <p:spPr>
          <a:xfrm>
            <a:off x="4617720" y="2103120"/>
            <a:ext cx="2011680" cy="475488"/>
          </a:xfrm>
          <a:prstGeom prst="rect">
            <a:avLst/>
          </a:prstGeom>
          <a:solidFill>
            <a:srgbClr val="DEF6FA"/>
          </a:solidFill>
          <a:ln w="15875">
            <a:solidFill>
              <a:srgbClr val="191333"/>
            </a:solidFill>
            <a:prstDash val="solid"/>
          </a:ln>
        </p:spPr>
      </p:sp>
      <p:sp>
        <p:nvSpPr>
          <p:cNvPr id="13" name="Text 10"/>
          <p:cNvSpPr/>
          <p:nvPr/>
        </p:nvSpPr>
        <p:spPr>
          <a:xfrm>
            <a:off x="4617720" y="2103120"/>
            <a:ext cx="2011680" cy="475488"/>
          </a:xfrm>
          <a:prstGeom prst="rect">
            <a:avLst/>
          </a:prstGeom>
          <a:noFill/>
          <a:ln/>
        </p:spPr>
        <p:txBody>
          <a:bodyPr wrap="square" lIns="0" tIns="0" rIns="0" bIns="0" rtlCol="0" anchor="ctr"/>
          <a:lstStyle/>
          <a:p>
            <a:pPr algn="ctr" indent="0" marL="0">
              <a:buNone/>
            </a:pPr>
            <a:r>
              <a:rPr lang="en-US" sz="1250" b="1" dirty="0">
                <a:solidFill>
                  <a:srgbClr val="191333"/>
                </a:solidFill>
                <a:latin typeface="Calibri" pitchFamily="34" charset="0"/>
                <a:ea typeface="Calibri" pitchFamily="34" charset="-122"/>
                <a:cs typeface="Calibri" pitchFamily="34" charset="-120"/>
              </a:rPr>
              <a:t>Roll No.</a:t>
            </a:r>
            <a:endParaRPr lang="en-US" sz="1250" dirty="0"/>
          </a:p>
        </p:txBody>
      </p:sp>
      <p:sp>
        <p:nvSpPr>
          <p:cNvPr id="14" name="Shape 11"/>
          <p:cNvSpPr/>
          <p:nvPr/>
        </p:nvSpPr>
        <p:spPr>
          <a:xfrm>
            <a:off x="6629400" y="2103120"/>
            <a:ext cx="1554480" cy="475488"/>
          </a:xfrm>
          <a:prstGeom prst="rect">
            <a:avLst/>
          </a:prstGeom>
          <a:solidFill>
            <a:srgbClr val="DEF6FA"/>
          </a:solidFill>
          <a:ln w="15875">
            <a:solidFill>
              <a:srgbClr val="191333"/>
            </a:solidFill>
            <a:prstDash val="solid"/>
          </a:ln>
        </p:spPr>
      </p:sp>
      <p:sp>
        <p:nvSpPr>
          <p:cNvPr id="15" name="Text 12"/>
          <p:cNvSpPr/>
          <p:nvPr/>
        </p:nvSpPr>
        <p:spPr>
          <a:xfrm>
            <a:off x="6629400" y="2103120"/>
            <a:ext cx="1554480" cy="475488"/>
          </a:xfrm>
          <a:prstGeom prst="rect">
            <a:avLst/>
          </a:prstGeom>
          <a:noFill/>
          <a:ln/>
        </p:spPr>
        <p:txBody>
          <a:bodyPr wrap="square" lIns="0" tIns="0" rIns="0" bIns="0" rtlCol="0" anchor="ctr"/>
          <a:lstStyle/>
          <a:p>
            <a:pPr algn="ctr" indent="0" marL="0">
              <a:buNone/>
            </a:pPr>
            <a:r>
              <a:rPr lang="en-US" sz="1250" b="1" dirty="0">
                <a:solidFill>
                  <a:srgbClr val="191333"/>
                </a:solidFill>
                <a:latin typeface="Calibri" pitchFamily="34" charset="0"/>
                <a:ea typeface="Calibri" pitchFamily="34" charset="-122"/>
                <a:cs typeface="Calibri" pitchFamily="34" charset="-120"/>
              </a:rPr>
              <a:t>Marks</a:t>
            </a:r>
            <a:endParaRPr lang="en-US" sz="1250" dirty="0"/>
          </a:p>
        </p:txBody>
      </p:sp>
      <p:sp>
        <p:nvSpPr>
          <p:cNvPr id="16" name="Shape 13"/>
          <p:cNvSpPr/>
          <p:nvPr/>
        </p:nvSpPr>
        <p:spPr>
          <a:xfrm>
            <a:off x="2331720" y="2578608"/>
            <a:ext cx="2286000" cy="475488"/>
          </a:xfrm>
          <a:prstGeom prst="rect">
            <a:avLst/>
          </a:prstGeom>
          <a:solidFill>
            <a:srgbClr val="FFFFFF"/>
          </a:solidFill>
          <a:ln w="15875">
            <a:solidFill>
              <a:srgbClr val="191333"/>
            </a:solidFill>
            <a:prstDash val="solid"/>
          </a:ln>
        </p:spPr>
      </p:sp>
      <p:sp>
        <p:nvSpPr>
          <p:cNvPr id="17" name="Text 14"/>
          <p:cNvSpPr/>
          <p:nvPr/>
        </p:nvSpPr>
        <p:spPr>
          <a:xfrm>
            <a:off x="2331720" y="2578608"/>
            <a:ext cx="228600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Aarav</a:t>
            </a:r>
            <a:endParaRPr lang="en-US" sz="1250" dirty="0"/>
          </a:p>
        </p:txBody>
      </p:sp>
      <p:sp>
        <p:nvSpPr>
          <p:cNvPr id="18" name="Shape 15"/>
          <p:cNvSpPr/>
          <p:nvPr/>
        </p:nvSpPr>
        <p:spPr>
          <a:xfrm>
            <a:off x="4617720" y="2578608"/>
            <a:ext cx="2011680" cy="475488"/>
          </a:xfrm>
          <a:prstGeom prst="rect">
            <a:avLst/>
          </a:prstGeom>
          <a:solidFill>
            <a:srgbClr val="FFFFFF"/>
          </a:solidFill>
          <a:ln w="15875">
            <a:solidFill>
              <a:srgbClr val="191333"/>
            </a:solidFill>
            <a:prstDash val="solid"/>
          </a:ln>
        </p:spPr>
      </p:sp>
      <p:sp>
        <p:nvSpPr>
          <p:cNvPr id="19" name="Text 16"/>
          <p:cNvSpPr/>
          <p:nvPr/>
        </p:nvSpPr>
        <p:spPr>
          <a:xfrm>
            <a:off x="4617720" y="2578608"/>
            <a:ext cx="201168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2016911</a:t>
            </a:r>
            <a:endParaRPr lang="en-US" sz="1250" dirty="0"/>
          </a:p>
        </p:txBody>
      </p:sp>
      <p:sp>
        <p:nvSpPr>
          <p:cNvPr id="20" name="Shape 17"/>
          <p:cNvSpPr/>
          <p:nvPr/>
        </p:nvSpPr>
        <p:spPr>
          <a:xfrm>
            <a:off x="6629400" y="2578608"/>
            <a:ext cx="1554480" cy="475488"/>
          </a:xfrm>
          <a:prstGeom prst="rect">
            <a:avLst/>
          </a:prstGeom>
          <a:solidFill>
            <a:srgbClr val="FFFFFF"/>
          </a:solidFill>
          <a:ln w="15875">
            <a:solidFill>
              <a:srgbClr val="191333"/>
            </a:solidFill>
            <a:prstDash val="solid"/>
          </a:ln>
        </p:spPr>
      </p:sp>
      <p:sp>
        <p:nvSpPr>
          <p:cNvPr id="21" name="Text 18"/>
          <p:cNvSpPr/>
          <p:nvPr/>
        </p:nvSpPr>
        <p:spPr>
          <a:xfrm>
            <a:off x="6629400" y="2578608"/>
            <a:ext cx="155448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98</a:t>
            </a:r>
            <a:endParaRPr lang="en-US" sz="1250" dirty="0"/>
          </a:p>
        </p:txBody>
      </p:sp>
      <p:sp>
        <p:nvSpPr>
          <p:cNvPr id="22" name="Shape 19"/>
          <p:cNvSpPr/>
          <p:nvPr/>
        </p:nvSpPr>
        <p:spPr>
          <a:xfrm>
            <a:off x="2331720" y="3054096"/>
            <a:ext cx="2286000" cy="475488"/>
          </a:xfrm>
          <a:prstGeom prst="rect">
            <a:avLst/>
          </a:prstGeom>
          <a:solidFill>
            <a:srgbClr val="FFFFFF"/>
          </a:solidFill>
          <a:ln w="15875">
            <a:solidFill>
              <a:srgbClr val="191333"/>
            </a:solidFill>
            <a:prstDash val="solid"/>
          </a:ln>
        </p:spPr>
      </p:sp>
      <p:sp>
        <p:nvSpPr>
          <p:cNvPr id="23" name="Text 20"/>
          <p:cNvSpPr/>
          <p:nvPr/>
        </p:nvSpPr>
        <p:spPr>
          <a:xfrm>
            <a:off x="2331720" y="3054096"/>
            <a:ext cx="228600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Diya</a:t>
            </a:r>
            <a:endParaRPr lang="en-US" sz="1250" dirty="0"/>
          </a:p>
        </p:txBody>
      </p:sp>
      <p:sp>
        <p:nvSpPr>
          <p:cNvPr id="24" name="Shape 21"/>
          <p:cNvSpPr/>
          <p:nvPr/>
        </p:nvSpPr>
        <p:spPr>
          <a:xfrm>
            <a:off x="4617720" y="3054096"/>
            <a:ext cx="2011680" cy="475488"/>
          </a:xfrm>
          <a:prstGeom prst="rect">
            <a:avLst/>
          </a:prstGeom>
          <a:solidFill>
            <a:srgbClr val="FFFFFF"/>
          </a:solidFill>
          <a:ln w="15875">
            <a:solidFill>
              <a:srgbClr val="191333"/>
            </a:solidFill>
            <a:prstDash val="solid"/>
          </a:ln>
        </p:spPr>
      </p:sp>
      <p:sp>
        <p:nvSpPr>
          <p:cNvPr id="25" name="Text 22"/>
          <p:cNvSpPr/>
          <p:nvPr/>
        </p:nvSpPr>
        <p:spPr>
          <a:xfrm>
            <a:off x="4617720" y="3054096"/>
            <a:ext cx="201168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2015911</a:t>
            </a:r>
            <a:endParaRPr lang="en-US" sz="1250" dirty="0"/>
          </a:p>
        </p:txBody>
      </p:sp>
      <p:sp>
        <p:nvSpPr>
          <p:cNvPr id="26" name="Shape 23"/>
          <p:cNvSpPr/>
          <p:nvPr/>
        </p:nvSpPr>
        <p:spPr>
          <a:xfrm>
            <a:off x="6629400" y="3054096"/>
            <a:ext cx="1554480" cy="475488"/>
          </a:xfrm>
          <a:prstGeom prst="rect">
            <a:avLst/>
          </a:prstGeom>
          <a:solidFill>
            <a:srgbClr val="FFFFFF"/>
          </a:solidFill>
          <a:ln w="15875">
            <a:solidFill>
              <a:srgbClr val="191333"/>
            </a:solidFill>
            <a:prstDash val="solid"/>
          </a:ln>
        </p:spPr>
      </p:sp>
      <p:sp>
        <p:nvSpPr>
          <p:cNvPr id="27" name="Text 24"/>
          <p:cNvSpPr/>
          <p:nvPr/>
        </p:nvSpPr>
        <p:spPr>
          <a:xfrm>
            <a:off x="6629400" y="3054096"/>
            <a:ext cx="155448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78</a:t>
            </a:r>
            <a:endParaRPr lang="en-US" sz="1250" dirty="0"/>
          </a:p>
        </p:txBody>
      </p:sp>
      <p:sp>
        <p:nvSpPr>
          <p:cNvPr id="28" name="Shape 25"/>
          <p:cNvSpPr/>
          <p:nvPr/>
        </p:nvSpPr>
        <p:spPr>
          <a:xfrm>
            <a:off x="2331720" y="3529584"/>
            <a:ext cx="2286000" cy="475488"/>
          </a:xfrm>
          <a:prstGeom prst="rect">
            <a:avLst/>
          </a:prstGeom>
          <a:solidFill>
            <a:srgbClr val="FFFFFF"/>
          </a:solidFill>
          <a:ln w="15875">
            <a:solidFill>
              <a:srgbClr val="191333"/>
            </a:solidFill>
            <a:prstDash val="solid"/>
          </a:ln>
        </p:spPr>
      </p:sp>
      <p:sp>
        <p:nvSpPr>
          <p:cNvPr id="29" name="Text 26"/>
          <p:cNvSpPr/>
          <p:nvPr/>
        </p:nvSpPr>
        <p:spPr>
          <a:xfrm>
            <a:off x="2331720" y="3529584"/>
            <a:ext cx="228600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Kabir</a:t>
            </a:r>
            <a:endParaRPr lang="en-US" sz="1250" dirty="0"/>
          </a:p>
        </p:txBody>
      </p:sp>
      <p:sp>
        <p:nvSpPr>
          <p:cNvPr id="30" name="Shape 27"/>
          <p:cNvSpPr/>
          <p:nvPr/>
        </p:nvSpPr>
        <p:spPr>
          <a:xfrm>
            <a:off x="4617720" y="3529584"/>
            <a:ext cx="2011680" cy="475488"/>
          </a:xfrm>
          <a:prstGeom prst="rect">
            <a:avLst/>
          </a:prstGeom>
          <a:solidFill>
            <a:srgbClr val="FFFFFF"/>
          </a:solidFill>
          <a:ln w="15875">
            <a:solidFill>
              <a:srgbClr val="191333"/>
            </a:solidFill>
            <a:prstDash val="solid"/>
          </a:ln>
        </p:spPr>
      </p:sp>
      <p:sp>
        <p:nvSpPr>
          <p:cNvPr id="31" name="Text 28"/>
          <p:cNvSpPr/>
          <p:nvPr/>
        </p:nvSpPr>
        <p:spPr>
          <a:xfrm>
            <a:off x="4617720" y="3529584"/>
            <a:ext cx="201168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2017433</a:t>
            </a:r>
            <a:endParaRPr lang="en-US" sz="1250" dirty="0"/>
          </a:p>
        </p:txBody>
      </p:sp>
      <p:sp>
        <p:nvSpPr>
          <p:cNvPr id="32" name="Shape 29"/>
          <p:cNvSpPr/>
          <p:nvPr/>
        </p:nvSpPr>
        <p:spPr>
          <a:xfrm>
            <a:off x="6629400" y="3529584"/>
            <a:ext cx="1554480" cy="475488"/>
          </a:xfrm>
          <a:prstGeom prst="rect">
            <a:avLst/>
          </a:prstGeom>
          <a:solidFill>
            <a:srgbClr val="FFFFFF"/>
          </a:solidFill>
          <a:ln w="15875">
            <a:solidFill>
              <a:srgbClr val="191333"/>
            </a:solidFill>
            <a:prstDash val="solid"/>
          </a:ln>
        </p:spPr>
      </p:sp>
      <p:sp>
        <p:nvSpPr>
          <p:cNvPr id="33" name="Text 30"/>
          <p:cNvSpPr/>
          <p:nvPr/>
        </p:nvSpPr>
        <p:spPr>
          <a:xfrm>
            <a:off x="6629400" y="3529584"/>
            <a:ext cx="1554480" cy="475488"/>
          </a:xfrm>
          <a:prstGeom prst="rect">
            <a:avLst/>
          </a:prstGeom>
          <a:noFill/>
          <a:ln/>
        </p:spPr>
        <p:txBody>
          <a:bodyPr wrap="square" lIns="0" tIns="0" rIns="0" bIns="0" rtlCol="0" anchor="ctr"/>
          <a:lstStyle/>
          <a:p>
            <a:pPr algn="ctr" indent="0" marL="0">
              <a:buNone/>
            </a:pPr>
            <a:r>
              <a:rPr lang="en-US" sz="1250" dirty="0">
                <a:solidFill>
                  <a:srgbClr val="191333"/>
                </a:solidFill>
                <a:latin typeface="Calibri" pitchFamily="34" charset="0"/>
                <a:ea typeface="Calibri" pitchFamily="34" charset="-122"/>
                <a:cs typeface="Calibri" pitchFamily="34" charset="-120"/>
              </a:rPr>
              <a:t>86</a:t>
            </a:r>
            <a:endParaRPr lang="en-US" sz="1250" dirty="0"/>
          </a:p>
        </p:txBody>
      </p:sp>
      <p:sp>
        <p:nvSpPr>
          <p:cNvPr id="34" name="Shape 31"/>
          <p:cNvSpPr/>
          <p:nvPr/>
        </p:nvSpPr>
        <p:spPr>
          <a:xfrm>
            <a:off x="640080" y="1536192"/>
            <a:ext cx="1600200" cy="566928"/>
          </a:xfrm>
          <a:prstGeom prst="roundRect">
            <a:avLst>
              <a:gd name="adj" fmla="val 12903"/>
            </a:avLst>
          </a:prstGeom>
          <a:solidFill>
            <a:srgbClr val="FFF1D6"/>
          </a:solidFill>
          <a:ln w="15875">
            <a:solidFill>
              <a:srgbClr val="191333"/>
            </a:solidFill>
            <a:prstDash val="solid"/>
          </a:ln>
          <a:effectLst>
            <a:outerShdw sx="100000" sy="100000" kx="0" ky="0" algn="bl" rotWithShape="0" blurRad="5.41401873928151e+33" dist="2.0302570272305663e+33" dir="7.558272e+39">
              <a:srgbClr val="191333">
                <a:alpha val="1.0000000000000002e+40"/>
              </a:srgbClr>
            </a:outerShdw>
          </a:effectLst>
        </p:spPr>
      </p:sp>
      <p:sp>
        <p:nvSpPr>
          <p:cNvPr id="35" name="Text 32"/>
          <p:cNvSpPr/>
          <p:nvPr/>
        </p:nvSpPr>
        <p:spPr>
          <a:xfrm>
            <a:off x="768096" y="1572768"/>
            <a:ext cx="1344168" cy="274320"/>
          </a:xfrm>
          <a:prstGeom prst="rect">
            <a:avLst/>
          </a:prstGeom>
          <a:noFill/>
          <a:ln/>
        </p:spPr>
        <p:txBody>
          <a:bodyPr wrap="square" lIns="0" tIns="0" rIns="0" bIns="0" rtlCol="0" anchor="ctr"/>
          <a:lstStyle/>
          <a:p>
            <a:pPr indent="0" marL="0">
              <a:buNone/>
            </a:pPr>
            <a:r>
              <a:rPr lang="en-US" sz="1150" b="1" dirty="0">
                <a:solidFill>
                  <a:srgbClr val="191333"/>
                </a:solidFill>
                <a:latin typeface="Courier New" pitchFamily="34" charset="0"/>
                <a:ea typeface="Courier New" pitchFamily="34" charset="-122"/>
                <a:cs typeface="Courier New" pitchFamily="34" charset="-120"/>
              </a:rPr>
              <a:t>&lt;caption&gt;</a:t>
            </a:r>
            <a:endParaRPr lang="en-US" sz="1150" dirty="0"/>
          </a:p>
        </p:txBody>
      </p:sp>
      <p:sp>
        <p:nvSpPr>
          <p:cNvPr id="36" name="Text 33"/>
          <p:cNvSpPr/>
          <p:nvPr/>
        </p:nvSpPr>
        <p:spPr>
          <a:xfrm>
            <a:off x="768096" y="1810512"/>
            <a:ext cx="1344168" cy="256032"/>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the table title</a:t>
            </a:r>
            <a:endParaRPr lang="en-US" sz="950" dirty="0"/>
          </a:p>
        </p:txBody>
      </p:sp>
      <p:sp>
        <p:nvSpPr>
          <p:cNvPr id="37" name="Shape 34"/>
          <p:cNvSpPr/>
          <p:nvPr/>
        </p:nvSpPr>
        <p:spPr>
          <a:xfrm>
            <a:off x="2240280" y="1828800"/>
            <a:ext cx="822960" cy="0"/>
          </a:xfrm>
          <a:prstGeom prst="line">
            <a:avLst/>
          </a:prstGeom>
          <a:noFill/>
          <a:ln w="15875">
            <a:solidFill>
              <a:srgbClr val="191333"/>
            </a:solidFill>
            <a:prstDash val="dash"/>
            <a:tailEnd type="triangle"/>
          </a:ln>
        </p:spPr>
      </p:sp>
      <p:sp>
        <p:nvSpPr>
          <p:cNvPr id="38" name="Shape 35"/>
          <p:cNvSpPr/>
          <p:nvPr/>
        </p:nvSpPr>
        <p:spPr>
          <a:xfrm>
            <a:off x="640080" y="2212848"/>
            <a:ext cx="1600200" cy="566928"/>
          </a:xfrm>
          <a:prstGeom prst="roundRect">
            <a:avLst>
              <a:gd name="adj" fmla="val 12903"/>
            </a:avLst>
          </a:prstGeom>
          <a:solidFill>
            <a:srgbClr val="DEF6FA"/>
          </a:solidFill>
          <a:ln w="15875">
            <a:solidFill>
              <a:srgbClr val="191333"/>
            </a:solidFill>
            <a:prstDash val="solid"/>
          </a:ln>
          <a:effectLst>
            <a:outerShdw sx="100000" sy="100000" kx="0" ky="0" algn="bl" rotWithShape="0" blurRad="6.875803798887518e+37" dist="2.578426424582819e+37" dir="4.5349632000000006e+44">
              <a:srgbClr val="191333">
                <a:alpha val="1.0000000000000001e+45"/>
              </a:srgbClr>
            </a:outerShdw>
          </a:effectLst>
        </p:spPr>
      </p:sp>
      <p:sp>
        <p:nvSpPr>
          <p:cNvPr id="39" name="Text 36"/>
          <p:cNvSpPr/>
          <p:nvPr/>
        </p:nvSpPr>
        <p:spPr>
          <a:xfrm>
            <a:off x="768096" y="2249424"/>
            <a:ext cx="1344168" cy="274320"/>
          </a:xfrm>
          <a:prstGeom prst="rect">
            <a:avLst/>
          </a:prstGeom>
          <a:noFill/>
          <a:ln/>
        </p:spPr>
        <p:txBody>
          <a:bodyPr wrap="square" lIns="0" tIns="0" rIns="0" bIns="0" rtlCol="0" anchor="ctr"/>
          <a:lstStyle/>
          <a:p>
            <a:pPr indent="0" marL="0">
              <a:buNone/>
            </a:pPr>
            <a:r>
              <a:rPr lang="en-US" sz="1150" b="1" dirty="0">
                <a:solidFill>
                  <a:srgbClr val="191333"/>
                </a:solidFill>
                <a:latin typeface="Courier New" pitchFamily="34" charset="0"/>
                <a:ea typeface="Courier New" pitchFamily="34" charset="-122"/>
                <a:cs typeface="Courier New" pitchFamily="34" charset="-120"/>
              </a:rPr>
              <a:t>&lt;thead&gt;</a:t>
            </a:r>
            <a:endParaRPr lang="en-US" sz="1150" dirty="0"/>
          </a:p>
        </p:txBody>
      </p:sp>
      <p:sp>
        <p:nvSpPr>
          <p:cNvPr id="40" name="Text 37"/>
          <p:cNvSpPr/>
          <p:nvPr/>
        </p:nvSpPr>
        <p:spPr>
          <a:xfrm>
            <a:off x="768096" y="2487168"/>
            <a:ext cx="1344168" cy="256032"/>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header group</a:t>
            </a:r>
            <a:endParaRPr lang="en-US" sz="950" dirty="0"/>
          </a:p>
        </p:txBody>
      </p:sp>
      <p:sp>
        <p:nvSpPr>
          <p:cNvPr id="41" name="Shape 38"/>
          <p:cNvSpPr/>
          <p:nvPr/>
        </p:nvSpPr>
        <p:spPr>
          <a:xfrm>
            <a:off x="2240280" y="2487168"/>
            <a:ext cx="91440" cy="0"/>
          </a:xfrm>
          <a:prstGeom prst="line">
            <a:avLst/>
          </a:prstGeom>
          <a:noFill/>
          <a:ln w="15875">
            <a:solidFill>
              <a:srgbClr val="191333"/>
            </a:solidFill>
            <a:prstDash val="dash"/>
            <a:tailEnd type="triangle"/>
          </a:ln>
        </p:spPr>
      </p:sp>
      <p:sp>
        <p:nvSpPr>
          <p:cNvPr id="42" name="Shape 39"/>
          <p:cNvSpPr/>
          <p:nvPr/>
        </p:nvSpPr>
        <p:spPr>
          <a:xfrm>
            <a:off x="640080" y="2962656"/>
            <a:ext cx="1600200" cy="566928"/>
          </a:xfrm>
          <a:prstGeom prst="roundRect">
            <a:avLst>
              <a:gd name="adj" fmla="val 12903"/>
            </a:avLst>
          </a:prstGeom>
          <a:solidFill>
            <a:srgbClr val="DEF6FA"/>
          </a:solidFill>
          <a:ln w="15875">
            <a:solidFill>
              <a:srgbClr val="191333"/>
            </a:solidFill>
            <a:prstDash val="solid"/>
          </a:ln>
          <a:effectLst>
            <a:outerShdw sx="100000" sy="100000" kx="0" ky="0" algn="bl" rotWithShape="0" blurRad="8.732270824587148e+41" dist="3.2746015592201804e+41" dir="2.72097792e+49">
              <a:srgbClr val="191333">
                <a:alpha val="1e+50"/>
              </a:srgbClr>
            </a:outerShdw>
          </a:effectLst>
        </p:spPr>
      </p:sp>
      <p:sp>
        <p:nvSpPr>
          <p:cNvPr id="43" name="Text 40"/>
          <p:cNvSpPr/>
          <p:nvPr/>
        </p:nvSpPr>
        <p:spPr>
          <a:xfrm>
            <a:off x="768096" y="2999232"/>
            <a:ext cx="1344168" cy="274320"/>
          </a:xfrm>
          <a:prstGeom prst="rect">
            <a:avLst/>
          </a:prstGeom>
          <a:noFill/>
          <a:ln/>
        </p:spPr>
        <p:txBody>
          <a:bodyPr wrap="square" lIns="0" tIns="0" rIns="0" bIns="0" rtlCol="0" anchor="ctr"/>
          <a:lstStyle/>
          <a:p>
            <a:pPr indent="0" marL="0">
              <a:buNone/>
            </a:pPr>
            <a:r>
              <a:rPr lang="en-US" sz="1150" b="1" dirty="0">
                <a:solidFill>
                  <a:srgbClr val="191333"/>
                </a:solidFill>
                <a:latin typeface="Courier New" pitchFamily="34" charset="0"/>
                <a:ea typeface="Courier New" pitchFamily="34" charset="-122"/>
                <a:cs typeface="Courier New" pitchFamily="34" charset="-120"/>
              </a:rPr>
              <a:t>&lt;th&gt;</a:t>
            </a:r>
            <a:endParaRPr lang="en-US" sz="1150" dirty="0"/>
          </a:p>
        </p:txBody>
      </p:sp>
      <p:sp>
        <p:nvSpPr>
          <p:cNvPr id="44" name="Text 41"/>
          <p:cNvSpPr/>
          <p:nvPr/>
        </p:nvSpPr>
        <p:spPr>
          <a:xfrm>
            <a:off x="768096" y="3236976"/>
            <a:ext cx="1344168" cy="256032"/>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a header cell</a:t>
            </a:r>
            <a:endParaRPr lang="en-US" sz="950" dirty="0"/>
          </a:p>
        </p:txBody>
      </p:sp>
      <p:sp>
        <p:nvSpPr>
          <p:cNvPr id="45" name="Shape 42"/>
          <p:cNvSpPr/>
          <p:nvPr/>
        </p:nvSpPr>
        <p:spPr>
          <a:xfrm>
            <a:off x="2240280" y="3200400"/>
            <a:ext cx="1143000" cy="-822960"/>
          </a:xfrm>
          <a:prstGeom prst="line">
            <a:avLst/>
          </a:prstGeom>
          <a:noFill/>
          <a:ln w="15875">
            <a:solidFill>
              <a:srgbClr val="191333"/>
            </a:solidFill>
            <a:prstDash val="dash"/>
            <a:tailEnd type="triangle"/>
          </a:ln>
        </p:spPr>
      </p:sp>
      <p:sp>
        <p:nvSpPr>
          <p:cNvPr id="46" name="Shape 43"/>
          <p:cNvSpPr/>
          <p:nvPr/>
        </p:nvSpPr>
        <p:spPr>
          <a:xfrm>
            <a:off x="640080" y="3712464"/>
            <a:ext cx="1600200" cy="566928"/>
          </a:xfrm>
          <a:prstGeom prst="roundRect">
            <a:avLst>
              <a:gd name="adj" fmla="val 12903"/>
            </a:avLst>
          </a:prstGeom>
          <a:solidFill>
            <a:srgbClr val="F0FBD8"/>
          </a:solidFill>
          <a:ln w="15875">
            <a:solidFill>
              <a:srgbClr val="191333"/>
            </a:solidFill>
            <a:prstDash val="solid"/>
          </a:ln>
          <a:effectLst>
            <a:outerShdw sx="100000" sy="100000" kx="0" ky="0" algn="bl" rotWithShape="0" blurRad="1.1089983947225678e+46" dist="4.158743980209629e+45" dir="1.6325867520000003e+54">
              <a:srgbClr val="191333">
                <a:alpha val="1e+55"/>
              </a:srgbClr>
            </a:outerShdw>
          </a:effectLst>
        </p:spPr>
      </p:sp>
      <p:sp>
        <p:nvSpPr>
          <p:cNvPr id="47" name="Text 44"/>
          <p:cNvSpPr/>
          <p:nvPr/>
        </p:nvSpPr>
        <p:spPr>
          <a:xfrm>
            <a:off x="768096" y="3749040"/>
            <a:ext cx="1344168" cy="274320"/>
          </a:xfrm>
          <a:prstGeom prst="rect">
            <a:avLst/>
          </a:prstGeom>
          <a:noFill/>
          <a:ln/>
        </p:spPr>
        <p:txBody>
          <a:bodyPr wrap="square" lIns="0" tIns="0" rIns="0" bIns="0" rtlCol="0" anchor="ctr"/>
          <a:lstStyle/>
          <a:p>
            <a:pPr indent="0" marL="0">
              <a:buNone/>
            </a:pPr>
            <a:r>
              <a:rPr lang="en-US" sz="1150" b="1" dirty="0">
                <a:solidFill>
                  <a:srgbClr val="191333"/>
                </a:solidFill>
                <a:latin typeface="Courier New" pitchFamily="34" charset="0"/>
                <a:ea typeface="Courier New" pitchFamily="34" charset="-122"/>
                <a:cs typeface="Courier New" pitchFamily="34" charset="-120"/>
              </a:rPr>
              <a:t>&lt;tbody&gt;</a:t>
            </a:r>
            <a:endParaRPr lang="en-US" sz="1150" dirty="0"/>
          </a:p>
        </p:txBody>
      </p:sp>
      <p:sp>
        <p:nvSpPr>
          <p:cNvPr id="48" name="Text 45"/>
          <p:cNvSpPr/>
          <p:nvPr/>
        </p:nvSpPr>
        <p:spPr>
          <a:xfrm>
            <a:off x="768096" y="3986784"/>
            <a:ext cx="1344168" cy="256032"/>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body group</a:t>
            </a:r>
            <a:endParaRPr lang="en-US" sz="950" dirty="0"/>
          </a:p>
        </p:txBody>
      </p:sp>
      <p:sp>
        <p:nvSpPr>
          <p:cNvPr id="49" name="Shape 46"/>
          <p:cNvSpPr/>
          <p:nvPr/>
        </p:nvSpPr>
        <p:spPr>
          <a:xfrm>
            <a:off x="2240280" y="3986784"/>
            <a:ext cx="91440" cy="0"/>
          </a:xfrm>
          <a:prstGeom prst="line">
            <a:avLst/>
          </a:prstGeom>
          <a:noFill/>
          <a:ln w="15875">
            <a:solidFill>
              <a:srgbClr val="191333"/>
            </a:solidFill>
            <a:prstDash val="dash"/>
            <a:tailEnd type="triangle"/>
          </a:ln>
        </p:spPr>
      </p:sp>
      <p:sp>
        <p:nvSpPr>
          <p:cNvPr id="50" name="Shape 47"/>
          <p:cNvSpPr/>
          <p:nvPr/>
        </p:nvSpPr>
        <p:spPr>
          <a:xfrm>
            <a:off x="8686800" y="2212848"/>
            <a:ext cx="1600200" cy="566928"/>
          </a:xfrm>
          <a:prstGeom prst="roundRect">
            <a:avLst>
              <a:gd name="adj" fmla="val 12903"/>
            </a:avLst>
          </a:prstGeom>
          <a:solidFill>
            <a:srgbClr val="FFE6F0"/>
          </a:solidFill>
          <a:ln w="15875">
            <a:solidFill>
              <a:srgbClr val="191333"/>
            </a:solidFill>
            <a:prstDash val="solid"/>
          </a:ln>
          <a:effectLst>
            <a:outerShdw sx="100000" sy="100000" kx="0" ky="0" algn="bl" rotWithShape="0" blurRad="1.408427961297661e+50" dist="5.281604854866228e+49" dir="9.795520512000002e+58">
              <a:srgbClr val="191333">
                <a:alpha val="1e+60"/>
              </a:srgbClr>
            </a:outerShdw>
          </a:effectLst>
        </p:spPr>
      </p:sp>
      <p:sp>
        <p:nvSpPr>
          <p:cNvPr id="51" name="Text 48"/>
          <p:cNvSpPr/>
          <p:nvPr/>
        </p:nvSpPr>
        <p:spPr>
          <a:xfrm>
            <a:off x="8814816" y="2249424"/>
            <a:ext cx="1344168" cy="274320"/>
          </a:xfrm>
          <a:prstGeom prst="rect">
            <a:avLst/>
          </a:prstGeom>
          <a:noFill/>
          <a:ln/>
        </p:spPr>
        <p:txBody>
          <a:bodyPr wrap="square" lIns="0" tIns="0" rIns="0" bIns="0" rtlCol="0" anchor="ctr"/>
          <a:lstStyle/>
          <a:p>
            <a:pPr indent="0" marL="0">
              <a:buNone/>
            </a:pPr>
            <a:r>
              <a:rPr lang="en-US" sz="1150" b="1" dirty="0">
                <a:solidFill>
                  <a:srgbClr val="191333"/>
                </a:solidFill>
                <a:latin typeface="Courier New" pitchFamily="34" charset="0"/>
                <a:ea typeface="Courier New" pitchFamily="34" charset="-122"/>
                <a:cs typeface="Courier New" pitchFamily="34" charset="-120"/>
              </a:rPr>
              <a:t>&lt;tr&gt;</a:t>
            </a:r>
            <a:endParaRPr lang="en-US" sz="1150" dirty="0"/>
          </a:p>
        </p:txBody>
      </p:sp>
      <p:sp>
        <p:nvSpPr>
          <p:cNvPr id="52" name="Text 49"/>
          <p:cNvSpPr/>
          <p:nvPr/>
        </p:nvSpPr>
        <p:spPr>
          <a:xfrm>
            <a:off x="8814816" y="2487168"/>
            <a:ext cx="1344168" cy="256032"/>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one whole row</a:t>
            </a:r>
            <a:endParaRPr lang="en-US" sz="950" dirty="0"/>
          </a:p>
        </p:txBody>
      </p:sp>
      <p:sp>
        <p:nvSpPr>
          <p:cNvPr id="53" name="Shape 50"/>
          <p:cNvSpPr/>
          <p:nvPr/>
        </p:nvSpPr>
        <p:spPr>
          <a:xfrm>
            <a:off x="8595360" y="2487168"/>
            <a:ext cx="-411480" cy="566928"/>
          </a:xfrm>
          <a:prstGeom prst="line">
            <a:avLst/>
          </a:prstGeom>
          <a:noFill/>
          <a:ln w="15875">
            <a:solidFill>
              <a:srgbClr val="191333"/>
            </a:solidFill>
            <a:prstDash val="dash"/>
            <a:tailEnd type="triangle"/>
          </a:ln>
        </p:spPr>
      </p:sp>
      <p:sp>
        <p:nvSpPr>
          <p:cNvPr id="54" name="Shape 51"/>
          <p:cNvSpPr/>
          <p:nvPr/>
        </p:nvSpPr>
        <p:spPr>
          <a:xfrm>
            <a:off x="8686800" y="3291840"/>
            <a:ext cx="1600200" cy="566928"/>
          </a:xfrm>
          <a:prstGeom prst="roundRect">
            <a:avLst>
              <a:gd name="adj" fmla="val 12903"/>
            </a:avLst>
          </a:prstGeom>
          <a:solidFill>
            <a:srgbClr val="EDE7FF"/>
          </a:solidFill>
          <a:ln w="15875">
            <a:solidFill>
              <a:srgbClr val="191333"/>
            </a:solidFill>
            <a:prstDash val="solid"/>
          </a:ln>
          <a:effectLst>
            <a:outerShdw sx="100000" sy="100000" kx="0" ky="0" algn="bl" rotWithShape="0" blurRad="1.7887035108480297e+54" dist="6.70763816568011e+53" dir="5.877312307200001e+63">
              <a:srgbClr val="191333">
                <a:alpha val="1e+65"/>
              </a:srgbClr>
            </a:outerShdw>
          </a:effectLst>
        </p:spPr>
      </p:sp>
      <p:sp>
        <p:nvSpPr>
          <p:cNvPr id="55" name="Text 52"/>
          <p:cNvSpPr/>
          <p:nvPr/>
        </p:nvSpPr>
        <p:spPr>
          <a:xfrm>
            <a:off x="8814816" y="3328416"/>
            <a:ext cx="1344168" cy="274320"/>
          </a:xfrm>
          <a:prstGeom prst="rect">
            <a:avLst/>
          </a:prstGeom>
          <a:noFill/>
          <a:ln/>
        </p:spPr>
        <p:txBody>
          <a:bodyPr wrap="square" lIns="0" tIns="0" rIns="0" bIns="0" rtlCol="0" anchor="ctr"/>
          <a:lstStyle/>
          <a:p>
            <a:pPr indent="0" marL="0">
              <a:buNone/>
            </a:pPr>
            <a:r>
              <a:rPr lang="en-US" sz="1150" b="1" dirty="0">
                <a:solidFill>
                  <a:srgbClr val="191333"/>
                </a:solidFill>
                <a:latin typeface="Courier New" pitchFamily="34" charset="0"/>
                <a:ea typeface="Courier New" pitchFamily="34" charset="-122"/>
                <a:cs typeface="Courier New" pitchFamily="34" charset="-120"/>
              </a:rPr>
              <a:t>&lt;td&gt;</a:t>
            </a:r>
            <a:endParaRPr lang="en-US" sz="1150" dirty="0"/>
          </a:p>
        </p:txBody>
      </p:sp>
      <p:sp>
        <p:nvSpPr>
          <p:cNvPr id="56" name="Text 53"/>
          <p:cNvSpPr/>
          <p:nvPr/>
        </p:nvSpPr>
        <p:spPr>
          <a:xfrm>
            <a:off x="8814816" y="3566160"/>
            <a:ext cx="1344168" cy="256032"/>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one data cell</a:t>
            </a:r>
            <a:endParaRPr lang="en-US" sz="950" dirty="0"/>
          </a:p>
        </p:txBody>
      </p:sp>
      <p:sp>
        <p:nvSpPr>
          <p:cNvPr id="57" name="Shape 54"/>
          <p:cNvSpPr/>
          <p:nvPr/>
        </p:nvSpPr>
        <p:spPr>
          <a:xfrm>
            <a:off x="8595360" y="3566160"/>
            <a:ext cx="-594360" cy="0"/>
          </a:xfrm>
          <a:prstGeom prst="line">
            <a:avLst/>
          </a:prstGeom>
          <a:noFill/>
          <a:ln w="15875">
            <a:solidFill>
              <a:srgbClr val="191333"/>
            </a:solidFill>
            <a:prstDash val="dash"/>
            <a:tailEnd type="triangle"/>
          </a:ln>
        </p:spPr>
      </p:sp>
      <p:sp>
        <p:nvSpPr>
          <p:cNvPr id="58" name="Shape 55"/>
          <p:cNvSpPr/>
          <p:nvPr/>
        </p:nvSpPr>
        <p:spPr>
          <a:xfrm>
            <a:off x="8686800" y="4370832"/>
            <a:ext cx="1600200" cy="566928"/>
          </a:xfrm>
          <a:prstGeom prst="roundRect">
            <a:avLst>
              <a:gd name="adj" fmla="val 12903"/>
            </a:avLst>
          </a:prstGeom>
          <a:solidFill>
            <a:srgbClr val="FFF1D6"/>
          </a:solidFill>
          <a:ln w="15875">
            <a:solidFill>
              <a:srgbClr val="191333"/>
            </a:solidFill>
            <a:prstDash val="solid"/>
          </a:ln>
          <a:effectLst>
            <a:outerShdw sx="100000" sy="100000" kx="0" ky="0" algn="bl" rotWithShape="0" blurRad="2.2716534587769977e+58" dist="8.518700470413739e+57" dir="3.526387384320001e+68">
              <a:srgbClr val="191333">
                <a:alpha val="9.999999999999999e+69"/>
              </a:srgbClr>
            </a:outerShdw>
          </a:effectLst>
        </p:spPr>
      </p:sp>
      <p:sp>
        <p:nvSpPr>
          <p:cNvPr id="59" name="Text 56"/>
          <p:cNvSpPr/>
          <p:nvPr/>
        </p:nvSpPr>
        <p:spPr>
          <a:xfrm>
            <a:off x="8814816" y="4407408"/>
            <a:ext cx="1344168" cy="274320"/>
          </a:xfrm>
          <a:prstGeom prst="rect">
            <a:avLst/>
          </a:prstGeom>
          <a:noFill/>
          <a:ln/>
        </p:spPr>
        <p:txBody>
          <a:bodyPr wrap="square" lIns="0" tIns="0" rIns="0" bIns="0" rtlCol="0" anchor="ctr"/>
          <a:lstStyle/>
          <a:p>
            <a:pPr indent="0" marL="0">
              <a:buNone/>
            </a:pPr>
            <a:r>
              <a:rPr lang="en-US" sz="1150" b="1" dirty="0">
                <a:solidFill>
                  <a:srgbClr val="191333"/>
                </a:solidFill>
                <a:latin typeface="Courier New" pitchFamily="34" charset="0"/>
                <a:ea typeface="Courier New" pitchFamily="34" charset="-122"/>
                <a:cs typeface="Courier New" pitchFamily="34" charset="-120"/>
              </a:rPr>
              <a:t>&lt;table&gt;</a:t>
            </a:r>
            <a:endParaRPr lang="en-US" sz="1150" dirty="0"/>
          </a:p>
        </p:txBody>
      </p:sp>
      <p:sp>
        <p:nvSpPr>
          <p:cNvPr id="60" name="Text 57"/>
          <p:cNvSpPr/>
          <p:nvPr/>
        </p:nvSpPr>
        <p:spPr>
          <a:xfrm>
            <a:off x="8814816" y="4645152"/>
            <a:ext cx="1344168" cy="256032"/>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wraps all of it</a:t>
            </a:r>
            <a:endParaRPr lang="en-US" sz="950" dirty="0"/>
          </a:p>
        </p:txBody>
      </p:sp>
      <p:sp>
        <p:nvSpPr>
          <p:cNvPr id="61" name="Shape 58"/>
          <p:cNvSpPr/>
          <p:nvPr/>
        </p:nvSpPr>
        <p:spPr>
          <a:xfrm>
            <a:off x="8595360" y="4645152"/>
            <a:ext cx="-548640" cy="-457200"/>
          </a:xfrm>
          <a:prstGeom prst="line">
            <a:avLst/>
          </a:prstGeom>
          <a:noFill/>
          <a:ln w="15875">
            <a:solidFill>
              <a:srgbClr val="191333"/>
            </a:solidFill>
            <a:prstDash val="dash"/>
            <a:tailEnd type="triangle"/>
          </a:ln>
        </p:spPr>
      </p:sp>
      <p:sp>
        <p:nvSpPr>
          <p:cNvPr id="62" name="Shape 59"/>
          <p:cNvSpPr/>
          <p:nvPr/>
        </p:nvSpPr>
        <p:spPr>
          <a:xfrm>
            <a:off x="640080" y="5358384"/>
            <a:ext cx="10908792" cy="621792"/>
          </a:xfrm>
          <a:prstGeom prst="roundRect">
            <a:avLst>
              <a:gd name="adj" fmla="val 14706"/>
            </a:avLst>
          </a:prstGeom>
          <a:solidFill>
            <a:srgbClr val="DEF6FA"/>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63" name="Text 60"/>
          <p:cNvSpPr/>
          <p:nvPr/>
        </p:nvSpPr>
        <p:spPr>
          <a:xfrm>
            <a:off x="640080" y="5358384"/>
            <a:ext cx="10908792" cy="621792"/>
          </a:xfrm>
          <a:prstGeom prst="rect">
            <a:avLst/>
          </a:prstGeom>
          <a:noFill/>
          <a:ln/>
        </p:spPr>
        <p:txBody>
          <a:bodyPr wrap="square" lIns="0" tIns="0" rIns="0" bIns="0" rtlCol="0" anchor="ctr"/>
          <a:lstStyle/>
          <a:p>
            <a:pPr algn="ctr" indent="0" marL="0">
              <a:buNone/>
            </a:pPr>
            <a:r>
              <a:rPr lang="en-US" sz="1550" b="1" dirty="0">
                <a:solidFill>
                  <a:srgbClr val="191333"/>
                </a:solidFill>
                <a:latin typeface="Calibri" pitchFamily="34" charset="0"/>
                <a:ea typeface="Calibri" pitchFamily="34" charset="-122"/>
                <a:cs typeface="Calibri" pitchFamily="34" charset="-120"/>
              </a:rPr>
              <a:t>A row is a &lt;tr&gt;. A header cell is a &lt;th&gt;. A normal cell is a &lt;td&gt;. Everything else is grouping.</a:t>
            </a:r>
            <a:endParaRPr lang="en-US" sz="1550" dirty="0"/>
          </a:p>
        </p:txBody>
      </p:sp>
      <p:sp>
        <p:nvSpPr>
          <p:cNvPr id="64" name="Shape 61"/>
          <p:cNvSpPr/>
          <p:nvPr/>
        </p:nvSpPr>
        <p:spPr>
          <a:xfrm>
            <a:off x="640080" y="6071616"/>
            <a:ext cx="10908792" cy="512064"/>
          </a:xfrm>
          <a:prstGeom prst="roundRect">
            <a:avLst>
              <a:gd name="adj" fmla="val 14286"/>
            </a:avLst>
          </a:prstGeom>
          <a:solidFill>
            <a:srgbClr val="FFF1D6"/>
          </a:solidFill>
          <a:ln w="12700">
            <a:solidFill>
              <a:srgbClr val="F5CE8A"/>
            </a:solidFill>
            <a:prstDash val="solid"/>
          </a:ln>
        </p:spPr>
      </p:sp>
      <p:sp>
        <p:nvSpPr>
          <p:cNvPr id="65" name="Text 62"/>
          <p:cNvSpPr/>
          <p:nvPr/>
        </p:nvSpPr>
        <p:spPr>
          <a:xfrm>
            <a:off x="859536" y="6071616"/>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tr holds td. not the other way round. this trips up literally everyone once.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10</a:t>
            </a:r>
            <a:endParaRPr lang="en-US" sz="900" dirty="0"/>
          </a:p>
        </p:txBody>
      </p:sp>
      <p:sp>
        <p:nvSpPr>
          <p:cNvPr id="5" name="Shape 2"/>
          <p:cNvSpPr/>
          <p:nvPr/>
        </p:nvSpPr>
        <p:spPr>
          <a:xfrm>
            <a:off x="640080" y="365760"/>
            <a:ext cx="1335024" cy="347472"/>
          </a:xfrm>
          <a:prstGeom prst="roundRect">
            <a:avLst>
              <a:gd name="adj" fmla="val 21053"/>
            </a:avLst>
          </a:prstGeom>
          <a:solidFill>
            <a:srgbClr val="0090A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335024"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TABLES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The seven tags you actually need</a:t>
            </a:r>
            <a:endParaRPr lang="en-US" sz="3200" dirty="0"/>
          </a:p>
        </p:txBody>
      </p:sp>
      <p:sp>
        <p:nvSpPr>
          <p:cNvPr id="8" name="Shape 5"/>
          <p:cNvSpPr/>
          <p:nvPr/>
        </p:nvSpPr>
        <p:spPr>
          <a:xfrm>
            <a:off x="640080" y="1572768"/>
            <a:ext cx="3419856" cy="1060704"/>
          </a:xfrm>
          <a:prstGeom prst="roundRect">
            <a:avLst>
              <a:gd name="adj" fmla="val 8621"/>
            </a:avLst>
          </a:prstGeom>
          <a:solidFill>
            <a:srgbClr val="DEF6FA"/>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a:off x="859536" y="1755648"/>
            <a:ext cx="1371600" cy="384048"/>
          </a:xfrm>
          <a:prstGeom prst="roundRect">
            <a:avLst>
              <a:gd name="adj" fmla="val 16667"/>
            </a:avLst>
          </a:prstGeom>
          <a:solidFill>
            <a:srgbClr val="141033"/>
          </a:solidFill>
          <a:ln w="15875">
            <a:solidFill>
              <a:srgbClr val="191333"/>
            </a:solidFill>
            <a:prstDash val="solid"/>
          </a:ln>
        </p:spPr>
      </p:sp>
      <p:sp>
        <p:nvSpPr>
          <p:cNvPr id="10" name="Text 7"/>
          <p:cNvSpPr/>
          <p:nvPr/>
        </p:nvSpPr>
        <p:spPr>
          <a:xfrm>
            <a:off x="859536" y="1755648"/>
            <a:ext cx="1371600" cy="384048"/>
          </a:xfrm>
          <a:prstGeom prst="rect">
            <a:avLst/>
          </a:prstGeom>
          <a:noFill/>
          <a:ln/>
        </p:spPr>
        <p:txBody>
          <a:bodyPr wrap="square" lIns="0" tIns="0" rIns="0" bIns="0" rtlCol="0" anchor="ctr"/>
          <a:lstStyle/>
          <a:p>
            <a:pPr algn="ctr" indent="0" marL="0">
              <a:buNone/>
            </a:pPr>
            <a:r>
              <a:rPr lang="en-US" sz="1100" dirty="0">
                <a:solidFill>
                  <a:srgbClr val="FF8FB8"/>
                </a:solidFill>
                <a:latin typeface="Courier New" pitchFamily="34" charset="0"/>
                <a:ea typeface="Courier New" pitchFamily="34" charset="-122"/>
                <a:cs typeface="Courier New" pitchFamily="34" charset="-120"/>
              </a:rPr>
              <a:t>&lt;table&gt;</a:t>
            </a:r>
            <a:endParaRPr lang="en-US" sz="1100" dirty="0"/>
          </a:p>
        </p:txBody>
      </p:sp>
      <p:sp>
        <p:nvSpPr>
          <p:cNvPr id="11" name="Text 8"/>
          <p:cNvSpPr/>
          <p:nvPr/>
        </p:nvSpPr>
        <p:spPr>
          <a:xfrm>
            <a:off x="859536" y="2194560"/>
            <a:ext cx="2980944" cy="384048"/>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Opens the table. Everything lives inside it.</a:t>
            </a:r>
            <a:endParaRPr lang="en-US" sz="1150" dirty="0"/>
          </a:p>
        </p:txBody>
      </p:sp>
      <p:sp>
        <p:nvSpPr>
          <p:cNvPr id="12" name="Shape 9"/>
          <p:cNvSpPr/>
          <p:nvPr/>
        </p:nvSpPr>
        <p:spPr>
          <a:xfrm>
            <a:off x="4379976" y="1572768"/>
            <a:ext cx="3419856" cy="1060704"/>
          </a:xfrm>
          <a:prstGeom prst="roundRect">
            <a:avLst>
              <a:gd name="adj" fmla="val 8621"/>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3" name="Shape 10"/>
          <p:cNvSpPr/>
          <p:nvPr/>
        </p:nvSpPr>
        <p:spPr>
          <a:xfrm>
            <a:off x="4599432" y="1755648"/>
            <a:ext cx="1371600" cy="384048"/>
          </a:xfrm>
          <a:prstGeom prst="roundRect">
            <a:avLst>
              <a:gd name="adj" fmla="val 16667"/>
            </a:avLst>
          </a:prstGeom>
          <a:solidFill>
            <a:srgbClr val="141033"/>
          </a:solidFill>
          <a:ln w="15875">
            <a:solidFill>
              <a:srgbClr val="191333"/>
            </a:solidFill>
            <a:prstDash val="solid"/>
          </a:ln>
        </p:spPr>
      </p:sp>
      <p:sp>
        <p:nvSpPr>
          <p:cNvPr id="14" name="Text 11"/>
          <p:cNvSpPr/>
          <p:nvPr/>
        </p:nvSpPr>
        <p:spPr>
          <a:xfrm>
            <a:off x="4599432" y="1755648"/>
            <a:ext cx="1371600" cy="384048"/>
          </a:xfrm>
          <a:prstGeom prst="rect">
            <a:avLst/>
          </a:prstGeom>
          <a:noFill/>
          <a:ln/>
        </p:spPr>
        <p:txBody>
          <a:bodyPr wrap="square" lIns="0" tIns="0" rIns="0" bIns="0" rtlCol="0" anchor="ctr"/>
          <a:lstStyle/>
          <a:p>
            <a:pPr algn="ctr" indent="0" marL="0">
              <a:buNone/>
            </a:pPr>
            <a:r>
              <a:rPr lang="en-US" sz="1100" dirty="0">
                <a:solidFill>
                  <a:srgbClr val="FF8FB8"/>
                </a:solidFill>
                <a:latin typeface="Courier New" pitchFamily="34" charset="0"/>
                <a:ea typeface="Courier New" pitchFamily="34" charset="-122"/>
                <a:cs typeface="Courier New" pitchFamily="34" charset="-120"/>
              </a:rPr>
              <a:t>&lt;tr&gt;</a:t>
            </a:r>
            <a:endParaRPr lang="en-US" sz="1100" dirty="0"/>
          </a:p>
        </p:txBody>
      </p:sp>
      <p:sp>
        <p:nvSpPr>
          <p:cNvPr id="15" name="Text 12"/>
          <p:cNvSpPr/>
          <p:nvPr/>
        </p:nvSpPr>
        <p:spPr>
          <a:xfrm>
            <a:off x="4599432" y="2194560"/>
            <a:ext cx="2980944" cy="384048"/>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Table row. One horizontal line of cells.</a:t>
            </a:r>
            <a:endParaRPr lang="en-US" sz="1150" dirty="0"/>
          </a:p>
        </p:txBody>
      </p:sp>
      <p:sp>
        <p:nvSpPr>
          <p:cNvPr id="16" name="Shape 13"/>
          <p:cNvSpPr/>
          <p:nvPr/>
        </p:nvSpPr>
        <p:spPr>
          <a:xfrm>
            <a:off x="8119872" y="1572768"/>
            <a:ext cx="3419856" cy="1060704"/>
          </a:xfrm>
          <a:prstGeom prst="roundRect">
            <a:avLst>
              <a:gd name="adj" fmla="val 8621"/>
            </a:avLst>
          </a:prstGeom>
          <a:solidFill>
            <a:srgbClr val="DEF6FA"/>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7" name="Shape 14"/>
          <p:cNvSpPr/>
          <p:nvPr/>
        </p:nvSpPr>
        <p:spPr>
          <a:xfrm>
            <a:off x="8339328" y="1755648"/>
            <a:ext cx="1371600" cy="384048"/>
          </a:xfrm>
          <a:prstGeom prst="roundRect">
            <a:avLst>
              <a:gd name="adj" fmla="val 16667"/>
            </a:avLst>
          </a:prstGeom>
          <a:solidFill>
            <a:srgbClr val="141033"/>
          </a:solidFill>
          <a:ln w="15875">
            <a:solidFill>
              <a:srgbClr val="191333"/>
            </a:solidFill>
            <a:prstDash val="solid"/>
          </a:ln>
        </p:spPr>
      </p:sp>
      <p:sp>
        <p:nvSpPr>
          <p:cNvPr id="18" name="Text 15"/>
          <p:cNvSpPr/>
          <p:nvPr/>
        </p:nvSpPr>
        <p:spPr>
          <a:xfrm>
            <a:off x="8339328" y="1755648"/>
            <a:ext cx="1371600" cy="384048"/>
          </a:xfrm>
          <a:prstGeom prst="rect">
            <a:avLst/>
          </a:prstGeom>
          <a:noFill/>
          <a:ln/>
        </p:spPr>
        <p:txBody>
          <a:bodyPr wrap="square" lIns="0" tIns="0" rIns="0" bIns="0" rtlCol="0" anchor="ctr"/>
          <a:lstStyle/>
          <a:p>
            <a:pPr algn="ctr" indent="0" marL="0">
              <a:buNone/>
            </a:pPr>
            <a:r>
              <a:rPr lang="en-US" sz="1100" dirty="0">
                <a:solidFill>
                  <a:srgbClr val="FF8FB8"/>
                </a:solidFill>
                <a:latin typeface="Courier New" pitchFamily="34" charset="0"/>
                <a:ea typeface="Courier New" pitchFamily="34" charset="-122"/>
                <a:cs typeface="Courier New" pitchFamily="34" charset="-120"/>
              </a:rPr>
              <a:t>&lt;th&gt;</a:t>
            </a:r>
            <a:endParaRPr lang="en-US" sz="1100" dirty="0"/>
          </a:p>
        </p:txBody>
      </p:sp>
      <p:sp>
        <p:nvSpPr>
          <p:cNvPr id="19" name="Text 16"/>
          <p:cNvSpPr/>
          <p:nvPr/>
        </p:nvSpPr>
        <p:spPr>
          <a:xfrm>
            <a:off x="8339328" y="2194560"/>
            <a:ext cx="2980944" cy="384048"/>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Table header cell. Bold and centred by default.</a:t>
            </a:r>
            <a:endParaRPr lang="en-US" sz="1150" dirty="0"/>
          </a:p>
        </p:txBody>
      </p:sp>
      <p:sp>
        <p:nvSpPr>
          <p:cNvPr id="20" name="Shape 17"/>
          <p:cNvSpPr/>
          <p:nvPr/>
        </p:nvSpPr>
        <p:spPr>
          <a:xfrm>
            <a:off x="640080" y="2779776"/>
            <a:ext cx="3419856" cy="1060704"/>
          </a:xfrm>
          <a:prstGeom prst="roundRect">
            <a:avLst>
              <a:gd name="adj" fmla="val 8621"/>
            </a:avLst>
          </a:prstGeom>
          <a:solidFill>
            <a:srgbClr val="EDE7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1" name="Shape 18"/>
          <p:cNvSpPr/>
          <p:nvPr/>
        </p:nvSpPr>
        <p:spPr>
          <a:xfrm>
            <a:off x="859536" y="2962656"/>
            <a:ext cx="1371600" cy="384048"/>
          </a:xfrm>
          <a:prstGeom prst="roundRect">
            <a:avLst>
              <a:gd name="adj" fmla="val 16667"/>
            </a:avLst>
          </a:prstGeom>
          <a:solidFill>
            <a:srgbClr val="141033"/>
          </a:solidFill>
          <a:ln w="15875">
            <a:solidFill>
              <a:srgbClr val="191333"/>
            </a:solidFill>
            <a:prstDash val="solid"/>
          </a:ln>
        </p:spPr>
      </p:sp>
      <p:sp>
        <p:nvSpPr>
          <p:cNvPr id="22" name="Text 19"/>
          <p:cNvSpPr/>
          <p:nvPr/>
        </p:nvSpPr>
        <p:spPr>
          <a:xfrm>
            <a:off x="859536" y="2962656"/>
            <a:ext cx="1371600" cy="384048"/>
          </a:xfrm>
          <a:prstGeom prst="rect">
            <a:avLst/>
          </a:prstGeom>
          <a:noFill/>
          <a:ln/>
        </p:spPr>
        <p:txBody>
          <a:bodyPr wrap="square" lIns="0" tIns="0" rIns="0" bIns="0" rtlCol="0" anchor="ctr"/>
          <a:lstStyle/>
          <a:p>
            <a:pPr algn="ctr" indent="0" marL="0">
              <a:buNone/>
            </a:pPr>
            <a:r>
              <a:rPr lang="en-US" sz="1100" dirty="0">
                <a:solidFill>
                  <a:srgbClr val="FF8FB8"/>
                </a:solidFill>
                <a:latin typeface="Courier New" pitchFamily="34" charset="0"/>
                <a:ea typeface="Courier New" pitchFamily="34" charset="-122"/>
                <a:cs typeface="Courier New" pitchFamily="34" charset="-120"/>
              </a:rPr>
              <a:t>&lt;td&gt;</a:t>
            </a:r>
            <a:endParaRPr lang="en-US" sz="1100" dirty="0"/>
          </a:p>
        </p:txBody>
      </p:sp>
      <p:sp>
        <p:nvSpPr>
          <p:cNvPr id="23" name="Text 20"/>
          <p:cNvSpPr/>
          <p:nvPr/>
        </p:nvSpPr>
        <p:spPr>
          <a:xfrm>
            <a:off x="859536" y="3401568"/>
            <a:ext cx="2980944" cy="384048"/>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Table data cell. The actual value.</a:t>
            </a:r>
            <a:endParaRPr lang="en-US" sz="1150" dirty="0"/>
          </a:p>
        </p:txBody>
      </p:sp>
      <p:sp>
        <p:nvSpPr>
          <p:cNvPr id="24" name="Shape 21"/>
          <p:cNvSpPr/>
          <p:nvPr/>
        </p:nvSpPr>
        <p:spPr>
          <a:xfrm>
            <a:off x="4379976" y="2779776"/>
            <a:ext cx="3419856" cy="1060704"/>
          </a:xfrm>
          <a:prstGeom prst="roundRect">
            <a:avLst>
              <a:gd name="adj" fmla="val 8621"/>
            </a:avLst>
          </a:prstGeom>
          <a:solidFill>
            <a:srgbClr val="F0FBD8"/>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5" name="Shape 22"/>
          <p:cNvSpPr/>
          <p:nvPr/>
        </p:nvSpPr>
        <p:spPr>
          <a:xfrm>
            <a:off x="4599432" y="2962656"/>
            <a:ext cx="1371600" cy="384048"/>
          </a:xfrm>
          <a:prstGeom prst="roundRect">
            <a:avLst>
              <a:gd name="adj" fmla="val 16667"/>
            </a:avLst>
          </a:prstGeom>
          <a:solidFill>
            <a:srgbClr val="141033"/>
          </a:solidFill>
          <a:ln w="15875">
            <a:solidFill>
              <a:srgbClr val="191333"/>
            </a:solidFill>
            <a:prstDash val="solid"/>
          </a:ln>
        </p:spPr>
      </p:sp>
      <p:sp>
        <p:nvSpPr>
          <p:cNvPr id="26" name="Text 23"/>
          <p:cNvSpPr/>
          <p:nvPr/>
        </p:nvSpPr>
        <p:spPr>
          <a:xfrm>
            <a:off x="4599432" y="2962656"/>
            <a:ext cx="1371600" cy="384048"/>
          </a:xfrm>
          <a:prstGeom prst="rect">
            <a:avLst/>
          </a:prstGeom>
          <a:noFill/>
          <a:ln/>
        </p:spPr>
        <p:txBody>
          <a:bodyPr wrap="square" lIns="0" tIns="0" rIns="0" bIns="0" rtlCol="0" anchor="ctr"/>
          <a:lstStyle/>
          <a:p>
            <a:pPr algn="ctr" indent="0" marL="0">
              <a:buNone/>
            </a:pPr>
            <a:r>
              <a:rPr lang="en-US" sz="1100" dirty="0">
                <a:solidFill>
                  <a:srgbClr val="FF8FB8"/>
                </a:solidFill>
                <a:latin typeface="Courier New" pitchFamily="34" charset="0"/>
                <a:ea typeface="Courier New" pitchFamily="34" charset="-122"/>
                <a:cs typeface="Courier New" pitchFamily="34" charset="-120"/>
              </a:rPr>
              <a:t>&lt;thead&gt;</a:t>
            </a:r>
            <a:endParaRPr lang="en-US" sz="1100" dirty="0"/>
          </a:p>
        </p:txBody>
      </p:sp>
      <p:sp>
        <p:nvSpPr>
          <p:cNvPr id="27" name="Text 24"/>
          <p:cNvSpPr/>
          <p:nvPr/>
        </p:nvSpPr>
        <p:spPr>
          <a:xfrm>
            <a:off x="4599432" y="3401568"/>
            <a:ext cx="2980944" cy="384048"/>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Groups the header rows.</a:t>
            </a:r>
            <a:endParaRPr lang="en-US" sz="1150" dirty="0"/>
          </a:p>
        </p:txBody>
      </p:sp>
      <p:sp>
        <p:nvSpPr>
          <p:cNvPr id="28" name="Shape 25"/>
          <p:cNvSpPr/>
          <p:nvPr/>
        </p:nvSpPr>
        <p:spPr>
          <a:xfrm>
            <a:off x="8119872" y="2779776"/>
            <a:ext cx="3419856" cy="1060704"/>
          </a:xfrm>
          <a:prstGeom prst="roundRect">
            <a:avLst>
              <a:gd name="adj" fmla="val 8621"/>
            </a:avLst>
          </a:prstGeom>
          <a:solidFill>
            <a:srgbClr val="F0FBD8"/>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9" name="Shape 26"/>
          <p:cNvSpPr/>
          <p:nvPr/>
        </p:nvSpPr>
        <p:spPr>
          <a:xfrm>
            <a:off x="8339328" y="2962656"/>
            <a:ext cx="1371600" cy="384048"/>
          </a:xfrm>
          <a:prstGeom prst="roundRect">
            <a:avLst>
              <a:gd name="adj" fmla="val 16667"/>
            </a:avLst>
          </a:prstGeom>
          <a:solidFill>
            <a:srgbClr val="141033"/>
          </a:solidFill>
          <a:ln w="15875">
            <a:solidFill>
              <a:srgbClr val="191333"/>
            </a:solidFill>
            <a:prstDash val="solid"/>
          </a:ln>
        </p:spPr>
      </p:sp>
      <p:sp>
        <p:nvSpPr>
          <p:cNvPr id="30" name="Text 27"/>
          <p:cNvSpPr/>
          <p:nvPr/>
        </p:nvSpPr>
        <p:spPr>
          <a:xfrm>
            <a:off x="8339328" y="2962656"/>
            <a:ext cx="1371600" cy="384048"/>
          </a:xfrm>
          <a:prstGeom prst="rect">
            <a:avLst/>
          </a:prstGeom>
          <a:noFill/>
          <a:ln/>
        </p:spPr>
        <p:txBody>
          <a:bodyPr wrap="square" lIns="0" tIns="0" rIns="0" bIns="0" rtlCol="0" anchor="ctr"/>
          <a:lstStyle/>
          <a:p>
            <a:pPr algn="ctr" indent="0" marL="0">
              <a:buNone/>
            </a:pPr>
            <a:r>
              <a:rPr lang="en-US" sz="1100" dirty="0">
                <a:solidFill>
                  <a:srgbClr val="FF8FB8"/>
                </a:solidFill>
                <a:latin typeface="Courier New" pitchFamily="34" charset="0"/>
                <a:ea typeface="Courier New" pitchFamily="34" charset="-122"/>
                <a:cs typeface="Courier New" pitchFamily="34" charset="-120"/>
              </a:rPr>
              <a:t>&lt;tbody&gt;</a:t>
            </a:r>
            <a:endParaRPr lang="en-US" sz="1100" dirty="0"/>
          </a:p>
        </p:txBody>
      </p:sp>
      <p:sp>
        <p:nvSpPr>
          <p:cNvPr id="31" name="Text 28"/>
          <p:cNvSpPr/>
          <p:nvPr/>
        </p:nvSpPr>
        <p:spPr>
          <a:xfrm>
            <a:off x="8339328" y="3401568"/>
            <a:ext cx="2980944" cy="384048"/>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Groups the body rows.</a:t>
            </a:r>
            <a:endParaRPr lang="en-US" sz="1150" dirty="0"/>
          </a:p>
        </p:txBody>
      </p:sp>
      <p:sp>
        <p:nvSpPr>
          <p:cNvPr id="32" name="Shape 29"/>
          <p:cNvSpPr/>
          <p:nvPr/>
        </p:nvSpPr>
        <p:spPr>
          <a:xfrm>
            <a:off x="640080" y="3986784"/>
            <a:ext cx="3419856" cy="1060704"/>
          </a:xfrm>
          <a:prstGeom prst="roundRect">
            <a:avLst>
              <a:gd name="adj" fmla="val 8621"/>
            </a:avLst>
          </a:prstGeom>
          <a:solidFill>
            <a:srgbClr val="FFF1D6"/>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3" name="Shape 30"/>
          <p:cNvSpPr/>
          <p:nvPr/>
        </p:nvSpPr>
        <p:spPr>
          <a:xfrm>
            <a:off x="859536" y="4169664"/>
            <a:ext cx="1371600" cy="384048"/>
          </a:xfrm>
          <a:prstGeom prst="roundRect">
            <a:avLst>
              <a:gd name="adj" fmla="val 16667"/>
            </a:avLst>
          </a:prstGeom>
          <a:solidFill>
            <a:srgbClr val="141033"/>
          </a:solidFill>
          <a:ln w="15875">
            <a:solidFill>
              <a:srgbClr val="191333"/>
            </a:solidFill>
            <a:prstDash val="solid"/>
          </a:ln>
        </p:spPr>
      </p:sp>
      <p:sp>
        <p:nvSpPr>
          <p:cNvPr id="34" name="Text 31"/>
          <p:cNvSpPr/>
          <p:nvPr/>
        </p:nvSpPr>
        <p:spPr>
          <a:xfrm>
            <a:off x="859536" y="4169664"/>
            <a:ext cx="1371600" cy="384048"/>
          </a:xfrm>
          <a:prstGeom prst="rect">
            <a:avLst/>
          </a:prstGeom>
          <a:noFill/>
          <a:ln/>
        </p:spPr>
        <p:txBody>
          <a:bodyPr wrap="square" lIns="0" tIns="0" rIns="0" bIns="0" rtlCol="0" anchor="ctr"/>
          <a:lstStyle/>
          <a:p>
            <a:pPr algn="ctr" indent="0" marL="0">
              <a:buNone/>
            </a:pPr>
            <a:r>
              <a:rPr lang="en-US" sz="1100" dirty="0">
                <a:solidFill>
                  <a:srgbClr val="FF8FB8"/>
                </a:solidFill>
                <a:latin typeface="Courier New" pitchFamily="34" charset="0"/>
                <a:ea typeface="Courier New" pitchFamily="34" charset="-122"/>
                <a:cs typeface="Courier New" pitchFamily="34" charset="-120"/>
              </a:rPr>
              <a:t>&lt;caption&gt;</a:t>
            </a:r>
            <a:endParaRPr lang="en-US" sz="1100" dirty="0"/>
          </a:p>
        </p:txBody>
      </p:sp>
      <p:sp>
        <p:nvSpPr>
          <p:cNvPr id="35" name="Text 32"/>
          <p:cNvSpPr/>
          <p:nvPr/>
        </p:nvSpPr>
        <p:spPr>
          <a:xfrm>
            <a:off x="859536" y="4608576"/>
            <a:ext cx="2980944" cy="384048"/>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The table title. Goes right after &lt;table&gt;.</a:t>
            </a:r>
            <a:endParaRPr lang="en-US" sz="1150" dirty="0"/>
          </a:p>
        </p:txBody>
      </p:sp>
      <p:sp>
        <p:nvSpPr>
          <p:cNvPr id="36" name="Shape 33"/>
          <p:cNvSpPr/>
          <p:nvPr/>
        </p:nvSpPr>
        <p:spPr>
          <a:xfrm>
            <a:off x="8119872" y="3986784"/>
            <a:ext cx="3419856" cy="1060704"/>
          </a:xfrm>
          <a:prstGeom prst="roundRect">
            <a:avLst>
              <a:gd name="adj" fmla="val 8621"/>
            </a:avLst>
          </a:prstGeom>
          <a:solidFill>
            <a:srgbClr val="FFFFFF"/>
          </a:solidFill>
          <a:ln w="19050">
            <a:solidFill>
              <a:srgbClr val="E03131"/>
            </a:solidFill>
            <a:prstDash val="solid"/>
          </a:ln>
          <a:effectLst>
            <a:outerShdw sx="100000" sy="100000" kx="0" ky="0" algn="bl" rotWithShape="0" blurRad="101600" dist="38100" dir="2700000">
              <a:srgbClr val="191333">
                <a:alpha val="100000"/>
              </a:srgbClr>
            </a:outerShdw>
          </a:effectLst>
        </p:spPr>
      </p:sp>
      <p:sp>
        <p:nvSpPr>
          <p:cNvPr id="37" name="Shape 34"/>
          <p:cNvSpPr/>
          <p:nvPr/>
        </p:nvSpPr>
        <p:spPr>
          <a:xfrm>
            <a:off x="8339328" y="4169664"/>
            <a:ext cx="402336" cy="402336"/>
          </a:xfrm>
          <a:prstGeom prst="roundRect">
            <a:avLst>
              <a:gd name="adj" fmla="val 22727"/>
            </a:avLst>
          </a:prstGeom>
          <a:solidFill>
            <a:srgbClr val="FFF1D6"/>
          </a:solidFill>
          <a:ln w="15875">
            <a:solidFill>
              <a:srgbClr val="191333"/>
            </a:solidFill>
            <a:prstDash val="solid"/>
          </a:ln>
        </p:spPr>
      </p:sp>
      <p:pic>
        <p:nvPicPr>
          <p:cNvPr id="38" name="Image 0" descr="preencoded.png">    </p:cNvPr>
          <p:cNvPicPr>
            <a:picLocks noChangeAspect="1"/>
          </p:cNvPicPr>
          <p:nvPr/>
        </p:nvPicPr>
        <p:blipFill>
          <a:blip r:embed="rId1"/>
          <a:stretch>
            <a:fillRect/>
          </a:stretch>
        </p:blipFill>
        <p:spPr>
          <a:xfrm>
            <a:off x="8443935" y="4274271"/>
            <a:ext cx="193121" cy="193121"/>
          </a:xfrm>
          <a:prstGeom prst="rect">
            <a:avLst/>
          </a:prstGeom>
        </p:spPr>
      </p:pic>
      <p:sp>
        <p:nvSpPr>
          <p:cNvPr id="39" name="Text 35"/>
          <p:cNvSpPr/>
          <p:nvPr/>
        </p:nvSpPr>
        <p:spPr>
          <a:xfrm>
            <a:off x="8869680" y="4169664"/>
            <a:ext cx="2377440" cy="402336"/>
          </a:xfrm>
          <a:prstGeom prst="rect">
            <a:avLst/>
          </a:prstGeom>
          <a:noFill/>
          <a:ln/>
        </p:spPr>
        <p:txBody>
          <a:bodyPr wrap="square" lIns="0" tIns="0" rIns="0" bIns="0" rtlCol="0" anchor="ctr"/>
          <a:lstStyle/>
          <a:p>
            <a:pPr indent="0" marL="0">
              <a:buNone/>
            </a:pPr>
            <a:r>
              <a:rPr lang="en-US" sz="1200" b="1" dirty="0">
                <a:solidFill>
                  <a:srgbClr val="E03131"/>
                </a:solidFill>
                <a:latin typeface="Courier New" pitchFamily="34" charset="0"/>
                <a:ea typeface="Courier New" pitchFamily="34" charset="-122"/>
                <a:cs typeface="Courier New" pitchFamily="34" charset="-120"/>
              </a:rPr>
              <a:t>border</a:t>
            </a:r>
            <a:endParaRPr lang="en-US" sz="1200" dirty="0"/>
          </a:p>
        </p:txBody>
      </p:sp>
      <p:sp>
        <p:nvSpPr>
          <p:cNvPr id="40" name="Text 36"/>
          <p:cNvSpPr/>
          <p:nvPr/>
        </p:nvSpPr>
        <p:spPr>
          <a:xfrm>
            <a:off x="8339328" y="4626864"/>
            <a:ext cx="2980944" cy="384048"/>
          </a:xfrm>
          <a:prstGeom prst="rect">
            <a:avLst/>
          </a:prstGeom>
          <a:noFill/>
          <a:ln/>
        </p:spPr>
        <p:txBody>
          <a:bodyPr wrap="square" lIns="0" tIns="0" rIns="0" bIns="0" rtlCol="0" anchor="t"/>
          <a:lstStyle/>
          <a:p>
            <a:pPr algn="l" indent="0" marL="0">
              <a:lnSpc>
                <a:spcPts val="1400"/>
              </a:lnSpc>
              <a:buNone/>
            </a:pPr>
            <a:r>
              <a:rPr lang="en-US" sz="1100" dirty="0">
                <a:solidFill>
                  <a:srgbClr val="191333"/>
                </a:solidFill>
                <a:latin typeface="Calibri" pitchFamily="34" charset="0"/>
                <a:ea typeface="Calibri" pitchFamily="34" charset="-122"/>
                <a:cs typeface="Calibri" pitchFamily="34" charset="-120"/>
              </a:rPr>
              <a:t>Works, but deprecated. Your editor shows it red. Borders belong in CSS now.</a:t>
            </a:r>
            <a:endParaRPr lang="en-US" sz="1100" dirty="0"/>
          </a:p>
        </p:txBody>
      </p:sp>
      <p:sp>
        <p:nvSpPr>
          <p:cNvPr id="41" name="Shape 37"/>
          <p:cNvSpPr/>
          <p:nvPr/>
        </p:nvSpPr>
        <p:spPr>
          <a:xfrm>
            <a:off x="640080" y="5120640"/>
            <a:ext cx="10908792" cy="658368"/>
          </a:xfrm>
          <a:prstGeom prst="roundRect">
            <a:avLst>
              <a:gd name="adj" fmla="val 13889"/>
            </a:avLst>
          </a:prstGeom>
          <a:solidFill>
            <a:srgbClr val="DEF6FA"/>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42" name="Text 38"/>
          <p:cNvSpPr/>
          <p:nvPr/>
        </p:nvSpPr>
        <p:spPr>
          <a:xfrm>
            <a:off x="640080" y="5120640"/>
            <a:ext cx="10908792" cy="658368"/>
          </a:xfrm>
          <a:prstGeom prst="rect">
            <a:avLst/>
          </a:prstGeom>
          <a:noFill/>
          <a:ln/>
        </p:spPr>
        <p:txBody>
          <a:bodyPr wrap="square" lIns="0" tIns="0" rIns="0" bIns="0" rtlCol="0" anchor="ctr"/>
          <a:lstStyle/>
          <a:p>
            <a:pPr algn="ctr" indent="0" marL="0">
              <a:buNone/>
            </a:pPr>
            <a:r>
              <a:rPr lang="en-US" sz="1450" b="1" dirty="0">
                <a:solidFill>
                  <a:srgbClr val="191333"/>
                </a:solidFill>
                <a:latin typeface="Calibri" pitchFamily="34" charset="0"/>
                <a:ea typeface="Calibri" pitchFamily="34" charset="-122"/>
                <a:cs typeface="Calibri" pitchFamily="34" charset="-120"/>
              </a:rPr>
              <a:t>thead and tbody are optional and worth writing anyway. Future you, reading a 40 row table, will be grateful.</a:t>
            </a:r>
            <a:endParaRPr lang="en-US" sz="1450" dirty="0"/>
          </a:p>
        </p:txBody>
      </p:sp>
      <p:sp>
        <p:nvSpPr>
          <p:cNvPr id="43" name="Shape 39"/>
          <p:cNvSpPr/>
          <p:nvPr/>
        </p:nvSpPr>
        <p:spPr>
          <a:xfrm>
            <a:off x="640080" y="5888736"/>
            <a:ext cx="10908792" cy="512064"/>
          </a:xfrm>
          <a:prstGeom prst="roundRect">
            <a:avLst>
              <a:gd name="adj" fmla="val 14286"/>
            </a:avLst>
          </a:prstGeom>
          <a:solidFill>
            <a:srgbClr val="FFF1D6"/>
          </a:solidFill>
          <a:ln w="12700">
            <a:solidFill>
              <a:srgbClr val="F5CE8A"/>
            </a:solidFill>
            <a:prstDash val="solid"/>
          </a:ln>
        </p:spPr>
      </p:sp>
      <p:sp>
        <p:nvSpPr>
          <p:cNvPr id="44" name="Text 40"/>
          <p:cNvSpPr/>
          <p:nvPr/>
        </p:nvSpPr>
        <p:spPr>
          <a:xfrm>
            <a:off x="859536" y="5888736"/>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the border attribute turning red is HTML politely subtweeting your life choices.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11</a:t>
            </a:r>
            <a:endParaRPr lang="en-US" sz="900" dirty="0"/>
          </a:p>
        </p:txBody>
      </p:sp>
      <p:sp>
        <p:nvSpPr>
          <p:cNvPr id="5" name="Shape 2"/>
          <p:cNvSpPr/>
          <p:nvPr/>
        </p:nvSpPr>
        <p:spPr>
          <a:xfrm>
            <a:off x="640080" y="365760"/>
            <a:ext cx="1920240" cy="347472"/>
          </a:xfrm>
          <a:prstGeom prst="roundRect">
            <a:avLst>
              <a:gd name="adj" fmla="val 21053"/>
            </a:avLst>
          </a:prstGeom>
          <a:solidFill>
            <a:srgbClr val="0090A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MEME BREAK</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The oldest trap in HTML</a:t>
            </a:r>
            <a:endParaRPr lang="en-US" sz="3200" dirty="0"/>
          </a:p>
        </p:txBody>
      </p:sp>
      <p:sp>
        <p:nvSpPr>
          <p:cNvPr id="8" name="Shape 5"/>
          <p:cNvSpPr/>
          <p:nvPr/>
        </p:nvSpPr>
        <p:spPr>
          <a:xfrm rot="-60000">
            <a:off x="640080" y="1554480"/>
            <a:ext cx="6675120" cy="3200400"/>
          </a:xfrm>
          <a:prstGeom prst="roundRect">
            <a:avLst>
              <a:gd name="adj" fmla="val 2857"/>
            </a:avLst>
          </a:prstGeom>
          <a:solidFill>
            <a:srgbClr val="FFFFFF"/>
          </a:solidFill>
          <a:ln w="25400">
            <a:solidFill>
              <a:srgbClr val="191333"/>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rot="-60000">
            <a:off x="1051560" y="1920240"/>
            <a:ext cx="2743200" cy="1188720"/>
          </a:xfrm>
          <a:prstGeom prst="roundRect">
            <a:avLst>
              <a:gd name="adj" fmla="val 7692"/>
            </a:avLst>
          </a:prstGeom>
          <a:solidFill>
            <a:srgbClr val="F0FBD8"/>
          </a:solidFill>
          <a:ln w="25400">
            <a:solidFill>
              <a:srgbClr val="191333"/>
            </a:solidFill>
            <a:prstDash val="solid"/>
          </a:ln>
          <a:effectLst>
            <a:outerShdw sx="100000" sy="100000" kx="0" ky="0" algn="bl" rotWithShape="0" blurRad="2.8849998926467873e+62" dist="1.081874959742545e+62" dir="2.1158324305920003e+73">
              <a:srgbClr val="191333">
                <a:alpha val="1e+75"/>
              </a:srgbClr>
            </a:outerShdw>
          </a:effectLst>
        </p:spPr>
      </p:sp>
      <p:sp>
        <p:nvSpPr>
          <p:cNvPr id="10" name="Text 7"/>
          <p:cNvSpPr/>
          <p:nvPr/>
        </p:nvSpPr>
        <p:spPr>
          <a:xfrm rot="-60000">
            <a:off x="1197864" y="1920240"/>
            <a:ext cx="2450592" cy="1188720"/>
          </a:xfrm>
          <a:prstGeom prst="rect">
            <a:avLst/>
          </a:prstGeom>
          <a:noFill/>
          <a:ln/>
        </p:spPr>
        <p:txBody>
          <a:bodyPr wrap="square" lIns="0" tIns="0" rIns="0" bIns="0" rtlCol="0" anchor="ctr"/>
          <a:lstStyle/>
          <a:p>
            <a:pPr algn="ctr" indent="0" marL="0">
              <a:lnSpc>
                <a:spcPts val="1600"/>
              </a:lnSpc>
              <a:buNone/>
            </a:pPr>
            <a:r>
              <a:rPr lang="en-US" sz="1250" b="1" spc="50" kern="0" dirty="0">
                <a:solidFill>
                  <a:srgbClr val="191333"/>
                </a:solidFill>
                <a:latin typeface="Arial Black" pitchFamily="34" charset="0"/>
                <a:ea typeface="Arial Black" pitchFamily="34" charset="-122"/>
                <a:cs typeface="Arial Black" pitchFamily="34" charset="-120"/>
              </a:rPr>
              <a:t>USE A TABLE</a:t>
            </a:r>
            <a:endParaRPr lang="en-US" sz="1250" dirty="0"/>
          </a:p>
          <a:p>
            <a:pPr algn="ctr" indent="0" marL="0">
              <a:lnSpc>
                <a:spcPts val="1600"/>
              </a:lnSpc>
              <a:buNone/>
            </a:pPr>
            <a:r>
              <a:rPr lang="en-US" sz="1250" b="1" spc="50" kern="0" dirty="0">
                <a:solidFill>
                  <a:srgbClr val="191333"/>
                </a:solidFill>
                <a:latin typeface="Arial Black" pitchFamily="34" charset="0"/>
                <a:ea typeface="Arial Black" pitchFamily="34" charset="-122"/>
                <a:cs typeface="Arial Black" pitchFamily="34" charset="-120"/>
              </a:rPr>
              <a:t>FOR YOUR DATA</a:t>
            </a:r>
            <a:endParaRPr lang="en-US" sz="1250" dirty="0"/>
          </a:p>
        </p:txBody>
      </p:sp>
      <p:sp>
        <p:nvSpPr>
          <p:cNvPr id="11" name="Shape 8"/>
          <p:cNvSpPr/>
          <p:nvPr/>
        </p:nvSpPr>
        <p:spPr>
          <a:xfrm rot="-60000">
            <a:off x="4160520" y="1920240"/>
            <a:ext cx="2743200" cy="1188720"/>
          </a:xfrm>
          <a:prstGeom prst="roundRect">
            <a:avLst>
              <a:gd name="adj" fmla="val 7692"/>
            </a:avLst>
          </a:prstGeom>
          <a:solidFill>
            <a:srgbClr val="FFE6F0"/>
          </a:solidFill>
          <a:ln w="25400">
            <a:solidFill>
              <a:srgbClr val="191333"/>
            </a:solidFill>
            <a:prstDash val="solid"/>
          </a:ln>
          <a:effectLst>
            <a:outerShdw sx="100000" sy="100000" kx="0" ky="0" algn="bl" rotWithShape="0" blurRad="3.66394986366142e+66" dist="1.373981198873032e+66" dir="1.2694994583552002e+78">
              <a:srgbClr val="191333">
                <a:alpha val="9.999999999999999e+79"/>
              </a:srgbClr>
            </a:outerShdw>
          </a:effectLst>
        </p:spPr>
      </p:sp>
      <p:sp>
        <p:nvSpPr>
          <p:cNvPr id="12" name="Text 9"/>
          <p:cNvSpPr/>
          <p:nvPr/>
        </p:nvSpPr>
        <p:spPr>
          <a:xfrm rot="-60000">
            <a:off x="4306824" y="1920240"/>
            <a:ext cx="2450592" cy="1188720"/>
          </a:xfrm>
          <a:prstGeom prst="rect">
            <a:avLst/>
          </a:prstGeom>
          <a:noFill/>
          <a:ln/>
        </p:spPr>
        <p:txBody>
          <a:bodyPr wrap="square" lIns="0" tIns="0" rIns="0" bIns="0" rtlCol="0" anchor="ctr"/>
          <a:lstStyle/>
          <a:p>
            <a:pPr algn="ctr" indent="0" marL="0">
              <a:lnSpc>
                <a:spcPts val="1600"/>
              </a:lnSpc>
              <a:buNone/>
            </a:pPr>
            <a:r>
              <a:rPr lang="en-US" sz="1250" b="1" spc="50" kern="0" dirty="0">
                <a:solidFill>
                  <a:srgbClr val="191333"/>
                </a:solidFill>
                <a:latin typeface="Arial Black" pitchFamily="34" charset="0"/>
                <a:ea typeface="Arial Black" pitchFamily="34" charset="-122"/>
                <a:cs typeface="Arial Black" pitchFamily="34" charset="-120"/>
              </a:rPr>
              <a:t>USE A TABLE</a:t>
            </a:r>
            <a:endParaRPr lang="en-US" sz="1250" dirty="0"/>
          </a:p>
          <a:p>
            <a:pPr algn="ctr" indent="0" marL="0">
              <a:lnSpc>
                <a:spcPts val="1600"/>
              </a:lnSpc>
              <a:buNone/>
            </a:pPr>
            <a:r>
              <a:rPr lang="en-US" sz="1250" b="1" spc="50" kern="0" dirty="0">
                <a:solidFill>
                  <a:srgbClr val="191333"/>
                </a:solidFill>
                <a:latin typeface="Arial Black" pitchFamily="34" charset="0"/>
                <a:ea typeface="Arial Black" pitchFamily="34" charset="-122"/>
                <a:cs typeface="Arial Black" pitchFamily="34" charset="-120"/>
              </a:rPr>
              <a:t>TO LAY OUT THE PAGE</a:t>
            </a:r>
            <a:endParaRPr lang="en-US" sz="1250" dirty="0"/>
          </a:p>
        </p:txBody>
      </p:sp>
      <p:sp>
        <p:nvSpPr>
          <p:cNvPr id="13" name="Shape 10"/>
          <p:cNvSpPr/>
          <p:nvPr/>
        </p:nvSpPr>
        <p:spPr>
          <a:xfrm rot="-480000">
            <a:off x="3520440" y="3310128"/>
            <a:ext cx="914400" cy="1005840"/>
          </a:xfrm>
          <a:prstGeom prst="roundRect">
            <a:avLst>
              <a:gd name="adj" fmla="val 30000"/>
            </a:avLst>
          </a:prstGeom>
          <a:solidFill>
            <a:srgbClr val="FFD9B8"/>
          </a:solidFill>
          <a:ln w="22225">
            <a:solidFill>
              <a:srgbClr val="191333"/>
            </a:solidFill>
            <a:prstDash val="solid"/>
          </a:ln>
        </p:spPr>
      </p:sp>
      <p:sp>
        <p:nvSpPr>
          <p:cNvPr id="14" name="Shape 11"/>
          <p:cNvSpPr/>
          <p:nvPr/>
        </p:nvSpPr>
        <p:spPr>
          <a:xfrm rot="-480000">
            <a:off x="3776472" y="3127248"/>
            <a:ext cx="182880" cy="402336"/>
          </a:xfrm>
          <a:prstGeom prst="roundRect">
            <a:avLst>
              <a:gd name="adj" fmla="val 45000"/>
            </a:avLst>
          </a:prstGeom>
          <a:solidFill>
            <a:srgbClr val="FFD9B8"/>
          </a:solidFill>
          <a:ln w="19050">
            <a:solidFill>
              <a:srgbClr val="191333"/>
            </a:solidFill>
            <a:prstDash val="solid"/>
          </a:ln>
        </p:spPr>
      </p:sp>
      <p:sp>
        <p:nvSpPr>
          <p:cNvPr id="15" name="Shape 12"/>
          <p:cNvSpPr/>
          <p:nvPr/>
        </p:nvSpPr>
        <p:spPr>
          <a:xfrm rot="-480000">
            <a:off x="3995928" y="3154680"/>
            <a:ext cx="182880" cy="402336"/>
          </a:xfrm>
          <a:prstGeom prst="roundRect">
            <a:avLst>
              <a:gd name="adj" fmla="val 45000"/>
            </a:avLst>
          </a:prstGeom>
          <a:solidFill>
            <a:srgbClr val="FFD9B8"/>
          </a:solidFill>
          <a:ln w="19050">
            <a:solidFill>
              <a:srgbClr val="191333"/>
            </a:solidFill>
            <a:prstDash val="solid"/>
          </a:ln>
        </p:spPr>
      </p:sp>
      <p:sp>
        <p:nvSpPr>
          <p:cNvPr id="16" name="Shape 13"/>
          <p:cNvSpPr/>
          <p:nvPr/>
        </p:nvSpPr>
        <p:spPr>
          <a:xfrm rot="-480000">
            <a:off x="4215384" y="3182112"/>
            <a:ext cx="182880" cy="402336"/>
          </a:xfrm>
          <a:prstGeom prst="roundRect">
            <a:avLst>
              <a:gd name="adj" fmla="val 45000"/>
            </a:avLst>
          </a:prstGeom>
          <a:solidFill>
            <a:srgbClr val="FFD9B8"/>
          </a:solidFill>
          <a:ln w="19050">
            <a:solidFill>
              <a:srgbClr val="191333"/>
            </a:solidFill>
            <a:prstDash val="solid"/>
          </a:ln>
        </p:spPr>
      </p:sp>
      <p:sp>
        <p:nvSpPr>
          <p:cNvPr id="17" name="Shape 14"/>
          <p:cNvSpPr/>
          <p:nvPr/>
        </p:nvSpPr>
        <p:spPr>
          <a:xfrm>
            <a:off x="3154680" y="3200400"/>
            <a:ext cx="164592" cy="237744"/>
          </a:xfrm>
          <a:prstGeom prst="ellipse">
            <a:avLst/>
          </a:prstGeom>
          <a:solidFill>
            <a:srgbClr val="8FD9F0"/>
          </a:solidFill>
          <a:ln w="15875">
            <a:solidFill>
              <a:srgbClr val="191333"/>
            </a:solidFill>
            <a:prstDash val="solid"/>
          </a:ln>
        </p:spPr>
      </p:sp>
      <p:sp>
        <p:nvSpPr>
          <p:cNvPr id="18" name="Shape 15"/>
          <p:cNvSpPr/>
          <p:nvPr/>
        </p:nvSpPr>
        <p:spPr>
          <a:xfrm>
            <a:off x="2971800" y="3566160"/>
            <a:ext cx="164592" cy="237744"/>
          </a:xfrm>
          <a:prstGeom prst="ellipse">
            <a:avLst/>
          </a:prstGeom>
          <a:solidFill>
            <a:srgbClr val="8FD9F0"/>
          </a:solidFill>
          <a:ln w="15875">
            <a:solidFill>
              <a:srgbClr val="191333"/>
            </a:solidFill>
            <a:prstDash val="solid"/>
          </a:ln>
        </p:spPr>
      </p:sp>
      <p:sp>
        <p:nvSpPr>
          <p:cNvPr id="19" name="Shape 16"/>
          <p:cNvSpPr/>
          <p:nvPr/>
        </p:nvSpPr>
        <p:spPr>
          <a:xfrm>
            <a:off x="4754880" y="3310128"/>
            <a:ext cx="164592" cy="237744"/>
          </a:xfrm>
          <a:prstGeom prst="ellipse">
            <a:avLst/>
          </a:prstGeom>
          <a:solidFill>
            <a:srgbClr val="8FD9F0"/>
          </a:solidFill>
          <a:ln w="15875">
            <a:solidFill>
              <a:srgbClr val="191333"/>
            </a:solidFill>
            <a:prstDash val="solid"/>
          </a:ln>
        </p:spPr>
      </p:sp>
      <p:sp>
        <p:nvSpPr>
          <p:cNvPr id="20" name="Text 17"/>
          <p:cNvSpPr/>
          <p:nvPr/>
        </p:nvSpPr>
        <p:spPr>
          <a:xfrm>
            <a:off x="1005840" y="4297680"/>
            <a:ext cx="5943600" cy="365760"/>
          </a:xfrm>
          <a:prstGeom prst="rect">
            <a:avLst/>
          </a:prstGeom>
          <a:noFill/>
          <a:ln/>
        </p:spPr>
        <p:txBody>
          <a:bodyPr wrap="square" lIns="0" tIns="0" rIns="0" bIns="0" rtlCol="0" anchor="ctr"/>
          <a:lstStyle/>
          <a:p>
            <a:pPr algn="ctr" indent="0" marL="0">
              <a:lnSpc>
                <a:spcPts val="1375"/>
              </a:lnSpc>
              <a:buNone/>
            </a:pPr>
            <a:r>
              <a:rPr lang="en-US" sz="1100" b="1" spc="50" kern="0" dirty="0">
                <a:solidFill>
                  <a:srgbClr val="918AB5"/>
                </a:solidFill>
                <a:latin typeface="Arial Black" pitchFamily="34" charset="0"/>
                <a:ea typeface="Arial Black" pitchFamily="34" charset="-122"/>
                <a:cs typeface="Arial Black" pitchFamily="34" charset="-120"/>
              </a:rPr>
              <a:t>ME, IN 2004</a:t>
            </a:r>
            <a:endParaRPr lang="en-US" sz="1100" dirty="0"/>
          </a:p>
        </p:txBody>
      </p:sp>
      <p:sp>
        <p:nvSpPr>
          <p:cNvPr id="21" name="Shape 18"/>
          <p:cNvSpPr/>
          <p:nvPr/>
        </p:nvSpPr>
        <p:spPr>
          <a:xfrm>
            <a:off x="7680960" y="1554480"/>
            <a:ext cx="3867912" cy="1508760"/>
          </a:xfrm>
          <a:prstGeom prst="roundRect">
            <a:avLst>
              <a:gd name="adj" fmla="val 6061"/>
            </a:avLst>
          </a:prstGeom>
          <a:solidFill>
            <a:srgbClr val="F0FBD8"/>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2" name="Shape 19"/>
          <p:cNvSpPr/>
          <p:nvPr/>
        </p:nvSpPr>
        <p:spPr>
          <a:xfrm>
            <a:off x="7936992" y="1773936"/>
            <a:ext cx="457200" cy="457200"/>
          </a:xfrm>
          <a:prstGeom prst="ellipse">
            <a:avLst/>
          </a:prstGeom>
          <a:solidFill>
            <a:srgbClr val="FFFFFF"/>
          </a:solidFill>
          <a:ln w="22225">
            <a:solidFill>
              <a:srgbClr val="2E9E5B"/>
            </a:solidFill>
            <a:prstDash val="solid"/>
          </a:ln>
        </p:spPr>
      </p:sp>
      <p:pic>
        <p:nvPicPr>
          <p:cNvPr id="23" name="Image 0" descr="preencoded.png">    </p:cNvPr>
          <p:cNvPicPr>
            <a:picLocks noChangeAspect="1"/>
          </p:cNvPicPr>
          <p:nvPr/>
        </p:nvPicPr>
        <p:blipFill>
          <a:blip r:embed="rId1"/>
          <a:stretch>
            <a:fillRect/>
          </a:stretch>
        </p:blipFill>
        <p:spPr>
          <a:xfrm>
            <a:off x="8055864" y="1892808"/>
            <a:ext cx="219456" cy="219456"/>
          </a:xfrm>
          <a:prstGeom prst="rect">
            <a:avLst/>
          </a:prstGeom>
        </p:spPr>
      </p:pic>
      <p:sp>
        <p:nvSpPr>
          <p:cNvPr id="24" name="Text 20"/>
          <p:cNvSpPr/>
          <p:nvPr/>
        </p:nvSpPr>
        <p:spPr>
          <a:xfrm>
            <a:off x="8540496" y="1773936"/>
            <a:ext cx="2743200" cy="457200"/>
          </a:xfrm>
          <a:prstGeom prst="rect">
            <a:avLst/>
          </a:prstGeom>
          <a:noFill/>
          <a:ln/>
        </p:spPr>
        <p:txBody>
          <a:bodyPr wrap="square" lIns="0" tIns="0" rIns="0" bIns="0" rtlCol="0" anchor="ctr"/>
          <a:lstStyle/>
          <a:p>
            <a:pPr indent="0" marL="0">
              <a:buNone/>
            </a:pPr>
            <a:r>
              <a:rPr lang="en-US" sz="1800" b="1" dirty="0">
                <a:solidFill>
                  <a:srgbClr val="2E9E5B"/>
                </a:solidFill>
                <a:latin typeface="Calibri" pitchFamily="34" charset="0"/>
                <a:ea typeface="Calibri" pitchFamily="34" charset="-122"/>
                <a:cs typeface="Calibri" pitchFamily="34" charset="-120"/>
              </a:rPr>
              <a:t>Data</a:t>
            </a:r>
            <a:endParaRPr lang="en-US" sz="1800" dirty="0"/>
          </a:p>
        </p:txBody>
      </p:sp>
      <p:sp>
        <p:nvSpPr>
          <p:cNvPr id="25" name="Text 21"/>
          <p:cNvSpPr/>
          <p:nvPr/>
        </p:nvSpPr>
        <p:spPr>
          <a:xfrm>
            <a:off x="7936992" y="2322576"/>
            <a:ext cx="3383280" cy="64008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Marksheets, price lists, fixtures, timetables. Anything with rows and columns that mean something.</a:t>
            </a:r>
            <a:endParaRPr lang="en-US" sz="1150" dirty="0"/>
          </a:p>
        </p:txBody>
      </p:sp>
      <p:sp>
        <p:nvSpPr>
          <p:cNvPr id="26" name="Shape 22"/>
          <p:cNvSpPr/>
          <p:nvPr/>
        </p:nvSpPr>
        <p:spPr>
          <a:xfrm>
            <a:off x="7680960" y="3246120"/>
            <a:ext cx="3867912" cy="1508760"/>
          </a:xfrm>
          <a:prstGeom prst="roundRect">
            <a:avLst>
              <a:gd name="adj" fmla="val 6061"/>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7" name="Shape 23"/>
          <p:cNvSpPr/>
          <p:nvPr/>
        </p:nvSpPr>
        <p:spPr>
          <a:xfrm>
            <a:off x="7936992" y="3465576"/>
            <a:ext cx="457200" cy="457200"/>
          </a:xfrm>
          <a:prstGeom prst="ellipse">
            <a:avLst/>
          </a:prstGeom>
          <a:solidFill>
            <a:srgbClr val="FFFFFF"/>
          </a:solidFill>
          <a:ln w="22225">
            <a:solidFill>
              <a:srgbClr val="E03131"/>
            </a:solidFill>
            <a:prstDash val="solid"/>
          </a:ln>
        </p:spPr>
      </p:sp>
      <p:pic>
        <p:nvPicPr>
          <p:cNvPr id="28" name="Image 1" descr="preencoded.png">    </p:cNvPr>
          <p:cNvPicPr>
            <a:picLocks noChangeAspect="1"/>
          </p:cNvPicPr>
          <p:nvPr/>
        </p:nvPicPr>
        <p:blipFill>
          <a:blip r:embed="rId2"/>
          <a:stretch>
            <a:fillRect/>
          </a:stretch>
        </p:blipFill>
        <p:spPr>
          <a:xfrm>
            <a:off x="8055864" y="3584448"/>
            <a:ext cx="219456" cy="219456"/>
          </a:xfrm>
          <a:prstGeom prst="rect">
            <a:avLst/>
          </a:prstGeom>
        </p:spPr>
      </p:pic>
      <p:sp>
        <p:nvSpPr>
          <p:cNvPr id="29" name="Text 24"/>
          <p:cNvSpPr/>
          <p:nvPr/>
        </p:nvSpPr>
        <p:spPr>
          <a:xfrm>
            <a:off x="8540496" y="3465576"/>
            <a:ext cx="2743200" cy="457200"/>
          </a:xfrm>
          <a:prstGeom prst="rect">
            <a:avLst/>
          </a:prstGeom>
          <a:noFill/>
          <a:ln/>
        </p:spPr>
        <p:txBody>
          <a:bodyPr wrap="square" lIns="0" tIns="0" rIns="0" bIns="0" rtlCol="0" anchor="ctr"/>
          <a:lstStyle/>
          <a:p>
            <a:pPr indent="0" marL="0">
              <a:buNone/>
            </a:pPr>
            <a:r>
              <a:rPr lang="en-US" sz="1800" b="1" dirty="0">
                <a:solidFill>
                  <a:srgbClr val="E03131"/>
                </a:solidFill>
                <a:latin typeface="Calibri" pitchFamily="34" charset="0"/>
                <a:ea typeface="Calibri" pitchFamily="34" charset="-122"/>
                <a:cs typeface="Calibri" pitchFamily="34" charset="-120"/>
              </a:rPr>
              <a:t>Layout</a:t>
            </a:r>
            <a:endParaRPr lang="en-US" sz="1800" dirty="0"/>
          </a:p>
        </p:txBody>
      </p:sp>
      <p:sp>
        <p:nvSpPr>
          <p:cNvPr id="30" name="Text 25"/>
          <p:cNvSpPr/>
          <p:nvPr/>
        </p:nvSpPr>
        <p:spPr>
          <a:xfrm>
            <a:off x="7936992" y="4014216"/>
            <a:ext cx="3383280" cy="64008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Arranging a page. That fight ended around 2005 and CSS won. Use CSS.</a:t>
            </a:r>
            <a:endParaRPr lang="en-US" sz="1150" dirty="0"/>
          </a:p>
        </p:txBody>
      </p:sp>
      <p:sp>
        <p:nvSpPr>
          <p:cNvPr id="31" name="Shape 26"/>
          <p:cNvSpPr/>
          <p:nvPr/>
        </p:nvSpPr>
        <p:spPr>
          <a:xfrm>
            <a:off x="640080" y="4974336"/>
            <a:ext cx="10908792" cy="640080"/>
          </a:xfrm>
          <a:prstGeom prst="roundRect">
            <a:avLst>
              <a:gd name="adj" fmla="val 14286"/>
            </a:avLst>
          </a:prstGeom>
          <a:solidFill>
            <a:srgbClr val="DEF6FA"/>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2" name="Text 27"/>
          <p:cNvSpPr/>
          <p:nvPr/>
        </p:nvSpPr>
        <p:spPr>
          <a:xfrm>
            <a:off x="640080" y="4974336"/>
            <a:ext cx="10908792" cy="640080"/>
          </a:xfrm>
          <a:prstGeom prst="rect">
            <a:avLst/>
          </a:prstGeom>
          <a:noFill/>
          <a:ln/>
        </p:spPr>
        <p:txBody>
          <a:bodyPr wrap="square" lIns="0" tIns="0" rIns="0" bIns="0" rtlCol="0" anchor="ctr"/>
          <a:lstStyle/>
          <a:p>
            <a:pPr algn="ctr" indent="0" marL="0">
              <a:buNone/>
            </a:pPr>
            <a:r>
              <a:rPr lang="en-US" sz="1550" b="1" dirty="0">
                <a:solidFill>
                  <a:srgbClr val="191333"/>
                </a:solidFill>
                <a:latin typeface="Calibri" pitchFamily="34" charset="0"/>
                <a:ea typeface="Calibri" pitchFamily="34" charset="-122"/>
                <a:cs typeface="Calibri" pitchFamily="34" charset="-120"/>
              </a:rPr>
              <a:t>If the content would still make sense in a spreadsheet, it belongs in a table.</a:t>
            </a:r>
            <a:endParaRPr lang="en-US" sz="1550" dirty="0"/>
          </a:p>
        </p:txBody>
      </p:sp>
      <p:sp>
        <p:nvSpPr>
          <p:cNvPr id="33" name="Shape 28"/>
          <p:cNvSpPr/>
          <p:nvPr/>
        </p:nvSpPr>
        <p:spPr>
          <a:xfrm>
            <a:off x="640080" y="5724144"/>
            <a:ext cx="10908792" cy="512064"/>
          </a:xfrm>
          <a:prstGeom prst="roundRect">
            <a:avLst>
              <a:gd name="adj" fmla="val 14286"/>
            </a:avLst>
          </a:prstGeom>
          <a:solidFill>
            <a:srgbClr val="FFF1D6"/>
          </a:solidFill>
          <a:ln w="12700">
            <a:solidFill>
              <a:srgbClr val="F5CE8A"/>
            </a:solidFill>
            <a:prstDash val="solid"/>
          </a:ln>
        </p:spPr>
      </p:sp>
      <p:sp>
        <p:nvSpPr>
          <p:cNvPr id="34" name="Text 29"/>
          <p:cNvSpPr/>
          <p:nvPr/>
        </p:nvSpPr>
        <p:spPr>
          <a:xfrm>
            <a:off x="859536" y="5724144"/>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somewhere out there a page from 2003 is still held together by nested tables and hope.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6E67A0"/>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6E67A0"/>
                </a:solidFill>
                <a:latin typeface="Courier New" pitchFamily="34" charset="0"/>
                <a:ea typeface="Courier New" pitchFamily="34" charset="-122"/>
                <a:cs typeface="Courier New" pitchFamily="34" charset="-120"/>
              </a:rPr>
              <a:t>12</a:t>
            </a:r>
            <a:endParaRPr lang="en-US" sz="900" dirty="0"/>
          </a:p>
        </p:txBody>
      </p:sp>
      <p:sp>
        <p:nvSpPr>
          <p:cNvPr id="5" name="Shape 2"/>
          <p:cNvSpPr/>
          <p:nvPr/>
        </p:nvSpPr>
        <p:spPr>
          <a:xfrm>
            <a:off x="640080" y="384048"/>
            <a:ext cx="1508760" cy="329184"/>
          </a:xfrm>
          <a:prstGeom prst="roundRect">
            <a:avLst>
              <a:gd name="adj" fmla="val 22222"/>
            </a:avLst>
          </a:prstGeom>
          <a:solidFill>
            <a:srgbClr val="6C3BF5"/>
          </a:solidFill>
          <a:ln w="12700">
            <a:solidFill>
              <a:srgbClr val="6C3BF5"/>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FFC96B"/>
                </a:solidFill>
                <a:latin typeface="Courier New" pitchFamily="34" charset="0"/>
                <a:ea typeface="Courier New" pitchFamily="34" charset="-122"/>
                <a:cs typeface="Courier New" pitchFamily="34" charset="-120"/>
              </a:rPr>
              <a:t>table.html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Build the marksheet</a:t>
            </a:r>
            <a:endParaRPr lang="en-US" sz="2900" dirty="0"/>
          </a:p>
        </p:txBody>
      </p:sp>
      <p:sp>
        <p:nvSpPr>
          <p:cNvPr id="9" name="Shape 6"/>
          <p:cNvSpPr/>
          <p:nvPr/>
        </p:nvSpPr>
        <p:spPr>
          <a:xfrm>
            <a:off x="640080" y="1517904"/>
            <a:ext cx="6858000" cy="4114800"/>
          </a:xfrm>
          <a:prstGeom prst="roundRect">
            <a:avLst>
              <a:gd name="adj" fmla="val 2222"/>
            </a:avLst>
          </a:prstGeom>
          <a:solidFill>
            <a:srgbClr val="0F0C26"/>
          </a:solidFill>
          <a:ln w="12700">
            <a:solidFill>
              <a:srgbClr val="241C4D"/>
            </a:solidFill>
            <a:prstDash val="solid"/>
          </a:ln>
        </p:spPr>
      </p:sp>
      <p:sp>
        <p:nvSpPr>
          <p:cNvPr id="10" name="Text 7"/>
          <p:cNvSpPr/>
          <p:nvPr/>
        </p:nvSpPr>
        <p:spPr>
          <a:xfrm>
            <a:off x="914400" y="1755648"/>
            <a:ext cx="6309360" cy="3639312"/>
          </a:xfrm>
          <a:prstGeom prst="rect">
            <a:avLst/>
          </a:prstGeom>
          <a:noFill/>
          <a:ln/>
        </p:spPr>
        <p:txBody>
          <a:bodyPr wrap="square" lIns="0" tIns="0" rIns="0" bIns="0" rtlCol="0" anchor="t"/>
          <a:lstStyle/>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table</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 </a:t>
            </a:r>
            <a:pPr indent="0" marL="0">
              <a:lnSpc>
                <a:spcPts val="1850"/>
              </a:lnSpc>
              <a:buNone/>
            </a:pPr>
            <a:r>
              <a:rPr lang="en-US" sz="1100" dirty="0">
                <a:solidFill>
                  <a:srgbClr val="FFC96B"/>
                </a:solidFill>
                <a:latin typeface="Courier New" pitchFamily="34" charset="0"/>
                <a:ea typeface="Courier New" pitchFamily="34" charset="-122"/>
                <a:cs typeface="Courier New" pitchFamily="34" charset="-120"/>
              </a:rPr>
              <a:t>border</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caption</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Marksheet</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caption</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thead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tr</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Student</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Roll No.</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Marks</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tr</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thead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tbody</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tr</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Aarav</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2016911</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r>
              <a:rPr lang="en-US" sz="1100" dirty="0">
                <a:solidFill>
                  <a:srgbClr val="E8E6F5"/>
                </a:solidFill>
                <a:latin typeface="Courier New" pitchFamily="34" charset="0"/>
                <a:ea typeface="Courier New" pitchFamily="34" charset="-122"/>
                <a:cs typeface="Courier New" pitchFamily="34" charset="-120"/>
              </a:rPr>
              <a:t>98</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td</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tr</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  &lt;/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tbody</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pPr indent="0" marL="0">
              <a:lnSpc>
                <a:spcPts val="1850"/>
              </a:lnSpc>
              <a:buNone/>
            </a:pPr>
            <a:endParaRPr lang="en-US" sz="1100" dirty="0"/>
          </a:p>
          <a:p>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&lt;/</a:t>
            </a:r>
            <a:pPr indent="0" marL="0">
              <a:lnSpc>
                <a:spcPts val="1850"/>
              </a:lnSpc>
              <a:buNone/>
            </a:pPr>
            <a:r>
              <a:rPr lang="en-US" sz="1100" dirty="0">
                <a:solidFill>
                  <a:srgbClr val="FF8FB8"/>
                </a:solidFill>
                <a:latin typeface="Courier New" pitchFamily="34" charset="0"/>
                <a:ea typeface="Courier New" pitchFamily="34" charset="-122"/>
                <a:cs typeface="Courier New" pitchFamily="34" charset="-120"/>
              </a:rPr>
              <a:t>table</a:t>
            </a:r>
            <a:pPr indent="0" marL="0">
              <a:lnSpc>
                <a:spcPts val="1850"/>
              </a:lnSpc>
              <a:buNone/>
            </a:pPr>
            <a:r>
              <a:rPr lang="en-US" sz="1100" dirty="0">
                <a:solidFill>
                  <a:srgbClr val="A9A2CC"/>
                </a:solidFill>
                <a:latin typeface="Courier New" pitchFamily="34" charset="0"/>
                <a:ea typeface="Courier New" pitchFamily="34" charset="-122"/>
                <a:cs typeface="Courier New" pitchFamily="34" charset="-120"/>
              </a:rPr>
              <a:t>&gt;</a:t>
            </a:r>
            <a:endParaRPr lang="en-US" sz="1100" dirty="0"/>
          </a:p>
        </p:txBody>
      </p:sp>
      <p:sp>
        <p:nvSpPr>
          <p:cNvPr id="11" name="Text 8"/>
          <p:cNvSpPr/>
          <p:nvPr/>
        </p:nvSpPr>
        <p:spPr>
          <a:xfrm>
            <a:off x="7863840" y="1517904"/>
            <a:ext cx="3685032" cy="292608"/>
          </a:xfrm>
          <a:prstGeom prst="rect">
            <a:avLst/>
          </a:prstGeom>
          <a:noFill/>
          <a:ln/>
        </p:spPr>
        <p:txBody>
          <a:bodyPr wrap="square" lIns="0" tIns="0" rIns="0" bIns="0" rtlCol="0" anchor="ctr"/>
          <a:lstStyle/>
          <a:p>
            <a:pPr indent="0" marL="0">
              <a:buNone/>
            </a:pPr>
            <a:r>
              <a:rPr lang="en-US" sz="1050" b="1" spc="200" kern="0" dirty="0">
                <a:solidFill>
                  <a:srgbClr val="FF8FB8"/>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01952"/>
            <a:ext cx="3685032" cy="658368"/>
          </a:xfrm>
          <a:prstGeom prst="roundRect">
            <a:avLst>
              <a:gd name="adj" fmla="val 11111"/>
            </a:avLst>
          </a:prstGeom>
          <a:solidFill>
            <a:srgbClr val="241C4D"/>
          </a:solidFill>
          <a:ln w="12700">
            <a:solidFill>
              <a:srgbClr val="2E2A50"/>
            </a:solidFill>
            <a:prstDash val="solid"/>
          </a:ln>
        </p:spPr>
      </p:sp>
      <p:sp>
        <p:nvSpPr>
          <p:cNvPr id="13" name="Text 10"/>
          <p:cNvSpPr/>
          <p:nvPr/>
        </p:nvSpPr>
        <p:spPr>
          <a:xfrm>
            <a:off x="8065008" y="1901952"/>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Emmet again: type table&gt;tr*3&gt;td*3 and Tab. The grid appears. Then edit it into the marksheet.</a:t>
            </a:r>
            <a:endParaRPr lang="en-US" sz="1150" dirty="0"/>
          </a:p>
        </p:txBody>
      </p:sp>
      <p:sp>
        <p:nvSpPr>
          <p:cNvPr id="14" name="Shape 11"/>
          <p:cNvSpPr/>
          <p:nvPr/>
        </p:nvSpPr>
        <p:spPr>
          <a:xfrm>
            <a:off x="7863840" y="2651760"/>
            <a:ext cx="3685032" cy="658368"/>
          </a:xfrm>
          <a:prstGeom prst="roundRect">
            <a:avLst>
              <a:gd name="adj" fmla="val 11111"/>
            </a:avLst>
          </a:prstGeom>
          <a:solidFill>
            <a:srgbClr val="241C4D"/>
          </a:solidFill>
          <a:ln w="12700">
            <a:solidFill>
              <a:srgbClr val="2E2A50"/>
            </a:solidFill>
            <a:prstDash val="solid"/>
          </a:ln>
        </p:spPr>
      </p:sp>
      <p:sp>
        <p:nvSpPr>
          <p:cNvPr id="15" name="Text 12"/>
          <p:cNvSpPr/>
          <p:nvPr/>
        </p:nvSpPr>
        <p:spPr>
          <a:xfrm>
            <a:off x="8065008" y="2651760"/>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Add border on the table so the lines show. Point out it goes red, that is the deprecation warning.</a:t>
            </a:r>
            <a:endParaRPr lang="en-US" sz="1150" dirty="0"/>
          </a:p>
        </p:txBody>
      </p:sp>
      <p:sp>
        <p:nvSpPr>
          <p:cNvPr id="16" name="Shape 13"/>
          <p:cNvSpPr/>
          <p:nvPr/>
        </p:nvSpPr>
        <p:spPr>
          <a:xfrm>
            <a:off x="7863840" y="3401568"/>
            <a:ext cx="3685032" cy="658368"/>
          </a:xfrm>
          <a:prstGeom prst="roundRect">
            <a:avLst>
              <a:gd name="adj" fmla="val 11111"/>
            </a:avLst>
          </a:prstGeom>
          <a:solidFill>
            <a:srgbClr val="241C4D"/>
          </a:solidFill>
          <a:ln w="12700">
            <a:solidFill>
              <a:srgbClr val="2E2A50"/>
            </a:solidFill>
            <a:prstDash val="solid"/>
          </a:ln>
        </p:spPr>
      </p:sp>
      <p:sp>
        <p:nvSpPr>
          <p:cNvPr id="17" name="Text 14"/>
          <p:cNvSpPr/>
          <p:nvPr/>
        </p:nvSpPr>
        <p:spPr>
          <a:xfrm>
            <a:off x="8065008" y="3401568"/>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Swap the first row from td to th and save. Bold and centred, for free, because th means header.</a:t>
            </a:r>
            <a:endParaRPr lang="en-US" sz="1150" dirty="0"/>
          </a:p>
        </p:txBody>
      </p:sp>
      <p:sp>
        <p:nvSpPr>
          <p:cNvPr id="18" name="Shape 15"/>
          <p:cNvSpPr/>
          <p:nvPr/>
        </p:nvSpPr>
        <p:spPr>
          <a:xfrm>
            <a:off x="7863840" y="4151376"/>
            <a:ext cx="3685032" cy="658368"/>
          </a:xfrm>
          <a:prstGeom prst="roundRect">
            <a:avLst>
              <a:gd name="adj" fmla="val 11111"/>
            </a:avLst>
          </a:prstGeom>
          <a:solidFill>
            <a:srgbClr val="241C4D"/>
          </a:solidFill>
          <a:ln w="12700">
            <a:solidFill>
              <a:srgbClr val="2E2A50"/>
            </a:solidFill>
            <a:prstDash val="solid"/>
          </a:ln>
        </p:spPr>
      </p:sp>
      <p:sp>
        <p:nvSpPr>
          <p:cNvPr id="19" name="Text 16"/>
          <p:cNvSpPr/>
          <p:nvPr/>
        </p:nvSpPr>
        <p:spPr>
          <a:xfrm>
            <a:off x="8065008" y="4151376"/>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Ask the room to add a fourth student. Someone will forget a td and the row will collapse. That is the lesson.</a:t>
            </a:r>
            <a:endParaRPr lang="en-US" sz="1150" dirty="0"/>
          </a:p>
        </p:txBody>
      </p:sp>
      <p:sp>
        <p:nvSpPr>
          <p:cNvPr id="20" name="Shape 17"/>
          <p:cNvSpPr/>
          <p:nvPr/>
        </p:nvSpPr>
        <p:spPr>
          <a:xfrm>
            <a:off x="7863840" y="5486400"/>
            <a:ext cx="3685032" cy="658368"/>
          </a:xfrm>
          <a:prstGeom prst="roundRect">
            <a:avLst>
              <a:gd name="adj" fmla="val 11111"/>
            </a:avLst>
          </a:prstGeom>
          <a:solidFill>
            <a:srgbClr val="241C4D"/>
          </a:solidFill>
          <a:ln w="12700">
            <a:solidFill>
              <a:srgbClr val="2E2A50"/>
            </a:solidFill>
            <a:prstDash val="solid"/>
          </a:ln>
        </p:spPr>
      </p:sp>
      <p:sp>
        <p:nvSpPr>
          <p:cNvPr id="21" name="Text 18"/>
          <p:cNvSpPr/>
          <p:nvPr/>
        </p:nvSpPr>
        <p:spPr>
          <a:xfrm>
            <a:off x="8065008" y="5486400"/>
            <a:ext cx="3282696" cy="658368"/>
          </a:xfrm>
          <a:prstGeom prst="rect">
            <a:avLst/>
          </a:prstGeom>
          <a:noFill/>
          <a:ln/>
        </p:spPr>
        <p:txBody>
          <a:bodyPr wrap="square" lIns="0" tIns="0" rIns="0" bIns="0" rtlCol="0" anchor="ctr"/>
          <a:lstStyle/>
          <a:p>
            <a:pPr indent="0" marL="0">
              <a:lnSpc>
                <a:spcPts val="1400"/>
              </a:lnSpc>
              <a:buNone/>
            </a:pPr>
            <a:r>
              <a:rPr lang="en-US" sz="1000" dirty="0">
                <a:solidFill>
                  <a:srgbClr val="8B84B8"/>
                </a:solidFill>
                <a:latin typeface="Courier New" pitchFamily="34" charset="0"/>
                <a:ea typeface="Courier New" pitchFamily="34" charset="-122"/>
                <a:cs typeface="Courier New" pitchFamily="34" charset="-120"/>
              </a:rPr>
              <a:t>a missing &lt;/td&gt; does not error. it just quietly ruins your afternoon.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13</a:t>
            </a:r>
            <a:endParaRPr lang="en-US" sz="900" dirty="0"/>
          </a:p>
        </p:txBody>
      </p:sp>
      <p:sp>
        <p:nvSpPr>
          <p:cNvPr id="5" name="Shape 2"/>
          <p:cNvSpPr/>
          <p:nvPr/>
        </p:nvSpPr>
        <p:spPr>
          <a:xfrm>
            <a:off x="640080" y="365760"/>
            <a:ext cx="1481328" cy="347472"/>
          </a:xfrm>
          <a:prstGeom prst="roundRect">
            <a:avLst>
              <a:gd name="adj" fmla="val 21053"/>
            </a:avLst>
          </a:prstGeom>
          <a:solidFill>
            <a:srgbClr val="0090A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481328"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QUIZ 02</a:t>
            </a:r>
            <a:endParaRPr lang="en-US" sz="1050" dirty="0"/>
          </a:p>
        </p:txBody>
      </p:sp>
      <p:sp>
        <p:nvSpPr>
          <p:cNvPr id="7" name="Text 4"/>
          <p:cNvSpPr/>
          <p:nvPr/>
        </p:nvSpPr>
        <p:spPr>
          <a:xfrm>
            <a:off x="640080" y="786384"/>
            <a:ext cx="10881360" cy="822960"/>
          </a:xfrm>
          <a:prstGeom prst="rect">
            <a:avLst/>
          </a:prstGeom>
          <a:noFill/>
          <a:ln/>
        </p:spPr>
        <p:txBody>
          <a:bodyPr wrap="square" lIns="0" tIns="0" rIns="0" bIns="0" rtlCol="0" anchor="ctr"/>
          <a:lstStyle/>
          <a:p>
            <a:pPr indent="0" marL="0">
              <a:buNone/>
            </a:pPr>
            <a:r>
              <a:rPr lang="en-US" sz="2600" b="1" dirty="0">
                <a:solidFill>
                  <a:srgbClr val="191333"/>
                </a:solidFill>
                <a:latin typeface="Calibri" pitchFamily="34" charset="0"/>
                <a:ea typeface="Calibri" pitchFamily="34" charset="-122"/>
                <a:cs typeface="Calibri" pitchFamily="34" charset="-120"/>
              </a:rPr>
              <a:t>In an HTML table, what does the &lt;th&gt; tag represent?</a:t>
            </a:r>
            <a:endParaRPr lang="en-US" sz="2600" dirty="0"/>
          </a:p>
        </p:txBody>
      </p:sp>
      <p:sp>
        <p:nvSpPr>
          <p:cNvPr id="8" name="Shape 5"/>
          <p:cNvSpPr/>
          <p:nvPr/>
        </p:nvSpPr>
        <p:spPr>
          <a:xfrm>
            <a:off x="640080" y="2212848"/>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a:off x="914400" y="2569464"/>
            <a:ext cx="457200" cy="457200"/>
          </a:xfrm>
          <a:prstGeom prst="ellipse">
            <a:avLst/>
          </a:prstGeom>
          <a:solidFill>
            <a:srgbClr val="DEF6FA"/>
          </a:solidFill>
          <a:ln w="12700">
            <a:solidFill>
              <a:srgbClr val="0090AB"/>
            </a:solidFill>
            <a:prstDash val="solid"/>
          </a:ln>
        </p:spPr>
      </p:sp>
      <p:sp>
        <p:nvSpPr>
          <p:cNvPr id="10" name="Text 7"/>
          <p:cNvSpPr/>
          <p:nvPr/>
        </p:nvSpPr>
        <p:spPr>
          <a:xfrm>
            <a:off x="914400" y="2569464"/>
            <a:ext cx="457200" cy="457200"/>
          </a:xfrm>
          <a:prstGeom prst="rect">
            <a:avLst/>
          </a:prstGeom>
          <a:noFill/>
          <a:ln/>
        </p:spPr>
        <p:txBody>
          <a:bodyPr wrap="square" lIns="0" tIns="0" rIns="0" bIns="0" rtlCol="0" anchor="ctr"/>
          <a:lstStyle/>
          <a:p>
            <a:pPr algn="ctr" indent="0" marL="0">
              <a:buNone/>
            </a:pPr>
            <a:r>
              <a:rPr lang="en-US" sz="1500" b="1" dirty="0">
                <a:solidFill>
                  <a:srgbClr val="0090AB"/>
                </a:solidFill>
                <a:latin typeface="Calibri" pitchFamily="34" charset="0"/>
                <a:ea typeface="Calibri" pitchFamily="34" charset="-122"/>
                <a:cs typeface="Calibri" pitchFamily="34" charset="-120"/>
              </a:rPr>
              <a:t>A</a:t>
            </a:r>
            <a:endParaRPr lang="en-US" sz="1500" dirty="0"/>
          </a:p>
        </p:txBody>
      </p:sp>
      <p:sp>
        <p:nvSpPr>
          <p:cNvPr id="11" name="Text 8"/>
          <p:cNvSpPr/>
          <p:nvPr/>
        </p:nvSpPr>
        <p:spPr>
          <a:xfrm>
            <a:off x="1554480" y="2212848"/>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Table header cell</a:t>
            </a:r>
            <a:endParaRPr lang="en-US" sz="1350" dirty="0"/>
          </a:p>
        </p:txBody>
      </p:sp>
      <p:sp>
        <p:nvSpPr>
          <p:cNvPr id="12" name="Shape 9"/>
          <p:cNvSpPr/>
          <p:nvPr/>
        </p:nvSpPr>
        <p:spPr>
          <a:xfrm>
            <a:off x="6336792" y="2212848"/>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3" name="Shape 10"/>
          <p:cNvSpPr/>
          <p:nvPr/>
        </p:nvSpPr>
        <p:spPr>
          <a:xfrm>
            <a:off x="6611112" y="2569464"/>
            <a:ext cx="457200" cy="457200"/>
          </a:xfrm>
          <a:prstGeom prst="ellipse">
            <a:avLst/>
          </a:prstGeom>
          <a:solidFill>
            <a:srgbClr val="DEF6FA"/>
          </a:solidFill>
          <a:ln w="12700">
            <a:solidFill>
              <a:srgbClr val="0090AB"/>
            </a:solidFill>
            <a:prstDash val="solid"/>
          </a:ln>
        </p:spPr>
      </p:sp>
      <p:sp>
        <p:nvSpPr>
          <p:cNvPr id="14" name="Text 11"/>
          <p:cNvSpPr/>
          <p:nvPr/>
        </p:nvSpPr>
        <p:spPr>
          <a:xfrm>
            <a:off x="6611112" y="2569464"/>
            <a:ext cx="457200" cy="457200"/>
          </a:xfrm>
          <a:prstGeom prst="rect">
            <a:avLst/>
          </a:prstGeom>
          <a:noFill/>
          <a:ln/>
        </p:spPr>
        <p:txBody>
          <a:bodyPr wrap="square" lIns="0" tIns="0" rIns="0" bIns="0" rtlCol="0" anchor="ctr"/>
          <a:lstStyle/>
          <a:p>
            <a:pPr algn="ctr" indent="0" marL="0">
              <a:buNone/>
            </a:pPr>
            <a:r>
              <a:rPr lang="en-US" sz="1500" b="1" dirty="0">
                <a:solidFill>
                  <a:srgbClr val="0090AB"/>
                </a:solidFill>
                <a:latin typeface="Calibri" pitchFamily="34" charset="0"/>
                <a:ea typeface="Calibri" pitchFamily="34" charset="-122"/>
                <a:cs typeface="Calibri" pitchFamily="34" charset="-120"/>
              </a:rPr>
              <a:t>B</a:t>
            </a:r>
            <a:endParaRPr lang="en-US" sz="1500" dirty="0"/>
          </a:p>
        </p:txBody>
      </p:sp>
      <p:sp>
        <p:nvSpPr>
          <p:cNvPr id="15" name="Text 12"/>
          <p:cNvSpPr/>
          <p:nvPr/>
        </p:nvSpPr>
        <p:spPr>
          <a:xfrm>
            <a:off x="7251192" y="2212848"/>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Table data cell</a:t>
            </a:r>
            <a:endParaRPr lang="en-US" sz="1350" dirty="0"/>
          </a:p>
        </p:txBody>
      </p:sp>
      <p:sp>
        <p:nvSpPr>
          <p:cNvPr id="16" name="Shape 13"/>
          <p:cNvSpPr/>
          <p:nvPr/>
        </p:nvSpPr>
        <p:spPr>
          <a:xfrm>
            <a:off x="640080" y="3621024"/>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7" name="Shape 14"/>
          <p:cNvSpPr/>
          <p:nvPr/>
        </p:nvSpPr>
        <p:spPr>
          <a:xfrm>
            <a:off x="914400" y="3977640"/>
            <a:ext cx="457200" cy="457200"/>
          </a:xfrm>
          <a:prstGeom prst="ellipse">
            <a:avLst/>
          </a:prstGeom>
          <a:solidFill>
            <a:srgbClr val="DEF6FA"/>
          </a:solidFill>
          <a:ln w="12700">
            <a:solidFill>
              <a:srgbClr val="0090AB"/>
            </a:solidFill>
            <a:prstDash val="solid"/>
          </a:ln>
        </p:spPr>
      </p:sp>
      <p:sp>
        <p:nvSpPr>
          <p:cNvPr id="18" name="Text 15"/>
          <p:cNvSpPr/>
          <p:nvPr/>
        </p:nvSpPr>
        <p:spPr>
          <a:xfrm>
            <a:off x="914400" y="3977640"/>
            <a:ext cx="457200" cy="457200"/>
          </a:xfrm>
          <a:prstGeom prst="rect">
            <a:avLst/>
          </a:prstGeom>
          <a:noFill/>
          <a:ln/>
        </p:spPr>
        <p:txBody>
          <a:bodyPr wrap="square" lIns="0" tIns="0" rIns="0" bIns="0" rtlCol="0" anchor="ctr"/>
          <a:lstStyle/>
          <a:p>
            <a:pPr algn="ctr" indent="0" marL="0">
              <a:buNone/>
            </a:pPr>
            <a:r>
              <a:rPr lang="en-US" sz="1500" b="1" dirty="0">
                <a:solidFill>
                  <a:srgbClr val="0090AB"/>
                </a:solidFill>
                <a:latin typeface="Calibri" pitchFamily="34" charset="0"/>
                <a:ea typeface="Calibri" pitchFamily="34" charset="-122"/>
                <a:cs typeface="Calibri" pitchFamily="34" charset="-120"/>
              </a:rPr>
              <a:t>C</a:t>
            </a:r>
            <a:endParaRPr lang="en-US" sz="1500" dirty="0"/>
          </a:p>
        </p:txBody>
      </p:sp>
      <p:sp>
        <p:nvSpPr>
          <p:cNvPr id="19" name="Text 16"/>
          <p:cNvSpPr/>
          <p:nvPr/>
        </p:nvSpPr>
        <p:spPr>
          <a:xfrm>
            <a:off x="1554480" y="3621024"/>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Table row</a:t>
            </a:r>
            <a:endParaRPr lang="en-US" sz="1350" dirty="0"/>
          </a:p>
        </p:txBody>
      </p:sp>
      <p:sp>
        <p:nvSpPr>
          <p:cNvPr id="20" name="Shape 17"/>
          <p:cNvSpPr/>
          <p:nvPr/>
        </p:nvSpPr>
        <p:spPr>
          <a:xfrm>
            <a:off x="6336792" y="3621024"/>
            <a:ext cx="5212080" cy="1170432"/>
          </a:xfrm>
          <a:prstGeom prst="roundRect">
            <a:avLst>
              <a:gd name="adj" fmla="val 781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1" name="Shape 18"/>
          <p:cNvSpPr/>
          <p:nvPr/>
        </p:nvSpPr>
        <p:spPr>
          <a:xfrm>
            <a:off x="6611112" y="3977640"/>
            <a:ext cx="457200" cy="457200"/>
          </a:xfrm>
          <a:prstGeom prst="ellipse">
            <a:avLst/>
          </a:prstGeom>
          <a:solidFill>
            <a:srgbClr val="DEF6FA"/>
          </a:solidFill>
          <a:ln w="12700">
            <a:solidFill>
              <a:srgbClr val="0090AB"/>
            </a:solidFill>
            <a:prstDash val="solid"/>
          </a:ln>
        </p:spPr>
      </p:sp>
      <p:sp>
        <p:nvSpPr>
          <p:cNvPr id="22" name="Text 19"/>
          <p:cNvSpPr/>
          <p:nvPr/>
        </p:nvSpPr>
        <p:spPr>
          <a:xfrm>
            <a:off x="6611112" y="3977640"/>
            <a:ext cx="457200" cy="457200"/>
          </a:xfrm>
          <a:prstGeom prst="rect">
            <a:avLst/>
          </a:prstGeom>
          <a:noFill/>
          <a:ln/>
        </p:spPr>
        <p:txBody>
          <a:bodyPr wrap="square" lIns="0" tIns="0" rIns="0" bIns="0" rtlCol="0" anchor="ctr"/>
          <a:lstStyle/>
          <a:p>
            <a:pPr algn="ctr" indent="0" marL="0">
              <a:buNone/>
            </a:pPr>
            <a:r>
              <a:rPr lang="en-US" sz="1500" b="1" dirty="0">
                <a:solidFill>
                  <a:srgbClr val="0090AB"/>
                </a:solidFill>
                <a:latin typeface="Calibri" pitchFamily="34" charset="0"/>
                <a:ea typeface="Calibri" pitchFamily="34" charset="-122"/>
                <a:cs typeface="Calibri" pitchFamily="34" charset="-120"/>
              </a:rPr>
              <a:t>D</a:t>
            </a:r>
            <a:endParaRPr lang="en-US" sz="1500" dirty="0"/>
          </a:p>
        </p:txBody>
      </p:sp>
      <p:sp>
        <p:nvSpPr>
          <p:cNvPr id="23" name="Text 20"/>
          <p:cNvSpPr/>
          <p:nvPr/>
        </p:nvSpPr>
        <p:spPr>
          <a:xfrm>
            <a:off x="7251192" y="3621024"/>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91333"/>
                </a:solidFill>
                <a:latin typeface="Calibri" pitchFamily="34" charset="0"/>
                <a:ea typeface="Calibri" pitchFamily="34" charset="-122"/>
                <a:cs typeface="Calibri" pitchFamily="34" charset="-120"/>
              </a:rPr>
              <a:t>Table column</a:t>
            </a:r>
            <a:endParaRPr lang="en-US" sz="1350" dirty="0"/>
          </a:p>
        </p:txBody>
      </p:sp>
      <p:sp>
        <p:nvSpPr>
          <p:cNvPr id="24" name="Shape 21"/>
          <p:cNvSpPr/>
          <p:nvPr/>
        </p:nvSpPr>
        <p:spPr>
          <a:xfrm>
            <a:off x="640080" y="5230368"/>
            <a:ext cx="10881360" cy="822960"/>
          </a:xfrm>
          <a:prstGeom prst="roundRect">
            <a:avLst>
              <a:gd name="adj" fmla="val 11111"/>
            </a:avLst>
          </a:prstGeom>
          <a:solidFill>
            <a:srgbClr val="DEF6FA"/>
          </a:solidFill>
          <a:ln w="19050">
            <a:solidFill>
              <a:srgbClr val="0090AB"/>
            </a:solidFill>
            <a:prstDash val="solid"/>
          </a:ln>
          <a:effectLst>
            <a:outerShdw sx="100000" sy="100000" kx="0" ky="0" algn="bl" rotWithShape="0" blurRad="101600" dist="38100" dir="2700000">
              <a:srgbClr val="191333">
                <a:alpha val="100000"/>
              </a:srgbClr>
            </a:outerShdw>
          </a:effectLst>
        </p:spPr>
      </p:sp>
      <p:sp>
        <p:nvSpPr>
          <p:cNvPr id="25" name="Text 22"/>
          <p:cNvSpPr/>
          <p:nvPr/>
        </p:nvSpPr>
        <p:spPr>
          <a:xfrm>
            <a:off x="640080" y="5230368"/>
            <a:ext cx="10881360" cy="822960"/>
          </a:xfrm>
          <a:prstGeom prst="rect">
            <a:avLst/>
          </a:prstGeom>
          <a:noFill/>
          <a:ln/>
        </p:spPr>
        <p:txBody>
          <a:bodyPr wrap="square" lIns="0" tIns="0" rIns="0" bIns="0" rtlCol="0" anchor="ctr"/>
          <a:lstStyle/>
          <a:p>
            <a:pPr algn="ctr" indent="0" marL="0">
              <a:buNone/>
            </a:pPr>
            <a:r>
              <a:rPr lang="en-US" sz="1300" i="1" dirty="0">
                <a:solidFill>
                  <a:srgbClr val="191333"/>
                </a:solidFill>
                <a:latin typeface="Calibri" pitchFamily="34" charset="0"/>
                <a:ea typeface="Calibri" pitchFamily="34" charset="-122"/>
                <a:cs typeface="Calibri" pitchFamily="34" charset="-120"/>
              </a:rPr>
              <a:t>Hands up for A, then B, then C, then D. Do not overthink this one.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0" y="1417320"/>
            <a:ext cx="12188952" cy="2194560"/>
          </a:xfrm>
          <a:prstGeom prst="rect">
            <a:avLst/>
          </a:prstGeom>
          <a:noFill/>
          <a:ln/>
        </p:spPr>
        <p:txBody>
          <a:bodyPr wrap="square" lIns="0" tIns="0" rIns="0" bIns="0" rtlCol="0" anchor="ctr"/>
          <a:lstStyle/>
          <a:p>
            <a:pPr algn="ctr" indent="0" marL="0">
              <a:buNone/>
            </a:pPr>
            <a:r>
              <a:rPr lang="en-US" sz="15000" b="1" dirty="0">
                <a:solidFill>
                  <a:srgbClr val="FFB020"/>
                </a:solidFill>
                <a:latin typeface="Arial Black" pitchFamily="34" charset="0"/>
                <a:ea typeface="Arial Black" pitchFamily="34" charset="-122"/>
                <a:cs typeface="Arial Black" pitchFamily="34" charset="-120"/>
              </a:rPr>
              <a:t>5</a:t>
            </a:r>
            <a:endParaRPr lang="en-US" sz="15000" dirty="0"/>
          </a:p>
        </p:txBody>
      </p:sp>
      <p:sp>
        <p:nvSpPr>
          <p:cNvPr id="4" name="Text 1"/>
          <p:cNvSpPr/>
          <p:nvPr/>
        </p:nvSpPr>
        <p:spPr>
          <a:xfrm>
            <a:off x="0" y="3429000"/>
            <a:ext cx="12188952" cy="457200"/>
          </a:xfrm>
          <a:prstGeom prst="rect">
            <a:avLst/>
          </a:prstGeom>
          <a:noFill/>
          <a:ln/>
        </p:spPr>
        <p:txBody>
          <a:bodyPr wrap="square" lIns="0" tIns="0" rIns="0" bIns="0" rtlCol="0" anchor="ctr"/>
          <a:lstStyle/>
          <a:p>
            <a:pPr algn="ctr" indent="0" marL="0">
              <a:buNone/>
            </a:pPr>
            <a:r>
              <a:rPr lang="en-US" sz="2600" b="1" spc="600" kern="0" dirty="0">
                <a:solidFill>
                  <a:srgbClr val="FFFFFF"/>
                </a:solidFill>
                <a:latin typeface="Arial Black" pitchFamily="34" charset="0"/>
                <a:ea typeface="Arial Black" pitchFamily="34" charset="-122"/>
                <a:cs typeface="Arial Black" pitchFamily="34" charset="-120"/>
              </a:rPr>
              <a:t>MINUTE BREAK</a:t>
            </a:r>
            <a:endParaRPr lang="en-US" sz="2600" dirty="0"/>
          </a:p>
        </p:txBody>
      </p:sp>
      <p:sp>
        <p:nvSpPr>
          <p:cNvPr id="5" name="Text 2"/>
          <p:cNvSpPr/>
          <p:nvPr/>
        </p:nvSpPr>
        <p:spPr>
          <a:xfrm>
            <a:off x="0" y="3977640"/>
            <a:ext cx="12188952" cy="365760"/>
          </a:xfrm>
          <a:prstGeom prst="rect">
            <a:avLst/>
          </a:prstGeom>
          <a:noFill/>
          <a:ln/>
        </p:spPr>
        <p:txBody>
          <a:bodyPr wrap="square" lIns="0" tIns="0" rIns="0" bIns="0" rtlCol="0" anchor="ctr"/>
          <a:lstStyle/>
          <a:p>
            <a:pPr algn="ctr" indent="0" marL="0">
              <a:buNone/>
            </a:pPr>
            <a:r>
              <a:rPr lang="en-US" sz="1400" dirty="0">
                <a:solidFill>
                  <a:srgbClr val="C3BEE4"/>
                </a:solidFill>
                <a:latin typeface="Courier New" pitchFamily="34" charset="0"/>
                <a:ea typeface="Courier New" pitchFamily="34" charset="-122"/>
                <a:cs typeface="Courier New" pitchFamily="34" charset="-120"/>
              </a:rPr>
              <a:t>back at  __ : __     (say the actual clock time out loud)</a:t>
            </a:r>
            <a:endParaRPr lang="en-US" sz="1400" dirty="0"/>
          </a:p>
        </p:txBody>
      </p:sp>
      <p:sp>
        <p:nvSpPr>
          <p:cNvPr id="6" name="Shape 3"/>
          <p:cNvSpPr/>
          <p:nvPr/>
        </p:nvSpPr>
        <p:spPr>
          <a:xfrm>
            <a:off x="2153412" y="4526280"/>
            <a:ext cx="2468880" cy="502920"/>
          </a:xfrm>
          <a:prstGeom prst="roundRect">
            <a:avLst>
              <a:gd name="adj" fmla="val 18182"/>
            </a:avLst>
          </a:prstGeom>
          <a:solidFill>
            <a:srgbClr val="241C4D"/>
          </a:solidFill>
          <a:ln w="12700">
            <a:solidFill>
              <a:srgbClr val="3B3470"/>
            </a:solidFill>
            <a:prstDash val="solid"/>
          </a:ln>
        </p:spPr>
      </p:sp>
      <p:sp>
        <p:nvSpPr>
          <p:cNvPr id="7" name="Text 4"/>
          <p:cNvSpPr/>
          <p:nvPr/>
        </p:nvSpPr>
        <p:spPr>
          <a:xfrm>
            <a:off x="2153412"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Stretch your wrists</a:t>
            </a:r>
            <a:endParaRPr lang="en-US" sz="1150" dirty="0"/>
          </a:p>
        </p:txBody>
      </p:sp>
      <p:sp>
        <p:nvSpPr>
          <p:cNvPr id="8" name="Shape 5"/>
          <p:cNvSpPr/>
          <p:nvPr/>
        </p:nvSpPr>
        <p:spPr>
          <a:xfrm>
            <a:off x="4860036" y="4526280"/>
            <a:ext cx="2468880" cy="502920"/>
          </a:xfrm>
          <a:prstGeom prst="roundRect">
            <a:avLst>
              <a:gd name="adj" fmla="val 18182"/>
            </a:avLst>
          </a:prstGeom>
          <a:solidFill>
            <a:srgbClr val="241C4D"/>
          </a:solidFill>
          <a:ln w="12700">
            <a:solidFill>
              <a:srgbClr val="3B3470"/>
            </a:solidFill>
            <a:prstDash val="solid"/>
          </a:ln>
        </p:spPr>
      </p:sp>
      <p:sp>
        <p:nvSpPr>
          <p:cNvPr id="9" name="Text 6"/>
          <p:cNvSpPr/>
          <p:nvPr/>
        </p:nvSpPr>
        <p:spPr>
          <a:xfrm>
            <a:off x="4860036"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Water</a:t>
            </a:r>
            <a:endParaRPr lang="en-US" sz="1150" dirty="0"/>
          </a:p>
        </p:txBody>
      </p:sp>
      <p:sp>
        <p:nvSpPr>
          <p:cNvPr id="10" name="Shape 7"/>
          <p:cNvSpPr/>
          <p:nvPr/>
        </p:nvSpPr>
        <p:spPr>
          <a:xfrm>
            <a:off x="7566660" y="4526280"/>
            <a:ext cx="2468880" cy="502920"/>
          </a:xfrm>
          <a:prstGeom prst="roundRect">
            <a:avLst>
              <a:gd name="adj" fmla="val 18182"/>
            </a:avLst>
          </a:prstGeom>
          <a:solidFill>
            <a:srgbClr val="241C4D"/>
          </a:solidFill>
          <a:ln w="12700">
            <a:solidFill>
              <a:srgbClr val="3B3470"/>
            </a:solidFill>
            <a:prstDash val="solid"/>
          </a:ln>
        </p:spPr>
      </p:sp>
      <p:sp>
        <p:nvSpPr>
          <p:cNvPr id="11" name="Text 8"/>
          <p:cNvSpPr/>
          <p:nvPr/>
        </p:nvSpPr>
        <p:spPr>
          <a:xfrm>
            <a:off x="7566660"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Do not open Instagram</a:t>
            </a:r>
            <a:endParaRPr lang="en-US" sz="1150" dirty="0"/>
          </a:p>
        </p:txBody>
      </p:sp>
      <p:sp>
        <p:nvSpPr>
          <p:cNvPr id="12" name="Text 9"/>
          <p:cNvSpPr/>
          <p:nvPr/>
        </p:nvSpPr>
        <p:spPr>
          <a:xfrm>
            <a:off x="0" y="5303520"/>
            <a:ext cx="12188952" cy="365760"/>
          </a:xfrm>
          <a:prstGeom prst="rect">
            <a:avLst/>
          </a:prstGeom>
          <a:noFill/>
          <a:ln/>
        </p:spPr>
        <p:txBody>
          <a:bodyPr wrap="square" lIns="0" tIns="0" rIns="0" bIns="0" rtlCol="0" anchor="ctr"/>
          <a:lstStyle/>
          <a:p>
            <a:pPr algn="ctr" indent="0" marL="0">
              <a:buNone/>
            </a:pPr>
            <a:r>
              <a:rPr lang="en-US" sz="1200" b="1" spc="300" kern="0" dirty="0">
                <a:solidFill>
                  <a:srgbClr val="FFB020"/>
                </a:solidFill>
                <a:latin typeface="Calibri" pitchFamily="34" charset="0"/>
                <a:ea typeface="Calibri" pitchFamily="34" charset="-122"/>
                <a:cs typeface="Calibri" pitchFamily="34" charset="-120"/>
              </a:rPr>
              <a:t>UP NEXT:  FORMS, THE BIGGEST SECTION</a:t>
            </a:r>
            <a:endParaRPr lang="en-US" sz="1200" dirty="0"/>
          </a:p>
        </p:txBody>
      </p:sp>
      <p:sp>
        <p:nvSpPr>
          <p:cNvPr id="13" name="Text 10"/>
          <p:cNvSpPr/>
          <p:nvPr/>
        </p:nvSpPr>
        <p:spPr>
          <a:xfrm>
            <a:off x="1828800" y="5760720"/>
            <a:ext cx="8531352" cy="365760"/>
          </a:xfrm>
          <a:prstGeom prst="rect">
            <a:avLst/>
          </a:prstGeom>
          <a:noFill/>
          <a:ln/>
        </p:spPr>
        <p:txBody>
          <a:bodyPr wrap="square" lIns="0" tIns="0" rIns="0" bIns="0" rtlCol="0" anchor="ctr"/>
          <a:lstStyle/>
          <a:p>
            <a:pPr algn="ctr" indent="0" marL="0">
              <a:buNone/>
            </a:pPr>
            <a:r>
              <a:rPr lang="en-US" sz="1200" i="1" dirty="0">
                <a:solidFill>
                  <a:srgbClr val="8981B8"/>
                </a:solidFill>
                <a:latin typeface="Calibri" pitchFamily="34" charset="0"/>
                <a:ea typeface="Calibri" pitchFamily="34" charset="-122"/>
                <a:cs typeface="Calibri" pitchFamily="34" charset="-120"/>
              </a:rPr>
              <a:t>we are 45 minutes in. the forms section is the fun one, so come back.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0" y="1737360"/>
            <a:ext cx="12188952" cy="1371600"/>
          </a:xfrm>
          <a:prstGeom prst="rect">
            <a:avLst/>
          </a:prstGeom>
          <a:noFill/>
          <a:ln/>
        </p:spPr>
        <p:txBody>
          <a:bodyPr wrap="square" lIns="0" tIns="0" rIns="0" bIns="0" rtlCol="0" anchor="ctr"/>
          <a:lstStyle/>
          <a:p>
            <a:pPr algn="ctr" indent="0" marL="0">
              <a:buNone/>
            </a:pPr>
            <a:r>
              <a:rPr lang="en-US" sz="10400" b="1" dirty="0">
                <a:solidFill>
                  <a:srgbClr val="2A2450"/>
                </a:solidFill>
                <a:latin typeface="Calibri" pitchFamily="34" charset="0"/>
                <a:ea typeface="Calibri" pitchFamily="34" charset="-122"/>
                <a:cs typeface="Calibri" pitchFamily="34" charset="-120"/>
              </a:rPr>
              <a:t>03</a:t>
            </a:r>
            <a:endParaRPr lang="en-US" sz="10400" dirty="0"/>
          </a:p>
        </p:txBody>
      </p:sp>
      <p:sp>
        <p:nvSpPr>
          <p:cNvPr id="4" name="Text 1"/>
          <p:cNvSpPr/>
          <p:nvPr/>
        </p:nvSpPr>
        <p:spPr>
          <a:xfrm>
            <a:off x="1097280" y="3072384"/>
            <a:ext cx="99943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Forms</a:t>
            </a:r>
            <a:endParaRPr lang="en-US" sz="4000" dirty="0"/>
          </a:p>
        </p:txBody>
      </p:sp>
      <p:sp>
        <p:nvSpPr>
          <p:cNvPr id="5" name="Shape 2"/>
          <p:cNvSpPr/>
          <p:nvPr/>
        </p:nvSpPr>
        <p:spPr>
          <a:xfrm>
            <a:off x="5545836" y="4059936"/>
            <a:ext cx="1097280" cy="45720"/>
          </a:xfrm>
          <a:prstGeom prst="rect">
            <a:avLst/>
          </a:prstGeom>
          <a:solidFill>
            <a:srgbClr val="FF3D8B"/>
          </a:solidFill>
          <a:ln w="12700">
            <a:solidFill>
              <a:srgbClr val="FF3D8B"/>
            </a:solidFill>
            <a:prstDash val="solid"/>
          </a:ln>
        </p:spPr>
      </p:sp>
      <p:sp>
        <p:nvSpPr>
          <p:cNvPr id="6" name="Text 3"/>
          <p:cNvSpPr/>
          <p:nvPr/>
        </p:nvSpPr>
        <p:spPr>
          <a:xfrm>
            <a:off x="1828800" y="4297680"/>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Where the web stops showing you things and starts asking you things.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14</a:t>
            </a:r>
            <a:endParaRPr lang="en-US" sz="900" dirty="0"/>
          </a:p>
        </p:txBody>
      </p:sp>
      <p:sp>
        <p:nvSpPr>
          <p:cNvPr id="5" name="Shape 2"/>
          <p:cNvSpPr/>
          <p:nvPr/>
        </p:nvSpPr>
        <p:spPr>
          <a:xfrm>
            <a:off x="640080" y="365760"/>
            <a:ext cx="1188720" cy="347472"/>
          </a:xfrm>
          <a:prstGeom prst="roundRect">
            <a:avLst>
              <a:gd name="adj" fmla="val 21053"/>
            </a:avLst>
          </a:prstGeom>
          <a:solidFill>
            <a:srgbClr val="FF3D8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FORMS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A form is just a way to ask questions</a:t>
            </a:r>
            <a:endParaRPr lang="en-US" sz="3200" dirty="0"/>
          </a:p>
        </p:txBody>
      </p:sp>
      <p:sp>
        <p:nvSpPr>
          <p:cNvPr id="8" name="Text 5"/>
          <p:cNvSpPr/>
          <p:nvPr/>
        </p:nvSpPr>
        <p:spPr>
          <a:xfrm>
            <a:off x="640080" y="1517904"/>
            <a:ext cx="10881360" cy="329184"/>
          </a:xfrm>
          <a:prstGeom prst="rect">
            <a:avLst/>
          </a:prstGeom>
          <a:noFill/>
          <a:ln/>
        </p:spPr>
        <p:txBody>
          <a:bodyPr wrap="square" lIns="0" tIns="0" rIns="0" bIns="0" rtlCol="0" anchor="t"/>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Forms collect what a user types, picks or uploads, and hand it to a server. Here is one, and the six tags that build it.</a:t>
            </a:r>
            <a:endParaRPr lang="en-US" sz="1400" dirty="0"/>
          </a:p>
        </p:txBody>
      </p:sp>
      <p:sp>
        <p:nvSpPr>
          <p:cNvPr id="9" name="Shape 6"/>
          <p:cNvSpPr/>
          <p:nvPr/>
        </p:nvSpPr>
        <p:spPr>
          <a:xfrm>
            <a:off x="640080" y="1938528"/>
            <a:ext cx="5212080" cy="3840480"/>
          </a:xfrm>
          <a:prstGeom prst="roundRect">
            <a:avLst>
              <a:gd name="adj" fmla="val 2381"/>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0" name="Shape 7"/>
          <p:cNvSpPr/>
          <p:nvPr/>
        </p:nvSpPr>
        <p:spPr>
          <a:xfrm>
            <a:off x="640080" y="1938528"/>
            <a:ext cx="5212080" cy="347472"/>
          </a:xfrm>
          <a:prstGeom prst="roundRect">
            <a:avLst>
              <a:gd name="adj" fmla="val 26316"/>
            </a:avLst>
          </a:prstGeom>
          <a:solidFill>
            <a:srgbClr val="FFE6F0"/>
          </a:solidFill>
          <a:ln w="19050">
            <a:solidFill>
              <a:srgbClr val="191333"/>
            </a:solidFill>
            <a:prstDash val="solid"/>
          </a:ln>
        </p:spPr>
      </p:sp>
      <p:sp>
        <p:nvSpPr>
          <p:cNvPr id="11" name="Text 8"/>
          <p:cNvSpPr/>
          <p:nvPr/>
        </p:nvSpPr>
        <p:spPr>
          <a:xfrm>
            <a:off x="859536" y="1938528"/>
            <a:ext cx="4754880" cy="347472"/>
          </a:xfrm>
          <a:prstGeom prst="rect">
            <a:avLst/>
          </a:prstGeom>
          <a:noFill/>
          <a:ln/>
        </p:spPr>
        <p:txBody>
          <a:bodyPr wrap="square" lIns="0" tIns="0" rIns="0" bIns="0" rtlCol="0" anchor="ctr"/>
          <a:lstStyle/>
          <a:p>
            <a:pPr indent="0" marL="0">
              <a:buNone/>
            </a:pPr>
            <a:r>
              <a:rPr lang="en-US" sz="900" b="1" spc="150" kern="0" dirty="0">
                <a:solidFill>
                  <a:srgbClr val="191333"/>
                </a:solidFill>
                <a:latin typeface="Calibri" pitchFamily="34" charset="0"/>
                <a:ea typeface="Calibri" pitchFamily="34" charset="-122"/>
                <a:cs typeface="Calibri" pitchFamily="34" charset="-120"/>
              </a:rPr>
              <a:t>SURVEY FORM</a:t>
            </a:r>
            <a:endParaRPr lang="en-US" sz="900" dirty="0"/>
          </a:p>
        </p:txBody>
      </p:sp>
      <p:sp>
        <p:nvSpPr>
          <p:cNvPr id="12" name="Text 9"/>
          <p:cNvSpPr/>
          <p:nvPr/>
        </p:nvSpPr>
        <p:spPr>
          <a:xfrm>
            <a:off x="932688" y="2432304"/>
            <a:ext cx="4572000" cy="219456"/>
          </a:xfrm>
          <a:prstGeom prst="rect">
            <a:avLst/>
          </a:prstGeom>
          <a:noFill/>
          <a:ln/>
        </p:spPr>
        <p:txBody>
          <a:bodyPr wrap="square" lIns="0" tIns="0" rIns="0" bIns="0" rtlCol="0" anchor="ctr"/>
          <a:lstStyle/>
          <a:p>
            <a:pPr indent="0" marL="0">
              <a:buNone/>
            </a:pPr>
            <a:r>
              <a:rPr lang="en-US" sz="1050" b="1" dirty="0">
                <a:solidFill>
                  <a:srgbClr val="191333"/>
                </a:solidFill>
                <a:latin typeface="Calibri" pitchFamily="34" charset="0"/>
                <a:ea typeface="Calibri" pitchFamily="34" charset="-122"/>
                <a:cs typeface="Calibri" pitchFamily="34" charset="-120"/>
              </a:rPr>
              <a:t>Name</a:t>
            </a:r>
            <a:endParaRPr lang="en-US" sz="1050" dirty="0"/>
          </a:p>
        </p:txBody>
      </p:sp>
      <p:sp>
        <p:nvSpPr>
          <p:cNvPr id="13" name="Shape 10"/>
          <p:cNvSpPr/>
          <p:nvPr/>
        </p:nvSpPr>
        <p:spPr>
          <a:xfrm>
            <a:off x="932688" y="2670048"/>
            <a:ext cx="4626864" cy="329184"/>
          </a:xfrm>
          <a:prstGeom prst="roundRect">
            <a:avLst>
              <a:gd name="adj" fmla="val 16667"/>
            </a:avLst>
          </a:prstGeom>
          <a:solidFill>
            <a:srgbClr val="F7F6FC"/>
          </a:solidFill>
          <a:ln w="15875">
            <a:solidFill>
              <a:srgbClr val="9C95C0"/>
            </a:solidFill>
            <a:prstDash val="solid"/>
          </a:ln>
        </p:spPr>
      </p:sp>
      <p:sp>
        <p:nvSpPr>
          <p:cNvPr id="14" name="Text 11"/>
          <p:cNvSpPr/>
          <p:nvPr/>
        </p:nvSpPr>
        <p:spPr>
          <a:xfrm>
            <a:off x="1060704" y="2670048"/>
            <a:ext cx="4389120" cy="329184"/>
          </a:xfrm>
          <a:prstGeom prst="rect">
            <a:avLst/>
          </a:prstGeom>
          <a:noFill/>
          <a:ln/>
        </p:spPr>
        <p:txBody>
          <a:bodyPr wrap="square" lIns="0" tIns="0" rIns="0" bIns="0" rtlCol="0" anchor="ctr"/>
          <a:lstStyle/>
          <a:p>
            <a:pPr indent="0" marL="0">
              <a:buNone/>
            </a:pPr>
            <a:r>
              <a:rPr lang="en-US" sz="1050" dirty="0">
                <a:solidFill>
                  <a:srgbClr val="918AB5"/>
                </a:solidFill>
                <a:latin typeface="Calibri" pitchFamily="34" charset="0"/>
                <a:ea typeface="Calibri" pitchFamily="34" charset="-122"/>
                <a:cs typeface="Calibri" pitchFamily="34" charset="-120"/>
              </a:rPr>
              <a:t>Aarav Sharma</a:t>
            </a:r>
            <a:endParaRPr lang="en-US" sz="1050" dirty="0"/>
          </a:p>
        </p:txBody>
      </p:sp>
      <p:sp>
        <p:nvSpPr>
          <p:cNvPr id="15" name="Text 12"/>
          <p:cNvSpPr/>
          <p:nvPr/>
        </p:nvSpPr>
        <p:spPr>
          <a:xfrm>
            <a:off x="932688" y="3072384"/>
            <a:ext cx="4572000" cy="219456"/>
          </a:xfrm>
          <a:prstGeom prst="rect">
            <a:avLst/>
          </a:prstGeom>
          <a:noFill/>
          <a:ln/>
        </p:spPr>
        <p:txBody>
          <a:bodyPr wrap="square" lIns="0" tIns="0" rIns="0" bIns="0" rtlCol="0" anchor="ctr"/>
          <a:lstStyle/>
          <a:p>
            <a:pPr indent="0" marL="0">
              <a:buNone/>
            </a:pPr>
            <a:r>
              <a:rPr lang="en-US" sz="1050" b="1" dirty="0">
                <a:solidFill>
                  <a:srgbClr val="191333"/>
                </a:solidFill>
                <a:latin typeface="Calibri" pitchFamily="34" charset="0"/>
                <a:ea typeface="Calibri" pitchFamily="34" charset="-122"/>
                <a:cs typeface="Calibri" pitchFamily="34" charset="-120"/>
              </a:rPr>
              <a:t>Email</a:t>
            </a:r>
            <a:endParaRPr lang="en-US" sz="1050" dirty="0"/>
          </a:p>
        </p:txBody>
      </p:sp>
      <p:sp>
        <p:nvSpPr>
          <p:cNvPr id="16" name="Shape 13"/>
          <p:cNvSpPr/>
          <p:nvPr/>
        </p:nvSpPr>
        <p:spPr>
          <a:xfrm>
            <a:off x="932688" y="3310128"/>
            <a:ext cx="4626864" cy="329184"/>
          </a:xfrm>
          <a:prstGeom prst="roundRect">
            <a:avLst>
              <a:gd name="adj" fmla="val 16667"/>
            </a:avLst>
          </a:prstGeom>
          <a:solidFill>
            <a:srgbClr val="F7F6FC"/>
          </a:solidFill>
          <a:ln w="15875">
            <a:solidFill>
              <a:srgbClr val="9C95C0"/>
            </a:solidFill>
            <a:prstDash val="solid"/>
          </a:ln>
        </p:spPr>
      </p:sp>
      <p:sp>
        <p:nvSpPr>
          <p:cNvPr id="17" name="Text 14"/>
          <p:cNvSpPr/>
          <p:nvPr/>
        </p:nvSpPr>
        <p:spPr>
          <a:xfrm>
            <a:off x="1060704" y="3310128"/>
            <a:ext cx="4389120" cy="329184"/>
          </a:xfrm>
          <a:prstGeom prst="rect">
            <a:avLst/>
          </a:prstGeom>
          <a:noFill/>
          <a:ln/>
        </p:spPr>
        <p:txBody>
          <a:bodyPr wrap="square" lIns="0" tIns="0" rIns="0" bIns="0" rtlCol="0" anchor="ctr"/>
          <a:lstStyle/>
          <a:p>
            <a:pPr indent="0" marL="0">
              <a:buNone/>
            </a:pPr>
            <a:r>
              <a:rPr lang="en-US" sz="1050" dirty="0">
                <a:solidFill>
                  <a:srgbClr val="918AB5"/>
                </a:solidFill>
                <a:latin typeface="Calibri" pitchFamily="34" charset="0"/>
                <a:ea typeface="Calibri" pitchFamily="34" charset="-122"/>
                <a:cs typeface="Calibri" pitchFamily="34" charset="-120"/>
              </a:rPr>
              <a:t>aarav@example.com</a:t>
            </a:r>
            <a:endParaRPr lang="en-US" sz="1050" dirty="0"/>
          </a:p>
        </p:txBody>
      </p:sp>
      <p:sp>
        <p:nvSpPr>
          <p:cNvPr id="18" name="Text 15"/>
          <p:cNvSpPr/>
          <p:nvPr/>
        </p:nvSpPr>
        <p:spPr>
          <a:xfrm>
            <a:off x="932688" y="3712464"/>
            <a:ext cx="4572000" cy="219456"/>
          </a:xfrm>
          <a:prstGeom prst="rect">
            <a:avLst/>
          </a:prstGeom>
          <a:noFill/>
          <a:ln/>
        </p:spPr>
        <p:txBody>
          <a:bodyPr wrap="square" lIns="0" tIns="0" rIns="0" bIns="0" rtlCol="0" anchor="ctr"/>
          <a:lstStyle/>
          <a:p>
            <a:pPr indent="0" marL="0">
              <a:buNone/>
            </a:pPr>
            <a:r>
              <a:rPr lang="en-US" sz="1050" b="1" dirty="0">
                <a:solidFill>
                  <a:srgbClr val="191333"/>
                </a:solidFill>
                <a:latin typeface="Calibri" pitchFamily="34" charset="0"/>
                <a:ea typeface="Calibri" pitchFamily="34" charset="-122"/>
                <a:cs typeface="Calibri" pitchFamily="34" charset="-120"/>
              </a:rPr>
              <a:t>Gender</a:t>
            </a:r>
            <a:endParaRPr lang="en-US" sz="1050" dirty="0"/>
          </a:p>
        </p:txBody>
      </p:sp>
      <p:sp>
        <p:nvSpPr>
          <p:cNvPr id="19" name="Shape 16"/>
          <p:cNvSpPr/>
          <p:nvPr/>
        </p:nvSpPr>
        <p:spPr>
          <a:xfrm>
            <a:off x="932688" y="3986784"/>
            <a:ext cx="237744" cy="237744"/>
          </a:xfrm>
          <a:prstGeom prst="ellipse">
            <a:avLst/>
          </a:prstGeom>
          <a:solidFill>
            <a:srgbClr val="FFFFFF"/>
          </a:solidFill>
          <a:ln w="19050">
            <a:solidFill>
              <a:srgbClr val="6B639A"/>
            </a:solidFill>
            <a:prstDash val="solid"/>
          </a:ln>
        </p:spPr>
      </p:sp>
      <p:sp>
        <p:nvSpPr>
          <p:cNvPr id="20" name="Shape 17"/>
          <p:cNvSpPr/>
          <p:nvPr/>
        </p:nvSpPr>
        <p:spPr>
          <a:xfrm>
            <a:off x="996696" y="4050792"/>
            <a:ext cx="109728" cy="109728"/>
          </a:xfrm>
          <a:prstGeom prst="ellipse">
            <a:avLst/>
          </a:prstGeom>
          <a:solidFill>
            <a:srgbClr val="FF3D8B"/>
          </a:solidFill>
          <a:ln w="12700">
            <a:solidFill>
              <a:srgbClr val="FF3D8B"/>
            </a:solidFill>
            <a:prstDash val="solid"/>
          </a:ln>
        </p:spPr>
      </p:sp>
      <p:sp>
        <p:nvSpPr>
          <p:cNvPr id="21" name="Text 18"/>
          <p:cNvSpPr/>
          <p:nvPr/>
        </p:nvSpPr>
        <p:spPr>
          <a:xfrm>
            <a:off x="1243584" y="3950208"/>
            <a:ext cx="1188720" cy="310896"/>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Male</a:t>
            </a:r>
            <a:endParaRPr lang="en-US" sz="1050" dirty="0"/>
          </a:p>
        </p:txBody>
      </p:sp>
      <p:sp>
        <p:nvSpPr>
          <p:cNvPr id="22" name="Shape 19"/>
          <p:cNvSpPr/>
          <p:nvPr/>
        </p:nvSpPr>
        <p:spPr>
          <a:xfrm>
            <a:off x="2487168" y="3986784"/>
            <a:ext cx="237744" cy="237744"/>
          </a:xfrm>
          <a:prstGeom prst="ellipse">
            <a:avLst/>
          </a:prstGeom>
          <a:solidFill>
            <a:srgbClr val="FFFFFF"/>
          </a:solidFill>
          <a:ln w="19050">
            <a:solidFill>
              <a:srgbClr val="6B639A"/>
            </a:solidFill>
            <a:prstDash val="solid"/>
          </a:ln>
        </p:spPr>
      </p:sp>
      <p:sp>
        <p:nvSpPr>
          <p:cNvPr id="23" name="Text 20"/>
          <p:cNvSpPr/>
          <p:nvPr/>
        </p:nvSpPr>
        <p:spPr>
          <a:xfrm>
            <a:off x="2798064" y="3950208"/>
            <a:ext cx="1188720" cy="310896"/>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Female</a:t>
            </a:r>
            <a:endParaRPr lang="en-US" sz="1050" dirty="0"/>
          </a:p>
        </p:txBody>
      </p:sp>
      <p:sp>
        <p:nvSpPr>
          <p:cNvPr id="24" name="Shape 21"/>
          <p:cNvSpPr/>
          <p:nvPr/>
        </p:nvSpPr>
        <p:spPr>
          <a:xfrm>
            <a:off x="4041648" y="3986784"/>
            <a:ext cx="237744" cy="237744"/>
          </a:xfrm>
          <a:prstGeom prst="ellipse">
            <a:avLst/>
          </a:prstGeom>
          <a:solidFill>
            <a:srgbClr val="FFFFFF"/>
          </a:solidFill>
          <a:ln w="19050">
            <a:solidFill>
              <a:srgbClr val="6B639A"/>
            </a:solidFill>
            <a:prstDash val="solid"/>
          </a:ln>
        </p:spPr>
      </p:sp>
      <p:sp>
        <p:nvSpPr>
          <p:cNvPr id="25" name="Text 22"/>
          <p:cNvSpPr/>
          <p:nvPr/>
        </p:nvSpPr>
        <p:spPr>
          <a:xfrm>
            <a:off x="4352544" y="3950208"/>
            <a:ext cx="1188720" cy="310896"/>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Other</a:t>
            </a:r>
            <a:endParaRPr lang="en-US" sz="1050" dirty="0"/>
          </a:p>
        </p:txBody>
      </p:sp>
      <p:sp>
        <p:nvSpPr>
          <p:cNvPr id="26" name="Text 23"/>
          <p:cNvSpPr/>
          <p:nvPr/>
        </p:nvSpPr>
        <p:spPr>
          <a:xfrm>
            <a:off x="932688" y="4407408"/>
            <a:ext cx="4572000" cy="219456"/>
          </a:xfrm>
          <a:prstGeom prst="rect">
            <a:avLst/>
          </a:prstGeom>
          <a:noFill/>
          <a:ln/>
        </p:spPr>
        <p:txBody>
          <a:bodyPr wrap="square" lIns="0" tIns="0" rIns="0" bIns="0" rtlCol="0" anchor="ctr"/>
          <a:lstStyle/>
          <a:p>
            <a:pPr indent="0" marL="0">
              <a:buNone/>
            </a:pPr>
            <a:r>
              <a:rPr lang="en-US" sz="1050" b="1" dirty="0">
                <a:solidFill>
                  <a:srgbClr val="191333"/>
                </a:solidFill>
                <a:latin typeface="Calibri" pitchFamily="34" charset="0"/>
                <a:ea typeface="Calibri" pitchFamily="34" charset="-122"/>
                <a:cs typeface="Calibri" pitchFamily="34" charset="-120"/>
              </a:rPr>
              <a:t>Favourite language</a:t>
            </a:r>
            <a:endParaRPr lang="en-US" sz="1050" dirty="0"/>
          </a:p>
        </p:txBody>
      </p:sp>
      <p:sp>
        <p:nvSpPr>
          <p:cNvPr id="27" name="Shape 24"/>
          <p:cNvSpPr/>
          <p:nvPr/>
        </p:nvSpPr>
        <p:spPr>
          <a:xfrm>
            <a:off x="932688" y="4645152"/>
            <a:ext cx="4626864" cy="329184"/>
          </a:xfrm>
          <a:prstGeom prst="roundRect">
            <a:avLst>
              <a:gd name="adj" fmla="val 16667"/>
            </a:avLst>
          </a:prstGeom>
          <a:solidFill>
            <a:srgbClr val="F7F6FC"/>
          </a:solidFill>
          <a:ln w="15875">
            <a:solidFill>
              <a:srgbClr val="9C95C0"/>
            </a:solidFill>
            <a:prstDash val="solid"/>
          </a:ln>
        </p:spPr>
      </p:sp>
      <p:sp>
        <p:nvSpPr>
          <p:cNvPr id="28" name="Text 25"/>
          <p:cNvSpPr/>
          <p:nvPr/>
        </p:nvSpPr>
        <p:spPr>
          <a:xfrm>
            <a:off x="1060704" y="4645152"/>
            <a:ext cx="3840480" cy="329184"/>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HTML</a:t>
            </a:r>
            <a:endParaRPr lang="en-US" sz="1050" dirty="0"/>
          </a:p>
        </p:txBody>
      </p:sp>
      <p:sp>
        <p:nvSpPr>
          <p:cNvPr id="29" name="Shape 26"/>
          <p:cNvSpPr/>
          <p:nvPr/>
        </p:nvSpPr>
        <p:spPr>
          <a:xfrm rot="10800000">
            <a:off x="5193792" y="4745736"/>
            <a:ext cx="182880" cy="128016"/>
          </a:xfrm>
          <a:prstGeom prst="triangle">
            <a:avLst/>
          </a:prstGeom>
          <a:solidFill>
            <a:srgbClr val="191333"/>
          </a:solidFill>
          <a:ln w="12700">
            <a:solidFill>
              <a:srgbClr val="191333"/>
            </a:solidFill>
            <a:prstDash val="solid"/>
          </a:ln>
        </p:spPr>
      </p:sp>
      <p:sp>
        <p:nvSpPr>
          <p:cNvPr id="30" name="Shape 27"/>
          <p:cNvSpPr/>
          <p:nvPr/>
        </p:nvSpPr>
        <p:spPr>
          <a:xfrm>
            <a:off x="932688" y="5175504"/>
            <a:ext cx="1554480" cy="402336"/>
          </a:xfrm>
          <a:prstGeom prst="roundRect">
            <a:avLst>
              <a:gd name="adj" fmla="val 18182"/>
            </a:avLst>
          </a:prstGeom>
          <a:solidFill>
            <a:srgbClr val="FF3D8B"/>
          </a:solidFill>
          <a:ln w="19050">
            <a:solidFill>
              <a:srgbClr val="191333"/>
            </a:solidFill>
            <a:prstDash val="solid"/>
          </a:ln>
          <a:effectLst>
            <a:outerShdw sx="100000" sy="100000" kx="0" ky="0" algn="bl" rotWithShape="0" blurRad="4.653216326850003e+70" dist="1.7449561225687507e+70" dir="7.616996750131201e+82">
              <a:srgbClr val="191333">
                <a:alpha val="9.999999999999998e+84"/>
              </a:srgbClr>
            </a:outerShdw>
          </a:effectLst>
        </p:spPr>
      </p:sp>
      <p:sp>
        <p:nvSpPr>
          <p:cNvPr id="31" name="Text 28"/>
          <p:cNvSpPr/>
          <p:nvPr/>
        </p:nvSpPr>
        <p:spPr>
          <a:xfrm>
            <a:off x="932688" y="5175504"/>
            <a:ext cx="1554480" cy="40233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SUBMIT</a:t>
            </a:r>
            <a:endParaRPr lang="en-US" sz="1100" dirty="0"/>
          </a:p>
        </p:txBody>
      </p:sp>
      <p:sp>
        <p:nvSpPr>
          <p:cNvPr id="32" name="Shape 29"/>
          <p:cNvSpPr/>
          <p:nvPr/>
        </p:nvSpPr>
        <p:spPr>
          <a:xfrm>
            <a:off x="6336792" y="1938528"/>
            <a:ext cx="5212080" cy="566928"/>
          </a:xfrm>
          <a:prstGeom prst="roundRect">
            <a:avLst>
              <a:gd name="adj" fmla="val 12903"/>
            </a:avLst>
          </a:prstGeom>
          <a:solidFill>
            <a:srgbClr val="FFFFFF"/>
          </a:solidFill>
          <a:ln w="19050">
            <a:solidFill>
              <a:srgbClr val="191333"/>
            </a:solidFill>
            <a:prstDash val="solid"/>
          </a:ln>
        </p:spPr>
      </p:sp>
      <p:sp>
        <p:nvSpPr>
          <p:cNvPr id="33" name="Shape 30"/>
          <p:cNvSpPr/>
          <p:nvPr/>
        </p:nvSpPr>
        <p:spPr>
          <a:xfrm>
            <a:off x="6501384" y="2039112"/>
            <a:ext cx="1234440" cy="365760"/>
          </a:xfrm>
          <a:prstGeom prst="roundRect">
            <a:avLst>
              <a:gd name="adj" fmla="val 17500"/>
            </a:avLst>
          </a:prstGeom>
          <a:solidFill>
            <a:srgbClr val="141033"/>
          </a:solidFill>
          <a:ln w="15875">
            <a:solidFill>
              <a:srgbClr val="191333"/>
            </a:solidFill>
            <a:prstDash val="solid"/>
          </a:ln>
        </p:spPr>
      </p:sp>
      <p:sp>
        <p:nvSpPr>
          <p:cNvPr id="34" name="Text 31"/>
          <p:cNvSpPr/>
          <p:nvPr/>
        </p:nvSpPr>
        <p:spPr>
          <a:xfrm>
            <a:off x="6501384" y="2039112"/>
            <a:ext cx="1234440" cy="365760"/>
          </a:xfrm>
          <a:prstGeom prst="rect">
            <a:avLst/>
          </a:prstGeom>
          <a:noFill/>
          <a:ln/>
        </p:spPr>
        <p:txBody>
          <a:bodyPr wrap="square" lIns="0" tIns="0" rIns="0" bIns="0" rtlCol="0" anchor="ctr"/>
          <a:lstStyle/>
          <a:p>
            <a:pPr algn="ctr" indent="0" marL="0">
              <a:buNone/>
            </a:pPr>
            <a:r>
              <a:rPr lang="en-US" sz="1050" dirty="0">
                <a:solidFill>
                  <a:srgbClr val="FF8FB8"/>
                </a:solidFill>
                <a:latin typeface="Courier New" pitchFamily="34" charset="0"/>
                <a:ea typeface="Courier New" pitchFamily="34" charset="-122"/>
                <a:cs typeface="Courier New" pitchFamily="34" charset="-120"/>
              </a:rPr>
              <a:t>&lt;form&gt;</a:t>
            </a:r>
            <a:endParaRPr lang="en-US" sz="1050" dirty="0"/>
          </a:p>
        </p:txBody>
      </p:sp>
      <p:sp>
        <p:nvSpPr>
          <p:cNvPr id="35" name="Text 32"/>
          <p:cNvSpPr/>
          <p:nvPr/>
        </p:nvSpPr>
        <p:spPr>
          <a:xfrm>
            <a:off x="7872984" y="1938528"/>
            <a:ext cx="3474720" cy="566928"/>
          </a:xfrm>
          <a:prstGeom prst="rect">
            <a:avLst/>
          </a:prstGeom>
          <a:noFill/>
          <a:ln/>
        </p:spPr>
        <p:txBody>
          <a:bodyPr wrap="square" lIns="0" tIns="0" rIns="0" bIns="0" rtlCol="0" anchor="ctr"/>
          <a:lstStyle/>
          <a:p>
            <a:pPr algn="l" indent="0" marL="0">
              <a:lnSpc>
                <a:spcPts val="1450"/>
              </a:lnSpc>
              <a:buNone/>
            </a:pPr>
            <a:r>
              <a:rPr lang="en-US" sz="1150" dirty="0">
                <a:solidFill>
                  <a:srgbClr val="191333"/>
                </a:solidFill>
                <a:latin typeface="Calibri" pitchFamily="34" charset="0"/>
                <a:ea typeface="Calibri" pitchFamily="34" charset="-122"/>
                <a:cs typeface="Calibri" pitchFamily="34" charset="-120"/>
              </a:rPr>
              <a:t>The container. Everything that gets submitted lives inside it.</a:t>
            </a:r>
            <a:endParaRPr lang="en-US" sz="1150" dirty="0"/>
          </a:p>
        </p:txBody>
      </p:sp>
      <p:sp>
        <p:nvSpPr>
          <p:cNvPr id="36" name="Shape 33"/>
          <p:cNvSpPr/>
          <p:nvPr/>
        </p:nvSpPr>
        <p:spPr>
          <a:xfrm>
            <a:off x="6336792" y="2596896"/>
            <a:ext cx="5212080" cy="566928"/>
          </a:xfrm>
          <a:prstGeom prst="roundRect">
            <a:avLst>
              <a:gd name="adj" fmla="val 12903"/>
            </a:avLst>
          </a:prstGeom>
          <a:solidFill>
            <a:srgbClr val="FFFFFF"/>
          </a:solidFill>
          <a:ln w="19050">
            <a:solidFill>
              <a:srgbClr val="191333"/>
            </a:solidFill>
            <a:prstDash val="solid"/>
          </a:ln>
        </p:spPr>
      </p:sp>
      <p:sp>
        <p:nvSpPr>
          <p:cNvPr id="37" name="Shape 34"/>
          <p:cNvSpPr/>
          <p:nvPr/>
        </p:nvSpPr>
        <p:spPr>
          <a:xfrm>
            <a:off x="6501384" y="2697480"/>
            <a:ext cx="1234440" cy="365760"/>
          </a:xfrm>
          <a:prstGeom prst="roundRect">
            <a:avLst>
              <a:gd name="adj" fmla="val 17500"/>
            </a:avLst>
          </a:prstGeom>
          <a:solidFill>
            <a:srgbClr val="141033"/>
          </a:solidFill>
          <a:ln w="15875">
            <a:solidFill>
              <a:srgbClr val="191333"/>
            </a:solidFill>
            <a:prstDash val="solid"/>
          </a:ln>
        </p:spPr>
      </p:sp>
      <p:sp>
        <p:nvSpPr>
          <p:cNvPr id="38" name="Text 35"/>
          <p:cNvSpPr/>
          <p:nvPr/>
        </p:nvSpPr>
        <p:spPr>
          <a:xfrm>
            <a:off x="6501384" y="2697480"/>
            <a:ext cx="1234440" cy="365760"/>
          </a:xfrm>
          <a:prstGeom prst="rect">
            <a:avLst/>
          </a:prstGeom>
          <a:noFill/>
          <a:ln/>
        </p:spPr>
        <p:txBody>
          <a:bodyPr wrap="square" lIns="0" tIns="0" rIns="0" bIns="0" rtlCol="0" anchor="ctr"/>
          <a:lstStyle/>
          <a:p>
            <a:pPr algn="ctr" indent="0" marL="0">
              <a:buNone/>
            </a:pPr>
            <a:r>
              <a:rPr lang="en-US" sz="1050" dirty="0">
                <a:solidFill>
                  <a:srgbClr val="FF8FB8"/>
                </a:solidFill>
                <a:latin typeface="Courier New" pitchFamily="34" charset="0"/>
                <a:ea typeface="Courier New" pitchFamily="34" charset="-122"/>
                <a:cs typeface="Courier New" pitchFamily="34" charset="-120"/>
              </a:rPr>
              <a:t>&lt;label&gt;</a:t>
            </a:r>
            <a:endParaRPr lang="en-US" sz="1050" dirty="0"/>
          </a:p>
        </p:txBody>
      </p:sp>
      <p:sp>
        <p:nvSpPr>
          <p:cNvPr id="39" name="Text 36"/>
          <p:cNvSpPr/>
          <p:nvPr/>
        </p:nvSpPr>
        <p:spPr>
          <a:xfrm>
            <a:off x="7872984" y="2596896"/>
            <a:ext cx="3474720" cy="566928"/>
          </a:xfrm>
          <a:prstGeom prst="rect">
            <a:avLst/>
          </a:prstGeom>
          <a:noFill/>
          <a:ln/>
        </p:spPr>
        <p:txBody>
          <a:bodyPr wrap="square" lIns="0" tIns="0" rIns="0" bIns="0" rtlCol="0" anchor="ctr"/>
          <a:lstStyle/>
          <a:p>
            <a:pPr algn="l" indent="0" marL="0">
              <a:lnSpc>
                <a:spcPts val="1450"/>
              </a:lnSpc>
              <a:buNone/>
            </a:pPr>
            <a:r>
              <a:rPr lang="en-US" sz="1150" dirty="0">
                <a:solidFill>
                  <a:srgbClr val="191333"/>
                </a:solidFill>
                <a:latin typeface="Calibri" pitchFamily="34" charset="0"/>
                <a:ea typeface="Calibri" pitchFamily="34" charset="-122"/>
                <a:cs typeface="Calibri" pitchFamily="34" charset="-120"/>
              </a:rPr>
              <a:t>The question text. Describes the field next to it.</a:t>
            </a:r>
            <a:endParaRPr lang="en-US" sz="1150" dirty="0"/>
          </a:p>
        </p:txBody>
      </p:sp>
      <p:sp>
        <p:nvSpPr>
          <p:cNvPr id="40" name="Shape 37"/>
          <p:cNvSpPr/>
          <p:nvPr/>
        </p:nvSpPr>
        <p:spPr>
          <a:xfrm>
            <a:off x="6336792" y="3255264"/>
            <a:ext cx="5212080" cy="566928"/>
          </a:xfrm>
          <a:prstGeom prst="roundRect">
            <a:avLst>
              <a:gd name="adj" fmla="val 12903"/>
            </a:avLst>
          </a:prstGeom>
          <a:solidFill>
            <a:srgbClr val="FFE6F0"/>
          </a:solidFill>
          <a:ln w="19050">
            <a:solidFill>
              <a:srgbClr val="191333"/>
            </a:solidFill>
            <a:prstDash val="solid"/>
          </a:ln>
        </p:spPr>
      </p:sp>
      <p:sp>
        <p:nvSpPr>
          <p:cNvPr id="41" name="Shape 38"/>
          <p:cNvSpPr/>
          <p:nvPr/>
        </p:nvSpPr>
        <p:spPr>
          <a:xfrm>
            <a:off x="6501384" y="3355848"/>
            <a:ext cx="1234440" cy="365760"/>
          </a:xfrm>
          <a:prstGeom prst="roundRect">
            <a:avLst>
              <a:gd name="adj" fmla="val 17500"/>
            </a:avLst>
          </a:prstGeom>
          <a:solidFill>
            <a:srgbClr val="141033"/>
          </a:solidFill>
          <a:ln w="15875">
            <a:solidFill>
              <a:srgbClr val="191333"/>
            </a:solidFill>
            <a:prstDash val="solid"/>
          </a:ln>
        </p:spPr>
      </p:sp>
      <p:sp>
        <p:nvSpPr>
          <p:cNvPr id="42" name="Text 39"/>
          <p:cNvSpPr/>
          <p:nvPr/>
        </p:nvSpPr>
        <p:spPr>
          <a:xfrm>
            <a:off x="6501384" y="3355848"/>
            <a:ext cx="1234440" cy="365760"/>
          </a:xfrm>
          <a:prstGeom prst="rect">
            <a:avLst/>
          </a:prstGeom>
          <a:noFill/>
          <a:ln/>
        </p:spPr>
        <p:txBody>
          <a:bodyPr wrap="square" lIns="0" tIns="0" rIns="0" bIns="0" rtlCol="0" anchor="ctr"/>
          <a:lstStyle/>
          <a:p>
            <a:pPr algn="ctr" indent="0" marL="0">
              <a:buNone/>
            </a:pPr>
            <a:r>
              <a:rPr lang="en-US" sz="1050" dirty="0">
                <a:solidFill>
                  <a:srgbClr val="FF8FB8"/>
                </a:solidFill>
                <a:latin typeface="Courier New" pitchFamily="34" charset="0"/>
                <a:ea typeface="Courier New" pitchFamily="34" charset="-122"/>
                <a:cs typeface="Courier New" pitchFamily="34" charset="-120"/>
              </a:rPr>
              <a:t>&lt;input&gt;</a:t>
            </a:r>
            <a:endParaRPr lang="en-US" sz="1050" dirty="0"/>
          </a:p>
        </p:txBody>
      </p:sp>
      <p:sp>
        <p:nvSpPr>
          <p:cNvPr id="43" name="Text 40"/>
          <p:cNvSpPr/>
          <p:nvPr/>
        </p:nvSpPr>
        <p:spPr>
          <a:xfrm>
            <a:off x="7872984" y="3255264"/>
            <a:ext cx="3474720" cy="566928"/>
          </a:xfrm>
          <a:prstGeom prst="rect">
            <a:avLst/>
          </a:prstGeom>
          <a:noFill/>
          <a:ln/>
        </p:spPr>
        <p:txBody>
          <a:bodyPr wrap="square" lIns="0" tIns="0" rIns="0" bIns="0" rtlCol="0" anchor="ctr"/>
          <a:lstStyle/>
          <a:p>
            <a:pPr algn="l" indent="0" marL="0">
              <a:lnSpc>
                <a:spcPts val="1450"/>
              </a:lnSpc>
              <a:buNone/>
            </a:pPr>
            <a:r>
              <a:rPr lang="en-US" sz="1150" dirty="0">
                <a:solidFill>
                  <a:srgbClr val="191333"/>
                </a:solidFill>
                <a:latin typeface="Calibri" pitchFamily="34" charset="0"/>
                <a:ea typeface="Calibri" pitchFamily="34" charset="-122"/>
                <a:cs typeface="Calibri" pitchFamily="34" charset="-120"/>
              </a:rPr>
              <a:t>The box the user fills. Self closing, and the type attribute decides what it becomes.</a:t>
            </a:r>
            <a:endParaRPr lang="en-US" sz="1150" dirty="0"/>
          </a:p>
        </p:txBody>
      </p:sp>
      <p:sp>
        <p:nvSpPr>
          <p:cNvPr id="44" name="Shape 41"/>
          <p:cNvSpPr/>
          <p:nvPr/>
        </p:nvSpPr>
        <p:spPr>
          <a:xfrm>
            <a:off x="6336792" y="3913632"/>
            <a:ext cx="5212080" cy="566928"/>
          </a:xfrm>
          <a:prstGeom prst="roundRect">
            <a:avLst>
              <a:gd name="adj" fmla="val 12903"/>
            </a:avLst>
          </a:prstGeom>
          <a:solidFill>
            <a:srgbClr val="FFFFFF"/>
          </a:solidFill>
          <a:ln w="19050">
            <a:solidFill>
              <a:srgbClr val="191333"/>
            </a:solidFill>
            <a:prstDash val="solid"/>
          </a:ln>
        </p:spPr>
      </p:sp>
      <p:sp>
        <p:nvSpPr>
          <p:cNvPr id="45" name="Shape 42"/>
          <p:cNvSpPr/>
          <p:nvPr/>
        </p:nvSpPr>
        <p:spPr>
          <a:xfrm>
            <a:off x="6501384" y="4014216"/>
            <a:ext cx="1234440" cy="365760"/>
          </a:xfrm>
          <a:prstGeom prst="roundRect">
            <a:avLst>
              <a:gd name="adj" fmla="val 17500"/>
            </a:avLst>
          </a:prstGeom>
          <a:solidFill>
            <a:srgbClr val="141033"/>
          </a:solidFill>
          <a:ln w="15875">
            <a:solidFill>
              <a:srgbClr val="191333"/>
            </a:solidFill>
            <a:prstDash val="solid"/>
          </a:ln>
        </p:spPr>
      </p:sp>
      <p:sp>
        <p:nvSpPr>
          <p:cNvPr id="46" name="Text 43"/>
          <p:cNvSpPr/>
          <p:nvPr/>
        </p:nvSpPr>
        <p:spPr>
          <a:xfrm>
            <a:off x="6501384" y="4014216"/>
            <a:ext cx="1234440" cy="365760"/>
          </a:xfrm>
          <a:prstGeom prst="rect">
            <a:avLst/>
          </a:prstGeom>
          <a:noFill/>
          <a:ln/>
        </p:spPr>
        <p:txBody>
          <a:bodyPr wrap="square" lIns="0" tIns="0" rIns="0" bIns="0" rtlCol="0" anchor="ctr"/>
          <a:lstStyle/>
          <a:p>
            <a:pPr algn="ctr" indent="0" marL="0">
              <a:buNone/>
            </a:pPr>
            <a:r>
              <a:rPr lang="en-US" sz="1050" dirty="0">
                <a:solidFill>
                  <a:srgbClr val="FF8FB8"/>
                </a:solidFill>
                <a:latin typeface="Courier New" pitchFamily="34" charset="0"/>
                <a:ea typeface="Courier New" pitchFamily="34" charset="-122"/>
                <a:cs typeface="Courier New" pitchFamily="34" charset="-120"/>
              </a:rPr>
              <a:t>&lt;select&gt;</a:t>
            </a:r>
            <a:endParaRPr lang="en-US" sz="1050" dirty="0"/>
          </a:p>
        </p:txBody>
      </p:sp>
      <p:sp>
        <p:nvSpPr>
          <p:cNvPr id="47" name="Text 44"/>
          <p:cNvSpPr/>
          <p:nvPr/>
        </p:nvSpPr>
        <p:spPr>
          <a:xfrm>
            <a:off x="7872984" y="3913632"/>
            <a:ext cx="3474720" cy="566928"/>
          </a:xfrm>
          <a:prstGeom prst="rect">
            <a:avLst/>
          </a:prstGeom>
          <a:noFill/>
          <a:ln/>
        </p:spPr>
        <p:txBody>
          <a:bodyPr wrap="square" lIns="0" tIns="0" rIns="0" bIns="0" rtlCol="0" anchor="ctr"/>
          <a:lstStyle/>
          <a:p>
            <a:pPr algn="l" indent="0" marL="0">
              <a:lnSpc>
                <a:spcPts val="1450"/>
              </a:lnSpc>
              <a:buNone/>
            </a:pPr>
            <a:r>
              <a:rPr lang="en-US" sz="1150" dirty="0">
                <a:solidFill>
                  <a:srgbClr val="191333"/>
                </a:solidFill>
                <a:latin typeface="Calibri" pitchFamily="34" charset="0"/>
                <a:ea typeface="Calibri" pitchFamily="34" charset="-122"/>
                <a:cs typeface="Calibri" pitchFamily="34" charset="-120"/>
              </a:rPr>
              <a:t>A dropdown. Holds the options.</a:t>
            </a:r>
            <a:endParaRPr lang="en-US" sz="1150" dirty="0"/>
          </a:p>
        </p:txBody>
      </p:sp>
      <p:sp>
        <p:nvSpPr>
          <p:cNvPr id="48" name="Shape 45"/>
          <p:cNvSpPr/>
          <p:nvPr/>
        </p:nvSpPr>
        <p:spPr>
          <a:xfrm>
            <a:off x="6336792" y="4572000"/>
            <a:ext cx="5212080" cy="566928"/>
          </a:xfrm>
          <a:prstGeom prst="roundRect">
            <a:avLst>
              <a:gd name="adj" fmla="val 12903"/>
            </a:avLst>
          </a:prstGeom>
          <a:solidFill>
            <a:srgbClr val="FFFFFF"/>
          </a:solidFill>
          <a:ln w="19050">
            <a:solidFill>
              <a:srgbClr val="191333"/>
            </a:solidFill>
            <a:prstDash val="solid"/>
          </a:ln>
        </p:spPr>
      </p:sp>
      <p:sp>
        <p:nvSpPr>
          <p:cNvPr id="49" name="Shape 46"/>
          <p:cNvSpPr/>
          <p:nvPr/>
        </p:nvSpPr>
        <p:spPr>
          <a:xfrm>
            <a:off x="6501384" y="4672584"/>
            <a:ext cx="1234440" cy="365760"/>
          </a:xfrm>
          <a:prstGeom prst="roundRect">
            <a:avLst>
              <a:gd name="adj" fmla="val 17500"/>
            </a:avLst>
          </a:prstGeom>
          <a:solidFill>
            <a:srgbClr val="141033"/>
          </a:solidFill>
          <a:ln w="15875">
            <a:solidFill>
              <a:srgbClr val="191333"/>
            </a:solidFill>
            <a:prstDash val="solid"/>
          </a:ln>
        </p:spPr>
      </p:sp>
      <p:sp>
        <p:nvSpPr>
          <p:cNvPr id="50" name="Text 47"/>
          <p:cNvSpPr/>
          <p:nvPr/>
        </p:nvSpPr>
        <p:spPr>
          <a:xfrm>
            <a:off x="6501384" y="4672584"/>
            <a:ext cx="1234440" cy="365760"/>
          </a:xfrm>
          <a:prstGeom prst="rect">
            <a:avLst/>
          </a:prstGeom>
          <a:noFill/>
          <a:ln/>
        </p:spPr>
        <p:txBody>
          <a:bodyPr wrap="square" lIns="0" tIns="0" rIns="0" bIns="0" rtlCol="0" anchor="ctr"/>
          <a:lstStyle/>
          <a:p>
            <a:pPr algn="ctr" indent="0" marL="0">
              <a:buNone/>
            </a:pPr>
            <a:r>
              <a:rPr lang="en-US" sz="1050" dirty="0">
                <a:solidFill>
                  <a:srgbClr val="FF8FB8"/>
                </a:solidFill>
                <a:latin typeface="Courier New" pitchFamily="34" charset="0"/>
                <a:ea typeface="Courier New" pitchFamily="34" charset="-122"/>
                <a:cs typeface="Courier New" pitchFamily="34" charset="-120"/>
              </a:rPr>
              <a:t>&lt;option&gt;</a:t>
            </a:r>
            <a:endParaRPr lang="en-US" sz="1050" dirty="0"/>
          </a:p>
        </p:txBody>
      </p:sp>
      <p:sp>
        <p:nvSpPr>
          <p:cNvPr id="51" name="Text 48"/>
          <p:cNvSpPr/>
          <p:nvPr/>
        </p:nvSpPr>
        <p:spPr>
          <a:xfrm>
            <a:off x="7872984" y="4572000"/>
            <a:ext cx="3474720" cy="566928"/>
          </a:xfrm>
          <a:prstGeom prst="rect">
            <a:avLst/>
          </a:prstGeom>
          <a:noFill/>
          <a:ln/>
        </p:spPr>
        <p:txBody>
          <a:bodyPr wrap="square" lIns="0" tIns="0" rIns="0" bIns="0" rtlCol="0" anchor="ctr"/>
          <a:lstStyle/>
          <a:p>
            <a:pPr algn="l" indent="0" marL="0">
              <a:lnSpc>
                <a:spcPts val="1450"/>
              </a:lnSpc>
              <a:buNone/>
            </a:pPr>
            <a:r>
              <a:rPr lang="en-US" sz="1150" dirty="0">
                <a:solidFill>
                  <a:srgbClr val="191333"/>
                </a:solidFill>
                <a:latin typeface="Calibri" pitchFamily="34" charset="0"/>
                <a:ea typeface="Calibri" pitchFamily="34" charset="-122"/>
                <a:cs typeface="Calibri" pitchFamily="34" charset="-120"/>
              </a:rPr>
              <a:t>One choice inside a select.</a:t>
            </a:r>
            <a:endParaRPr lang="en-US" sz="1150" dirty="0"/>
          </a:p>
        </p:txBody>
      </p:sp>
      <p:sp>
        <p:nvSpPr>
          <p:cNvPr id="52" name="Shape 49"/>
          <p:cNvSpPr/>
          <p:nvPr/>
        </p:nvSpPr>
        <p:spPr>
          <a:xfrm>
            <a:off x="6336792" y="5230368"/>
            <a:ext cx="5212080" cy="566928"/>
          </a:xfrm>
          <a:prstGeom prst="roundRect">
            <a:avLst>
              <a:gd name="adj" fmla="val 12903"/>
            </a:avLst>
          </a:prstGeom>
          <a:solidFill>
            <a:srgbClr val="FFFFFF"/>
          </a:solidFill>
          <a:ln w="19050">
            <a:solidFill>
              <a:srgbClr val="191333"/>
            </a:solidFill>
            <a:prstDash val="solid"/>
          </a:ln>
        </p:spPr>
      </p:sp>
      <p:sp>
        <p:nvSpPr>
          <p:cNvPr id="53" name="Shape 50"/>
          <p:cNvSpPr/>
          <p:nvPr/>
        </p:nvSpPr>
        <p:spPr>
          <a:xfrm>
            <a:off x="6501384" y="5330952"/>
            <a:ext cx="1234440" cy="365760"/>
          </a:xfrm>
          <a:prstGeom prst="roundRect">
            <a:avLst>
              <a:gd name="adj" fmla="val 17500"/>
            </a:avLst>
          </a:prstGeom>
          <a:solidFill>
            <a:srgbClr val="141033"/>
          </a:solidFill>
          <a:ln w="15875">
            <a:solidFill>
              <a:srgbClr val="191333"/>
            </a:solidFill>
            <a:prstDash val="solid"/>
          </a:ln>
        </p:spPr>
      </p:sp>
      <p:sp>
        <p:nvSpPr>
          <p:cNvPr id="54" name="Text 51"/>
          <p:cNvSpPr/>
          <p:nvPr/>
        </p:nvSpPr>
        <p:spPr>
          <a:xfrm>
            <a:off x="6501384" y="5330952"/>
            <a:ext cx="1234440" cy="365760"/>
          </a:xfrm>
          <a:prstGeom prst="rect">
            <a:avLst/>
          </a:prstGeom>
          <a:noFill/>
          <a:ln/>
        </p:spPr>
        <p:txBody>
          <a:bodyPr wrap="square" lIns="0" tIns="0" rIns="0" bIns="0" rtlCol="0" anchor="ctr"/>
          <a:lstStyle/>
          <a:p>
            <a:pPr algn="ctr" indent="0" marL="0">
              <a:buNone/>
            </a:pPr>
            <a:r>
              <a:rPr lang="en-US" sz="1050" dirty="0">
                <a:solidFill>
                  <a:srgbClr val="FF8FB8"/>
                </a:solidFill>
                <a:latin typeface="Courier New" pitchFamily="34" charset="0"/>
                <a:ea typeface="Courier New" pitchFamily="34" charset="-122"/>
                <a:cs typeface="Courier New" pitchFamily="34" charset="-120"/>
              </a:rPr>
              <a:t>&lt;button&gt;</a:t>
            </a:r>
            <a:endParaRPr lang="en-US" sz="1050" dirty="0"/>
          </a:p>
        </p:txBody>
      </p:sp>
      <p:sp>
        <p:nvSpPr>
          <p:cNvPr id="55" name="Text 52"/>
          <p:cNvSpPr/>
          <p:nvPr/>
        </p:nvSpPr>
        <p:spPr>
          <a:xfrm>
            <a:off x="7872984" y="5230368"/>
            <a:ext cx="3474720" cy="566928"/>
          </a:xfrm>
          <a:prstGeom prst="rect">
            <a:avLst/>
          </a:prstGeom>
          <a:noFill/>
          <a:ln/>
        </p:spPr>
        <p:txBody>
          <a:bodyPr wrap="square" lIns="0" tIns="0" rIns="0" bIns="0" rtlCol="0" anchor="ctr"/>
          <a:lstStyle/>
          <a:p>
            <a:pPr algn="l" indent="0" marL="0">
              <a:lnSpc>
                <a:spcPts val="1450"/>
              </a:lnSpc>
              <a:buNone/>
            </a:pPr>
            <a:r>
              <a:rPr lang="en-US" sz="1150" dirty="0">
                <a:solidFill>
                  <a:srgbClr val="191333"/>
                </a:solidFill>
                <a:latin typeface="Calibri" pitchFamily="34" charset="0"/>
                <a:ea typeface="Calibri" pitchFamily="34" charset="-122"/>
                <a:cs typeface="Calibri" pitchFamily="34" charset="-120"/>
              </a:rPr>
              <a:t>Sends the whole thing.</a:t>
            </a:r>
            <a:endParaRPr lang="en-US" sz="1150" dirty="0"/>
          </a:p>
        </p:txBody>
      </p:sp>
      <p:sp>
        <p:nvSpPr>
          <p:cNvPr id="56" name="Shape 53"/>
          <p:cNvSpPr/>
          <p:nvPr/>
        </p:nvSpPr>
        <p:spPr>
          <a:xfrm>
            <a:off x="640080" y="5870448"/>
            <a:ext cx="10908792" cy="512064"/>
          </a:xfrm>
          <a:prstGeom prst="roundRect">
            <a:avLst>
              <a:gd name="adj" fmla="val 14286"/>
            </a:avLst>
          </a:prstGeom>
          <a:solidFill>
            <a:srgbClr val="FFF1D6"/>
          </a:solidFill>
          <a:ln w="12700">
            <a:solidFill>
              <a:srgbClr val="F5CE8A"/>
            </a:solidFill>
            <a:prstDash val="solid"/>
          </a:ln>
        </p:spPr>
      </p:sp>
      <p:sp>
        <p:nvSpPr>
          <p:cNvPr id="57" name="Text 54"/>
          <p:cNvSpPr/>
          <p:nvPr/>
        </p:nvSpPr>
        <p:spPr>
          <a:xfrm>
            <a:off x="859536" y="5870448"/>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a form with no labels is a quiz where nobody told you the questions.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15</a:t>
            </a:r>
            <a:endParaRPr lang="en-US" sz="900" dirty="0"/>
          </a:p>
        </p:txBody>
      </p:sp>
      <p:sp>
        <p:nvSpPr>
          <p:cNvPr id="5" name="Shape 2"/>
          <p:cNvSpPr/>
          <p:nvPr/>
        </p:nvSpPr>
        <p:spPr>
          <a:xfrm>
            <a:off x="640080" y="365760"/>
            <a:ext cx="1188720" cy="347472"/>
          </a:xfrm>
          <a:prstGeom prst="roundRect">
            <a:avLst>
              <a:gd name="adj" fmla="val 21053"/>
            </a:avLst>
          </a:prstGeom>
          <a:solidFill>
            <a:srgbClr val="FF3D8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FORMS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One tag, eight personalities</a:t>
            </a:r>
            <a:endParaRPr lang="en-US" sz="3200" dirty="0"/>
          </a:p>
        </p:txBody>
      </p:sp>
      <p:sp>
        <p:nvSpPr>
          <p:cNvPr id="8" name="Text 5"/>
          <p:cNvSpPr/>
          <p:nvPr/>
        </p:nvSpPr>
        <p:spPr>
          <a:xfrm>
            <a:off x="640080" y="1517904"/>
            <a:ext cx="10881360" cy="329184"/>
          </a:xfrm>
          <a:prstGeom prst="rect">
            <a:avLst/>
          </a:prstGeom>
          <a:noFill/>
          <a:ln/>
        </p:spPr>
        <p:txBody>
          <a:bodyPr wrap="square" lIns="0" tIns="0" rIns="0" bIns="0" rtlCol="0" anchor="t"/>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It is always &lt;input&gt;. The type attribute decides what the browser draws and how it behaves.</a:t>
            </a:r>
            <a:endParaRPr lang="en-US" sz="1400" dirty="0"/>
          </a:p>
        </p:txBody>
      </p:sp>
      <p:sp>
        <p:nvSpPr>
          <p:cNvPr id="9" name="Shape 6"/>
          <p:cNvSpPr/>
          <p:nvPr/>
        </p:nvSpPr>
        <p:spPr>
          <a:xfrm>
            <a:off x="640080" y="1956816"/>
            <a:ext cx="2542032" cy="1298448"/>
          </a:xfrm>
          <a:prstGeom prst="roundRect">
            <a:avLst>
              <a:gd name="adj" fmla="val 7042"/>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0" name="Text 7"/>
          <p:cNvSpPr/>
          <p:nvPr/>
        </p:nvSpPr>
        <p:spPr>
          <a:xfrm>
            <a:off x="859536" y="2103120"/>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type="text"</a:t>
            </a:r>
            <a:endParaRPr lang="en-US" sz="1100" dirty="0"/>
          </a:p>
        </p:txBody>
      </p:sp>
      <p:sp>
        <p:nvSpPr>
          <p:cNvPr id="11" name="Shape 8"/>
          <p:cNvSpPr/>
          <p:nvPr/>
        </p:nvSpPr>
        <p:spPr>
          <a:xfrm>
            <a:off x="859536" y="2450592"/>
            <a:ext cx="1737360" cy="329184"/>
          </a:xfrm>
          <a:prstGeom prst="roundRect">
            <a:avLst>
              <a:gd name="adj" fmla="val 16667"/>
            </a:avLst>
          </a:prstGeom>
          <a:solidFill>
            <a:srgbClr val="F7F6FC"/>
          </a:solidFill>
          <a:ln w="15875">
            <a:solidFill>
              <a:srgbClr val="9C95C0"/>
            </a:solidFill>
            <a:prstDash val="solid"/>
          </a:ln>
        </p:spPr>
      </p:sp>
      <p:sp>
        <p:nvSpPr>
          <p:cNvPr id="12" name="Text 9"/>
          <p:cNvSpPr/>
          <p:nvPr/>
        </p:nvSpPr>
        <p:spPr>
          <a:xfrm>
            <a:off x="987552" y="2450592"/>
            <a:ext cx="1463040" cy="329184"/>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Aarav</a:t>
            </a:r>
            <a:endParaRPr lang="en-US" sz="1050" dirty="0"/>
          </a:p>
        </p:txBody>
      </p:sp>
      <p:sp>
        <p:nvSpPr>
          <p:cNvPr id="13" name="Text 10"/>
          <p:cNvSpPr/>
          <p:nvPr/>
        </p:nvSpPr>
        <p:spPr>
          <a:xfrm>
            <a:off x="859536" y="2871216"/>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A single line of text.</a:t>
            </a:r>
            <a:endParaRPr lang="en-US" sz="1100" dirty="0"/>
          </a:p>
        </p:txBody>
      </p:sp>
      <p:sp>
        <p:nvSpPr>
          <p:cNvPr id="14" name="Shape 11"/>
          <p:cNvSpPr/>
          <p:nvPr/>
        </p:nvSpPr>
        <p:spPr>
          <a:xfrm>
            <a:off x="3483864" y="1956816"/>
            <a:ext cx="2542032" cy="1298448"/>
          </a:xfrm>
          <a:prstGeom prst="roundRect">
            <a:avLst>
              <a:gd name="adj" fmla="val 7042"/>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5" name="Text 12"/>
          <p:cNvSpPr/>
          <p:nvPr/>
        </p:nvSpPr>
        <p:spPr>
          <a:xfrm>
            <a:off x="3703320" y="2103120"/>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type="password"</a:t>
            </a:r>
            <a:endParaRPr lang="en-US" sz="1100" dirty="0"/>
          </a:p>
        </p:txBody>
      </p:sp>
      <p:sp>
        <p:nvSpPr>
          <p:cNvPr id="16" name="Shape 13"/>
          <p:cNvSpPr/>
          <p:nvPr/>
        </p:nvSpPr>
        <p:spPr>
          <a:xfrm>
            <a:off x="3703320" y="2450592"/>
            <a:ext cx="1737360" cy="329184"/>
          </a:xfrm>
          <a:prstGeom prst="roundRect">
            <a:avLst>
              <a:gd name="adj" fmla="val 16667"/>
            </a:avLst>
          </a:prstGeom>
          <a:solidFill>
            <a:srgbClr val="F7F6FC"/>
          </a:solidFill>
          <a:ln w="15875">
            <a:solidFill>
              <a:srgbClr val="9C95C0"/>
            </a:solidFill>
            <a:prstDash val="solid"/>
          </a:ln>
        </p:spPr>
      </p:sp>
      <p:sp>
        <p:nvSpPr>
          <p:cNvPr id="17" name="Shape 14"/>
          <p:cNvSpPr/>
          <p:nvPr/>
        </p:nvSpPr>
        <p:spPr>
          <a:xfrm>
            <a:off x="3849624" y="2587752"/>
            <a:ext cx="82296" cy="82296"/>
          </a:xfrm>
          <a:prstGeom prst="ellipse">
            <a:avLst/>
          </a:prstGeom>
          <a:solidFill>
            <a:srgbClr val="191333"/>
          </a:solidFill>
          <a:ln w="12700">
            <a:solidFill>
              <a:srgbClr val="191333"/>
            </a:solidFill>
            <a:prstDash val="solid"/>
          </a:ln>
        </p:spPr>
      </p:sp>
      <p:sp>
        <p:nvSpPr>
          <p:cNvPr id="18" name="Shape 15"/>
          <p:cNvSpPr/>
          <p:nvPr/>
        </p:nvSpPr>
        <p:spPr>
          <a:xfrm>
            <a:off x="3995928" y="2587752"/>
            <a:ext cx="82296" cy="82296"/>
          </a:xfrm>
          <a:prstGeom prst="ellipse">
            <a:avLst/>
          </a:prstGeom>
          <a:solidFill>
            <a:srgbClr val="191333"/>
          </a:solidFill>
          <a:ln w="12700">
            <a:solidFill>
              <a:srgbClr val="191333"/>
            </a:solidFill>
            <a:prstDash val="solid"/>
          </a:ln>
        </p:spPr>
      </p:sp>
      <p:sp>
        <p:nvSpPr>
          <p:cNvPr id="19" name="Shape 16"/>
          <p:cNvSpPr/>
          <p:nvPr/>
        </p:nvSpPr>
        <p:spPr>
          <a:xfrm>
            <a:off x="4142232" y="2587752"/>
            <a:ext cx="82296" cy="82296"/>
          </a:xfrm>
          <a:prstGeom prst="ellipse">
            <a:avLst/>
          </a:prstGeom>
          <a:solidFill>
            <a:srgbClr val="191333"/>
          </a:solidFill>
          <a:ln w="12700">
            <a:solidFill>
              <a:srgbClr val="191333"/>
            </a:solidFill>
            <a:prstDash val="solid"/>
          </a:ln>
        </p:spPr>
      </p:sp>
      <p:sp>
        <p:nvSpPr>
          <p:cNvPr id="20" name="Shape 17"/>
          <p:cNvSpPr/>
          <p:nvPr/>
        </p:nvSpPr>
        <p:spPr>
          <a:xfrm>
            <a:off x="4288536" y="2587752"/>
            <a:ext cx="82296" cy="82296"/>
          </a:xfrm>
          <a:prstGeom prst="ellipse">
            <a:avLst/>
          </a:prstGeom>
          <a:solidFill>
            <a:srgbClr val="191333"/>
          </a:solidFill>
          <a:ln w="12700">
            <a:solidFill>
              <a:srgbClr val="191333"/>
            </a:solidFill>
            <a:prstDash val="solid"/>
          </a:ln>
        </p:spPr>
      </p:sp>
      <p:sp>
        <p:nvSpPr>
          <p:cNvPr id="21" name="Shape 18"/>
          <p:cNvSpPr/>
          <p:nvPr/>
        </p:nvSpPr>
        <p:spPr>
          <a:xfrm>
            <a:off x="4434840" y="2587752"/>
            <a:ext cx="82296" cy="82296"/>
          </a:xfrm>
          <a:prstGeom prst="ellipse">
            <a:avLst/>
          </a:prstGeom>
          <a:solidFill>
            <a:srgbClr val="191333"/>
          </a:solidFill>
          <a:ln w="12700">
            <a:solidFill>
              <a:srgbClr val="191333"/>
            </a:solidFill>
            <a:prstDash val="solid"/>
          </a:ln>
        </p:spPr>
      </p:sp>
      <p:sp>
        <p:nvSpPr>
          <p:cNvPr id="22" name="Shape 19"/>
          <p:cNvSpPr/>
          <p:nvPr/>
        </p:nvSpPr>
        <p:spPr>
          <a:xfrm>
            <a:off x="4581144" y="2587752"/>
            <a:ext cx="82296" cy="82296"/>
          </a:xfrm>
          <a:prstGeom prst="ellipse">
            <a:avLst/>
          </a:prstGeom>
          <a:solidFill>
            <a:srgbClr val="191333"/>
          </a:solidFill>
          <a:ln w="12700">
            <a:solidFill>
              <a:srgbClr val="191333"/>
            </a:solidFill>
            <a:prstDash val="solid"/>
          </a:ln>
        </p:spPr>
      </p:sp>
      <p:sp>
        <p:nvSpPr>
          <p:cNvPr id="23" name="Text 20"/>
          <p:cNvSpPr/>
          <p:nvPr/>
        </p:nvSpPr>
        <p:spPr>
          <a:xfrm>
            <a:off x="3703320" y="2871216"/>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Same box, characters masked.</a:t>
            </a:r>
            <a:endParaRPr lang="en-US" sz="1100" dirty="0"/>
          </a:p>
        </p:txBody>
      </p:sp>
      <p:sp>
        <p:nvSpPr>
          <p:cNvPr id="24" name="Shape 21"/>
          <p:cNvSpPr/>
          <p:nvPr/>
        </p:nvSpPr>
        <p:spPr>
          <a:xfrm>
            <a:off x="6327648" y="1956816"/>
            <a:ext cx="2542032" cy="1298448"/>
          </a:xfrm>
          <a:prstGeom prst="roundRect">
            <a:avLst>
              <a:gd name="adj" fmla="val 7042"/>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5" name="Text 22"/>
          <p:cNvSpPr/>
          <p:nvPr/>
        </p:nvSpPr>
        <p:spPr>
          <a:xfrm>
            <a:off x="6547104" y="2103120"/>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type="email"</a:t>
            </a:r>
            <a:endParaRPr lang="en-US" sz="1100" dirty="0"/>
          </a:p>
        </p:txBody>
      </p:sp>
      <p:sp>
        <p:nvSpPr>
          <p:cNvPr id="26" name="Shape 23"/>
          <p:cNvSpPr/>
          <p:nvPr/>
        </p:nvSpPr>
        <p:spPr>
          <a:xfrm>
            <a:off x="6547104" y="2450592"/>
            <a:ext cx="1737360" cy="329184"/>
          </a:xfrm>
          <a:prstGeom prst="roundRect">
            <a:avLst>
              <a:gd name="adj" fmla="val 16667"/>
            </a:avLst>
          </a:prstGeom>
          <a:solidFill>
            <a:srgbClr val="F7F6FC"/>
          </a:solidFill>
          <a:ln w="15875">
            <a:solidFill>
              <a:srgbClr val="9C95C0"/>
            </a:solidFill>
            <a:prstDash val="solid"/>
          </a:ln>
        </p:spPr>
      </p:sp>
      <p:sp>
        <p:nvSpPr>
          <p:cNvPr id="27" name="Text 24"/>
          <p:cNvSpPr/>
          <p:nvPr/>
        </p:nvSpPr>
        <p:spPr>
          <a:xfrm>
            <a:off x="6675120" y="2450592"/>
            <a:ext cx="1463040" cy="329184"/>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a@b.com</a:t>
            </a:r>
            <a:endParaRPr lang="en-US" sz="1050" dirty="0"/>
          </a:p>
        </p:txBody>
      </p:sp>
      <p:sp>
        <p:nvSpPr>
          <p:cNvPr id="28" name="Text 25"/>
          <p:cNvSpPr/>
          <p:nvPr/>
        </p:nvSpPr>
        <p:spPr>
          <a:xfrm>
            <a:off x="6547104" y="2871216"/>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Text, plus free validation.</a:t>
            </a:r>
            <a:endParaRPr lang="en-US" sz="1100" dirty="0"/>
          </a:p>
        </p:txBody>
      </p:sp>
      <p:sp>
        <p:nvSpPr>
          <p:cNvPr id="29" name="Shape 26"/>
          <p:cNvSpPr/>
          <p:nvPr/>
        </p:nvSpPr>
        <p:spPr>
          <a:xfrm>
            <a:off x="9171432" y="1956816"/>
            <a:ext cx="2542032" cy="1298448"/>
          </a:xfrm>
          <a:prstGeom prst="roundRect">
            <a:avLst>
              <a:gd name="adj" fmla="val 7042"/>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0" name="Text 27"/>
          <p:cNvSpPr/>
          <p:nvPr/>
        </p:nvSpPr>
        <p:spPr>
          <a:xfrm>
            <a:off x="9390888" y="2103120"/>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type="number"</a:t>
            </a:r>
            <a:endParaRPr lang="en-US" sz="1100" dirty="0"/>
          </a:p>
        </p:txBody>
      </p:sp>
      <p:sp>
        <p:nvSpPr>
          <p:cNvPr id="31" name="Shape 28"/>
          <p:cNvSpPr/>
          <p:nvPr/>
        </p:nvSpPr>
        <p:spPr>
          <a:xfrm>
            <a:off x="9390888" y="2450592"/>
            <a:ext cx="1737360" cy="329184"/>
          </a:xfrm>
          <a:prstGeom prst="roundRect">
            <a:avLst>
              <a:gd name="adj" fmla="val 16667"/>
            </a:avLst>
          </a:prstGeom>
          <a:solidFill>
            <a:srgbClr val="F7F6FC"/>
          </a:solidFill>
          <a:ln w="15875">
            <a:solidFill>
              <a:srgbClr val="9C95C0"/>
            </a:solidFill>
            <a:prstDash val="solid"/>
          </a:ln>
        </p:spPr>
      </p:sp>
      <p:sp>
        <p:nvSpPr>
          <p:cNvPr id="32" name="Text 29"/>
          <p:cNvSpPr/>
          <p:nvPr/>
        </p:nvSpPr>
        <p:spPr>
          <a:xfrm>
            <a:off x="9518904" y="2450592"/>
            <a:ext cx="914400" cy="329184"/>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21</a:t>
            </a:r>
            <a:endParaRPr lang="en-US" sz="1050" dirty="0"/>
          </a:p>
        </p:txBody>
      </p:sp>
      <p:sp>
        <p:nvSpPr>
          <p:cNvPr id="33" name="Shape 30"/>
          <p:cNvSpPr/>
          <p:nvPr/>
        </p:nvSpPr>
        <p:spPr>
          <a:xfrm>
            <a:off x="10872216" y="2514600"/>
            <a:ext cx="146304" cy="91440"/>
          </a:xfrm>
          <a:prstGeom prst="triangle">
            <a:avLst/>
          </a:prstGeom>
          <a:solidFill>
            <a:srgbClr val="5C5580"/>
          </a:solidFill>
          <a:ln w="12700">
            <a:solidFill>
              <a:srgbClr val="5C5580"/>
            </a:solidFill>
            <a:prstDash val="solid"/>
          </a:ln>
        </p:spPr>
      </p:sp>
      <p:sp>
        <p:nvSpPr>
          <p:cNvPr id="34" name="Shape 31"/>
          <p:cNvSpPr/>
          <p:nvPr/>
        </p:nvSpPr>
        <p:spPr>
          <a:xfrm rot="10800000">
            <a:off x="10872216" y="2633472"/>
            <a:ext cx="146304" cy="91440"/>
          </a:xfrm>
          <a:prstGeom prst="triangle">
            <a:avLst/>
          </a:prstGeom>
          <a:solidFill>
            <a:srgbClr val="5C5580"/>
          </a:solidFill>
          <a:ln w="12700">
            <a:solidFill>
              <a:srgbClr val="5C5580"/>
            </a:solidFill>
            <a:prstDash val="solid"/>
          </a:ln>
        </p:spPr>
      </p:sp>
      <p:sp>
        <p:nvSpPr>
          <p:cNvPr id="35" name="Text 32"/>
          <p:cNvSpPr/>
          <p:nvPr/>
        </p:nvSpPr>
        <p:spPr>
          <a:xfrm>
            <a:off x="9390888" y="2871216"/>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Digits only, with a spinner.</a:t>
            </a:r>
            <a:endParaRPr lang="en-US" sz="1100" dirty="0"/>
          </a:p>
        </p:txBody>
      </p:sp>
      <p:sp>
        <p:nvSpPr>
          <p:cNvPr id="36" name="Shape 33"/>
          <p:cNvSpPr/>
          <p:nvPr/>
        </p:nvSpPr>
        <p:spPr>
          <a:xfrm>
            <a:off x="640080" y="3383280"/>
            <a:ext cx="2542032" cy="1298448"/>
          </a:xfrm>
          <a:prstGeom prst="roundRect">
            <a:avLst>
              <a:gd name="adj" fmla="val 7042"/>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7" name="Text 34"/>
          <p:cNvSpPr/>
          <p:nvPr/>
        </p:nvSpPr>
        <p:spPr>
          <a:xfrm>
            <a:off x="859536" y="3529584"/>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type="date"</a:t>
            </a:r>
            <a:endParaRPr lang="en-US" sz="1100" dirty="0"/>
          </a:p>
        </p:txBody>
      </p:sp>
      <p:sp>
        <p:nvSpPr>
          <p:cNvPr id="38" name="Shape 35"/>
          <p:cNvSpPr/>
          <p:nvPr/>
        </p:nvSpPr>
        <p:spPr>
          <a:xfrm>
            <a:off x="859536" y="3877056"/>
            <a:ext cx="1737360" cy="329184"/>
          </a:xfrm>
          <a:prstGeom prst="roundRect">
            <a:avLst>
              <a:gd name="adj" fmla="val 16667"/>
            </a:avLst>
          </a:prstGeom>
          <a:solidFill>
            <a:srgbClr val="F7F6FC"/>
          </a:solidFill>
          <a:ln w="15875">
            <a:solidFill>
              <a:srgbClr val="9C95C0"/>
            </a:solidFill>
            <a:prstDash val="solid"/>
          </a:ln>
        </p:spPr>
      </p:sp>
      <p:sp>
        <p:nvSpPr>
          <p:cNvPr id="39" name="Text 36"/>
          <p:cNvSpPr/>
          <p:nvPr/>
        </p:nvSpPr>
        <p:spPr>
          <a:xfrm>
            <a:off x="987552" y="3877056"/>
            <a:ext cx="1280160" cy="329184"/>
          </a:xfrm>
          <a:prstGeom prst="rect">
            <a:avLst/>
          </a:prstGeom>
          <a:noFill/>
          <a:ln/>
        </p:spPr>
        <p:txBody>
          <a:bodyPr wrap="square" lIns="0" tIns="0" rIns="0" bIns="0" rtlCol="0" anchor="ctr"/>
          <a:lstStyle/>
          <a:p>
            <a:pPr indent="0" marL="0">
              <a:buNone/>
            </a:pPr>
            <a:r>
              <a:rPr lang="en-US" sz="950" dirty="0">
                <a:solidFill>
                  <a:srgbClr val="191333"/>
                </a:solidFill>
                <a:latin typeface="Calibri" pitchFamily="34" charset="0"/>
                <a:ea typeface="Calibri" pitchFamily="34" charset="-122"/>
                <a:cs typeface="Calibri" pitchFamily="34" charset="-120"/>
              </a:rPr>
              <a:t>18 / 06 / 2005</a:t>
            </a:r>
            <a:endParaRPr lang="en-US" sz="950" dirty="0"/>
          </a:p>
        </p:txBody>
      </p:sp>
      <p:sp>
        <p:nvSpPr>
          <p:cNvPr id="40" name="Shape 37"/>
          <p:cNvSpPr/>
          <p:nvPr/>
        </p:nvSpPr>
        <p:spPr>
          <a:xfrm>
            <a:off x="2286000" y="3941064"/>
            <a:ext cx="201168" cy="201168"/>
          </a:xfrm>
          <a:prstGeom prst="roundRect">
            <a:avLst>
              <a:gd name="adj" fmla="val 13636"/>
            </a:avLst>
          </a:prstGeom>
          <a:solidFill>
            <a:srgbClr val="FF3D8B"/>
          </a:solidFill>
          <a:ln w="12700">
            <a:solidFill>
              <a:srgbClr val="191333"/>
            </a:solidFill>
            <a:prstDash val="solid"/>
          </a:ln>
        </p:spPr>
      </p:sp>
      <p:sp>
        <p:nvSpPr>
          <p:cNvPr id="41" name="Text 38"/>
          <p:cNvSpPr/>
          <p:nvPr/>
        </p:nvSpPr>
        <p:spPr>
          <a:xfrm>
            <a:off x="859536" y="4297680"/>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A whole calendar, free.</a:t>
            </a:r>
            <a:endParaRPr lang="en-US" sz="1100" dirty="0"/>
          </a:p>
        </p:txBody>
      </p:sp>
      <p:sp>
        <p:nvSpPr>
          <p:cNvPr id="42" name="Shape 39"/>
          <p:cNvSpPr/>
          <p:nvPr/>
        </p:nvSpPr>
        <p:spPr>
          <a:xfrm>
            <a:off x="3483864" y="3383280"/>
            <a:ext cx="2542032" cy="1298448"/>
          </a:xfrm>
          <a:prstGeom prst="roundRect">
            <a:avLst>
              <a:gd name="adj" fmla="val 7042"/>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43" name="Text 40"/>
          <p:cNvSpPr/>
          <p:nvPr/>
        </p:nvSpPr>
        <p:spPr>
          <a:xfrm>
            <a:off x="3703320" y="3529584"/>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type="checkbox"</a:t>
            </a:r>
            <a:endParaRPr lang="en-US" sz="1100" dirty="0"/>
          </a:p>
        </p:txBody>
      </p:sp>
      <p:sp>
        <p:nvSpPr>
          <p:cNvPr id="44" name="Shape 41"/>
          <p:cNvSpPr/>
          <p:nvPr/>
        </p:nvSpPr>
        <p:spPr>
          <a:xfrm>
            <a:off x="3703320" y="3931920"/>
            <a:ext cx="219456" cy="219456"/>
          </a:xfrm>
          <a:prstGeom prst="roundRect">
            <a:avLst>
              <a:gd name="adj" fmla="val 16667"/>
            </a:avLst>
          </a:prstGeom>
          <a:solidFill>
            <a:srgbClr val="FF3D8B"/>
          </a:solidFill>
          <a:ln w="15875">
            <a:solidFill>
              <a:srgbClr val="191333"/>
            </a:solidFill>
            <a:prstDash val="solid"/>
          </a:ln>
        </p:spPr>
      </p:sp>
      <p:sp>
        <p:nvSpPr>
          <p:cNvPr id="45" name="Text 42"/>
          <p:cNvSpPr/>
          <p:nvPr/>
        </p:nvSpPr>
        <p:spPr>
          <a:xfrm>
            <a:off x="3703320" y="3931920"/>
            <a:ext cx="219456"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6" name="Text 43"/>
          <p:cNvSpPr/>
          <p:nvPr/>
        </p:nvSpPr>
        <p:spPr>
          <a:xfrm>
            <a:off x="3977640" y="3877056"/>
            <a:ext cx="640080" cy="329184"/>
          </a:xfrm>
          <a:prstGeom prst="rect">
            <a:avLst/>
          </a:prstGeom>
          <a:noFill/>
          <a:ln/>
        </p:spPr>
        <p:txBody>
          <a:bodyPr wrap="square" lIns="0" tIns="0" rIns="0" bIns="0" rtlCol="0" anchor="ctr"/>
          <a:lstStyle/>
          <a:p>
            <a:pPr indent="0" marL="0">
              <a:buNone/>
            </a:pPr>
            <a:r>
              <a:rPr lang="en-US" sz="1000" dirty="0">
                <a:solidFill>
                  <a:srgbClr val="191333"/>
                </a:solidFill>
                <a:latin typeface="Calibri" pitchFamily="34" charset="0"/>
                <a:ea typeface="Calibri" pitchFamily="34" charset="-122"/>
                <a:cs typeface="Calibri" pitchFamily="34" charset="-120"/>
              </a:rPr>
              <a:t>HTML</a:t>
            </a:r>
            <a:endParaRPr lang="en-US" sz="1000" dirty="0"/>
          </a:p>
        </p:txBody>
      </p:sp>
      <p:sp>
        <p:nvSpPr>
          <p:cNvPr id="47" name="Shape 44"/>
          <p:cNvSpPr/>
          <p:nvPr/>
        </p:nvSpPr>
        <p:spPr>
          <a:xfrm>
            <a:off x="4617720" y="3931920"/>
            <a:ext cx="219456" cy="219456"/>
          </a:xfrm>
          <a:prstGeom prst="roundRect">
            <a:avLst>
              <a:gd name="adj" fmla="val 16667"/>
            </a:avLst>
          </a:prstGeom>
          <a:solidFill>
            <a:srgbClr val="FFFFFF"/>
          </a:solidFill>
          <a:ln w="15875">
            <a:solidFill>
              <a:srgbClr val="191333"/>
            </a:solidFill>
            <a:prstDash val="solid"/>
          </a:ln>
        </p:spPr>
      </p:sp>
      <p:sp>
        <p:nvSpPr>
          <p:cNvPr id="48" name="Text 45"/>
          <p:cNvSpPr/>
          <p:nvPr/>
        </p:nvSpPr>
        <p:spPr>
          <a:xfrm>
            <a:off x="4892040" y="3877056"/>
            <a:ext cx="640080" cy="329184"/>
          </a:xfrm>
          <a:prstGeom prst="rect">
            <a:avLst/>
          </a:prstGeom>
          <a:noFill/>
          <a:ln/>
        </p:spPr>
        <p:txBody>
          <a:bodyPr wrap="square" lIns="0" tIns="0" rIns="0" bIns="0" rtlCol="0" anchor="ctr"/>
          <a:lstStyle/>
          <a:p>
            <a:pPr indent="0" marL="0">
              <a:buNone/>
            </a:pPr>
            <a:r>
              <a:rPr lang="en-US" sz="1000" dirty="0">
                <a:solidFill>
                  <a:srgbClr val="191333"/>
                </a:solidFill>
                <a:latin typeface="Calibri" pitchFamily="34" charset="0"/>
                <a:ea typeface="Calibri" pitchFamily="34" charset="-122"/>
                <a:cs typeface="Calibri" pitchFamily="34" charset="-120"/>
              </a:rPr>
              <a:t>CSS</a:t>
            </a:r>
            <a:endParaRPr lang="en-US" sz="1000" dirty="0"/>
          </a:p>
        </p:txBody>
      </p:sp>
      <p:sp>
        <p:nvSpPr>
          <p:cNvPr id="49" name="Text 46"/>
          <p:cNvSpPr/>
          <p:nvPr/>
        </p:nvSpPr>
        <p:spPr>
          <a:xfrm>
            <a:off x="3703320" y="4297680"/>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Pick any number of them.</a:t>
            </a:r>
            <a:endParaRPr lang="en-US" sz="1100" dirty="0"/>
          </a:p>
        </p:txBody>
      </p:sp>
      <p:sp>
        <p:nvSpPr>
          <p:cNvPr id="50" name="Shape 47"/>
          <p:cNvSpPr/>
          <p:nvPr/>
        </p:nvSpPr>
        <p:spPr>
          <a:xfrm>
            <a:off x="6327648" y="3383280"/>
            <a:ext cx="2542032" cy="1298448"/>
          </a:xfrm>
          <a:prstGeom prst="roundRect">
            <a:avLst>
              <a:gd name="adj" fmla="val 7042"/>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51" name="Text 48"/>
          <p:cNvSpPr/>
          <p:nvPr/>
        </p:nvSpPr>
        <p:spPr>
          <a:xfrm>
            <a:off x="6547104" y="3529584"/>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type="radio"</a:t>
            </a:r>
            <a:endParaRPr lang="en-US" sz="1100" dirty="0"/>
          </a:p>
        </p:txBody>
      </p:sp>
      <p:sp>
        <p:nvSpPr>
          <p:cNvPr id="52" name="Shape 49"/>
          <p:cNvSpPr/>
          <p:nvPr/>
        </p:nvSpPr>
        <p:spPr>
          <a:xfrm>
            <a:off x="6547104" y="3931920"/>
            <a:ext cx="219456" cy="219456"/>
          </a:xfrm>
          <a:prstGeom prst="ellipse">
            <a:avLst/>
          </a:prstGeom>
          <a:solidFill>
            <a:srgbClr val="FFFFFF"/>
          </a:solidFill>
          <a:ln w="15875">
            <a:solidFill>
              <a:srgbClr val="191333"/>
            </a:solidFill>
            <a:prstDash val="solid"/>
          </a:ln>
        </p:spPr>
      </p:sp>
      <p:sp>
        <p:nvSpPr>
          <p:cNvPr id="53" name="Shape 50"/>
          <p:cNvSpPr/>
          <p:nvPr/>
        </p:nvSpPr>
        <p:spPr>
          <a:xfrm>
            <a:off x="6611112" y="3995928"/>
            <a:ext cx="91440" cy="91440"/>
          </a:xfrm>
          <a:prstGeom prst="ellipse">
            <a:avLst/>
          </a:prstGeom>
          <a:solidFill>
            <a:srgbClr val="FF3D8B"/>
          </a:solidFill>
          <a:ln w="12700">
            <a:solidFill>
              <a:srgbClr val="FF3D8B"/>
            </a:solidFill>
            <a:prstDash val="solid"/>
          </a:ln>
        </p:spPr>
      </p:sp>
      <p:sp>
        <p:nvSpPr>
          <p:cNvPr id="54" name="Text 51"/>
          <p:cNvSpPr/>
          <p:nvPr/>
        </p:nvSpPr>
        <p:spPr>
          <a:xfrm>
            <a:off x="6821424" y="3877056"/>
            <a:ext cx="640080" cy="329184"/>
          </a:xfrm>
          <a:prstGeom prst="rect">
            <a:avLst/>
          </a:prstGeom>
          <a:noFill/>
          <a:ln/>
        </p:spPr>
        <p:txBody>
          <a:bodyPr wrap="square" lIns="0" tIns="0" rIns="0" bIns="0" rtlCol="0" anchor="ctr"/>
          <a:lstStyle/>
          <a:p>
            <a:pPr indent="0" marL="0">
              <a:buNone/>
            </a:pPr>
            <a:r>
              <a:rPr lang="en-US" sz="1000" dirty="0">
                <a:solidFill>
                  <a:srgbClr val="191333"/>
                </a:solidFill>
                <a:latin typeface="Calibri" pitchFamily="34" charset="0"/>
                <a:ea typeface="Calibri" pitchFamily="34" charset="-122"/>
                <a:cs typeface="Calibri" pitchFamily="34" charset="-120"/>
              </a:rPr>
              <a:t>Yes</a:t>
            </a:r>
            <a:endParaRPr lang="en-US" sz="1000" dirty="0"/>
          </a:p>
        </p:txBody>
      </p:sp>
      <p:sp>
        <p:nvSpPr>
          <p:cNvPr id="55" name="Shape 52"/>
          <p:cNvSpPr/>
          <p:nvPr/>
        </p:nvSpPr>
        <p:spPr>
          <a:xfrm>
            <a:off x="7461504" y="3931920"/>
            <a:ext cx="219456" cy="219456"/>
          </a:xfrm>
          <a:prstGeom prst="ellipse">
            <a:avLst/>
          </a:prstGeom>
          <a:solidFill>
            <a:srgbClr val="FFFFFF"/>
          </a:solidFill>
          <a:ln w="15875">
            <a:solidFill>
              <a:srgbClr val="191333"/>
            </a:solidFill>
            <a:prstDash val="solid"/>
          </a:ln>
        </p:spPr>
      </p:sp>
      <p:sp>
        <p:nvSpPr>
          <p:cNvPr id="56" name="Text 53"/>
          <p:cNvSpPr/>
          <p:nvPr/>
        </p:nvSpPr>
        <p:spPr>
          <a:xfrm>
            <a:off x="7735824" y="3877056"/>
            <a:ext cx="640080" cy="329184"/>
          </a:xfrm>
          <a:prstGeom prst="rect">
            <a:avLst/>
          </a:prstGeom>
          <a:noFill/>
          <a:ln/>
        </p:spPr>
        <p:txBody>
          <a:bodyPr wrap="square" lIns="0" tIns="0" rIns="0" bIns="0" rtlCol="0" anchor="ctr"/>
          <a:lstStyle/>
          <a:p>
            <a:pPr indent="0" marL="0">
              <a:buNone/>
            </a:pPr>
            <a:r>
              <a:rPr lang="en-US" sz="1000" dirty="0">
                <a:solidFill>
                  <a:srgbClr val="191333"/>
                </a:solidFill>
                <a:latin typeface="Calibri" pitchFamily="34" charset="0"/>
                <a:ea typeface="Calibri" pitchFamily="34" charset="-122"/>
                <a:cs typeface="Calibri" pitchFamily="34" charset="-120"/>
              </a:rPr>
              <a:t>No</a:t>
            </a:r>
            <a:endParaRPr lang="en-US" sz="1000" dirty="0"/>
          </a:p>
        </p:txBody>
      </p:sp>
      <p:sp>
        <p:nvSpPr>
          <p:cNvPr id="57" name="Text 54"/>
          <p:cNvSpPr/>
          <p:nvPr/>
        </p:nvSpPr>
        <p:spPr>
          <a:xfrm>
            <a:off x="6547104" y="4297680"/>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Pick exactly one.</a:t>
            </a:r>
            <a:endParaRPr lang="en-US" sz="1100" dirty="0"/>
          </a:p>
        </p:txBody>
      </p:sp>
      <p:sp>
        <p:nvSpPr>
          <p:cNvPr id="58" name="Shape 55"/>
          <p:cNvSpPr/>
          <p:nvPr/>
        </p:nvSpPr>
        <p:spPr>
          <a:xfrm>
            <a:off x="9171432" y="3383280"/>
            <a:ext cx="2542032" cy="1298448"/>
          </a:xfrm>
          <a:prstGeom prst="roundRect">
            <a:avLst>
              <a:gd name="adj" fmla="val 7042"/>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59" name="Text 56"/>
          <p:cNvSpPr/>
          <p:nvPr/>
        </p:nvSpPr>
        <p:spPr>
          <a:xfrm>
            <a:off x="9390888" y="3529584"/>
            <a:ext cx="2103120" cy="27432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type="file"</a:t>
            </a:r>
            <a:endParaRPr lang="en-US" sz="1100" dirty="0"/>
          </a:p>
        </p:txBody>
      </p:sp>
      <p:sp>
        <p:nvSpPr>
          <p:cNvPr id="60" name="Shape 57"/>
          <p:cNvSpPr/>
          <p:nvPr/>
        </p:nvSpPr>
        <p:spPr>
          <a:xfrm>
            <a:off x="9390888" y="3877056"/>
            <a:ext cx="914400" cy="329184"/>
          </a:xfrm>
          <a:prstGeom prst="roundRect">
            <a:avLst>
              <a:gd name="adj" fmla="val 16667"/>
            </a:avLst>
          </a:prstGeom>
          <a:solidFill>
            <a:srgbClr val="E7E4F2"/>
          </a:solidFill>
          <a:ln w="15875">
            <a:solidFill>
              <a:srgbClr val="9C95C0"/>
            </a:solidFill>
            <a:prstDash val="solid"/>
          </a:ln>
        </p:spPr>
      </p:sp>
      <p:sp>
        <p:nvSpPr>
          <p:cNvPr id="61" name="Text 58"/>
          <p:cNvSpPr/>
          <p:nvPr/>
        </p:nvSpPr>
        <p:spPr>
          <a:xfrm>
            <a:off x="9390888" y="3877056"/>
            <a:ext cx="914400" cy="329184"/>
          </a:xfrm>
          <a:prstGeom prst="rect">
            <a:avLst/>
          </a:prstGeom>
          <a:noFill/>
          <a:ln/>
        </p:spPr>
        <p:txBody>
          <a:bodyPr wrap="square" lIns="0" tIns="0" rIns="0" bIns="0" rtlCol="0" anchor="ctr"/>
          <a:lstStyle/>
          <a:p>
            <a:pPr algn="ctr" indent="0" marL="0">
              <a:buNone/>
            </a:pPr>
            <a:r>
              <a:rPr lang="en-US" sz="950" dirty="0">
                <a:solidFill>
                  <a:srgbClr val="191333"/>
                </a:solidFill>
                <a:latin typeface="Calibri" pitchFamily="34" charset="0"/>
                <a:ea typeface="Calibri" pitchFamily="34" charset="-122"/>
                <a:cs typeface="Calibri" pitchFamily="34" charset="-120"/>
              </a:rPr>
              <a:t>Choose</a:t>
            </a:r>
            <a:endParaRPr lang="en-US" sz="950" dirty="0"/>
          </a:p>
        </p:txBody>
      </p:sp>
      <p:sp>
        <p:nvSpPr>
          <p:cNvPr id="62" name="Text 59"/>
          <p:cNvSpPr/>
          <p:nvPr/>
        </p:nvSpPr>
        <p:spPr>
          <a:xfrm>
            <a:off x="10396728" y="3877056"/>
            <a:ext cx="822960" cy="329184"/>
          </a:xfrm>
          <a:prstGeom prst="rect">
            <a:avLst/>
          </a:prstGeom>
          <a:noFill/>
          <a:ln/>
        </p:spPr>
        <p:txBody>
          <a:bodyPr wrap="square" lIns="0" tIns="0" rIns="0" bIns="0" rtlCol="0" anchor="ctr"/>
          <a:lstStyle/>
          <a:p>
            <a:pPr indent="0" marL="0">
              <a:buNone/>
            </a:pPr>
            <a:r>
              <a:rPr lang="en-US" sz="950" dirty="0">
                <a:solidFill>
                  <a:srgbClr val="918AB5"/>
                </a:solidFill>
                <a:latin typeface="Calibri" pitchFamily="34" charset="0"/>
                <a:ea typeface="Calibri" pitchFamily="34" charset="-122"/>
                <a:cs typeface="Calibri" pitchFamily="34" charset="-120"/>
              </a:rPr>
              <a:t>cv.pdf</a:t>
            </a:r>
            <a:endParaRPr lang="en-US" sz="950" dirty="0"/>
          </a:p>
        </p:txBody>
      </p:sp>
      <p:sp>
        <p:nvSpPr>
          <p:cNvPr id="63" name="Text 60"/>
          <p:cNvSpPr/>
          <p:nvPr/>
        </p:nvSpPr>
        <p:spPr>
          <a:xfrm>
            <a:off x="9390888" y="4297680"/>
            <a:ext cx="2103120" cy="310896"/>
          </a:xfrm>
          <a:prstGeom prst="rect">
            <a:avLst/>
          </a:prstGeom>
          <a:noFill/>
          <a:ln/>
        </p:spPr>
        <p:txBody>
          <a:bodyPr wrap="square" lIns="0" tIns="0" rIns="0" bIns="0" rtlCol="0" anchor="t"/>
          <a:lstStyle/>
          <a:p>
            <a:pPr algn="l" indent="0" marL="0">
              <a:lnSpc>
                <a:spcPts val="1518"/>
              </a:lnSpc>
              <a:buNone/>
            </a:pPr>
            <a:r>
              <a:rPr lang="en-US" sz="1100" dirty="0">
                <a:solidFill>
                  <a:srgbClr val="191333"/>
                </a:solidFill>
                <a:latin typeface="Calibri" pitchFamily="34" charset="0"/>
                <a:ea typeface="Calibri" pitchFamily="34" charset="-122"/>
                <a:cs typeface="Calibri" pitchFamily="34" charset="-120"/>
              </a:rPr>
              <a:t>Upload something.</a:t>
            </a:r>
            <a:endParaRPr lang="en-US" sz="1100" dirty="0"/>
          </a:p>
        </p:txBody>
      </p:sp>
      <p:sp>
        <p:nvSpPr>
          <p:cNvPr id="64" name="Shape 61"/>
          <p:cNvSpPr/>
          <p:nvPr/>
        </p:nvSpPr>
        <p:spPr>
          <a:xfrm>
            <a:off x="640080" y="4956048"/>
            <a:ext cx="10908792" cy="658368"/>
          </a:xfrm>
          <a:prstGeom prst="roundRect">
            <a:avLst>
              <a:gd name="adj" fmla="val 13889"/>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65" name="Text 62"/>
          <p:cNvSpPr/>
          <p:nvPr/>
        </p:nvSpPr>
        <p:spPr>
          <a:xfrm>
            <a:off x="640080" y="4956048"/>
            <a:ext cx="10908792" cy="658368"/>
          </a:xfrm>
          <a:prstGeom prst="rect">
            <a:avLst/>
          </a:prstGeom>
          <a:noFill/>
          <a:ln/>
        </p:spPr>
        <p:txBody>
          <a:bodyPr wrap="square" lIns="0" tIns="0" rIns="0" bIns="0" rtlCol="0" anchor="ctr"/>
          <a:lstStyle/>
          <a:p>
            <a:pPr algn="ctr" indent="0" marL="0">
              <a:buNone/>
            </a:pPr>
            <a:r>
              <a:rPr lang="en-US" sz="1550" b="1" dirty="0">
                <a:solidFill>
                  <a:srgbClr val="191333"/>
                </a:solidFill>
                <a:latin typeface="Calibri" pitchFamily="34" charset="0"/>
                <a:ea typeface="Calibri" pitchFamily="34" charset="-122"/>
                <a:cs typeface="Calibri" pitchFamily="34" charset="-120"/>
              </a:rPr>
              <a:t>You did not build the calendar. You typed nine characters and the browser built the calendar.</a:t>
            </a:r>
            <a:endParaRPr lang="en-US" sz="1550" dirty="0"/>
          </a:p>
        </p:txBody>
      </p:sp>
      <p:sp>
        <p:nvSpPr>
          <p:cNvPr id="66" name="Shape 63"/>
          <p:cNvSpPr/>
          <p:nvPr/>
        </p:nvSpPr>
        <p:spPr>
          <a:xfrm>
            <a:off x="640080" y="5742432"/>
            <a:ext cx="10908792" cy="512064"/>
          </a:xfrm>
          <a:prstGeom prst="roundRect">
            <a:avLst>
              <a:gd name="adj" fmla="val 14286"/>
            </a:avLst>
          </a:prstGeom>
          <a:solidFill>
            <a:srgbClr val="FFF1D6"/>
          </a:solidFill>
          <a:ln w="12700">
            <a:solidFill>
              <a:srgbClr val="F5CE8A"/>
            </a:solidFill>
            <a:prstDash val="solid"/>
          </a:ln>
        </p:spPr>
      </p:sp>
      <p:sp>
        <p:nvSpPr>
          <p:cNvPr id="67" name="Text 64"/>
          <p:cNvSpPr/>
          <p:nvPr/>
        </p:nvSpPr>
        <p:spPr>
          <a:xfrm>
            <a:off x="859536" y="5742432"/>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somewhere a developer is building a custom date picker. they have been at it since march.</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16</a:t>
            </a:r>
            <a:endParaRPr lang="en-US" sz="900" dirty="0"/>
          </a:p>
        </p:txBody>
      </p:sp>
      <p:sp>
        <p:nvSpPr>
          <p:cNvPr id="5" name="Shape 2"/>
          <p:cNvSpPr/>
          <p:nvPr/>
        </p:nvSpPr>
        <p:spPr>
          <a:xfrm>
            <a:off x="640080" y="365760"/>
            <a:ext cx="1188720" cy="347472"/>
          </a:xfrm>
          <a:prstGeom prst="roundRect">
            <a:avLst>
              <a:gd name="adj" fmla="val 21053"/>
            </a:avLst>
          </a:prstGeom>
          <a:solidFill>
            <a:srgbClr val="FF3D8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FORMS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Attributes that validate for free</a:t>
            </a:r>
            <a:endParaRPr lang="en-US" sz="3200" dirty="0"/>
          </a:p>
        </p:txBody>
      </p:sp>
      <p:sp>
        <p:nvSpPr>
          <p:cNvPr id="8" name="Shape 5"/>
          <p:cNvSpPr/>
          <p:nvPr/>
        </p:nvSpPr>
        <p:spPr>
          <a:xfrm>
            <a:off x="640080" y="1572768"/>
            <a:ext cx="3419856" cy="1005840"/>
          </a:xfrm>
          <a:prstGeom prst="roundRect">
            <a:avLst>
              <a:gd name="adj" fmla="val 9091"/>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9" name="Text 6"/>
          <p:cNvSpPr/>
          <p:nvPr/>
        </p:nvSpPr>
        <p:spPr>
          <a:xfrm>
            <a:off x="877824" y="1700784"/>
            <a:ext cx="2944368" cy="292608"/>
          </a:xfrm>
          <a:prstGeom prst="rect">
            <a:avLst/>
          </a:prstGeom>
          <a:noFill/>
          <a:ln/>
        </p:spPr>
        <p:txBody>
          <a:bodyPr wrap="square" lIns="0" tIns="0" rIns="0" bIns="0" rtlCol="0" anchor="ctr"/>
          <a:lstStyle/>
          <a:p>
            <a:pPr indent="0" marL="0">
              <a:buNone/>
            </a:pPr>
            <a:r>
              <a:rPr lang="en-US" sz="1200" b="1" dirty="0">
                <a:solidFill>
                  <a:srgbClr val="FF3D8B"/>
                </a:solidFill>
                <a:latin typeface="Courier New" pitchFamily="34" charset="0"/>
                <a:ea typeface="Courier New" pitchFamily="34" charset="-122"/>
                <a:cs typeface="Courier New" pitchFamily="34" charset="-120"/>
              </a:rPr>
              <a:t>required</a:t>
            </a:r>
            <a:endParaRPr lang="en-US" sz="1200" dirty="0"/>
          </a:p>
        </p:txBody>
      </p:sp>
      <p:sp>
        <p:nvSpPr>
          <p:cNvPr id="10" name="Text 7"/>
          <p:cNvSpPr/>
          <p:nvPr/>
        </p:nvSpPr>
        <p:spPr>
          <a:xfrm>
            <a:off x="877824" y="2029968"/>
            <a:ext cx="2944368" cy="45720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Will not submit while it is empty.</a:t>
            </a:r>
            <a:endParaRPr lang="en-US" sz="1150" dirty="0"/>
          </a:p>
        </p:txBody>
      </p:sp>
      <p:sp>
        <p:nvSpPr>
          <p:cNvPr id="11" name="Shape 8"/>
          <p:cNvSpPr/>
          <p:nvPr/>
        </p:nvSpPr>
        <p:spPr>
          <a:xfrm>
            <a:off x="4379976" y="1572768"/>
            <a:ext cx="3419856" cy="1005840"/>
          </a:xfrm>
          <a:prstGeom prst="roundRect">
            <a:avLst>
              <a:gd name="adj" fmla="val 9091"/>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2" name="Text 9"/>
          <p:cNvSpPr/>
          <p:nvPr/>
        </p:nvSpPr>
        <p:spPr>
          <a:xfrm>
            <a:off x="4617720" y="1700784"/>
            <a:ext cx="2944368" cy="292608"/>
          </a:xfrm>
          <a:prstGeom prst="rect">
            <a:avLst/>
          </a:prstGeom>
          <a:noFill/>
          <a:ln/>
        </p:spPr>
        <p:txBody>
          <a:bodyPr wrap="square" lIns="0" tIns="0" rIns="0" bIns="0" rtlCol="0" anchor="ctr"/>
          <a:lstStyle/>
          <a:p>
            <a:pPr indent="0" marL="0">
              <a:buNone/>
            </a:pPr>
            <a:r>
              <a:rPr lang="en-US" sz="1200" b="1" dirty="0">
                <a:solidFill>
                  <a:srgbClr val="FF3D8B"/>
                </a:solidFill>
                <a:latin typeface="Courier New" pitchFamily="34" charset="0"/>
                <a:ea typeface="Courier New" pitchFamily="34" charset="-122"/>
                <a:cs typeface="Courier New" pitchFamily="34" charset="-120"/>
              </a:rPr>
              <a:t>min / max</a:t>
            </a:r>
            <a:endParaRPr lang="en-US" sz="1200" dirty="0"/>
          </a:p>
        </p:txBody>
      </p:sp>
      <p:sp>
        <p:nvSpPr>
          <p:cNvPr id="13" name="Text 10"/>
          <p:cNvSpPr/>
          <p:nvPr/>
        </p:nvSpPr>
        <p:spPr>
          <a:xfrm>
            <a:off x="4617720" y="2029968"/>
            <a:ext cx="2944368" cy="45720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Bounds a number or a date. min="1" max="100".</a:t>
            </a:r>
            <a:endParaRPr lang="en-US" sz="1150" dirty="0"/>
          </a:p>
        </p:txBody>
      </p:sp>
      <p:sp>
        <p:nvSpPr>
          <p:cNvPr id="14" name="Shape 11"/>
          <p:cNvSpPr/>
          <p:nvPr/>
        </p:nvSpPr>
        <p:spPr>
          <a:xfrm>
            <a:off x="8119872" y="1572768"/>
            <a:ext cx="3419856" cy="1005840"/>
          </a:xfrm>
          <a:prstGeom prst="roundRect">
            <a:avLst>
              <a:gd name="adj" fmla="val 9091"/>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5" name="Text 12"/>
          <p:cNvSpPr/>
          <p:nvPr/>
        </p:nvSpPr>
        <p:spPr>
          <a:xfrm>
            <a:off x="8357616" y="1700784"/>
            <a:ext cx="2944368" cy="292608"/>
          </a:xfrm>
          <a:prstGeom prst="rect">
            <a:avLst/>
          </a:prstGeom>
          <a:noFill/>
          <a:ln/>
        </p:spPr>
        <p:txBody>
          <a:bodyPr wrap="square" lIns="0" tIns="0" rIns="0" bIns="0" rtlCol="0" anchor="ctr"/>
          <a:lstStyle/>
          <a:p>
            <a:pPr indent="0" marL="0">
              <a:buNone/>
            </a:pPr>
            <a:r>
              <a:rPr lang="en-US" sz="1200" b="1" dirty="0">
                <a:solidFill>
                  <a:srgbClr val="FF3D8B"/>
                </a:solidFill>
                <a:latin typeface="Courier New" pitchFamily="34" charset="0"/>
                <a:ea typeface="Courier New" pitchFamily="34" charset="-122"/>
                <a:cs typeface="Courier New" pitchFamily="34" charset="-120"/>
              </a:rPr>
              <a:t>maxlength</a:t>
            </a:r>
            <a:endParaRPr lang="en-US" sz="1200" dirty="0"/>
          </a:p>
        </p:txBody>
      </p:sp>
      <p:sp>
        <p:nvSpPr>
          <p:cNvPr id="16" name="Text 13"/>
          <p:cNvSpPr/>
          <p:nvPr/>
        </p:nvSpPr>
        <p:spPr>
          <a:xfrm>
            <a:off x="8357616" y="2029968"/>
            <a:ext cx="2944368" cy="45720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Caps how many characters they can type.</a:t>
            </a:r>
            <a:endParaRPr lang="en-US" sz="1150" dirty="0"/>
          </a:p>
        </p:txBody>
      </p:sp>
      <p:sp>
        <p:nvSpPr>
          <p:cNvPr id="17" name="Shape 14"/>
          <p:cNvSpPr/>
          <p:nvPr/>
        </p:nvSpPr>
        <p:spPr>
          <a:xfrm>
            <a:off x="640080" y="2706624"/>
            <a:ext cx="3419856" cy="1005840"/>
          </a:xfrm>
          <a:prstGeom prst="roundRect">
            <a:avLst>
              <a:gd name="adj" fmla="val 9091"/>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8" name="Text 15"/>
          <p:cNvSpPr/>
          <p:nvPr/>
        </p:nvSpPr>
        <p:spPr>
          <a:xfrm>
            <a:off x="877824" y="2834640"/>
            <a:ext cx="2944368" cy="292608"/>
          </a:xfrm>
          <a:prstGeom prst="rect">
            <a:avLst/>
          </a:prstGeom>
          <a:noFill/>
          <a:ln/>
        </p:spPr>
        <p:txBody>
          <a:bodyPr wrap="square" lIns="0" tIns="0" rIns="0" bIns="0" rtlCol="0" anchor="ctr"/>
          <a:lstStyle/>
          <a:p>
            <a:pPr indent="0" marL="0">
              <a:buNone/>
            </a:pPr>
            <a:r>
              <a:rPr lang="en-US" sz="1200" b="1" dirty="0">
                <a:solidFill>
                  <a:srgbClr val="FF3D8B"/>
                </a:solidFill>
                <a:latin typeface="Courier New" pitchFamily="34" charset="0"/>
                <a:ea typeface="Courier New" pitchFamily="34" charset="-122"/>
                <a:cs typeface="Courier New" pitchFamily="34" charset="-120"/>
              </a:rPr>
              <a:t>pattern</a:t>
            </a:r>
            <a:endParaRPr lang="en-US" sz="1200" dirty="0"/>
          </a:p>
        </p:txBody>
      </p:sp>
      <p:sp>
        <p:nvSpPr>
          <p:cNvPr id="19" name="Text 16"/>
          <p:cNvSpPr/>
          <p:nvPr/>
        </p:nvSpPr>
        <p:spPr>
          <a:xfrm>
            <a:off x="877824" y="3163824"/>
            <a:ext cx="2944368" cy="45720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A rule the value must match. pattern="\d{10}" for a phone number.</a:t>
            </a:r>
            <a:endParaRPr lang="en-US" sz="1150" dirty="0"/>
          </a:p>
        </p:txBody>
      </p:sp>
      <p:sp>
        <p:nvSpPr>
          <p:cNvPr id="20" name="Shape 17"/>
          <p:cNvSpPr/>
          <p:nvPr/>
        </p:nvSpPr>
        <p:spPr>
          <a:xfrm>
            <a:off x="4379976" y="2706624"/>
            <a:ext cx="3419856" cy="1005840"/>
          </a:xfrm>
          <a:prstGeom prst="roundRect">
            <a:avLst>
              <a:gd name="adj" fmla="val 9091"/>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1" name="Text 18"/>
          <p:cNvSpPr/>
          <p:nvPr/>
        </p:nvSpPr>
        <p:spPr>
          <a:xfrm>
            <a:off x="4617720" y="2834640"/>
            <a:ext cx="2944368" cy="292608"/>
          </a:xfrm>
          <a:prstGeom prst="rect">
            <a:avLst/>
          </a:prstGeom>
          <a:noFill/>
          <a:ln/>
        </p:spPr>
        <p:txBody>
          <a:bodyPr wrap="square" lIns="0" tIns="0" rIns="0" bIns="0" rtlCol="0" anchor="ctr"/>
          <a:lstStyle/>
          <a:p>
            <a:pPr indent="0" marL="0">
              <a:buNone/>
            </a:pPr>
            <a:r>
              <a:rPr lang="en-US" sz="1200" b="1" dirty="0">
                <a:solidFill>
                  <a:srgbClr val="FF3D8B"/>
                </a:solidFill>
                <a:latin typeface="Courier New" pitchFamily="34" charset="0"/>
                <a:ea typeface="Courier New" pitchFamily="34" charset="-122"/>
                <a:cs typeface="Courier New" pitchFamily="34" charset="-120"/>
              </a:rPr>
              <a:t>placeholder</a:t>
            </a:r>
            <a:endParaRPr lang="en-US" sz="1200" dirty="0"/>
          </a:p>
        </p:txBody>
      </p:sp>
      <p:sp>
        <p:nvSpPr>
          <p:cNvPr id="22" name="Text 19"/>
          <p:cNvSpPr/>
          <p:nvPr/>
        </p:nvSpPr>
        <p:spPr>
          <a:xfrm>
            <a:off x="4617720" y="3163824"/>
            <a:ext cx="2944368" cy="45720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Grey hint text inside the box. Not a label, never a label.</a:t>
            </a:r>
            <a:endParaRPr lang="en-US" sz="1150" dirty="0"/>
          </a:p>
        </p:txBody>
      </p:sp>
      <p:sp>
        <p:nvSpPr>
          <p:cNvPr id="23" name="Shape 20"/>
          <p:cNvSpPr/>
          <p:nvPr/>
        </p:nvSpPr>
        <p:spPr>
          <a:xfrm>
            <a:off x="8119872" y="2706624"/>
            <a:ext cx="3419856" cy="1005840"/>
          </a:xfrm>
          <a:prstGeom prst="roundRect">
            <a:avLst>
              <a:gd name="adj" fmla="val 9091"/>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4" name="Text 21"/>
          <p:cNvSpPr/>
          <p:nvPr/>
        </p:nvSpPr>
        <p:spPr>
          <a:xfrm>
            <a:off x="8357616" y="2834640"/>
            <a:ext cx="2944368" cy="292608"/>
          </a:xfrm>
          <a:prstGeom prst="rect">
            <a:avLst/>
          </a:prstGeom>
          <a:noFill/>
          <a:ln/>
        </p:spPr>
        <p:txBody>
          <a:bodyPr wrap="square" lIns="0" tIns="0" rIns="0" bIns="0" rtlCol="0" anchor="ctr"/>
          <a:lstStyle/>
          <a:p>
            <a:pPr indent="0" marL="0">
              <a:buNone/>
            </a:pPr>
            <a:r>
              <a:rPr lang="en-US" sz="1200" b="1" dirty="0">
                <a:solidFill>
                  <a:srgbClr val="FF3D8B"/>
                </a:solidFill>
                <a:latin typeface="Courier New" pitchFamily="34" charset="0"/>
                <a:ea typeface="Courier New" pitchFamily="34" charset="-122"/>
                <a:cs typeface="Courier New" pitchFamily="34" charset="-120"/>
              </a:rPr>
              <a:t>title</a:t>
            </a:r>
            <a:endParaRPr lang="en-US" sz="1200" dirty="0"/>
          </a:p>
        </p:txBody>
      </p:sp>
      <p:sp>
        <p:nvSpPr>
          <p:cNvPr id="25" name="Text 22"/>
          <p:cNvSpPr/>
          <p:nvPr/>
        </p:nvSpPr>
        <p:spPr>
          <a:xfrm>
            <a:off x="8357616" y="3163824"/>
            <a:ext cx="2944368" cy="457200"/>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The message shown when the pattern fails.</a:t>
            </a:r>
            <a:endParaRPr lang="en-US" sz="1150" dirty="0"/>
          </a:p>
        </p:txBody>
      </p:sp>
      <p:sp>
        <p:nvSpPr>
          <p:cNvPr id="26" name="Shape 23"/>
          <p:cNvSpPr/>
          <p:nvPr/>
        </p:nvSpPr>
        <p:spPr>
          <a:xfrm rot="-60000">
            <a:off x="640080" y="3931920"/>
            <a:ext cx="6675120" cy="1737360"/>
          </a:xfrm>
          <a:prstGeom prst="roundRect">
            <a:avLst>
              <a:gd name="adj" fmla="val 5263"/>
            </a:avLst>
          </a:prstGeom>
          <a:solidFill>
            <a:srgbClr val="FFF1D6"/>
          </a:solidFill>
          <a:ln w="25400">
            <a:solidFill>
              <a:srgbClr val="191333"/>
            </a:solidFill>
            <a:prstDash val="solid"/>
          </a:ln>
          <a:effectLst>
            <a:outerShdw sx="100000" sy="100000" kx="0" ky="0" algn="bl" rotWithShape="0" blurRad="101600" dist="38100" dir="2700000">
              <a:srgbClr val="191333">
                <a:alpha val="100000"/>
              </a:srgbClr>
            </a:outerShdw>
          </a:effectLst>
        </p:spPr>
      </p:sp>
      <p:sp>
        <p:nvSpPr>
          <p:cNvPr id="27" name="Shape 24"/>
          <p:cNvSpPr/>
          <p:nvPr/>
        </p:nvSpPr>
        <p:spPr>
          <a:xfrm rot="-60000">
            <a:off x="822960" y="3785616"/>
            <a:ext cx="1371600" cy="310896"/>
          </a:xfrm>
          <a:prstGeom prst="roundRect">
            <a:avLst>
              <a:gd name="adj" fmla="val 20588"/>
            </a:avLst>
          </a:prstGeom>
          <a:solidFill>
            <a:srgbClr val="FF3D8B"/>
          </a:solidFill>
          <a:ln w="15875">
            <a:solidFill>
              <a:srgbClr val="191333"/>
            </a:solidFill>
            <a:prstDash val="solid"/>
          </a:ln>
        </p:spPr>
      </p:sp>
      <p:sp>
        <p:nvSpPr>
          <p:cNvPr id="28" name="Text 25"/>
          <p:cNvSpPr/>
          <p:nvPr/>
        </p:nvSpPr>
        <p:spPr>
          <a:xfrm rot="-60000">
            <a:off x="822960" y="3785616"/>
            <a:ext cx="1371600" cy="310896"/>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POV</a:t>
            </a:r>
            <a:endParaRPr lang="en-US" sz="900" dirty="0"/>
          </a:p>
        </p:txBody>
      </p:sp>
      <p:sp>
        <p:nvSpPr>
          <p:cNvPr id="29" name="Text 26"/>
          <p:cNvSpPr/>
          <p:nvPr/>
        </p:nvSpPr>
        <p:spPr>
          <a:xfrm rot="-60000">
            <a:off x="960120" y="4114800"/>
            <a:ext cx="6035040" cy="1371600"/>
          </a:xfrm>
          <a:prstGeom prst="rect">
            <a:avLst/>
          </a:prstGeom>
          <a:noFill/>
          <a:ln/>
        </p:spPr>
        <p:txBody>
          <a:bodyPr wrap="square" lIns="0" tIns="0" rIns="0" bIns="0" rtlCol="0" anchor="ctr"/>
          <a:lstStyle/>
          <a:p>
            <a:pPr algn="l" indent="0" marL="0">
              <a:lnSpc>
                <a:spcPts val="1800"/>
              </a:lnSpc>
              <a:buNone/>
            </a:pPr>
            <a:r>
              <a:rPr lang="en-US" sz="1300" b="1" spc="50" kern="0" dirty="0">
                <a:solidFill>
                  <a:srgbClr val="191333"/>
                </a:solidFill>
                <a:latin typeface="Arial Black" pitchFamily="34" charset="0"/>
                <a:ea typeface="Arial Black" pitchFamily="34" charset="-122"/>
                <a:cs typeface="Arial Black" pitchFamily="34" charset="-120"/>
              </a:rPr>
              <a:t>YOU WROTE TYPE="EMAIL" AND THE BROWSER STARTED ARGUING WITH YOUR USERS ON YOUR BEHALF, FOR FREE</a:t>
            </a:r>
            <a:endParaRPr lang="en-US" sz="1300" dirty="0"/>
          </a:p>
        </p:txBody>
      </p:sp>
      <p:sp>
        <p:nvSpPr>
          <p:cNvPr id="30" name="Shape 27"/>
          <p:cNvSpPr/>
          <p:nvPr/>
        </p:nvSpPr>
        <p:spPr>
          <a:xfrm>
            <a:off x="7680960" y="3931920"/>
            <a:ext cx="3867912" cy="1737360"/>
          </a:xfrm>
          <a:prstGeom prst="roundRect">
            <a:avLst>
              <a:gd name="adj" fmla="val 5263"/>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1" name="Shape 28"/>
          <p:cNvSpPr/>
          <p:nvPr/>
        </p:nvSpPr>
        <p:spPr>
          <a:xfrm>
            <a:off x="7936992" y="4169664"/>
            <a:ext cx="3346704" cy="365760"/>
          </a:xfrm>
          <a:prstGeom prst="roundRect">
            <a:avLst>
              <a:gd name="adj" fmla="val 15000"/>
            </a:avLst>
          </a:prstGeom>
          <a:solidFill>
            <a:srgbClr val="F7F6FC"/>
          </a:solidFill>
          <a:ln w="19050">
            <a:solidFill>
              <a:srgbClr val="E03131"/>
            </a:solidFill>
            <a:prstDash val="solid"/>
          </a:ln>
        </p:spPr>
      </p:sp>
      <p:sp>
        <p:nvSpPr>
          <p:cNvPr id="32" name="Text 29"/>
          <p:cNvSpPr/>
          <p:nvPr/>
        </p:nvSpPr>
        <p:spPr>
          <a:xfrm>
            <a:off x="8065008" y="4169664"/>
            <a:ext cx="3108960" cy="365760"/>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aarav.example.com</a:t>
            </a:r>
            <a:endParaRPr lang="en-US" sz="1050" dirty="0"/>
          </a:p>
        </p:txBody>
      </p:sp>
      <p:sp>
        <p:nvSpPr>
          <p:cNvPr id="33" name="Shape 30"/>
          <p:cNvSpPr/>
          <p:nvPr/>
        </p:nvSpPr>
        <p:spPr>
          <a:xfrm>
            <a:off x="7936992" y="4645152"/>
            <a:ext cx="3346704" cy="457200"/>
          </a:xfrm>
          <a:prstGeom prst="roundRect">
            <a:avLst>
              <a:gd name="adj" fmla="val 12000"/>
            </a:avLst>
          </a:prstGeom>
          <a:solidFill>
            <a:srgbClr val="191333"/>
          </a:solidFill>
          <a:ln w="12700">
            <a:solidFill>
              <a:srgbClr val="191333"/>
            </a:solidFill>
            <a:prstDash val="solid"/>
          </a:ln>
        </p:spPr>
      </p:sp>
      <p:sp>
        <p:nvSpPr>
          <p:cNvPr id="34" name="Text 31"/>
          <p:cNvSpPr/>
          <p:nvPr/>
        </p:nvSpPr>
        <p:spPr>
          <a:xfrm>
            <a:off x="8046720" y="4645152"/>
            <a:ext cx="3127248" cy="45720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Please include an @ in the email address</a:t>
            </a:r>
            <a:endParaRPr lang="en-US" sz="950" dirty="0"/>
          </a:p>
        </p:txBody>
      </p:sp>
      <p:sp>
        <p:nvSpPr>
          <p:cNvPr id="35" name="Text 32"/>
          <p:cNvSpPr/>
          <p:nvPr/>
        </p:nvSpPr>
        <p:spPr>
          <a:xfrm>
            <a:off x="7936992" y="5175504"/>
            <a:ext cx="3346704" cy="411480"/>
          </a:xfrm>
          <a:prstGeom prst="rect">
            <a:avLst/>
          </a:prstGeom>
          <a:noFill/>
          <a:ln/>
        </p:spPr>
        <p:txBody>
          <a:bodyPr wrap="square" lIns="0" tIns="0" rIns="0" bIns="0" rtlCol="0" anchor="t"/>
          <a:lstStyle/>
          <a:p>
            <a:pPr algn="l" indent="0" marL="0">
              <a:lnSpc>
                <a:spcPts val="1400"/>
              </a:lnSpc>
              <a:buNone/>
            </a:pPr>
            <a:r>
              <a:rPr lang="en-US" sz="1100" dirty="0">
                <a:solidFill>
                  <a:srgbClr val="191333"/>
                </a:solidFill>
                <a:latin typeface="Calibri" pitchFamily="34" charset="0"/>
                <a:ea typeface="Calibri" pitchFamily="34" charset="-122"/>
                <a:cs typeface="Calibri" pitchFamily="34" charset="-120"/>
              </a:rPr>
              <a:t>You wrote none of that. Not the check, not the message, not the box.</a:t>
            </a:r>
            <a:endParaRPr lang="en-US" sz="1100" dirty="0"/>
          </a:p>
        </p:txBody>
      </p:sp>
      <p:sp>
        <p:nvSpPr>
          <p:cNvPr id="36" name="Shape 33"/>
          <p:cNvSpPr/>
          <p:nvPr/>
        </p:nvSpPr>
        <p:spPr>
          <a:xfrm>
            <a:off x="640080" y="5779008"/>
            <a:ext cx="10908792" cy="512064"/>
          </a:xfrm>
          <a:prstGeom prst="roundRect">
            <a:avLst>
              <a:gd name="adj" fmla="val 14286"/>
            </a:avLst>
          </a:prstGeom>
          <a:solidFill>
            <a:srgbClr val="FFF1D6"/>
          </a:solidFill>
          <a:ln w="12700">
            <a:solidFill>
              <a:srgbClr val="F5CE8A"/>
            </a:solidFill>
            <a:prstDash val="solid"/>
          </a:ln>
        </p:spPr>
      </p:sp>
      <p:sp>
        <p:nvSpPr>
          <p:cNvPr id="37" name="Text 34"/>
          <p:cNvSpPr/>
          <p:nvPr/>
        </p:nvSpPr>
        <p:spPr>
          <a:xfrm>
            <a:off x="859536" y="5779008"/>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validation you get free is validation you cannot forget to write.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17</a:t>
            </a:r>
            <a:endParaRPr lang="en-US" sz="900" dirty="0"/>
          </a:p>
        </p:txBody>
      </p:sp>
      <p:sp>
        <p:nvSpPr>
          <p:cNvPr id="5" name="Shape 2"/>
          <p:cNvSpPr/>
          <p:nvPr/>
        </p:nvSpPr>
        <p:spPr>
          <a:xfrm>
            <a:off x="640080" y="365760"/>
            <a:ext cx="1188720" cy="347472"/>
          </a:xfrm>
          <a:prstGeom prst="roundRect">
            <a:avLst>
              <a:gd name="adj" fmla="val 21053"/>
            </a:avLst>
          </a:prstGeom>
          <a:solidFill>
            <a:srgbClr val="FF3D8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18872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FORMS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Three details everyone gets wrong</a:t>
            </a:r>
            <a:endParaRPr lang="en-US" sz="3200" dirty="0"/>
          </a:p>
        </p:txBody>
      </p:sp>
      <p:sp>
        <p:nvSpPr>
          <p:cNvPr id="8" name="Shape 5"/>
          <p:cNvSpPr/>
          <p:nvPr/>
        </p:nvSpPr>
        <p:spPr>
          <a:xfrm>
            <a:off x="640080" y="1572768"/>
            <a:ext cx="3419856" cy="4023360"/>
          </a:xfrm>
          <a:prstGeom prst="roundRect">
            <a:avLst>
              <a:gd name="adj" fmla="val 2674"/>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a:off x="877824" y="1792224"/>
            <a:ext cx="457200" cy="457200"/>
          </a:xfrm>
          <a:prstGeom prst="ellipse">
            <a:avLst/>
          </a:prstGeom>
          <a:solidFill>
            <a:srgbClr val="FFE6F0"/>
          </a:solidFill>
          <a:ln w="12700">
            <a:solidFill>
              <a:srgbClr val="191333"/>
            </a:solidFill>
            <a:prstDash val="solid"/>
          </a:ln>
        </p:spPr>
      </p:sp>
      <p:sp>
        <p:nvSpPr>
          <p:cNvPr id="10" name="Text 7"/>
          <p:cNvSpPr/>
          <p:nvPr/>
        </p:nvSpPr>
        <p:spPr>
          <a:xfrm>
            <a:off x="877824" y="1792224"/>
            <a:ext cx="457200" cy="457200"/>
          </a:xfrm>
          <a:prstGeom prst="rect">
            <a:avLst/>
          </a:prstGeom>
          <a:noFill/>
          <a:ln/>
        </p:spPr>
        <p:txBody>
          <a:bodyPr wrap="square" lIns="0" tIns="0" rIns="0" bIns="0" rtlCol="0" anchor="ctr"/>
          <a:lstStyle/>
          <a:p>
            <a:pPr algn="ctr" indent="0" marL="0">
              <a:buNone/>
            </a:pPr>
            <a:r>
              <a:rPr lang="en-US" sz="1500" b="1" dirty="0">
                <a:solidFill>
                  <a:srgbClr val="FF3D8B"/>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1463040" y="1792224"/>
            <a:ext cx="2377440" cy="457200"/>
          </a:xfrm>
          <a:prstGeom prst="rect">
            <a:avLst/>
          </a:prstGeom>
          <a:noFill/>
          <a:ln/>
        </p:spPr>
        <p:txBody>
          <a:bodyPr wrap="square" lIns="0" tIns="0" rIns="0" bIns="0" rtlCol="0" anchor="ctr"/>
          <a:lstStyle/>
          <a:p>
            <a:pPr indent="0" marL="0">
              <a:buNone/>
            </a:pPr>
            <a:r>
              <a:rPr lang="en-US" sz="1450" b="1" dirty="0">
                <a:solidFill>
                  <a:srgbClr val="191333"/>
                </a:solidFill>
                <a:latin typeface="Calibri" pitchFamily="34" charset="0"/>
                <a:ea typeface="Calibri" pitchFamily="34" charset="-122"/>
                <a:cs typeface="Calibri" pitchFamily="34" charset="-120"/>
              </a:rPr>
              <a:t>label for = input id</a:t>
            </a:r>
            <a:endParaRPr lang="en-US" sz="1450" dirty="0"/>
          </a:p>
        </p:txBody>
      </p:sp>
      <p:sp>
        <p:nvSpPr>
          <p:cNvPr id="12" name="Shape 9"/>
          <p:cNvSpPr/>
          <p:nvPr/>
        </p:nvSpPr>
        <p:spPr>
          <a:xfrm>
            <a:off x="877824" y="2377440"/>
            <a:ext cx="2944368" cy="1234440"/>
          </a:xfrm>
          <a:prstGeom prst="roundRect">
            <a:avLst>
              <a:gd name="adj" fmla="val 7407"/>
            </a:avLst>
          </a:prstGeom>
          <a:solidFill>
            <a:srgbClr val="141033"/>
          </a:solidFill>
          <a:ln w="12700">
            <a:solidFill>
              <a:srgbClr val="241C4D"/>
            </a:solidFill>
            <a:prstDash val="solid"/>
          </a:ln>
        </p:spPr>
      </p:sp>
      <p:sp>
        <p:nvSpPr>
          <p:cNvPr id="13" name="Text 10"/>
          <p:cNvSpPr/>
          <p:nvPr/>
        </p:nvSpPr>
        <p:spPr>
          <a:xfrm>
            <a:off x="1152144" y="2615184"/>
            <a:ext cx="2395728" cy="758952"/>
          </a:xfrm>
          <a:prstGeom prst="rect">
            <a:avLst/>
          </a:prstGeom>
          <a:noFill/>
          <a:ln/>
        </p:spPr>
        <p:txBody>
          <a:bodyPr wrap="square" lIns="0" tIns="0" rIns="0" bIns="0" rtlCol="0" anchor="t"/>
          <a:lstStyle/>
          <a:p>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&lt;</a:t>
            </a:r>
            <a:pPr indent="0" marL="0">
              <a:lnSpc>
                <a:spcPts val="1500"/>
              </a:lnSpc>
              <a:buNone/>
            </a:pPr>
            <a:r>
              <a:rPr lang="en-US" sz="950" dirty="0">
                <a:solidFill>
                  <a:srgbClr val="FF8FB8"/>
                </a:solidFill>
                <a:latin typeface="Courier New" pitchFamily="34" charset="0"/>
                <a:ea typeface="Courier New" pitchFamily="34" charset="-122"/>
                <a:cs typeface="Courier New" pitchFamily="34" charset="-120"/>
              </a:rPr>
              <a:t>label</a:t>
            </a:r>
            <a:pPr indent="0" marL="0">
              <a:lnSpc>
                <a:spcPts val="1500"/>
              </a:lnSpc>
              <a:buNone/>
            </a:pPr>
            <a:r>
              <a:rPr lang="en-US" sz="950" dirty="0">
                <a:solidFill>
                  <a:srgbClr val="E8E6F5"/>
                </a:solidFill>
                <a:latin typeface="Courier New" pitchFamily="34" charset="0"/>
                <a:ea typeface="Courier New" pitchFamily="34" charset="-122"/>
                <a:cs typeface="Courier New" pitchFamily="34" charset="-120"/>
              </a:rPr>
              <a:t> </a:t>
            </a:r>
            <a:pPr indent="0" marL="0">
              <a:lnSpc>
                <a:spcPts val="1500"/>
              </a:lnSpc>
              <a:buNone/>
            </a:pPr>
            <a:r>
              <a:rPr lang="en-US" sz="950" dirty="0">
                <a:solidFill>
                  <a:srgbClr val="FFC96B"/>
                </a:solidFill>
                <a:latin typeface="Courier New" pitchFamily="34" charset="0"/>
                <a:ea typeface="Courier New" pitchFamily="34" charset="-122"/>
                <a:cs typeface="Courier New" pitchFamily="34" charset="-120"/>
              </a:rPr>
              <a:t>for</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a:t>
            </a:r>
            <a:pPr indent="0" marL="0">
              <a:lnSpc>
                <a:spcPts val="1500"/>
              </a:lnSpc>
              <a:buNone/>
            </a:pPr>
            <a:r>
              <a:rPr lang="en-US" sz="950" dirty="0">
                <a:solidFill>
                  <a:srgbClr val="8FE3A8"/>
                </a:solidFill>
                <a:latin typeface="Courier New" pitchFamily="34" charset="0"/>
                <a:ea typeface="Courier New" pitchFamily="34" charset="-122"/>
                <a:cs typeface="Courier New" pitchFamily="34" charset="-120"/>
              </a:rPr>
              <a:t>"em"</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&gt;</a:t>
            </a:r>
            <a:pPr indent="0" marL="0">
              <a:lnSpc>
                <a:spcPts val="1500"/>
              </a:lnSpc>
              <a:buNone/>
            </a:pPr>
            <a:endParaRPr lang="en-US" sz="950" dirty="0"/>
          </a:p>
          <a:p>
            <a:pPr indent="0" marL="0">
              <a:lnSpc>
                <a:spcPts val="1500"/>
              </a:lnSpc>
              <a:buNone/>
            </a:pPr>
            <a:r>
              <a:rPr lang="en-US" sz="950" dirty="0">
                <a:solidFill>
                  <a:srgbClr val="E8E6F5"/>
                </a:solidFill>
                <a:latin typeface="Courier New" pitchFamily="34" charset="0"/>
                <a:ea typeface="Courier New" pitchFamily="34" charset="-122"/>
                <a:cs typeface="Courier New" pitchFamily="34" charset="-120"/>
              </a:rPr>
              <a:t>  Email</a:t>
            </a:r>
            <a:pPr indent="0" marL="0">
              <a:lnSpc>
                <a:spcPts val="1500"/>
              </a:lnSpc>
              <a:buNone/>
            </a:pPr>
            <a:endParaRPr lang="en-US" sz="950" dirty="0"/>
          </a:p>
          <a:p>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&lt;/</a:t>
            </a:r>
            <a:pPr indent="0" marL="0">
              <a:lnSpc>
                <a:spcPts val="1500"/>
              </a:lnSpc>
              <a:buNone/>
            </a:pPr>
            <a:r>
              <a:rPr lang="en-US" sz="950" dirty="0">
                <a:solidFill>
                  <a:srgbClr val="FF8FB8"/>
                </a:solidFill>
                <a:latin typeface="Courier New" pitchFamily="34" charset="0"/>
                <a:ea typeface="Courier New" pitchFamily="34" charset="-122"/>
                <a:cs typeface="Courier New" pitchFamily="34" charset="-120"/>
              </a:rPr>
              <a:t>label</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&gt;</a:t>
            </a:r>
            <a:pPr indent="0" marL="0">
              <a:lnSpc>
                <a:spcPts val="1500"/>
              </a:lnSpc>
              <a:buNone/>
            </a:pPr>
            <a:endParaRPr lang="en-US" sz="950" dirty="0"/>
          </a:p>
          <a:p>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&lt;</a:t>
            </a:r>
            <a:pPr indent="0" marL="0">
              <a:lnSpc>
                <a:spcPts val="1500"/>
              </a:lnSpc>
              <a:buNone/>
            </a:pPr>
            <a:r>
              <a:rPr lang="en-US" sz="950" dirty="0">
                <a:solidFill>
                  <a:srgbClr val="FF8FB8"/>
                </a:solidFill>
                <a:latin typeface="Courier New" pitchFamily="34" charset="0"/>
                <a:ea typeface="Courier New" pitchFamily="34" charset="-122"/>
                <a:cs typeface="Courier New" pitchFamily="34" charset="-120"/>
              </a:rPr>
              <a:t>input</a:t>
            </a:r>
            <a:pPr indent="0" marL="0">
              <a:lnSpc>
                <a:spcPts val="1500"/>
              </a:lnSpc>
              <a:buNone/>
            </a:pPr>
            <a:r>
              <a:rPr lang="en-US" sz="950" dirty="0">
                <a:solidFill>
                  <a:srgbClr val="E8E6F5"/>
                </a:solidFill>
                <a:latin typeface="Courier New" pitchFamily="34" charset="0"/>
                <a:ea typeface="Courier New" pitchFamily="34" charset="-122"/>
                <a:cs typeface="Courier New" pitchFamily="34" charset="-120"/>
              </a:rPr>
              <a:t> </a:t>
            </a:r>
            <a:pPr indent="0" marL="0">
              <a:lnSpc>
                <a:spcPts val="1500"/>
              </a:lnSpc>
              <a:buNone/>
            </a:pPr>
            <a:r>
              <a:rPr lang="en-US" sz="950" dirty="0">
                <a:solidFill>
                  <a:srgbClr val="FFC96B"/>
                </a:solidFill>
                <a:latin typeface="Courier New" pitchFamily="34" charset="0"/>
                <a:ea typeface="Courier New" pitchFamily="34" charset="-122"/>
                <a:cs typeface="Courier New" pitchFamily="34" charset="-120"/>
              </a:rPr>
              <a:t>id</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a:t>
            </a:r>
            <a:pPr indent="0" marL="0">
              <a:lnSpc>
                <a:spcPts val="1500"/>
              </a:lnSpc>
              <a:buNone/>
            </a:pPr>
            <a:r>
              <a:rPr lang="en-US" sz="950" dirty="0">
                <a:solidFill>
                  <a:srgbClr val="8FE3A8"/>
                </a:solidFill>
                <a:latin typeface="Courier New" pitchFamily="34" charset="0"/>
                <a:ea typeface="Courier New" pitchFamily="34" charset="-122"/>
                <a:cs typeface="Courier New" pitchFamily="34" charset="-120"/>
              </a:rPr>
              <a:t>"em"</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&gt;</a:t>
            </a:r>
            <a:endParaRPr lang="en-US" sz="950" dirty="0"/>
          </a:p>
        </p:txBody>
      </p:sp>
      <p:sp>
        <p:nvSpPr>
          <p:cNvPr id="14" name="Text 11"/>
          <p:cNvSpPr/>
          <p:nvPr/>
        </p:nvSpPr>
        <p:spPr>
          <a:xfrm>
            <a:off x="877824" y="3749040"/>
            <a:ext cx="2944368" cy="1005840"/>
          </a:xfrm>
          <a:prstGeom prst="rect">
            <a:avLst/>
          </a:prstGeom>
          <a:noFill/>
          <a:ln/>
        </p:spPr>
        <p:txBody>
          <a:bodyPr wrap="square" lIns="0" tIns="0" rIns="0" bIns="0" rtlCol="0" anchor="t"/>
          <a:lstStyle/>
          <a:p>
            <a:pPr algn="l" indent="0" marL="0">
              <a:lnSpc>
                <a:spcPts val="1550"/>
              </a:lnSpc>
              <a:buNone/>
            </a:pPr>
            <a:r>
              <a:rPr lang="en-US" sz="1150" dirty="0">
                <a:solidFill>
                  <a:srgbClr val="191333"/>
                </a:solidFill>
                <a:latin typeface="Calibri" pitchFamily="34" charset="0"/>
                <a:ea typeface="Calibri" pitchFamily="34" charset="-122"/>
                <a:cs typeface="Calibri" pitchFamily="34" charset="-120"/>
              </a:rPr>
              <a:t>Match them and clicking the word Email puts the cursor in the box. Screen readers need this pairing to read a form at all.</a:t>
            </a:r>
            <a:endParaRPr lang="en-US" sz="1150" dirty="0"/>
          </a:p>
        </p:txBody>
      </p:sp>
      <p:sp>
        <p:nvSpPr>
          <p:cNvPr id="15" name="Shape 12"/>
          <p:cNvSpPr/>
          <p:nvPr/>
        </p:nvSpPr>
        <p:spPr>
          <a:xfrm>
            <a:off x="877824" y="4937760"/>
            <a:ext cx="2944368" cy="329184"/>
          </a:xfrm>
          <a:prstGeom prst="roundRect">
            <a:avLst>
              <a:gd name="adj" fmla="val 22222"/>
            </a:avLst>
          </a:prstGeom>
          <a:solidFill>
            <a:srgbClr val="FF3D8B"/>
          </a:solidFill>
          <a:ln w="15875">
            <a:solidFill>
              <a:srgbClr val="191333"/>
            </a:solidFill>
            <a:prstDash val="solid"/>
          </a:ln>
          <a:effectLst>
            <a:outerShdw sx="100000" sy="100000" kx="0" ky="0" algn="bl" rotWithShape="0" blurRad="5.909584735099504e+74" dist="2.2160942756623134e+74" dir="4.57019805007872e+87">
              <a:srgbClr val="191333">
                <a:alpha val="9.999999999999999e+89"/>
              </a:srgbClr>
            </a:outerShdw>
          </a:effectLst>
        </p:spPr>
      </p:sp>
      <p:sp>
        <p:nvSpPr>
          <p:cNvPr id="16" name="Text 13"/>
          <p:cNvSpPr/>
          <p:nvPr/>
        </p:nvSpPr>
        <p:spPr>
          <a:xfrm>
            <a:off x="877824" y="4937760"/>
            <a:ext cx="294436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CLICK THE LABEL, DEMO IT</a:t>
            </a:r>
            <a:endParaRPr lang="en-US" sz="900" dirty="0"/>
          </a:p>
        </p:txBody>
      </p:sp>
      <p:sp>
        <p:nvSpPr>
          <p:cNvPr id="17" name="Shape 14"/>
          <p:cNvSpPr/>
          <p:nvPr/>
        </p:nvSpPr>
        <p:spPr>
          <a:xfrm>
            <a:off x="4379976" y="1572768"/>
            <a:ext cx="3419856" cy="4023360"/>
          </a:xfrm>
          <a:prstGeom prst="roundRect">
            <a:avLst>
              <a:gd name="adj" fmla="val 2674"/>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8" name="Shape 15"/>
          <p:cNvSpPr/>
          <p:nvPr/>
        </p:nvSpPr>
        <p:spPr>
          <a:xfrm>
            <a:off x="4617720" y="1792224"/>
            <a:ext cx="457200" cy="457200"/>
          </a:xfrm>
          <a:prstGeom prst="ellipse">
            <a:avLst/>
          </a:prstGeom>
          <a:solidFill>
            <a:srgbClr val="FFE6F0"/>
          </a:solidFill>
          <a:ln w="12700">
            <a:solidFill>
              <a:srgbClr val="191333"/>
            </a:solidFill>
            <a:prstDash val="solid"/>
          </a:ln>
        </p:spPr>
      </p:sp>
      <p:sp>
        <p:nvSpPr>
          <p:cNvPr id="19" name="Text 16"/>
          <p:cNvSpPr/>
          <p:nvPr/>
        </p:nvSpPr>
        <p:spPr>
          <a:xfrm>
            <a:off x="4617720" y="1792224"/>
            <a:ext cx="457200" cy="457200"/>
          </a:xfrm>
          <a:prstGeom prst="rect">
            <a:avLst/>
          </a:prstGeom>
          <a:noFill/>
          <a:ln/>
        </p:spPr>
        <p:txBody>
          <a:bodyPr wrap="square" lIns="0" tIns="0" rIns="0" bIns="0" rtlCol="0" anchor="ctr"/>
          <a:lstStyle/>
          <a:p>
            <a:pPr algn="ctr" indent="0" marL="0">
              <a:buNone/>
            </a:pPr>
            <a:r>
              <a:rPr lang="en-US" sz="1500" b="1" dirty="0">
                <a:solidFill>
                  <a:srgbClr val="FF3D8B"/>
                </a:solidFill>
                <a:latin typeface="Calibri" pitchFamily="34" charset="0"/>
                <a:ea typeface="Calibri" pitchFamily="34" charset="-122"/>
                <a:cs typeface="Calibri" pitchFamily="34" charset="-120"/>
              </a:rPr>
              <a:t>2</a:t>
            </a:r>
            <a:endParaRPr lang="en-US" sz="1500" dirty="0"/>
          </a:p>
        </p:txBody>
      </p:sp>
      <p:sp>
        <p:nvSpPr>
          <p:cNvPr id="20" name="Text 17"/>
          <p:cNvSpPr/>
          <p:nvPr/>
        </p:nvSpPr>
        <p:spPr>
          <a:xfrm>
            <a:off x="5202936" y="1792224"/>
            <a:ext cx="2377440" cy="457200"/>
          </a:xfrm>
          <a:prstGeom prst="rect">
            <a:avLst/>
          </a:prstGeom>
          <a:noFill/>
          <a:ln/>
        </p:spPr>
        <p:txBody>
          <a:bodyPr wrap="square" lIns="0" tIns="0" rIns="0" bIns="0" rtlCol="0" anchor="ctr"/>
          <a:lstStyle/>
          <a:p>
            <a:pPr indent="0" marL="0">
              <a:buNone/>
            </a:pPr>
            <a:r>
              <a:rPr lang="en-US" sz="1450" b="1" dirty="0">
                <a:solidFill>
                  <a:srgbClr val="191333"/>
                </a:solidFill>
                <a:latin typeface="Calibri" pitchFamily="34" charset="0"/>
                <a:ea typeface="Calibri" pitchFamily="34" charset="-122"/>
                <a:cs typeface="Calibri" pitchFamily="34" charset="-120"/>
              </a:rPr>
              <a:t>Radios share a name</a:t>
            </a:r>
            <a:endParaRPr lang="en-US" sz="1450" dirty="0"/>
          </a:p>
        </p:txBody>
      </p:sp>
      <p:sp>
        <p:nvSpPr>
          <p:cNvPr id="21" name="Shape 18"/>
          <p:cNvSpPr/>
          <p:nvPr/>
        </p:nvSpPr>
        <p:spPr>
          <a:xfrm>
            <a:off x="4617720" y="2377440"/>
            <a:ext cx="2944368" cy="1234440"/>
          </a:xfrm>
          <a:prstGeom prst="roundRect">
            <a:avLst>
              <a:gd name="adj" fmla="val 7407"/>
            </a:avLst>
          </a:prstGeom>
          <a:solidFill>
            <a:srgbClr val="141033"/>
          </a:solidFill>
          <a:ln w="12700">
            <a:solidFill>
              <a:srgbClr val="241C4D"/>
            </a:solidFill>
            <a:prstDash val="solid"/>
          </a:ln>
        </p:spPr>
      </p:sp>
      <p:sp>
        <p:nvSpPr>
          <p:cNvPr id="22" name="Text 19"/>
          <p:cNvSpPr/>
          <p:nvPr/>
        </p:nvSpPr>
        <p:spPr>
          <a:xfrm>
            <a:off x="4892040" y="2615184"/>
            <a:ext cx="2395728" cy="758952"/>
          </a:xfrm>
          <a:prstGeom prst="rect">
            <a:avLst/>
          </a:prstGeom>
          <a:noFill/>
          <a:ln/>
        </p:spPr>
        <p:txBody>
          <a:bodyPr wrap="square" lIns="0" tIns="0" rIns="0" bIns="0" rtlCol="0" anchor="t"/>
          <a:lstStyle/>
          <a:p>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&lt;</a:t>
            </a:r>
            <a:pPr indent="0" marL="0">
              <a:lnSpc>
                <a:spcPts val="1500"/>
              </a:lnSpc>
              <a:buNone/>
            </a:pPr>
            <a:r>
              <a:rPr lang="en-US" sz="950" dirty="0">
                <a:solidFill>
                  <a:srgbClr val="FF8FB8"/>
                </a:solidFill>
                <a:latin typeface="Courier New" pitchFamily="34" charset="0"/>
                <a:ea typeface="Courier New" pitchFamily="34" charset="-122"/>
                <a:cs typeface="Courier New" pitchFamily="34" charset="-120"/>
              </a:rPr>
              <a:t>input</a:t>
            </a:r>
            <a:pPr indent="0" marL="0">
              <a:lnSpc>
                <a:spcPts val="1500"/>
              </a:lnSpc>
              <a:buNone/>
            </a:pPr>
            <a:r>
              <a:rPr lang="en-US" sz="950" dirty="0">
                <a:solidFill>
                  <a:srgbClr val="E8E6F5"/>
                </a:solidFill>
                <a:latin typeface="Courier New" pitchFamily="34" charset="0"/>
                <a:ea typeface="Courier New" pitchFamily="34" charset="-122"/>
                <a:cs typeface="Courier New" pitchFamily="34" charset="-120"/>
              </a:rPr>
              <a:t> </a:t>
            </a:r>
            <a:pPr indent="0" marL="0">
              <a:lnSpc>
                <a:spcPts val="1500"/>
              </a:lnSpc>
              <a:buNone/>
            </a:pPr>
            <a:r>
              <a:rPr lang="en-US" sz="950" dirty="0">
                <a:solidFill>
                  <a:srgbClr val="FFC96B"/>
                </a:solidFill>
                <a:latin typeface="Courier New" pitchFamily="34" charset="0"/>
                <a:ea typeface="Courier New" pitchFamily="34" charset="-122"/>
                <a:cs typeface="Courier New" pitchFamily="34" charset="-120"/>
              </a:rPr>
              <a:t>type</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a:t>
            </a:r>
            <a:pPr indent="0" marL="0">
              <a:lnSpc>
                <a:spcPts val="1500"/>
              </a:lnSpc>
              <a:buNone/>
            </a:pPr>
            <a:r>
              <a:rPr lang="en-US" sz="950" dirty="0">
                <a:solidFill>
                  <a:srgbClr val="8FE3A8"/>
                </a:solidFill>
                <a:latin typeface="Courier New" pitchFamily="34" charset="0"/>
                <a:ea typeface="Courier New" pitchFamily="34" charset="-122"/>
                <a:cs typeface="Courier New" pitchFamily="34" charset="-120"/>
              </a:rPr>
              <a:t>"radio"</a:t>
            </a:r>
            <a:pPr indent="0" marL="0">
              <a:lnSpc>
                <a:spcPts val="1500"/>
              </a:lnSpc>
              <a:buNone/>
            </a:pPr>
            <a:endParaRPr lang="en-US" sz="950" dirty="0"/>
          </a:p>
          <a:p>
            <a:pPr indent="0" marL="0">
              <a:lnSpc>
                <a:spcPts val="1500"/>
              </a:lnSpc>
              <a:buNone/>
            </a:pPr>
            <a:r>
              <a:rPr lang="en-US" sz="950" dirty="0">
                <a:solidFill>
                  <a:srgbClr val="E8E6F5"/>
                </a:solidFill>
                <a:latin typeface="Courier New" pitchFamily="34" charset="0"/>
                <a:ea typeface="Courier New" pitchFamily="34" charset="-122"/>
                <a:cs typeface="Courier New" pitchFamily="34" charset="-120"/>
              </a:rPr>
              <a:t>  </a:t>
            </a:r>
            <a:pPr indent="0" marL="0">
              <a:lnSpc>
                <a:spcPts val="1500"/>
              </a:lnSpc>
              <a:buNone/>
            </a:pPr>
            <a:r>
              <a:rPr lang="en-US" sz="950" dirty="0">
                <a:solidFill>
                  <a:srgbClr val="FFC96B"/>
                </a:solidFill>
                <a:latin typeface="Courier New" pitchFamily="34" charset="0"/>
                <a:ea typeface="Courier New" pitchFamily="34" charset="-122"/>
                <a:cs typeface="Courier New" pitchFamily="34" charset="-120"/>
              </a:rPr>
              <a:t>name</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a:t>
            </a:r>
            <a:pPr indent="0" marL="0">
              <a:lnSpc>
                <a:spcPts val="1500"/>
              </a:lnSpc>
              <a:buNone/>
            </a:pPr>
            <a:r>
              <a:rPr lang="en-US" sz="950" dirty="0">
                <a:solidFill>
                  <a:srgbClr val="8FE3A8"/>
                </a:solidFill>
                <a:latin typeface="Courier New" pitchFamily="34" charset="0"/>
                <a:ea typeface="Courier New" pitchFamily="34" charset="-122"/>
                <a:cs typeface="Courier New" pitchFamily="34" charset="-120"/>
              </a:rPr>
              <a:t>"gender"</a:t>
            </a:r>
            <a:pPr indent="0" marL="0">
              <a:lnSpc>
                <a:spcPts val="1500"/>
              </a:lnSpc>
              <a:buNone/>
            </a:pPr>
            <a:endParaRPr lang="en-US" sz="950" dirty="0"/>
          </a:p>
          <a:p>
            <a:pPr indent="0" marL="0">
              <a:lnSpc>
                <a:spcPts val="1500"/>
              </a:lnSpc>
              <a:buNone/>
            </a:pPr>
            <a:r>
              <a:rPr lang="en-US" sz="950" dirty="0">
                <a:solidFill>
                  <a:srgbClr val="E8E6F5"/>
                </a:solidFill>
                <a:latin typeface="Courier New" pitchFamily="34" charset="0"/>
                <a:ea typeface="Courier New" pitchFamily="34" charset="-122"/>
                <a:cs typeface="Courier New" pitchFamily="34" charset="-120"/>
              </a:rPr>
              <a:t>  </a:t>
            </a:r>
            <a:pPr indent="0" marL="0">
              <a:lnSpc>
                <a:spcPts val="1500"/>
              </a:lnSpc>
              <a:buNone/>
            </a:pPr>
            <a:r>
              <a:rPr lang="en-US" sz="950" dirty="0">
                <a:solidFill>
                  <a:srgbClr val="FFC96B"/>
                </a:solidFill>
                <a:latin typeface="Courier New" pitchFamily="34" charset="0"/>
                <a:ea typeface="Courier New" pitchFamily="34" charset="-122"/>
                <a:cs typeface="Courier New" pitchFamily="34" charset="-120"/>
              </a:rPr>
              <a:t>value</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a:t>
            </a:r>
            <a:pPr indent="0" marL="0">
              <a:lnSpc>
                <a:spcPts val="1500"/>
              </a:lnSpc>
              <a:buNone/>
            </a:pPr>
            <a:r>
              <a:rPr lang="en-US" sz="950" dirty="0">
                <a:solidFill>
                  <a:srgbClr val="8FE3A8"/>
                </a:solidFill>
                <a:latin typeface="Courier New" pitchFamily="34" charset="0"/>
                <a:ea typeface="Courier New" pitchFamily="34" charset="-122"/>
                <a:cs typeface="Courier New" pitchFamily="34" charset="-120"/>
              </a:rPr>
              <a:t>"male"</a:t>
            </a:r>
            <a:pPr indent="0" marL="0">
              <a:lnSpc>
                <a:spcPts val="1500"/>
              </a:lnSpc>
              <a:buNone/>
            </a:pPr>
            <a:r>
              <a:rPr lang="en-US" sz="950" dirty="0">
                <a:solidFill>
                  <a:srgbClr val="A9A2CC"/>
                </a:solidFill>
                <a:latin typeface="Courier New" pitchFamily="34" charset="0"/>
                <a:ea typeface="Courier New" pitchFamily="34" charset="-122"/>
                <a:cs typeface="Courier New" pitchFamily="34" charset="-120"/>
              </a:rPr>
              <a:t>&gt;</a:t>
            </a:r>
            <a:endParaRPr lang="en-US" sz="950" dirty="0"/>
          </a:p>
        </p:txBody>
      </p:sp>
      <p:sp>
        <p:nvSpPr>
          <p:cNvPr id="23" name="Text 20"/>
          <p:cNvSpPr/>
          <p:nvPr/>
        </p:nvSpPr>
        <p:spPr>
          <a:xfrm>
            <a:off x="4617720" y="3749040"/>
            <a:ext cx="2944368" cy="1097280"/>
          </a:xfrm>
          <a:prstGeom prst="rect">
            <a:avLst/>
          </a:prstGeom>
          <a:noFill/>
          <a:ln/>
        </p:spPr>
        <p:txBody>
          <a:bodyPr wrap="square" lIns="0" tIns="0" rIns="0" bIns="0" rtlCol="0" anchor="t"/>
          <a:lstStyle/>
          <a:p>
            <a:pPr algn="l" indent="0" marL="0">
              <a:lnSpc>
                <a:spcPts val="1550"/>
              </a:lnSpc>
              <a:buNone/>
            </a:pPr>
            <a:r>
              <a:rPr lang="en-US" sz="1150" dirty="0">
                <a:solidFill>
                  <a:srgbClr val="191333"/>
                </a:solidFill>
                <a:latin typeface="Calibri" pitchFamily="34" charset="0"/>
                <a:ea typeface="Calibri" pitchFamily="34" charset="-122"/>
                <a:cs typeface="Calibri" pitchFamily="34" charset="-120"/>
              </a:rPr>
              <a:t>The shared name is what makes them one group, so picking one clears the others. Different names means every option can be selected at once.</a:t>
            </a:r>
            <a:endParaRPr lang="en-US" sz="1150" dirty="0"/>
          </a:p>
        </p:txBody>
      </p:sp>
      <p:sp>
        <p:nvSpPr>
          <p:cNvPr id="24" name="Shape 21"/>
          <p:cNvSpPr/>
          <p:nvPr/>
        </p:nvSpPr>
        <p:spPr>
          <a:xfrm>
            <a:off x="4617720" y="4937760"/>
            <a:ext cx="2944368" cy="329184"/>
          </a:xfrm>
          <a:prstGeom prst="roundRect">
            <a:avLst>
              <a:gd name="adj" fmla="val 22222"/>
            </a:avLst>
          </a:prstGeom>
          <a:solidFill>
            <a:srgbClr val="FF3D8B"/>
          </a:solidFill>
          <a:ln w="15875">
            <a:solidFill>
              <a:srgbClr val="191333"/>
            </a:solidFill>
            <a:prstDash val="solid"/>
          </a:ln>
          <a:effectLst>
            <a:outerShdw sx="100000" sy="100000" kx="0" ky="0" algn="bl" rotWithShape="0" blurRad="7.50517261357637e+78" dist="2.814439730091138e+78" dir="2.742118830047232e+92">
              <a:srgbClr val="191333">
                <a:alpha val="9.999999999999999e+94"/>
              </a:srgbClr>
            </a:outerShdw>
          </a:effectLst>
        </p:spPr>
      </p:sp>
      <p:sp>
        <p:nvSpPr>
          <p:cNvPr id="25" name="Text 22"/>
          <p:cNvSpPr/>
          <p:nvPr/>
        </p:nvSpPr>
        <p:spPr>
          <a:xfrm>
            <a:off x="4617720" y="4937760"/>
            <a:ext cx="294436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SAME NAME, ONE CHOICE</a:t>
            </a:r>
            <a:endParaRPr lang="en-US" sz="900" dirty="0"/>
          </a:p>
        </p:txBody>
      </p:sp>
      <p:sp>
        <p:nvSpPr>
          <p:cNvPr id="26" name="Shape 23"/>
          <p:cNvSpPr/>
          <p:nvPr/>
        </p:nvSpPr>
        <p:spPr>
          <a:xfrm>
            <a:off x="8119872" y="1572768"/>
            <a:ext cx="3419856" cy="4023360"/>
          </a:xfrm>
          <a:prstGeom prst="roundRect">
            <a:avLst>
              <a:gd name="adj" fmla="val 2674"/>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7" name="Shape 24"/>
          <p:cNvSpPr/>
          <p:nvPr/>
        </p:nvSpPr>
        <p:spPr>
          <a:xfrm>
            <a:off x="8366760" y="1792224"/>
            <a:ext cx="457200" cy="457200"/>
          </a:xfrm>
          <a:prstGeom prst="ellipse">
            <a:avLst/>
          </a:prstGeom>
          <a:solidFill>
            <a:srgbClr val="FFE6F0"/>
          </a:solidFill>
          <a:ln w="12700">
            <a:solidFill>
              <a:srgbClr val="191333"/>
            </a:solidFill>
            <a:prstDash val="solid"/>
          </a:ln>
        </p:spPr>
      </p:sp>
      <p:sp>
        <p:nvSpPr>
          <p:cNvPr id="28" name="Text 25"/>
          <p:cNvSpPr/>
          <p:nvPr/>
        </p:nvSpPr>
        <p:spPr>
          <a:xfrm>
            <a:off x="8366760" y="1792224"/>
            <a:ext cx="457200" cy="457200"/>
          </a:xfrm>
          <a:prstGeom prst="rect">
            <a:avLst/>
          </a:prstGeom>
          <a:noFill/>
          <a:ln/>
        </p:spPr>
        <p:txBody>
          <a:bodyPr wrap="square" lIns="0" tIns="0" rIns="0" bIns="0" rtlCol="0" anchor="ctr"/>
          <a:lstStyle/>
          <a:p>
            <a:pPr algn="ctr" indent="0" marL="0">
              <a:buNone/>
            </a:pPr>
            <a:r>
              <a:rPr lang="en-US" sz="1500" b="1" dirty="0">
                <a:solidFill>
                  <a:srgbClr val="FF3D8B"/>
                </a:solidFill>
                <a:latin typeface="Calibri" pitchFamily="34" charset="0"/>
                <a:ea typeface="Calibri" pitchFamily="34" charset="-122"/>
                <a:cs typeface="Calibri" pitchFamily="34" charset="-120"/>
              </a:rPr>
              <a:t>3</a:t>
            </a:r>
            <a:endParaRPr lang="en-US" sz="1500" dirty="0"/>
          </a:p>
        </p:txBody>
      </p:sp>
      <p:sp>
        <p:nvSpPr>
          <p:cNvPr id="29" name="Text 26"/>
          <p:cNvSpPr/>
          <p:nvPr/>
        </p:nvSpPr>
        <p:spPr>
          <a:xfrm>
            <a:off x="8951976" y="1792224"/>
            <a:ext cx="2377440" cy="457200"/>
          </a:xfrm>
          <a:prstGeom prst="rect">
            <a:avLst/>
          </a:prstGeom>
          <a:noFill/>
          <a:ln/>
        </p:spPr>
        <p:txBody>
          <a:bodyPr wrap="square" lIns="0" tIns="0" rIns="0" bIns="0" rtlCol="0" anchor="ctr"/>
          <a:lstStyle/>
          <a:p>
            <a:pPr indent="0" marL="0">
              <a:buNone/>
            </a:pPr>
            <a:r>
              <a:rPr lang="en-US" sz="1450" b="1" dirty="0">
                <a:solidFill>
                  <a:srgbClr val="191333"/>
                </a:solidFill>
                <a:latin typeface="Calibri" pitchFamily="34" charset="0"/>
                <a:ea typeface="Calibri" pitchFamily="34" charset="-122"/>
                <a:cs typeface="Calibri" pitchFamily="34" charset="-120"/>
              </a:rPr>
              <a:t>value is what is sent</a:t>
            </a:r>
            <a:endParaRPr lang="en-US" sz="1450" dirty="0"/>
          </a:p>
        </p:txBody>
      </p:sp>
      <p:sp>
        <p:nvSpPr>
          <p:cNvPr id="30" name="Shape 27"/>
          <p:cNvSpPr/>
          <p:nvPr/>
        </p:nvSpPr>
        <p:spPr>
          <a:xfrm>
            <a:off x="8366760" y="2377440"/>
            <a:ext cx="2944368" cy="365760"/>
          </a:xfrm>
          <a:prstGeom prst="roundRect">
            <a:avLst>
              <a:gd name="adj" fmla="val 15000"/>
            </a:avLst>
          </a:prstGeom>
          <a:solidFill>
            <a:srgbClr val="F7F6FC"/>
          </a:solidFill>
          <a:ln w="15875">
            <a:solidFill>
              <a:srgbClr val="191333"/>
            </a:solidFill>
            <a:prstDash val="solid"/>
          </a:ln>
        </p:spPr>
      </p:sp>
      <p:sp>
        <p:nvSpPr>
          <p:cNvPr id="31" name="Text 28"/>
          <p:cNvSpPr/>
          <p:nvPr/>
        </p:nvSpPr>
        <p:spPr>
          <a:xfrm>
            <a:off x="8494776" y="2377440"/>
            <a:ext cx="2377440" cy="365760"/>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Blue</a:t>
            </a:r>
            <a:endParaRPr lang="en-US" sz="1050" dirty="0"/>
          </a:p>
        </p:txBody>
      </p:sp>
      <p:sp>
        <p:nvSpPr>
          <p:cNvPr id="32" name="Shape 29"/>
          <p:cNvSpPr/>
          <p:nvPr/>
        </p:nvSpPr>
        <p:spPr>
          <a:xfrm rot="10800000">
            <a:off x="10972800" y="2496312"/>
            <a:ext cx="164592" cy="118872"/>
          </a:xfrm>
          <a:prstGeom prst="triangle">
            <a:avLst/>
          </a:prstGeom>
          <a:solidFill>
            <a:srgbClr val="191333"/>
          </a:solidFill>
          <a:ln w="12700">
            <a:solidFill>
              <a:srgbClr val="191333"/>
            </a:solidFill>
            <a:prstDash val="solid"/>
          </a:ln>
        </p:spPr>
      </p:sp>
      <p:sp>
        <p:nvSpPr>
          <p:cNvPr id="33" name="Shape 30"/>
          <p:cNvSpPr/>
          <p:nvPr/>
        </p:nvSpPr>
        <p:spPr>
          <a:xfrm>
            <a:off x="8366760" y="2761488"/>
            <a:ext cx="2944368" cy="329184"/>
          </a:xfrm>
          <a:prstGeom prst="rect">
            <a:avLst/>
          </a:prstGeom>
          <a:solidFill>
            <a:srgbClr val="FFE6F0"/>
          </a:solidFill>
          <a:ln w="12700">
            <a:solidFill>
              <a:srgbClr val="CFC9E6"/>
            </a:solidFill>
            <a:prstDash val="solid"/>
          </a:ln>
        </p:spPr>
      </p:sp>
      <p:sp>
        <p:nvSpPr>
          <p:cNvPr id="34" name="Text 31"/>
          <p:cNvSpPr/>
          <p:nvPr/>
        </p:nvSpPr>
        <p:spPr>
          <a:xfrm>
            <a:off x="8494776" y="2761488"/>
            <a:ext cx="2651760" cy="329184"/>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Blue</a:t>
            </a:r>
            <a:endParaRPr lang="en-US" sz="1050" dirty="0"/>
          </a:p>
        </p:txBody>
      </p:sp>
      <p:sp>
        <p:nvSpPr>
          <p:cNvPr id="35" name="Shape 32"/>
          <p:cNvSpPr/>
          <p:nvPr/>
        </p:nvSpPr>
        <p:spPr>
          <a:xfrm>
            <a:off x="8366760" y="3090672"/>
            <a:ext cx="2944368" cy="329184"/>
          </a:xfrm>
          <a:prstGeom prst="rect">
            <a:avLst/>
          </a:prstGeom>
          <a:solidFill>
            <a:srgbClr val="FFFFFF"/>
          </a:solidFill>
          <a:ln w="12700">
            <a:solidFill>
              <a:srgbClr val="CFC9E6"/>
            </a:solidFill>
            <a:prstDash val="solid"/>
          </a:ln>
        </p:spPr>
      </p:sp>
      <p:sp>
        <p:nvSpPr>
          <p:cNvPr id="36" name="Text 33"/>
          <p:cNvSpPr/>
          <p:nvPr/>
        </p:nvSpPr>
        <p:spPr>
          <a:xfrm>
            <a:off x="8494776" y="3090672"/>
            <a:ext cx="2651760" cy="329184"/>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Black</a:t>
            </a:r>
            <a:endParaRPr lang="en-US" sz="1050" dirty="0"/>
          </a:p>
        </p:txBody>
      </p:sp>
      <p:sp>
        <p:nvSpPr>
          <p:cNvPr id="37" name="Shape 34"/>
          <p:cNvSpPr/>
          <p:nvPr/>
        </p:nvSpPr>
        <p:spPr>
          <a:xfrm>
            <a:off x="8366760" y="3419856"/>
            <a:ext cx="2944368" cy="329184"/>
          </a:xfrm>
          <a:prstGeom prst="rect">
            <a:avLst/>
          </a:prstGeom>
          <a:solidFill>
            <a:srgbClr val="FFFFFF"/>
          </a:solidFill>
          <a:ln w="12700">
            <a:solidFill>
              <a:srgbClr val="CFC9E6"/>
            </a:solidFill>
            <a:prstDash val="solid"/>
          </a:ln>
        </p:spPr>
      </p:sp>
      <p:sp>
        <p:nvSpPr>
          <p:cNvPr id="38" name="Text 35"/>
          <p:cNvSpPr/>
          <p:nvPr/>
        </p:nvSpPr>
        <p:spPr>
          <a:xfrm>
            <a:off x="8494776" y="3419856"/>
            <a:ext cx="2651760" cy="329184"/>
          </a:xfrm>
          <a:prstGeom prst="rect">
            <a:avLst/>
          </a:prstGeom>
          <a:noFill/>
          <a:ln/>
        </p:spPr>
        <p:txBody>
          <a:bodyPr wrap="square" lIns="0" tIns="0" rIns="0" bIns="0" rtlCol="0" anchor="ctr"/>
          <a:lstStyle/>
          <a:p>
            <a:pPr indent="0" marL="0">
              <a:buNone/>
            </a:pPr>
            <a:r>
              <a:rPr lang="en-US" sz="1050" dirty="0">
                <a:solidFill>
                  <a:srgbClr val="191333"/>
                </a:solidFill>
                <a:latin typeface="Calibri" pitchFamily="34" charset="0"/>
                <a:ea typeface="Calibri" pitchFamily="34" charset="-122"/>
                <a:cs typeface="Calibri" pitchFamily="34" charset="-120"/>
              </a:rPr>
              <a:t>Red</a:t>
            </a:r>
            <a:endParaRPr lang="en-US" sz="1050" dirty="0"/>
          </a:p>
        </p:txBody>
      </p:sp>
      <p:sp>
        <p:nvSpPr>
          <p:cNvPr id="39" name="Text 36"/>
          <p:cNvSpPr/>
          <p:nvPr/>
        </p:nvSpPr>
        <p:spPr>
          <a:xfrm>
            <a:off x="8366760" y="3877056"/>
            <a:ext cx="2944368" cy="1005840"/>
          </a:xfrm>
          <a:prstGeom prst="rect">
            <a:avLst/>
          </a:prstGeom>
          <a:noFill/>
          <a:ln/>
        </p:spPr>
        <p:txBody>
          <a:bodyPr wrap="square" lIns="0" tIns="0" rIns="0" bIns="0" rtlCol="0" anchor="t"/>
          <a:lstStyle/>
          <a:p>
            <a:pPr algn="l" indent="0" marL="0">
              <a:lnSpc>
                <a:spcPts val="1550"/>
              </a:lnSpc>
              <a:buNone/>
            </a:pPr>
            <a:r>
              <a:rPr lang="en-US" sz="1150" dirty="0">
                <a:solidFill>
                  <a:srgbClr val="191333"/>
                </a:solidFill>
                <a:latin typeface="Calibri" pitchFamily="34" charset="0"/>
                <a:ea typeface="Calibri" pitchFamily="34" charset="-122"/>
                <a:cs typeface="Calibri" pitchFamily="34" charset="-120"/>
              </a:rPr>
              <a:t>The user sees the text between the tags. The server receives the value attribute. When they differ, the value wins, every time.</a:t>
            </a:r>
            <a:endParaRPr lang="en-US" sz="1150" dirty="0"/>
          </a:p>
        </p:txBody>
      </p:sp>
      <p:sp>
        <p:nvSpPr>
          <p:cNvPr id="40" name="Shape 37"/>
          <p:cNvSpPr/>
          <p:nvPr/>
        </p:nvSpPr>
        <p:spPr>
          <a:xfrm>
            <a:off x="8366760" y="4937760"/>
            <a:ext cx="2944368" cy="329184"/>
          </a:xfrm>
          <a:prstGeom prst="roundRect">
            <a:avLst>
              <a:gd name="adj" fmla="val 22222"/>
            </a:avLst>
          </a:prstGeom>
          <a:solidFill>
            <a:srgbClr val="FF3D8B"/>
          </a:solidFill>
          <a:ln w="15875">
            <a:solidFill>
              <a:srgbClr val="191333"/>
            </a:solidFill>
            <a:prstDash val="solid"/>
          </a:ln>
          <a:effectLst>
            <a:outerShdw sx="100000" sy="100000" kx="0" ky="0" algn="bl" rotWithShape="0" blurRad="9.53156921924199e+82" dist="3.574338457215745e+82" dir="1.6452712980283393e+97">
              <a:srgbClr val="191333">
                <a:alpha val="9.999999999999998e+99"/>
              </a:srgbClr>
            </a:outerShdw>
          </a:effectLst>
        </p:spPr>
      </p:sp>
      <p:sp>
        <p:nvSpPr>
          <p:cNvPr id="41" name="Text 38"/>
          <p:cNvSpPr/>
          <p:nvPr/>
        </p:nvSpPr>
        <p:spPr>
          <a:xfrm>
            <a:off x="8366760" y="4937760"/>
            <a:ext cx="2944368"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SEEN vs SENT</a:t>
            </a:r>
            <a:endParaRPr lang="en-US" sz="900" dirty="0"/>
          </a:p>
        </p:txBody>
      </p:sp>
      <p:sp>
        <p:nvSpPr>
          <p:cNvPr id="42" name="Shape 39"/>
          <p:cNvSpPr/>
          <p:nvPr/>
        </p:nvSpPr>
        <p:spPr>
          <a:xfrm>
            <a:off x="640080" y="5760720"/>
            <a:ext cx="10908792" cy="512064"/>
          </a:xfrm>
          <a:prstGeom prst="roundRect">
            <a:avLst>
              <a:gd name="adj" fmla="val 14286"/>
            </a:avLst>
          </a:prstGeom>
          <a:solidFill>
            <a:srgbClr val="FFF1D6"/>
          </a:solidFill>
          <a:ln w="12700">
            <a:solidFill>
              <a:srgbClr val="F5CE8A"/>
            </a:solidFill>
            <a:prstDash val="solid"/>
          </a:ln>
        </p:spPr>
      </p:sp>
      <p:sp>
        <p:nvSpPr>
          <p:cNvPr id="43" name="Text 40"/>
          <p:cNvSpPr/>
          <p:nvPr/>
        </p:nvSpPr>
        <p:spPr>
          <a:xfrm>
            <a:off x="859536" y="5760720"/>
            <a:ext cx="10469880" cy="512064"/>
          </a:xfrm>
          <a:prstGeom prst="rect">
            <a:avLst/>
          </a:prstGeom>
          <a:noFill/>
          <a:ln/>
        </p:spPr>
        <p:txBody>
          <a:bodyPr wrap="square" lIns="0" tIns="0" rIns="0" bIns="0" rtlCol="0" anchor="ctr"/>
          <a:lstStyle/>
          <a:p>
            <a:pPr algn="ctr" indent="0" marL="0">
              <a:buNone/>
            </a:pPr>
            <a:r>
              <a:rPr lang="en-US" sz="1100" b="1" dirty="0">
                <a:solidFill>
                  <a:srgbClr val="7A5200"/>
                </a:solidFill>
                <a:latin typeface="Calibri" pitchFamily="34" charset="0"/>
                <a:ea typeface="Calibri" pitchFamily="34" charset="-122"/>
                <a:cs typeface="Calibri" pitchFamily="34" charset="-120"/>
              </a:rPr>
              <a:t>three radio buttons with three different names is just three yes-or-no questions in a trench coat.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033"/>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6E67A0"/>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6E67A0"/>
                </a:solidFill>
                <a:latin typeface="Courier New" pitchFamily="34" charset="0"/>
                <a:ea typeface="Courier New" pitchFamily="34" charset="-122"/>
                <a:cs typeface="Courier New" pitchFamily="34" charset="-120"/>
              </a:rPr>
              <a:t>18</a:t>
            </a:r>
            <a:endParaRPr lang="en-US" sz="900" dirty="0"/>
          </a:p>
        </p:txBody>
      </p:sp>
      <p:sp>
        <p:nvSpPr>
          <p:cNvPr id="5" name="Shape 2"/>
          <p:cNvSpPr/>
          <p:nvPr/>
        </p:nvSpPr>
        <p:spPr>
          <a:xfrm>
            <a:off x="640080" y="384048"/>
            <a:ext cx="1508760" cy="329184"/>
          </a:xfrm>
          <a:prstGeom prst="roundRect">
            <a:avLst>
              <a:gd name="adj" fmla="val 22222"/>
            </a:avLst>
          </a:prstGeom>
          <a:solidFill>
            <a:srgbClr val="6C3BF5"/>
          </a:solidFill>
          <a:ln w="12700">
            <a:solidFill>
              <a:srgbClr val="6C3BF5"/>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FFC96B"/>
                </a:solidFill>
                <a:latin typeface="Courier New" pitchFamily="34" charset="0"/>
                <a:ea typeface="Courier New" pitchFamily="34" charset="-122"/>
                <a:cs typeface="Courier New" pitchFamily="34" charset="-120"/>
              </a:rPr>
              <a:t>form.html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Build the survey form</a:t>
            </a:r>
            <a:endParaRPr lang="en-US" sz="2900" dirty="0"/>
          </a:p>
        </p:txBody>
      </p:sp>
      <p:sp>
        <p:nvSpPr>
          <p:cNvPr id="9" name="Shape 6"/>
          <p:cNvSpPr/>
          <p:nvPr/>
        </p:nvSpPr>
        <p:spPr>
          <a:xfrm>
            <a:off x="640080" y="1517904"/>
            <a:ext cx="6858000" cy="4114800"/>
          </a:xfrm>
          <a:prstGeom prst="roundRect">
            <a:avLst>
              <a:gd name="adj" fmla="val 2222"/>
            </a:avLst>
          </a:prstGeom>
          <a:solidFill>
            <a:srgbClr val="0F0C26"/>
          </a:solidFill>
          <a:ln w="12700">
            <a:solidFill>
              <a:srgbClr val="241C4D"/>
            </a:solidFill>
            <a:prstDash val="solid"/>
          </a:ln>
        </p:spPr>
      </p:sp>
      <p:sp>
        <p:nvSpPr>
          <p:cNvPr id="10" name="Text 7"/>
          <p:cNvSpPr/>
          <p:nvPr/>
        </p:nvSpPr>
        <p:spPr>
          <a:xfrm>
            <a:off x="914400" y="1755648"/>
            <a:ext cx="6309360" cy="3639312"/>
          </a:xfrm>
          <a:prstGeom prst="rect">
            <a:avLst/>
          </a:prstGeom>
          <a:noFill/>
          <a:ln/>
        </p:spPr>
        <p:txBody>
          <a:bodyPr wrap="square" lIns="0" tIns="0" rIns="0" bIns="0" rtlCol="0" anchor="t"/>
          <a:lstStyle/>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form</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label</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for</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"name"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Name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label</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input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id</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"name"</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type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"text"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required</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label</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Email</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label</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input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type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"email"</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label</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Age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label</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input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type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"number"</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min</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"1"</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max</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"100"</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endParaRPr lang="en-US" sz="1050" dirty="0"/>
          </a:p>
          <a:p>
            <a:pPr indent="0" marL="0">
              <a:lnSpc>
                <a:spcPts val="1750"/>
              </a:lnSpc>
              <a:buNone/>
            </a:pPr>
            <a:r>
              <a:rPr lang="en-US" sz="1050" dirty="0">
                <a:solidFill>
                  <a:srgbClr val="8B84B8"/>
                </a:solidFill>
                <a:latin typeface="Courier New" pitchFamily="34" charset="0"/>
                <a:ea typeface="Courier New" pitchFamily="34" charset="-122"/>
                <a:cs typeface="Courier New" pitchFamily="34" charset="-120"/>
              </a:rPr>
              <a:t>  &lt;!-- same name, so only one wins --&gt;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input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type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"radio"</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name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"gender"</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input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type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"radio"</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 </a:t>
            </a:r>
            <a:pPr indent="0" marL="0">
              <a:lnSpc>
                <a:spcPts val="1750"/>
              </a:lnSpc>
              <a:buNone/>
            </a:pPr>
            <a:r>
              <a:rPr lang="en-US" sz="1050" dirty="0">
                <a:solidFill>
                  <a:srgbClr val="FFC96B"/>
                </a:solidFill>
                <a:latin typeface="Courier New" pitchFamily="34" charset="0"/>
                <a:ea typeface="Courier New" pitchFamily="34" charset="-122"/>
                <a:cs typeface="Courier New" pitchFamily="34" charset="-120"/>
              </a:rPr>
              <a:t>name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a:t>
            </a:r>
            <a:pPr indent="0" marL="0">
              <a:lnSpc>
                <a:spcPts val="1750"/>
              </a:lnSpc>
              <a:buNone/>
            </a:pPr>
            <a:r>
              <a:rPr lang="en-US" sz="1050" dirty="0">
                <a:solidFill>
                  <a:srgbClr val="8FE3A8"/>
                </a:solidFill>
                <a:latin typeface="Courier New" pitchFamily="34" charset="0"/>
                <a:ea typeface="Courier New" pitchFamily="34" charset="-122"/>
                <a:cs typeface="Courier New" pitchFamily="34" charset="-120"/>
              </a:rPr>
              <a:t>"gender"</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select</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option</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Blue</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option</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option</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Black</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option</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select</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  &lt;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button</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r>
              <a:rPr lang="en-US" sz="1050" dirty="0">
                <a:solidFill>
                  <a:srgbClr val="E8E6F5"/>
                </a:solidFill>
                <a:latin typeface="Courier New" pitchFamily="34" charset="0"/>
                <a:ea typeface="Courier New" pitchFamily="34" charset="-122"/>
                <a:cs typeface="Courier New" pitchFamily="34" charset="-120"/>
              </a:rPr>
              <a:t>Submit</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button</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pPr indent="0" marL="0">
              <a:lnSpc>
                <a:spcPts val="1750"/>
              </a:lnSpc>
              <a:buNone/>
            </a:pPr>
            <a:endParaRPr lang="en-US" sz="1050" dirty="0"/>
          </a:p>
          <a:p>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&lt;/</a:t>
            </a:r>
            <a:pPr indent="0" marL="0">
              <a:lnSpc>
                <a:spcPts val="1750"/>
              </a:lnSpc>
              <a:buNone/>
            </a:pPr>
            <a:r>
              <a:rPr lang="en-US" sz="1050" dirty="0">
                <a:solidFill>
                  <a:srgbClr val="FF8FB8"/>
                </a:solidFill>
                <a:latin typeface="Courier New" pitchFamily="34" charset="0"/>
                <a:ea typeface="Courier New" pitchFamily="34" charset="-122"/>
                <a:cs typeface="Courier New" pitchFamily="34" charset="-120"/>
              </a:rPr>
              <a:t>form</a:t>
            </a:r>
            <a:pPr indent="0" marL="0">
              <a:lnSpc>
                <a:spcPts val="1750"/>
              </a:lnSpc>
              <a:buNone/>
            </a:pPr>
            <a:r>
              <a:rPr lang="en-US" sz="1050" dirty="0">
                <a:solidFill>
                  <a:srgbClr val="A9A2CC"/>
                </a:solidFill>
                <a:latin typeface="Courier New" pitchFamily="34" charset="0"/>
                <a:ea typeface="Courier New" pitchFamily="34" charset="-122"/>
                <a:cs typeface="Courier New" pitchFamily="34" charset="-120"/>
              </a:rPr>
              <a:t>&gt;</a:t>
            </a:r>
            <a:endParaRPr lang="en-US" sz="1050" dirty="0"/>
          </a:p>
        </p:txBody>
      </p:sp>
      <p:sp>
        <p:nvSpPr>
          <p:cNvPr id="11" name="Text 8"/>
          <p:cNvSpPr/>
          <p:nvPr/>
        </p:nvSpPr>
        <p:spPr>
          <a:xfrm>
            <a:off x="7863840" y="1517904"/>
            <a:ext cx="3685032" cy="292608"/>
          </a:xfrm>
          <a:prstGeom prst="rect">
            <a:avLst/>
          </a:prstGeom>
          <a:noFill/>
          <a:ln/>
        </p:spPr>
        <p:txBody>
          <a:bodyPr wrap="square" lIns="0" tIns="0" rIns="0" bIns="0" rtlCol="0" anchor="ctr"/>
          <a:lstStyle/>
          <a:p>
            <a:pPr indent="0" marL="0">
              <a:buNone/>
            </a:pPr>
            <a:r>
              <a:rPr lang="en-US" sz="1050" b="1" spc="200" kern="0" dirty="0">
                <a:solidFill>
                  <a:srgbClr val="FF8FB8"/>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01952"/>
            <a:ext cx="3685032" cy="658368"/>
          </a:xfrm>
          <a:prstGeom prst="roundRect">
            <a:avLst>
              <a:gd name="adj" fmla="val 11111"/>
            </a:avLst>
          </a:prstGeom>
          <a:solidFill>
            <a:srgbClr val="241C4D"/>
          </a:solidFill>
          <a:ln w="12700">
            <a:solidFill>
              <a:srgbClr val="2E2A50"/>
            </a:solidFill>
            <a:prstDash val="solid"/>
          </a:ln>
        </p:spPr>
      </p:sp>
      <p:sp>
        <p:nvSpPr>
          <p:cNvPr id="13" name="Text 10"/>
          <p:cNvSpPr/>
          <p:nvPr/>
        </p:nvSpPr>
        <p:spPr>
          <a:xfrm>
            <a:off x="8065008" y="1901952"/>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Start with form, then one label and one input. Wire for and id, then click the label and let them see the cursor jump.</a:t>
            </a:r>
            <a:endParaRPr lang="en-US" sz="1150" dirty="0"/>
          </a:p>
        </p:txBody>
      </p:sp>
      <p:sp>
        <p:nvSpPr>
          <p:cNvPr id="14" name="Shape 11"/>
          <p:cNvSpPr/>
          <p:nvPr/>
        </p:nvSpPr>
        <p:spPr>
          <a:xfrm>
            <a:off x="7863840" y="2651760"/>
            <a:ext cx="3685032" cy="658368"/>
          </a:xfrm>
          <a:prstGeom prst="roundRect">
            <a:avLst>
              <a:gd name="adj" fmla="val 11111"/>
            </a:avLst>
          </a:prstGeom>
          <a:solidFill>
            <a:srgbClr val="241C4D"/>
          </a:solidFill>
          <a:ln w="12700">
            <a:solidFill>
              <a:srgbClr val="2E2A50"/>
            </a:solidFill>
            <a:prstDash val="solid"/>
          </a:ln>
        </p:spPr>
      </p:sp>
      <p:sp>
        <p:nvSpPr>
          <p:cNvPr id="15" name="Text 12"/>
          <p:cNvSpPr/>
          <p:nvPr/>
        </p:nvSpPr>
        <p:spPr>
          <a:xfrm>
            <a:off x="8065008" y="2651760"/>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Add the email field, hit Submit with rubbish in it, and let the browser bubble appear. Nobody wrote that.</a:t>
            </a:r>
            <a:endParaRPr lang="en-US" sz="1150" dirty="0"/>
          </a:p>
        </p:txBody>
      </p:sp>
      <p:sp>
        <p:nvSpPr>
          <p:cNvPr id="16" name="Shape 13"/>
          <p:cNvSpPr/>
          <p:nvPr/>
        </p:nvSpPr>
        <p:spPr>
          <a:xfrm>
            <a:off x="7863840" y="3401568"/>
            <a:ext cx="3685032" cy="658368"/>
          </a:xfrm>
          <a:prstGeom prst="roundRect">
            <a:avLst>
              <a:gd name="adj" fmla="val 11111"/>
            </a:avLst>
          </a:prstGeom>
          <a:solidFill>
            <a:srgbClr val="241C4D"/>
          </a:solidFill>
          <a:ln w="12700">
            <a:solidFill>
              <a:srgbClr val="2E2A50"/>
            </a:solidFill>
            <a:prstDash val="solid"/>
          </a:ln>
        </p:spPr>
      </p:sp>
      <p:sp>
        <p:nvSpPr>
          <p:cNvPr id="17" name="Text 14"/>
          <p:cNvSpPr/>
          <p:nvPr/>
        </p:nvSpPr>
        <p:spPr>
          <a:xfrm>
            <a:off x="8065008" y="3401568"/>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Add the number field with min and max, then try typing 500. The spinner refuses.</a:t>
            </a:r>
            <a:endParaRPr lang="en-US" sz="1150" dirty="0"/>
          </a:p>
        </p:txBody>
      </p:sp>
      <p:sp>
        <p:nvSpPr>
          <p:cNvPr id="18" name="Shape 15"/>
          <p:cNvSpPr/>
          <p:nvPr/>
        </p:nvSpPr>
        <p:spPr>
          <a:xfrm>
            <a:off x="7863840" y="4151376"/>
            <a:ext cx="3685032" cy="658368"/>
          </a:xfrm>
          <a:prstGeom prst="roundRect">
            <a:avLst>
              <a:gd name="adj" fmla="val 11111"/>
            </a:avLst>
          </a:prstGeom>
          <a:solidFill>
            <a:srgbClr val="241C4D"/>
          </a:solidFill>
          <a:ln w="12700">
            <a:solidFill>
              <a:srgbClr val="2E2A50"/>
            </a:solidFill>
            <a:prstDash val="solid"/>
          </a:ln>
        </p:spPr>
      </p:sp>
      <p:sp>
        <p:nvSpPr>
          <p:cNvPr id="19" name="Text 16"/>
          <p:cNvSpPr/>
          <p:nvPr/>
        </p:nvSpPr>
        <p:spPr>
          <a:xfrm>
            <a:off x="8065008" y="4151376"/>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Two radios with the same name. Then change one name on purpose so both can be selected, and change it back.</a:t>
            </a:r>
            <a:endParaRPr lang="en-US" sz="1150" dirty="0"/>
          </a:p>
        </p:txBody>
      </p:sp>
      <p:sp>
        <p:nvSpPr>
          <p:cNvPr id="20" name="Shape 17"/>
          <p:cNvSpPr/>
          <p:nvPr/>
        </p:nvSpPr>
        <p:spPr>
          <a:xfrm>
            <a:off x="7863840" y="4901184"/>
            <a:ext cx="3685032" cy="658368"/>
          </a:xfrm>
          <a:prstGeom prst="roundRect">
            <a:avLst>
              <a:gd name="adj" fmla="val 11111"/>
            </a:avLst>
          </a:prstGeom>
          <a:solidFill>
            <a:srgbClr val="241C4D"/>
          </a:solidFill>
          <a:ln w="12700">
            <a:solidFill>
              <a:srgbClr val="2E2A50"/>
            </a:solidFill>
            <a:prstDash val="solid"/>
          </a:ln>
        </p:spPr>
      </p:sp>
      <p:sp>
        <p:nvSpPr>
          <p:cNvPr id="21" name="Text 18"/>
          <p:cNvSpPr/>
          <p:nvPr/>
        </p:nvSpPr>
        <p:spPr>
          <a:xfrm>
            <a:off x="8065008" y="4901184"/>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Finish with the select and the submit button. Ugly and completely functional, which is exactly the point.</a:t>
            </a:r>
            <a:endParaRPr lang="en-US" sz="1150" dirty="0"/>
          </a:p>
        </p:txBody>
      </p:sp>
      <p:sp>
        <p:nvSpPr>
          <p:cNvPr id="22" name="Shape 19"/>
          <p:cNvSpPr/>
          <p:nvPr/>
        </p:nvSpPr>
        <p:spPr>
          <a:xfrm>
            <a:off x="7863840" y="5486400"/>
            <a:ext cx="3685032" cy="658368"/>
          </a:xfrm>
          <a:prstGeom prst="roundRect">
            <a:avLst>
              <a:gd name="adj" fmla="val 11111"/>
            </a:avLst>
          </a:prstGeom>
          <a:solidFill>
            <a:srgbClr val="241C4D"/>
          </a:solidFill>
          <a:ln w="12700">
            <a:solidFill>
              <a:srgbClr val="2E2A50"/>
            </a:solidFill>
            <a:prstDash val="solid"/>
          </a:ln>
        </p:spPr>
      </p:sp>
      <p:sp>
        <p:nvSpPr>
          <p:cNvPr id="23" name="Text 20"/>
          <p:cNvSpPr/>
          <p:nvPr/>
        </p:nvSpPr>
        <p:spPr>
          <a:xfrm>
            <a:off x="8065008" y="5486400"/>
            <a:ext cx="3282696" cy="658368"/>
          </a:xfrm>
          <a:prstGeom prst="rect">
            <a:avLst/>
          </a:prstGeom>
          <a:noFill/>
          <a:ln/>
        </p:spPr>
        <p:txBody>
          <a:bodyPr wrap="square" lIns="0" tIns="0" rIns="0" bIns="0" rtlCol="0" anchor="ctr"/>
          <a:lstStyle/>
          <a:p>
            <a:pPr indent="0" marL="0">
              <a:lnSpc>
                <a:spcPts val="1400"/>
              </a:lnSpc>
              <a:buNone/>
            </a:pPr>
            <a:r>
              <a:rPr lang="en-US" sz="1000" dirty="0">
                <a:solidFill>
                  <a:srgbClr val="8B84B8"/>
                </a:solidFill>
                <a:latin typeface="Courier New" pitchFamily="34" charset="0"/>
                <a:ea typeface="Courier New" pitchFamily="34" charset="-122"/>
                <a:cs typeface="Courier New" pitchFamily="34" charset="-120"/>
              </a:rPr>
              <a:t>it looks like a 1998 government form. next class, CSS.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19</a:t>
            </a:r>
            <a:endParaRPr lang="en-US" sz="900" dirty="0"/>
          </a:p>
        </p:txBody>
      </p:sp>
      <p:sp>
        <p:nvSpPr>
          <p:cNvPr id="5" name="Shape 2"/>
          <p:cNvSpPr/>
          <p:nvPr/>
        </p:nvSpPr>
        <p:spPr>
          <a:xfrm>
            <a:off x="640080" y="365760"/>
            <a:ext cx="1920240" cy="347472"/>
          </a:xfrm>
          <a:prstGeom prst="roundRect">
            <a:avLst>
              <a:gd name="adj" fmla="val 21053"/>
            </a:avLst>
          </a:prstGeom>
          <a:solidFill>
            <a:srgbClr val="FF3D8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MEME BREAK</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Free behaviour you did not ask for</a:t>
            </a:r>
            <a:endParaRPr lang="en-US" sz="3200" dirty="0"/>
          </a:p>
        </p:txBody>
      </p:sp>
      <p:sp>
        <p:nvSpPr>
          <p:cNvPr id="8" name="Shape 5"/>
          <p:cNvSpPr/>
          <p:nvPr/>
        </p:nvSpPr>
        <p:spPr>
          <a:xfrm rot="-36000">
            <a:off x="640080" y="1627632"/>
            <a:ext cx="10881360" cy="2286000"/>
          </a:xfrm>
          <a:prstGeom prst="roundRect">
            <a:avLst>
              <a:gd name="adj" fmla="val 4000"/>
            </a:avLst>
          </a:prstGeom>
          <a:solidFill>
            <a:srgbClr val="FFFFFF"/>
          </a:solidFill>
          <a:ln w="25400">
            <a:solidFill>
              <a:srgbClr val="191333"/>
            </a:solidFill>
            <a:prstDash val="solid"/>
          </a:ln>
          <a:effectLst>
            <a:outerShdw sx="100000" sy="100000" kx="0" ky="0" algn="bl" rotWithShape="0" blurRad="101600" dist="38100" dir="2700000">
              <a:srgbClr val="191333">
                <a:alpha val="100000"/>
              </a:srgbClr>
            </a:outerShdw>
          </a:effectLst>
        </p:spPr>
      </p:sp>
      <p:sp>
        <p:nvSpPr>
          <p:cNvPr id="9" name="Text 6"/>
          <p:cNvSpPr/>
          <p:nvPr/>
        </p:nvSpPr>
        <p:spPr>
          <a:xfrm rot="-36000">
            <a:off x="1097280" y="1828800"/>
            <a:ext cx="10058400" cy="457200"/>
          </a:xfrm>
          <a:prstGeom prst="rect">
            <a:avLst/>
          </a:prstGeom>
          <a:noFill/>
          <a:ln/>
        </p:spPr>
        <p:txBody>
          <a:bodyPr wrap="square" lIns="0" tIns="0" rIns="0" bIns="0" rtlCol="0" anchor="ctr"/>
          <a:lstStyle/>
          <a:p>
            <a:pPr algn="l" indent="0" marL="0">
              <a:lnSpc>
                <a:spcPts val="2125"/>
              </a:lnSpc>
              <a:buNone/>
            </a:pPr>
            <a:r>
              <a:rPr lang="en-US" sz="1700" b="1" spc="50" kern="0" dirty="0">
                <a:solidFill>
                  <a:srgbClr val="5C5580"/>
                </a:solidFill>
                <a:latin typeface="Arial Black" pitchFamily="34" charset="0"/>
                <a:ea typeface="Arial Black" pitchFamily="34" charset="-122"/>
                <a:cs typeface="Arial Black" pitchFamily="34" charset="-120"/>
              </a:rPr>
              <a:t>NOBODY:</a:t>
            </a:r>
            <a:endParaRPr lang="en-US" sz="1700" dirty="0"/>
          </a:p>
        </p:txBody>
      </p:sp>
      <p:sp>
        <p:nvSpPr>
          <p:cNvPr id="10" name="Text 7"/>
          <p:cNvSpPr/>
          <p:nvPr/>
        </p:nvSpPr>
        <p:spPr>
          <a:xfrm rot="-36000">
            <a:off x="1097280" y="2331720"/>
            <a:ext cx="10058400" cy="457200"/>
          </a:xfrm>
          <a:prstGeom prst="rect">
            <a:avLst/>
          </a:prstGeom>
          <a:noFill/>
          <a:ln/>
        </p:spPr>
        <p:txBody>
          <a:bodyPr wrap="square" lIns="0" tIns="0" rIns="0" bIns="0" rtlCol="0" anchor="ctr"/>
          <a:lstStyle/>
          <a:p>
            <a:pPr algn="l" indent="0" marL="0">
              <a:lnSpc>
                <a:spcPts val="2125"/>
              </a:lnSpc>
              <a:buNone/>
            </a:pPr>
            <a:r>
              <a:rPr lang="en-US" sz="1700" b="1" spc="50" kern="0" dirty="0">
                <a:solidFill>
                  <a:srgbClr val="5C5580"/>
                </a:solidFill>
                <a:latin typeface="Arial Black" pitchFamily="34" charset="0"/>
                <a:ea typeface="Arial Black" pitchFamily="34" charset="-122"/>
                <a:cs typeface="Arial Black" pitchFamily="34" charset="-120"/>
              </a:rPr>
              <a:t>ABSOLUTELY NOBODY:</a:t>
            </a:r>
            <a:endParaRPr lang="en-US" sz="1700" dirty="0"/>
          </a:p>
        </p:txBody>
      </p:sp>
      <p:sp>
        <p:nvSpPr>
          <p:cNvPr id="11" name="Text 8"/>
          <p:cNvSpPr/>
          <p:nvPr/>
        </p:nvSpPr>
        <p:spPr>
          <a:xfrm rot="-36000">
            <a:off x="1097280" y="2926080"/>
            <a:ext cx="10058400" cy="731520"/>
          </a:xfrm>
          <a:prstGeom prst="rect">
            <a:avLst/>
          </a:prstGeom>
          <a:noFill/>
          <a:ln/>
        </p:spPr>
        <p:txBody>
          <a:bodyPr wrap="square" lIns="0" tIns="0" rIns="0" bIns="0" rtlCol="0" anchor="ctr"/>
          <a:lstStyle/>
          <a:p>
            <a:pPr algn="l" indent="0" marL="0">
              <a:lnSpc>
                <a:spcPts val="2500"/>
              </a:lnSpc>
              <a:buNone/>
            </a:pPr>
            <a:r>
              <a:rPr lang="en-US" sz="2000" b="1" spc="50" kern="0" dirty="0">
                <a:solidFill>
                  <a:srgbClr val="FF3D8B"/>
                </a:solidFill>
                <a:latin typeface="Arial Black" pitchFamily="34" charset="0"/>
                <a:ea typeface="Arial Black" pitchFamily="34" charset="-122"/>
                <a:cs typeface="Arial Black" pitchFamily="34" charset="-120"/>
              </a:rPr>
              <a:t>THE FORM, 0.2 SECONDS AFTER SUBMIT:</a:t>
            </a:r>
            <a:endParaRPr lang="en-US" sz="2000" dirty="0"/>
          </a:p>
          <a:p>
            <a:pPr algn="l" indent="0" marL="0">
              <a:lnSpc>
                <a:spcPts val="2500"/>
              </a:lnSpc>
              <a:buNone/>
            </a:pPr>
            <a:r>
              <a:rPr lang="en-US" sz="2000" b="1" spc="50" kern="0" dirty="0">
                <a:solidFill>
                  <a:srgbClr val="FF3D8B"/>
                </a:solidFill>
                <a:latin typeface="Arial Black" pitchFamily="34" charset="0"/>
                <a:ea typeface="Arial Black" pitchFamily="34" charset="-122"/>
                <a:cs typeface="Arial Black" pitchFamily="34" charset="-120"/>
              </a:rPr>
              <a:t>PLEASE ENTER A VALID EMAIL ADDRESS</a:t>
            </a:r>
            <a:endParaRPr lang="en-US" sz="2000" dirty="0"/>
          </a:p>
        </p:txBody>
      </p:sp>
      <p:sp>
        <p:nvSpPr>
          <p:cNvPr id="12" name="Shape 9"/>
          <p:cNvSpPr/>
          <p:nvPr/>
        </p:nvSpPr>
        <p:spPr>
          <a:xfrm>
            <a:off x="640080" y="4133088"/>
            <a:ext cx="2542032" cy="1280160"/>
          </a:xfrm>
          <a:prstGeom prst="roundRect">
            <a:avLst>
              <a:gd name="adj" fmla="val 7143"/>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3" name="Shape 10"/>
          <p:cNvSpPr/>
          <p:nvPr/>
        </p:nvSpPr>
        <p:spPr>
          <a:xfrm>
            <a:off x="877824" y="4334256"/>
            <a:ext cx="457200" cy="457200"/>
          </a:xfrm>
          <a:prstGeom prst="roundRect">
            <a:avLst>
              <a:gd name="adj" fmla="val 20000"/>
            </a:avLst>
          </a:prstGeom>
          <a:solidFill>
            <a:srgbClr val="FFFFFF"/>
          </a:solidFill>
          <a:ln w="15875">
            <a:solidFill>
              <a:srgbClr val="191333"/>
            </a:solidFill>
            <a:prstDash val="solid"/>
          </a:ln>
        </p:spPr>
      </p:sp>
      <p:pic>
        <p:nvPicPr>
          <p:cNvPr id="14" name="Image 0" descr="preencoded.png">    </p:cNvPr>
          <p:cNvPicPr>
            <a:picLocks noChangeAspect="1"/>
          </p:cNvPicPr>
          <p:nvPr/>
        </p:nvPicPr>
        <p:blipFill>
          <a:blip r:embed="rId1"/>
          <a:stretch>
            <a:fillRect/>
          </a:stretch>
        </p:blipFill>
        <p:spPr>
          <a:xfrm>
            <a:off x="996696" y="4453128"/>
            <a:ext cx="219456" cy="219456"/>
          </a:xfrm>
          <a:prstGeom prst="rect">
            <a:avLst/>
          </a:prstGeom>
        </p:spPr>
      </p:pic>
      <p:sp>
        <p:nvSpPr>
          <p:cNvPr id="15" name="Text 11"/>
          <p:cNvSpPr/>
          <p:nvPr/>
        </p:nvSpPr>
        <p:spPr>
          <a:xfrm>
            <a:off x="1444752" y="4334256"/>
            <a:ext cx="1499616" cy="45720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type="email"</a:t>
            </a:r>
            <a:endParaRPr lang="en-US" sz="1100" dirty="0"/>
          </a:p>
        </p:txBody>
      </p:sp>
      <p:sp>
        <p:nvSpPr>
          <p:cNvPr id="16" name="Text 12"/>
          <p:cNvSpPr/>
          <p:nvPr/>
        </p:nvSpPr>
        <p:spPr>
          <a:xfrm>
            <a:off x="877824" y="4864608"/>
            <a:ext cx="2066544" cy="457200"/>
          </a:xfrm>
          <a:prstGeom prst="rect">
            <a:avLst/>
          </a:prstGeom>
          <a:noFill/>
          <a:ln/>
        </p:spPr>
        <p:txBody>
          <a:bodyPr wrap="square" lIns="0" tIns="0" rIns="0" bIns="0" rtlCol="0" anchor="t"/>
          <a:lstStyle/>
          <a:p>
            <a:pPr algn="l" indent="0" marL="0">
              <a:lnSpc>
                <a:spcPts val="1450"/>
              </a:lnSpc>
              <a:buNone/>
            </a:pPr>
            <a:r>
              <a:rPr lang="en-US" sz="1100" dirty="0">
                <a:solidFill>
                  <a:srgbClr val="191333"/>
                </a:solidFill>
                <a:latin typeface="Calibri" pitchFamily="34" charset="0"/>
                <a:ea typeface="Calibri" pitchFamily="34" charset="-122"/>
                <a:cs typeface="Calibri" pitchFamily="34" charset="-120"/>
              </a:rPr>
              <a:t>Checks for an @ and shows the message.</a:t>
            </a:r>
            <a:endParaRPr lang="en-US" sz="1100" dirty="0"/>
          </a:p>
        </p:txBody>
      </p:sp>
      <p:sp>
        <p:nvSpPr>
          <p:cNvPr id="17" name="Shape 13"/>
          <p:cNvSpPr/>
          <p:nvPr/>
        </p:nvSpPr>
        <p:spPr>
          <a:xfrm>
            <a:off x="3483864" y="4133088"/>
            <a:ext cx="2542032" cy="1280160"/>
          </a:xfrm>
          <a:prstGeom prst="roundRect">
            <a:avLst>
              <a:gd name="adj" fmla="val 7143"/>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8" name="Shape 14"/>
          <p:cNvSpPr/>
          <p:nvPr/>
        </p:nvSpPr>
        <p:spPr>
          <a:xfrm>
            <a:off x="3721608" y="4334256"/>
            <a:ext cx="457200" cy="457200"/>
          </a:xfrm>
          <a:prstGeom prst="roundRect">
            <a:avLst>
              <a:gd name="adj" fmla="val 20000"/>
            </a:avLst>
          </a:prstGeom>
          <a:solidFill>
            <a:srgbClr val="FFFFFF"/>
          </a:solidFill>
          <a:ln w="15875">
            <a:solidFill>
              <a:srgbClr val="191333"/>
            </a:solidFill>
            <a:prstDash val="solid"/>
          </a:ln>
        </p:spPr>
      </p:sp>
      <p:pic>
        <p:nvPicPr>
          <p:cNvPr id="19" name="Image 1" descr="preencoded.png">    </p:cNvPr>
          <p:cNvPicPr>
            <a:picLocks noChangeAspect="1"/>
          </p:cNvPicPr>
          <p:nvPr/>
        </p:nvPicPr>
        <p:blipFill>
          <a:blip r:embed="rId2"/>
          <a:stretch>
            <a:fillRect/>
          </a:stretch>
        </p:blipFill>
        <p:spPr>
          <a:xfrm>
            <a:off x="3840480" y="4453128"/>
            <a:ext cx="219456" cy="219456"/>
          </a:xfrm>
          <a:prstGeom prst="rect">
            <a:avLst/>
          </a:prstGeom>
        </p:spPr>
      </p:pic>
      <p:sp>
        <p:nvSpPr>
          <p:cNvPr id="20" name="Text 15"/>
          <p:cNvSpPr/>
          <p:nvPr/>
        </p:nvSpPr>
        <p:spPr>
          <a:xfrm>
            <a:off x="4288536" y="4334256"/>
            <a:ext cx="1499616" cy="45720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type="date"</a:t>
            </a:r>
            <a:endParaRPr lang="en-US" sz="1100" dirty="0"/>
          </a:p>
        </p:txBody>
      </p:sp>
      <p:sp>
        <p:nvSpPr>
          <p:cNvPr id="21" name="Text 16"/>
          <p:cNvSpPr/>
          <p:nvPr/>
        </p:nvSpPr>
        <p:spPr>
          <a:xfrm>
            <a:off x="3721608" y="4864608"/>
            <a:ext cx="2066544" cy="457200"/>
          </a:xfrm>
          <a:prstGeom prst="rect">
            <a:avLst/>
          </a:prstGeom>
          <a:noFill/>
          <a:ln/>
        </p:spPr>
        <p:txBody>
          <a:bodyPr wrap="square" lIns="0" tIns="0" rIns="0" bIns="0" rtlCol="0" anchor="t"/>
          <a:lstStyle/>
          <a:p>
            <a:pPr algn="l" indent="0" marL="0">
              <a:lnSpc>
                <a:spcPts val="1450"/>
              </a:lnSpc>
              <a:buNone/>
            </a:pPr>
            <a:r>
              <a:rPr lang="en-US" sz="1100" dirty="0">
                <a:solidFill>
                  <a:srgbClr val="191333"/>
                </a:solidFill>
                <a:latin typeface="Calibri" pitchFamily="34" charset="0"/>
                <a:ea typeface="Calibri" pitchFamily="34" charset="-122"/>
                <a:cs typeface="Calibri" pitchFamily="34" charset="-120"/>
              </a:rPr>
              <a:t>A full calendar picker, in every browser.</a:t>
            </a:r>
            <a:endParaRPr lang="en-US" sz="1100" dirty="0"/>
          </a:p>
        </p:txBody>
      </p:sp>
      <p:sp>
        <p:nvSpPr>
          <p:cNvPr id="22" name="Shape 17"/>
          <p:cNvSpPr/>
          <p:nvPr/>
        </p:nvSpPr>
        <p:spPr>
          <a:xfrm>
            <a:off x="6327648" y="4133088"/>
            <a:ext cx="2542032" cy="1280160"/>
          </a:xfrm>
          <a:prstGeom prst="roundRect">
            <a:avLst>
              <a:gd name="adj" fmla="val 7143"/>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3" name="Shape 18"/>
          <p:cNvSpPr/>
          <p:nvPr/>
        </p:nvSpPr>
        <p:spPr>
          <a:xfrm>
            <a:off x="6565392" y="4334256"/>
            <a:ext cx="457200" cy="457200"/>
          </a:xfrm>
          <a:prstGeom prst="roundRect">
            <a:avLst>
              <a:gd name="adj" fmla="val 20000"/>
            </a:avLst>
          </a:prstGeom>
          <a:solidFill>
            <a:srgbClr val="FFFFFF"/>
          </a:solidFill>
          <a:ln w="15875">
            <a:solidFill>
              <a:srgbClr val="191333"/>
            </a:solidFill>
            <a:prstDash val="solid"/>
          </a:ln>
        </p:spPr>
      </p:sp>
      <p:pic>
        <p:nvPicPr>
          <p:cNvPr id="24" name="Image 2" descr="preencoded.png">    </p:cNvPr>
          <p:cNvPicPr>
            <a:picLocks noChangeAspect="1"/>
          </p:cNvPicPr>
          <p:nvPr/>
        </p:nvPicPr>
        <p:blipFill>
          <a:blip r:embed="rId3"/>
          <a:stretch>
            <a:fillRect/>
          </a:stretch>
        </p:blipFill>
        <p:spPr>
          <a:xfrm>
            <a:off x="6684264" y="4453128"/>
            <a:ext cx="219456" cy="219456"/>
          </a:xfrm>
          <a:prstGeom prst="rect">
            <a:avLst/>
          </a:prstGeom>
        </p:spPr>
      </p:pic>
      <p:sp>
        <p:nvSpPr>
          <p:cNvPr id="25" name="Text 19"/>
          <p:cNvSpPr/>
          <p:nvPr/>
        </p:nvSpPr>
        <p:spPr>
          <a:xfrm>
            <a:off x="7132320" y="4334256"/>
            <a:ext cx="1499616" cy="45720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type="number"</a:t>
            </a:r>
            <a:endParaRPr lang="en-US" sz="1100" dirty="0"/>
          </a:p>
        </p:txBody>
      </p:sp>
      <p:sp>
        <p:nvSpPr>
          <p:cNvPr id="26" name="Text 20"/>
          <p:cNvSpPr/>
          <p:nvPr/>
        </p:nvSpPr>
        <p:spPr>
          <a:xfrm>
            <a:off x="6565392" y="4864608"/>
            <a:ext cx="2066544" cy="457200"/>
          </a:xfrm>
          <a:prstGeom prst="rect">
            <a:avLst/>
          </a:prstGeom>
          <a:noFill/>
          <a:ln/>
        </p:spPr>
        <p:txBody>
          <a:bodyPr wrap="square" lIns="0" tIns="0" rIns="0" bIns="0" rtlCol="0" anchor="t"/>
          <a:lstStyle/>
          <a:p>
            <a:pPr algn="l" indent="0" marL="0">
              <a:lnSpc>
                <a:spcPts val="1450"/>
              </a:lnSpc>
              <a:buNone/>
            </a:pPr>
            <a:r>
              <a:rPr lang="en-US" sz="1100" dirty="0">
                <a:solidFill>
                  <a:srgbClr val="191333"/>
                </a:solidFill>
                <a:latin typeface="Calibri" pitchFamily="34" charset="0"/>
                <a:ea typeface="Calibri" pitchFamily="34" charset="-122"/>
                <a:cs typeface="Calibri" pitchFamily="34" charset="-120"/>
              </a:rPr>
              <a:t>Digits only, and a spinner to nudge it.</a:t>
            </a:r>
            <a:endParaRPr lang="en-US" sz="1100" dirty="0"/>
          </a:p>
        </p:txBody>
      </p:sp>
      <p:sp>
        <p:nvSpPr>
          <p:cNvPr id="27" name="Shape 21"/>
          <p:cNvSpPr/>
          <p:nvPr/>
        </p:nvSpPr>
        <p:spPr>
          <a:xfrm>
            <a:off x="9171432" y="4133088"/>
            <a:ext cx="2542032" cy="1280160"/>
          </a:xfrm>
          <a:prstGeom prst="roundRect">
            <a:avLst>
              <a:gd name="adj" fmla="val 7143"/>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8" name="Shape 22"/>
          <p:cNvSpPr/>
          <p:nvPr/>
        </p:nvSpPr>
        <p:spPr>
          <a:xfrm>
            <a:off x="9409176" y="4334256"/>
            <a:ext cx="457200" cy="457200"/>
          </a:xfrm>
          <a:prstGeom prst="roundRect">
            <a:avLst>
              <a:gd name="adj" fmla="val 20000"/>
            </a:avLst>
          </a:prstGeom>
          <a:solidFill>
            <a:srgbClr val="FFFFFF"/>
          </a:solidFill>
          <a:ln w="15875">
            <a:solidFill>
              <a:srgbClr val="191333"/>
            </a:solidFill>
            <a:prstDash val="solid"/>
          </a:ln>
        </p:spPr>
      </p:sp>
      <p:pic>
        <p:nvPicPr>
          <p:cNvPr id="29" name="Image 3" descr="preencoded.png">    </p:cNvPr>
          <p:cNvPicPr>
            <a:picLocks noChangeAspect="1"/>
          </p:cNvPicPr>
          <p:nvPr/>
        </p:nvPicPr>
        <p:blipFill>
          <a:blip r:embed="rId4"/>
          <a:stretch>
            <a:fillRect/>
          </a:stretch>
        </p:blipFill>
        <p:spPr>
          <a:xfrm>
            <a:off x="9528048" y="4453128"/>
            <a:ext cx="219456" cy="219456"/>
          </a:xfrm>
          <a:prstGeom prst="rect">
            <a:avLst/>
          </a:prstGeom>
        </p:spPr>
      </p:pic>
      <p:sp>
        <p:nvSpPr>
          <p:cNvPr id="30" name="Text 23"/>
          <p:cNvSpPr/>
          <p:nvPr/>
        </p:nvSpPr>
        <p:spPr>
          <a:xfrm>
            <a:off x="9976104" y="4334256"/>
            <a:ext cx="1499616" cy="457200"/>
          </a:xfrm>
          <a:prstGeom prst="rect">
            <a:avLst/>
          </a:prstGeom>
          <a:noFill/>
          <a:ln/>
        </p:spPr>
        <p:txBody>
          <a:bodyPr wrap="square" lIns="0" tIns="0" rIns="0" bIns="0" rtlCol="0" anchor="ctr"/>
          <a:lstStyle/>
          <a:p>
            <a:pPr indent="0" marL="0">
              <a:buNone/>
            </a:pPr>
            <a:r>
              <a:rPr lang="en-US" sz="1100" b="1" dirty="0">
                <a:solidFill>
                  <a:srgbClr val="FF3D8B"/>
                </a:solidFill>
                <a:latin typeface="Courier New" pitchFamily="34" charset="0"/>
                <a:ea typeface="Courier New" pitchFamily="34" charset="-122"/>
                <a:cs typeface="Courier New" pitchFamily="34" charset="-120"/>
              </a:rPr>
              <a:t>required</a:t>
            </a:r>
            <a:endParaRPr lang="en-US" sz="1100" dirty="0"/>
          </a:p>
        </p:txBody>
      </p:sp>
      <p:sp>
        <p:nvSpPr>
          <p:cNvPr id="31" name="Text 24"/>
          <p:cNvSpPr/>
          <p:nvPr/>
        </p:nvSpPr>
        <p:spPr>
          <a:xfrm>
            <a:off x="9409176" y="4864608"/>
            <a:ext cx="2066544" cy="457200"/>
          </a:xfrm>
          <a:prstGeom prst="rect">
            <a:avLst/>
          </a:prstGeom>
          <a:noFill/>
          <a:ln/>
        </p:spPr>
        <p:txBody>
          <a:bodyPr wrap="square" lIns="0" tIns="0" rIns="0" bIns="0" rtlCol="0" anchor="t"/>
          <a:lstStyle/>
          <a:p>
            <a:pPr algn="l" indent="0" marL="0">
              <a:lnSpc>
                <a:spcPts val="1450"/>
              </a:lnSpc>
              <a:buNone/>
            </a:pPr>
            <a:r>
              <a:rPr lang="en-US" sz="1100" dirty="0">
                <a:solidFill>
                  <a:srgbClr val="191333"/>
                </a:solidFill>
                <a:latin typeface="Calibri" pitchFamily="34" charset="0"/>
                <a:ea typeface="Calibri" pitchFamily="34" charset="-122"/>
                <a:cs typeface="Calibri" pitchFamily="34" charset="-120"/>
              </a:rPr>
              <a:t>Refuses to submit while it is empty.</a:t>
            </a:r>
            <a:endParaRPr lang="en-US" sz="1100" dirty="0"/>
          </a:p>
        </p:txBody>
      </p:sp>
      <p:sp>
        <p:nvSpPr>
          <p:cNvPr id="32" name="Shape 25"/>
          <p:cNvSpPr/>
          <p:nvPr/>
        </p:nvSpPr>
        <p:spPr>
          <a:xfrm>
            <a:off x="640080" y="5596128"/>
            <a:ext cx="10908792" cy="621792"/>
          </a:xfrm>
          <a:prstGeom prst="roundRect">
            <a:avLst>
              <a:gd name="adj" fmla="val 14706"/>
            </a:avLst>
          </a:prstGeom>
          <a:solidFill>
            <a:srgbClr val="F0FBD8"/>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3" name="Text 26"/>
          <p:cNvSpPr/>
          <p:nvPr/>
        </p:nvSpPr>
        <p:spPr>
          <a:xfrm>
            <a:off x="640080" y="5596128"/>
            <a:ext cx="10908792" cy="621792"/>
          </a:xfrm>
          <a:prstGeom prst="rect">
            <a:avLst/>
          </a:prstGeom>
          <a:noFill/>
          <a:ln/>
        </p:spPr>
        <p:txBody>
          <a:bodyPr wrap="square" lIns="0" tIns="0" rIns="0" bIns="0" rtlCol="0" anchor="ctr"/>
          <a:lstStyle/>
          <a:p>
            <a:pPr algn="ctr" indent="0" marL="0">
              <a:buNone/>
            </a:pPr>
            <a:r>
              <a:rPr lang="en-US" sz="1500" b="1" dirty="0">
                <a:solidFill>
                  <a:srgbClr val="191333"/>
                </a:solidFill>
                <a:latin typeface="Calibri" pitchFamily="34" charset="0"/>
                <a:ea typeface="Calibri" pitchFamily="34" charset="-122"/>
                <a:cs typeface="Calibri" pitchFamily="34" charset="-120"/>
              </a:rPr>
              <a:t>Every one of those is one attribute. Pick the right input type and the browser does your homework.</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20</a:t>
            </a:r>
            <a:endParaRPr lang="en-US" sz="900" dirty="0"/>
          </a:p>
        </p:txBody>
      </p:sp>
      <p:sp>
        <p:nvSpPr>
          <p:cNvPr id="5" name="Shape 2"/>
          <p:cNvSpPr/>
          <p:nvPr/>
        </p:nvSpPr>
        <p:spPr>
          <a:xfrm>
            <a:off x="640080" y="365760"/>
            <a:ext cx="1773936" cy="347472"/>
          </a:xfrm>
          <a:prstGeom prst="roundRect">
            <a:avLst>
              <a:gd name="adj" fmla="val 21053"/>
            </a:avLst>
          </a:prstGeom>
          <a:solidFill>
            <a:srgbClr val="FF3D8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YOUR TURN</a:t>
            </a:r>
            <a:endParaRPr lang="en-US" sz="1050" dirty="0"/>
          </a:p>
        </p:txBody>
      </p:sp>
      <p:sp>
        <p:nvSpPr>
          <p:cNvPr id="7" name="Text 4"/>
          <p:cNvSpPr/>
          <p:nvPr/>
        </p:nvSpPr>
        <p:spPr>
          <a:xfrm>
            <a:off x="640080" y="786384"/>
            <a:ext cx="900684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Add a contact form to your portfolio</a:t>
            </a:r>
            <a:endParaRPr lang="en-US" sz="3200" dirty="0"/>
          </a:p>
        </p:txBody>
      </p:sp>
      <p:sp>
        <p:nvSpPr>
          <p:cNvPr id="8" name="Shape 5"/>
          <p:cNvSpPr/>
          <p:nvPr/>
        </p:nvSpPr>
        <p:spPr>
          <a:xfrm>
            <a:off x="9976104" y="749808"/>
            <a:ext cx="1572768" cy="512064"/>
          </a:xfrm>
          <a:prstGeom prst="roundRect">
            <a:avLst>
              <a:gd name="adj" fmla="val 17857"/>
            </a:avLst>
          </a:prstGeom>
          <a:solidFill>
            <a:srgbClr val="FF3D8B"/>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9" name="Text 6"/>
          <p:cNvSpPr/>
          <p:nvPr/>
        </p:nvSpPr>
        <p:spPr>
          <a:xfrm>
            <a:off x="9976104" y="749808"/>
            <a:ext cx="1572768"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 min</a:t>
            </a:r>
            <a:endParaRPr lang="en-US" sz="1250" dirty="0"/>
          </a:p>
        </p:txBody>
      </p:sp>
      <p:sp>
        <p:nvSpPr>
          <p:cNvPr id="10" name="Text 7"/>
          <p:cNvSpPr/>
          <p:nvPr/>
        </p:nvSpPr>
        <p:spPr>
          <a:xfrm>
            <a:off x="640080" y="1627632"/>
            <a:ext cx="10881360" cy="365760"/>
          </a:xfrm>
          <a:prstGeom prst="rect">
            <a:avLst/>
          </a:prstGeom>
          <a:noFill/>
          <a:ln/>
        </p:spPr>
        <p:txBody>
          <a:bodyPr wrap="square" lIns="0" tIns="0" rIns="0" bIns="0" rtlCol="0" anchor="t"/>
          <a:lstStyle/>
          <a:p>
            <a:pPr algn="l" indent="0" marL="0">
              <a:lnSpc>
                <a:spcPts val="1932"/>
              </a:lnSpc>
              <a:buNone/>
            </a:pPr>
            <a:r>
              <a:rPr lang="en-US" sz="1400" dirty="0">
                <a:solidFill>
                  <a:srgbClr val="191333"/>
                </a:solidFill>
                <a:latin typeface="Calibri" pitchFamily="34" charset="0"/>
                <a:ea typeface="Calibri" pitchFamily="34" charset="-122"/>
                <a:cs typeface="Calibri" pitchFamily="34" charset="-120"/>
              </a:rPr>
              <a:t>Open the portfolio you started last class and give it a way for someone to actually reach you.</a:t>
            </a:r>
            <a:endParaRPr lang="en-US" sz="1400" dirty="0"/>
          </a:p>
        </p:txBody>
      </p:sp>
      <p:sp>
        <p:nvSpPr>
          <p:cNvPr id="11" name="Shape 8"/>
          <p:cNvSpPr/>
          <p:nvPr/>
        </p:nvSpPr>
        <p:spPr>
          <a:xfrm>
            <a:off x="640080" y="2103120"/>
            <a:ext cx="3419856" cy="2103120"/>
          </a:xfrm>
          <a:prstGeom prst="roundRect">
            <a:avLst>
              <a:gd name="adj" fmla="val 4348"/>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2" name="Shape 9"/>
          <p:cNvSpPr/>
          <p:nvPr/>
        </p:nvSpPr>
        <p:spPr>
          <a:xfrm>
            <a:off x="914400" y="2340864"/>
            <a:ext cx="475488" cy="475488"/>
          </a:xfrm>
          <a:prstGeom prst="ellipse">
            <a:avLst/>
          </a:prstGeom>
          <a:solidFill>
            <a:srgbClr val="FFE6F0"/>
          </a:solidFill>
          <a:ln w="12700">
            <a:solidFill>
              <a:srgbClr val="FF3D8B"/>
            </a:solidFill>
            <a:prstDash val="solid"/>
          </a:ln>
        </p:spPr>
      </p:sp>
      <p:sp>
        <p:nvSpPr>
          <p:cNvPr id="13" name="Text 10"/>
          <p:cNvSpPr/>
          <p:nvPr/>
        </p:nvSpPr>
        <p:spPr>
          <a:xfrm>
            <a:off x="914400" y="2340864"/>
            <a:ext cx="475488" cy="475488"/>
          </a:xfrm>
          <a:prstGeom prst="rect">
            <a:avLst/>
          </a:prstGeom>
          <a:noFill/>
          <a:ln/>
        </p:spPr>
        <p:txBody>
          <a:bodyPr wrap="square" lIns="0" tIns="0" rIns="0" bIns="0" rtlCol="0" anchor="ctr"/>
          <a:lstStyle/>
          <a:p>
            <a:pPr algn="ctr" indent="0" marL="0">
              <a:buNone/>
            </a:pPr>
            <a:r>
              <a:rPr lang="en-US" sz="1200" b="1" dirty="0">
                <a:solidFill>
                  <a:srgbClr val="FF3D8B"/>
                </a:solidFill>
                <a:latin typeface="Calibri" pitchFamily="34" charset="0"/>
                <a:ea typeface="Calibri" pitchFamily="34" charset="-122"/>
                <a:cs typeface="Calibri" pitchFamily="34" charset="-120"/>
              </a:rPr>
              <a:t>01</a:t>
            </a:r>
            <a:endParaRPr lang="en-US" sz="1200" dirty="0"/>
          </a:p>
        </p:txBody>
      </p:sp>
      <p:sp>
        <p:nvSpPr>
          <p:cNvPr id="14" name="Text 11"/>
          <p:cNvSpPr/>
          <p:nvPr/>
        </p:nvSpPr>
        <p:spPr>
          <a:xfrm>
            <a:off x="914400" y="2926080"/>
            <a:ext cx="2871216" cy="512064"/>
          </a:xfrm>
          <a:prstGeom prst="rect">
            <a:avLst/>
          </a:prstGeom>
          <a:noFill/>
          <a:ln/>
        </p:spPr>
        <p:txBody>
          <a:bodyPr wrap="square" lIns="0" tIns="0" rIns="0" bIns="0" rtlCol="0" anchor="t"/>
          <a:lstStyle/>
          <a:p>
            <a:pPr indent="0" marL="0">
              <a:lnSpc>
                <a:spcPts val="2000"/>
              </a:lnSpc>
              <a:buNone/>
            </a:pPr>
            <a:r>
              <a:rPr lang="en-US" sz="1600" b="1" dirty="0">
                <a:solidFill>
                  <a:srgbClr val="191333"/>
                </a:solidFill>
                <a:latin typeface="Calibri" pitchFamily="34" charset="0"/>
                <a:ea typeface="Calibri" pitchFamily="34" charset="-122"/>
                <a:cs typeface="Calibri" pitchFamily="34" charset="-120"/>
              </a:rPr>
              <a:t>Four fields</a:t>
            </a:r>
            <a:endParaRPr lang="en-US" sz="1600" dirty="0"/>
          </a:p>
        </p:txBody>
      </p:sp>
      <p:sp>
        <p:nvSpPr>
          <p:cNvPr id="15" name="Text 12"/>
          <p:cNvSpPr/>
          <p:nvPr/>
        </p:nvSpPr>
        <p:spPr>
          <a:xfrm>
            <a:off x="914400" y="3456432"/>
            <a:ext cx="2871216" cy="676656"/>
          </a:xfrm>
          <a:prstGeom prst="rect">
            <a:avLst/>
          </a:prstGeom>
          <a:noFill/>
          <a:ln/>
        </p:spPr>
        <p:txBody>
          <a:bodyPr wrap="square" lIns="0" tIns="0" rIns="0" bIns="0" rtlCol="0" anchor="t"/>
          <a:lstStyle/>
          <a:p>
            <a:pPr algn="l" indent="0" marL="0">
              <a:lnSpc>
                <a:spcPts val="1600"/>
              </a:lnSpc>
              <a:buNone/>
            </a:pPr>
            <a:r>
              <a:rPr lang="en-US" sz="1200" dirty="0">
                <a:solidFill>
                  <a:srgbClr val="5C5580"/>
                </a:solidFill>
                <a:latin typeface="Calibri" pitchFamily="34" charset="0"/>
                <a:ea typeface="Calibri" pitchFamily="34" charset="-122"/>
                <a:cs typeface="Calibri" pitchFamily="34" charset="-120"/>
              </a:rPr>
              <a:t>Name, email, a subject dropdown, and a message. Label every one of them properly.</a:t>
            </a:r>
            <a:endParaRPr lang="en-US" sz="1200" dirty="0"/>
          </a:p>
        </p:txBody>
      </p:sp>
      <p:sp>
        <p:nvSpPr>
          <p:cNvPr id="16" name="Shape 13"/>
          <p:cNvSpPr/>
          <p:nvPr/>
        </p:nvSpPr>
        <p:spPr>
          <a:xfrm>
            <a:off x="4379976" y="2103120"/>
            <a:ext cx="3419856" cy="2103120"/>
          </a:xfrm>
          <a:prstGeom prst="roundRect">
            <a:avLst>
              <a:gd name="adj" fmla="val 4348"/>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17" name="Shape 14"/>
          <p:cNvSpPr/>
          <p:nvPr/>
        </p:nvSpPr>
        <p:spPr>
          <a:xfrm>
            <a:off x="4654296" y="2340864"/>
            <a:ext cx="475488" cy="475488"/>
          </a:xfrm>
          <a:prstGeom prst="ellipse">
            <a:avLst/>
          </a:prstGeom>
          <a:solidFill>
            <a:srgbClr val="FFE6F0"/>
          </a:solidFill>
          <a:ln w="12700">
            <a:solidFill>
              <a:srgbClr val="FF3D8B"/>
            </a:solidFill>
            <a:prstDash val="solid"/>
          </a:ln>
        </p:spPr>
      </p:sp>
      <p:sp>
        <p:nvSpPr>
          <p:cNvPr id="18" name="Text 15"/>
          <p:cNvSpPr/>
          <p:nvPr/>
        </p:nvSpPr>
        <p:spPr>
          <a:xfrm>
            <a:off x="4654296" y="2340864"/>
            <a:ext cx="475488" cy="475488"/>
          </a:xfrm>
          <a:prstGeom prst="rect">
            <a:avLst/>
          </a:prstGeom>
          <a:noFill/>
          <a:ln/>
        </p:spPr>
        <p:txBody>
          <a:bodyPr wrap="square" lIns="0" tIns="0" rIns="0" bIns="0" rtlCol="0" anchor="ctr"/>
          <a:lstStyle/>
          <a:p>
            <a:pPr algn="ctr" indent="0" marL="0">
              <a:buNone/>
            </a:pPr>
            <a:r>
              <a:rPr lang="en-US" sz="1200" b="1" dirty="0">
                <a:solidFill>
                  <a:srgbClr val="FF3D8B"/>
                </a:solidFill>
                <a:latin typeface="Calibri" pitchFamily="34" charset="0"/>
                <a:ea typeface="Calibri" pitchFamily="34" charset="-122"/>
                <a:cs typeface="Calibri" pitchFamily="34" charset="-120"/>
              </a:rPr>
              <a:t>02</a:t>
            </a:r>
            <a:endParaRPr lang="en-US" sz="1200" dirty="0"/>
          </a:p>
        </p:txBody>
      </p:sp>
      <p:sp>
        <p:nvSpPr>
          <p:cNvPr id="19" name="Text 16"/>
          <p:cNvSpPr/>
          <p:nvPr/>
        </p:nvSpPr>
        <p:spPr>
          <a:xfrm>
            <a:off x="4654296" y="2926080"/>
            <a:ext cx="2871216" cy="512064"/>
          </a:xfrm>
          <a:prstGeom prst="rect">
            <a:avLst/>
          </a:prstGeom>
          <a:noFill/>
          <a:ln/>
        </p:spPr>
        <p:txBody>
          <a:bodyPr wrap="square" lIns="0" tIns="0" rIns="0" bIns="0" rtlCol="0" anchor="t"/>
          <a:lstStyle/>
          <a:p>
            <a:pPr indent="0" marL="0">
              <a:lnSpc>
                <a:spcPts val="2000"/>
              </a:lnSpc>
              <a:buNone/>
            </a:pPr>
            <a:r>
              <a:rPr lang="en-US" sz="1600" b="1" dirty="0">
                <a:solidFill>
                  <a:srgbClr val="191333"/>
                </a:solidFill>
                <a:latin typeface="Calibri" pitchFamily="34" charset="0"/>
                <a:ea typeface="Calibri" pitchFamily="34" charset="-122"/>
                <a:cs typeface="Calibri" pitchFamily="34" charset="-120"/>
              </a:rPr>
              <a:t>Make it strict</a:t>
            </a:r>
            <a:endParaRPr lang="en-US" sz="1600" dirty="0"/>
          </a:p>
        </p:txBody>
      </p:sp>
      <p:sp>
        <p:nvSpPr>
          <p:cNvPr id="20" name="Text 17"/>
          <p:cNvSpPr/>
          <p:nvPr/>
        </p:nvSpPr>
        <p:spPr>
          <a:xfrm>
            <a:off x="4654296" y="3456432"/>
            <a:ext cx="2871216" cy="676656"/>
          </a:xfrm>
          <a:prstGeom prst="rect">
            <a:avLst/>
          </a:prstGeom>
          <a:noFill/>
          <a:ln/>
        </p:spPr>
        <p:txBody>
          <a:bodyPr wrap="square" lIns="0" tIns="0" rIns="0" bIns="0" rtlCol="0" anchor="t"/>
          <a:lstStyle/>
          <a:p>
            <a:pPr algn="l" indent="0" marL="0">
              <a:lnSpc>
                <a:spcPts val="1600"/>
              </a:lnSpc>
              <a:buNone/>
            </a:pPr>
            <a:r>
              <a:rPr lang="en-US" sz="1200" dirty="0">
                <a:solidFill>
                  <a:srgbClr val="5C5580"/>
                </a:solidFill>
                <a:latin typeface="Calibri" pitchFamily="34" charset="0"/>
                <a:ea typeface="Calibri" pitchFamily="34" charset="-122"/>
                <a:cs typeface="Calibri" pitchFamily="34" charset="-120"/>
              </a:rPr>
              <a:t>required on name and email, type="email" on the email, and a maxlength somewhere.</a:t>
            </a:r>
            <a:endParaRPr lang="en-US" sz="1200" dirty="0"/>
          </a:p>
        </p:txBody>
      </p:sp>
      <p:sp>
        <p:nvSpPr>
          <p:cNvPr id="21" name="Shape 18"/>
          <p:cNvSpPr/>
          <p:nvPr/>
        </p:nvSpPr>
        <p:spPr>
          <a:xfrm>
            <a:off x="8119872" y="2103120"/>
            <a:ext cx="3419856" cy="2103120"/>
          </a:xfrm>
          <a:prstGeom prst="roundRect">
            <a:avLst>
              <a:gd name="adj" fmla="val 4348"/>
            </a:avLst>
          </a:prstGeom>
          <a:solidFill>
            <a:srgbClr val="FFFF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2" name="Shape 19"/>
          <p:cNvSpPr/>
          <p:nvPr/>
        </p:nvSpPr>
        <p:spPr>
          <a:xfrm>
            <a:off x="8394192" y="2340864"/>
            <a:ext cx="475488" cy="475488"/>
          </a:xfrm>
          <a:prstGeom prst="ellipse">
            <a:avLst/>
          </a:prstGeom>
          <a:solidFill>
            <a:srgbClr val="FFE6F0"/>
          </a:solidFill>
          <a:ln w="12700">
            <a:solidFill>
              <a:srgbClr val="FF3D8B"/>
            </a:solidFill>
            <a:prstDash val="solid"/>
          </a:ln>
        </p:spPr>
      </p:sp>
      <p:sp>
        <p:nvSpPr>
          <p:cNvPr id="23" name="Text 20"/>
          <p:cNvSpPr/>
          <p:nvPr/>
        </p:nvSpPr>
        <p:spPr>
          <a:xfrm>
            <a:off x="8394192" y="2340864"/>
            <a:ext cx="475488" cy="475488"/>
          </a:xfrm>
          <a:prstGeom prst="rect">
            <a:avLst/>
          </a:prstGeom>
          <a:noFill/>
          <a:ln/>
        </p:spPr>
        <p:txBody>
          <a:bodyPr wrap="square" lIns="0" tIns="0" rIns="0" bIns="0" rtlCol="0" anchor="ctr"/>
          <a:lstStyle/>
          <a:p>
            <a:pPr algn="ctr" indent="0" marL="0">
              <a:buNone/>
            </a:pPr>
            <a:r>
              <a:rPr lang="en-US" sz="1200" b="1" dirty="0">
                <a:solidFill>
                  <a:srgbClr val="FF3D8B"/>
                </a:solidFill>
                <a:latin typeface="Calibri" pitchFamily="34" charset="0"/>
                <a:ea typeface="Calibri" pitchFamily="34" charset="-122"/>
                <a:cs typeface="Calibri" pitchFamily="34" charset="-120"/>
              </a:rPr>
              <a:t>03</a:t>
            </a:r>
            <a:endParaRPr lang="en-US" sz="1200" dirty="0"/>
          </a:p>
        </p:txBody>
      </p:sp>
      <p:sp>
        <p:nvSpPr>
          <p:cNvPr id="24" name="Text 21"/>
          <p:cNvSpPr/>
          <p:nvPr/>
        </p:nvSpPr>
        <p:spPr>
          <a:xfrm>
            <a:off x="8394192" y="2926080"/>
            <a:ext cx="2871216" cy="512064"/>
          </a:xfrm>
          <a:prstGeom prst="rect">
            <a:avLst/>
          </a:prstGeom>
          <a:noFill/>
          <a:ln/>
        </p:spPr>
        <p:txBody>
          <a:bodyPr wrap="square" lIns="0" tIns="0" rIns="0" bIns="0" rtlCol="0" anchor="t"/>
          <a:lstStyle/>
          <a:p>
            <a:pPr indent="0" marL="0">
              <a:lnSpc>
                <a:spcPts val="2000"/>
              </a:lnSpc>
              <a:buNone/>
            </a:pPr>
            <a:r>
              <a:rPr lang="en-US" sz="1600" b="1" dirty="0">
                <a:solidFill>
                  <a:srgbClr val="191333"/>
                </a:solidFill>
                <a:latin typeface="Calibri" pitchFamily="34" charset="0"/>
                <a:ea typeface="Calibri" pitchFamily="34" charset="-122"/>
                <a:cs typeface="Calibri" pitchFamily="34" charset="-120"/>
              </a:rPr>
              <a:t>Break it once</a:t>
            </a:r>
            <a:endParaRPr lang="en-US" sz="1600" dirty="0"/>
          </a:p>
        </p:txBody>
      </p:sp>
      <p:sp>
        <p:nvSpPr>
          <p:cNvPr id="25" name="Text 22"/>
          <p:cNvSpPr/>
          <p:nvPr/>
        </p:nvSpPr>
        <p:spPr>
          <a:xfrm>
            <a:off x="8394192" y="3456432"/>
            <a:ext cx="2871216" cy="676656"/>
          </a:xfrm>
          <a:prstGeom prst="rect">
            <a:avLst/>
          </a:prstGeom>
          <a:noFill/>
          <a:ln/>
        </p:spPr>
        <p:txBody>
          <a:bodyPr wrap="square" lIns="0" tIns="0" rIns="0" bIns="0" rtlCol="0" anchor="t"/>
          <a:lstStyle/>
          <a:p>
            <a:pPr algn="l" indent="0" marL="0">
              <a:lnSpc>
                <a:spcPts val="1600"/>
              </a:lnSpc>
              <a:buNone/>
            </a:pPr>
            <a:r>
              <a:rPr lang="en-US" sz="1200" dirty="0">
                <a:solidFill>
                  <a:srgbClr val="5C5580"/>
                </a:solidFill>
                <a:latin typeface="Calibri" pitchFamily="34" charset="0"/>
                <a:ea typeface="Calibri" pitchFamily="34" charset="-122"/>
                <a:cs typeface="Calibri" pitchFamily="34" charset="-120"/>
              </a:rPr>
              <a:t>Submit it empty. Submit a bad email. Watch what the browser says without your help.</a:t>
            </a:r>
            <a:endParaRPr lang="en-US" sz="1200" dirty="0"/>
          </a:p>
        </p:txBody>
      </p:sp>
      <p:sp>
        <p:nvSpPr>
          <p:cNvPr id="26" name="Shape 23"/>
          <p:cNvSpPr/>
          <p:nvPr/>
        </p:nvSpPr>
        <p:spPr>
          <a:xfrm>
            <a:off x="640080" y="4443984"/>
            <a:ext cx="10881360" cy="1005840"/>
          </a:xfrm>
          <a:prstGeom prst="roundRect">
            <a:avLst>
              <a:gd name="adj" fmla="val 9091"/>
            </a:avLst>
          </a:prstGeom>
          <a:solidFill>
            <a:srgbClr val="FFE6F0"/>
          </a:solidFill>
          <a:ln w="19050">
            <a:solidFill>
              <a:srgbClr val="FF3D8B"/>
            </a:solidFill>
            <a:prstDash val="solid"/>
          </a:ln>
          <a:effectLst>
            <a:outerShdw sx="100000" sy="100000" kx="0" ky="0" algn="bl" rotWithShape="0" blurRad="101600" dist="38100" dir="2700000">
              <a:srgbClr val="191333">
                <a:alpha val="100000"/>
              </a:srgbClr>
            </a:outerShdw>
          </a:effectLst>
        </p:spPr>
      </p:sp>
      <p:sp>
        <p:nvSpPr>
          <p:cNvPr id="27" name="Text 24"/>
          <p:cNvSpPr/>
          <p:nvPr/>
        </p:nvSpPr>
        <p:spPr>
          <a:xfrm>
            <a:off x="950976" y="4572000"/>
            <a:ext cx="9418320" cy="274320"/>
          </a:xfrm>
          <a:prstGeom prst="rect">
            <a:avLst/>
          </a:prstGeom>
          <a:noFill/>
          <a:ln/>
        </p:spPr>
        <p:txBody>
          <a:bodyPr wrap="square" lIns="0" tIns="0" rIns="0" bIns="0" rtlCol="0" anchor="ctr"/>
          <a:lstStyle/>
          <a:p>
            <a:pPr indent="0" marL="0">
              <a:buNone/>
            </a:pPr>
            <a:r>
              <a:rPr lang="en-US" sz="1000" b="1" spc="250" kern="0" dirty="0">
                <a:solidFill>
                  <a:srgbClr val="FF3D8B"/>
                </a:solidFill>
                <a:latin typeface="Calibri" pitchFamily="34" charset="0"/>
                <a:ea typeface="Calibri" pitchFamily="34" charset="-122"/>
                <a:cs typeface="Calibri" pitchFamily="34" charset="-120"/>
              </a:rPr>
              <a:t>SHARE BACK</a:t>
            </a:r>
            <a:endParaRPr lang="en-US" sz="1000" dirty="0"/>
          </a:p>
        </p:txBody>
      </p:sp>
      <p:sp>
        <p:nvSpPr>
          <p:cNvPr id="28" name="Text 25"/>
          <p:cNvSpPr/>
          <p:nvPr/>
        </p:nvSpPr>
        <p:spPr>
          <a:xfrm>
            <a:off x="950976" y="4846320"/>
            <a:ext cx="10241280" cy="502920"/>
          </a:xfrm>
          <a:prstGeom prst="rect">
            <a:avLst/>
          </a:prstGeom>
          <a:noFill/>
          <a:ln/>
        </p:spPr>
        <p:txBody>
          <a:bodyPr wrap="square" lIns="0" tIns="0" rIns="0" bIns="0" rtlCol="0" anchor="t"/>
          <a:lstStyle/>
          <a:p>
            <a:pPr algn="l" indent="0" marL="0">
              <a:lnSpc>
                <a:spcPts val="1700"/>
              </a:lnSpc>
              <a:buNone/>
            </a:pPr>
            <a:r>
              <a:rPr lang="en-US" sz="1250" dirty="0">
                <a:solidFill>
                  <a:srgbClr val="191333"/>
                </a:solidFill>
                <a:latin typeface="Calibri" pitchFamily="34" charset="0"/>
                <a:ea typeface="Calibri" pitchFamily="34" charset="-122"/>
                <a:cs typeface="Calibri" pitchFamily="34" charset="-120"/>
              </a:rPr>
              <a:t>Shout out one attribute you used that did work for you. I want to hear at least four different ones from the room.</a:t>
            </a:r>
            <a:endParaRPr lang="en-US" sz="1250" dirty="0"/>
          </a:p>
        </p:txBody>
      </p:sp>
      <p:sp>
        <p:nvSpPr>
          <p:cNvPr id="29" name="Shape 26"/>
          <p:cNvSpPr/>
          <p:nvPr/>
        </p:nvSpPr>
        <p:spPr>
          <a:xfrm>
            <a:off x="640080" y="5596128"/>
            <a:ext cx="10881360" cy="548640"/>
          </a:xfrm>
          <a:prstGeom prst="roundRect">
            <a:avLst>
              <a:gd name="adj" fmla="val 16667"/>
            </a:avLst>
          </a:prstGeom>
          <a:solidFill>
            <a:srgbClr val="FFFFFF"/>
          </a:solidFill>
          <a:ln w="19050">
            <a:solidFill>
              <a:srgbClr val="191333"/>
            </a:solidFill>
            <a:prstDash val="solid"/>
          </a:ln>
        </p:spPr>
      </p:sp>
      <p:sp>
        <p:nvSpPr>
          <p:cNvPr id="30" name="Text 27"/>
          <p:cNvSpPr/>
          <p:nvPr/>
        </p:nvSpPr>
        <p:spPr>
          <a:xfrm>
            <a:off x="914400" y="5596128"/>
            <a:ext cx="2468880" cy="548640"/>
          </a:xfrm>
          <a:prstGeom prst="rect">
            <a:avLst/>
          </a:prstGeom>
          <a:noFill/>
          <a:ln/>
        </p:spPr>
        <p:txBody>
          <a:bodyPr wrap="square" lIns="0" tIns="0" rIns="0" bIns="0" rtlCol="0" anchor="ctr"/>
          <a:lstStyle/>
          <a:p>
            <a:pPr indent="0" marL="0">
              <a:buNone/>
            </a:pPr>
            <a:r>
              <a:rPr lang="en-US" sz="950" b="1" spc="150" kern="0" dirty="0">
                <a:solidFill>
                  <a:srgbClr val="FF3D8B"/>
                </a:solidFill>
                <a:latin typeface="Calibri" pitchFamily="34" charset="0"/>
                <a:ea typeface="Calibri" pitchFamily="34" charset="-122"/>
                <a:cs typeface="Calibri" pitchFamily="34" charset="-120"/>
              </a:rPr>
              <a:t>RUNNING THIS WITH 200+</a:t>
            </a:r>
            <a:endParaRPr lang="en-US" sz="950" dirty="0"/>
          </a:p>
        </p:txBody>
      </p:sp>
      <p:sp>
        <p:nvSpPr>
          <p:cNvPr id="31" name="Text 28"/>
          <p:cNvSpPr/>
          <p:nvPr/>
        </p:nvSpPr>
        <p:spPr>
          <a:xfrm>
            <a:off x="3474720" y="5596128"/>
            <a:ext cx="7772400" cy="548640"/>
          </a:xfrm>
          <a:prstGeom prst="rect">
            <a:avLst/>
          </a:prstGeom>
          <a:noFill/>
          <a:ln/>
        </p:spPr>
        <p:txBody>
          <a:bodyPr wrap="square" lIns="0" tIns="0" rIns="0" bIns="0" rtlCol="0" anchor="ctr"/>
          <a:lstStyle/>
          <a:p>
            <a:pPr algn="l" indent="0" marL="0">
              <a:lnSpc>
                <a:spcPts val="1587"/>
              </a:lnSpc>
              <a:buNone/>
            </a:pPr>
            <a:r>
              <a:rPr lang="en-US" sz="1150" dirty="0">
                <a:solidFill>
                  <a:srgbClr val="5C5580"/>
                </a:solidFill>
                <a:latin typeface="Calibri" pitchFamily="34" charset="0"/>
                <a:ea typeface="Calibri" pitchFamily="34" charset="-122"/>
                <a:cs typeface="Calibri" pitchFamily="34" charset="-120"/>
              </a:rPr>
              <a:t>Solo on your own laptop, nobody moves. Four or five shout-outs, then we move on.</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1FE"/>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18AB5"/>
                </a:solidFill>
                <a:latin typeface="Courier New" pitchFamily="34" charset="0"/>
                <a:ea typeface="Courier New" pitchFamily="34" charset="-122"/>
                <a:cs typeface="Courier New" pitchFamily="34" charset="-120"/>
              </a:rPr>
              <a:t>CLASS 02  ·  LISTS, TABLES, FORMS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18AB5"/>
                </a:solidFill>
                <a:latin typeface="Courier New" pitchFamily="34" charset="0"/>
                <a:ea typeface="Courier New" pitchFamily="34" charset="-122"/>
                <a:cs typeface="Courier New" pitchFamily="34" charset="-120"/>
              </a:rPr>
              <a:t>21</a:t>
            </a:r>
            <a:endParaRPr lang="en-US" sz="900" dirty="0"/>
          </a:p>
        </p:txBody>
      </p:sp>
      <p:sp>
        <p:nvSpPr>
          <p:cNvPr id="5" name="Shape 2"/>
          <p:cNvSpPr/>
          <p:nvPr/>
        </p:nvSpPr>
        <p:spPr>
          <a:xfrm>
            <a:off x="640080" y="365760"/>
            <a:ext cx="1481328" cy="347472"/>
          </a:xfrm>
          <a:prstGeom prst="roundRect">
            <a:avLst>
              <a:gd name="adj" fmla="val 21053"/>
            </a:avLst>
          </a:prstGeom>
          <a:solidFill>
            <a:srgbClr val="6C3BF5"/>
          </a:solidFill>
          <a:ln w="15875">
            <a:solidFill>
              <a:srgbClr val="191333"/>
            </a:solidFill>
            <a:prstDash val="solid"/>
          </a:ln>
          <a:effectLst>
            <a:outerShdw sx="100000" sy="100000" kx="0" ky="0" algn="bl" rotWithShape="0" blurRad="101600" dist="38100" dir="2700000">
              <a:srgbClr val="191333">
                <a:alpha val="100000"/>
              </a:srgbClr>
            </a:outerShdw>
          </a:effectLst>
        </p:spPr>
      </p:sp>
      <p:sp>
        <p:nvSpPr>
          <p:cNvPr id="6" name="Text 3"/>
          <p:cNvSpPr/>
          <p:nvPr/>
        </p:nvSpPr>
        <p:spPr>
          <a:xfrm>
            <a:off x="640080" y="365760"/>
            <a:ext cx="1481328"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WRAP UP</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91333"/>
                </a:solidFill>
                <a:latin typeface="Calibri" pitchFamily="34" charset="0"/>
                <a:ea typeface="Calibri" pitchFamily="34" charset="-122"/>
                <a:cs typeface="Calibri" pitchFamily="34" charset="-120"/>
              </a:rPr>
              <a:t>Three tags, and what each one is for</a:t>
            </a:r>
            <a:endParaRPr lang="en-US" sz="3200" dirty="0"/>
          </a:p>
        </p:txBody>
      </p:sp>
      <p:sp>
        <p:nvSpPr>
          <p:cNvPr id="8" name="Shape 5"/>
          <p:cNvSpPr/>
          <p:nvPr/>
        </p:nvSpPr>
        <p:spPr>
          <a:xfrm>
            <a:off x="640080" y="1627632"/>
            <a:ext cx="3419856" cy="3749040"/>
          </a:xfrm>
          <a:prstGeom prst="roundRect">
            <a:avLst>
              <a:gd name="adj" fmla="val 2674"/>
            </a:avLst>
          </a:prstGeom>
          <a:solidFill>
            <a:srgbClr val="EDE7FF"/>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9" name="Shape 6"/>
          <p:cNvSpPr/>
          <p:nvPr/>
        </p:nvSpPr>
        <p:spPr>
          <a:xfrm>
            <a:off x="914400" y="1883664"/>
            <a:ext cx="548640" cy="548640"/>
          </a:xfrm>
          <a:prstGeom prst="roundRect">
            <a:avLst>
              <a:gd name="adj" fmla="val 16667"/>
            </a:avLst>
          </a:prstGeom>
          <a:solidFill>
            <a:srgbClr val="FFFFFF"/>
          </a:solidFill>
          <a:ln w="15875">
            <a:solidFill>
              <a:srgbClr val="191333"/>
            </a:solidFill>
            <a:prstDash val="solid"/>
          </a:ln>
        </p:spPr>
      </p:sp>
      <p:pic>
        <p:nvPicPr>
          <p:cNvPr id="10" name="Image 0" descr="preencoded.png">    </p:cNvPr>
          <p:cNvPicPr>
            <a:picLocks noChangeAspect="1"/>
          </p:cNvPicPr>
          <p:nvPr/>
        </p:nvPicPr>
        <p:blipFill>
          <a:blip r:embed="rId1"/>
          <a:stretch>
            <a:fillRect/>
          </a:stretch>
        </p:blipFill>
        <p:spPr>
          <a:xfrm>
            <a:off x="1057046" y="2026310"/>
            <a:ext cx="263347" cy="263347"/>
          </a:xfrm>
          <a:prstGeom prst="rect">
            <a:avLst/>
          </a:prstGeom>
        </p:spPr>
      </p:pic>
      <p:sp>
        <p:nvSpPr>
          <p:cNvPr id="11" name="Text 7"/>
          <p:cNvSpPr/>
          <p:nvPr/>
        </p:nvSpPr>
        <p:spPr>
          <a:xfrm>
            <a:off x="1609344" y="1883664"/>
            <a:ext cx="2231136" cy="548640"/>
          </a:xfrm>
          <a:prstGeom prst="rect">
            <a:avLst/>
          </a:prstGeom>
          <a:noFill/>
          <a:ln/>
        </p:spPr>
        <p:txBody>
          <a:bodyPr wrap="square" lIns="0" tIns="0" rIns="0" bIns="0" rtlCol="0" anchor="ctr"/>
          <a:lstStyle/>
          <a:p>
            <a:pPr indent="0" marL="0">
              <a:buNone/>
            </a:pPr>
            <a:r>
              <a:rPr lang="en-US" sz="2100" b="1" dirty="0">
                <a:solidFill>
                  <a:srgbClr val="6C3BF5"/>
                </a:solidFill>
                <a:latin typeface="Calibri" pitchFamily="34" charset="0"/>
                <a:ea typeface="Calibri" pitchFamily="34" charset="-122"/>
                <a:cs typeface="Calibri" pitchFamily="34" charset="-120"/>
              </a:rPr>
              <a:t>Lists</a:t>
            </a:r>
            <a:endParaRPr lang="en-US" sz="2100" dirty="0"/>
          </a:p>
        </p:txBody>
      </p:sp>
      <p:sp>
        <p:nvSpPr>
          <p:cNvPr id="12" name="Shape 8"/>
          <p:cNvSpPr/>
          <p:nvPr/>
        </p:nvSpPr>
        <p:spPr>
          <a:xfrm>
            <a:off x="932688" y="2743200"/>
            <a:ext cx="118872" cy="118872"/>
          </a:xfrm>
          <a:prstGeom prst="ellipse">
            <a:avLst/>
          </a:prstGeom>
          <a:solidFill>
            <a:srgbClr val="6C3BF5"/>
          </a:solidFill>
          <a:ln w="12700">
            <a:solidFill>
              <a:srgbClr val="6C3BF5"/>
            </a:solidFill>
            <a:prstDash val="solid"/>
          </a:ln>
        </p:spPr>
      </p:sp>
      <p:sp>
        <p:nvSpPr>
          <p:cNvPr id="13" name="Text 9"/>
          <p:cNvSpPr/>
          <p:nvPr/>
        </p:nvSpPr>
        <p:spPr>
          <a:xfrm>
            <a:off x="1243584" y="2615184"/>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&lt;ul&gt; when order does not matter</a:t>
            </a:r>
            <a:endParaRPr lang="en-US" sz="1150" dirty="0"/>
          </a:p>
        </p:txBody>
      </p:sp>
      <p:sp>
        <p:nvSpPr>
          <p:cNvPr id="14" name="Shape 10"/>
          <p:cNvSpPr/>
          <p:nvPr/>
        </p:nvSpPr>
        <p:spPr>
          <a:xfrm>
            <a:off x="932688" y="3438144"/>
            <a:ext cx="118872" cy="118872"/>
          </a:xfrm>
          <a:prstGeom prst="ellipse">
            <a:avLst/>
          </a:prstGeom>
          <a:solidFill>
            <a:srgbClr val="6C3BF5"/>
          </a:solidFill>
          <a:ln w="12700">
            <a:solidFill>
              <a:srgbClr val="6C3BF5"/>
            </a:solidFill>
            <a:prstDash val="solid"/>
          </a:ln>
        </p:spPr>
      </p:sp>
      <p:sp>
        <p:nvSpPr>
          <p:cNvPr id="15" name="Text 11"/>
          <p:cNvSpPr/>
          <p:nvPr/>
        </p:nvSpPr>
        <p:spPr>
          <a:xfrm>
            <a:off x="1243584" y="3310128"/>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&lt;ol&gt; when order is the point</a:t>
            </a:r>
            <a:endParaRPr lang="en-US" sz="1150" dirty="0"/>
          </a:p>
        </p:txBody>
      </p:sp>
      <p:sp>
        <p:nvSpPr>
          <p:cNvPr id="16" name="Shape 12"/>
          <p:cNvSpPr/>
          <p:nvPr/>
        </p:nvSpPr>
        <p:spPr>
          <a:xfrm>
            <a:off x="932688" y="4133088"/>
            <a:ext cx="118872" cy="118872"/>
          </a:xfrm>
          <a:prstGeom prst="ellipse">
            <a:avLst/>
          </a:prstGeom>
          <a:solidFill>
            <a:srgbClr val="6C3BF5"/>
          </a:solidFill>
          <a:ln w="12700">
            <a:solidFill>
              <a:srgbClr val="6C3BF5"/>
            </a:solidFill>
            <a:prstDash val="solid"/>
          </a:ln>
        </p:spPr>
      </p:sp>
      <p:sp>
        <p:nvSpPr>
          <p:cNvPr id="17" name="Text 13"/>
          <p:cNvSpPr/>
          <p:nvPr/>
        </p:nvSpPr>
        <p:spPr>
          <a:xfrm>
            <a:off x="1243584" y="4005072"/>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&lt;li&gt; is always the item, either way</a:t>
            </a:r>
            <a:endParaRPr lang="en-US" sz="1150" dirty="0"/>
          </a:p>
        </p:txBody>
      </p:sp>
      <p:sp>
        <p:nvSpPr>
          <p:cNvPr id="18" name="Shape 14"/>
          <p:cNvSpPr/>
          <p:nvPr/>
        </p:nvSpPr>
        <p:spPr>
          <a:xfrm>
            <a:off x="932688" y="4828032"/>
            <a:ext cx="118872" cy="118872"/>
          </a:xfrm>
          <a:prstGeom prst="ellipse">
            <a:avLst/>
          </a:prstGeom>
          <a:solidFill>
            <a:srgbClr val="6C3BF5"/>
          </a:solidFill>
          <a:ln w="12700">
            <a:solidFill>
              <a:srgbClr val="6C3BF5"/>
            </a:solidFill>
            <a:prstDash val="solid"/>
          </a:ln>
        </p:spPr>
      </p:sp>
      <p:sp>
        <p:nvSpPr>
          <p:cNvPr id="19" name="Text 15"/>
          <p:cNvSpPr/>
          <p:nvPr/>
        </p:nvSpPr>
        <p:spPr>
          <a:xfrm>
            <a:off x="1243584" y="4700016"/>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type changes the marker or the numbering</a:t>
            </a:r>
            <a:endParaRPr lang="en-US" sz="1150" dirty="0"/>
          </a:p>
        </p:txBody>
      </p:sp>
      <p:sp>
        <p:nvSpPr>
          <p:cNvPr id="20" name="Shape 16"/>
          <p:cNvSpPr/>
          <p:nvPr/>
        </p:nvSpPr>
        <p:spPr>
          <a:xfrm>
            <a:off x="4379976" y="1627632"/>
            <a:ext cx="3419856" cy="3749040"/>
          </a:xfrm>
          <a:prstGeom prst="roundRect">
            <a:avLst>
              <a:gd name="adj" fmla="val 2674"/>
            </a:avLst>
          </a:prstGeom>
          <a:solidFill>
            <a:srgbClr val="DEF6FA"/>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21" name="Shape 17"/>
          <p:cNvSpPr/>
          <p:nvPr/>
        </p:nvSpPr>
        <p:spPr>
          <a:xfrm>
            <a:off x="4654296" y="1883664"/>
            <a:ext cx="548640" cy="548640"/>
          </a:xfrm>
          <a:prstGeom prst="roundRect">
            <a:avLst>
              <a:gd name="adj" fmla="val 16667"/>
            </a:avLst>
          </a:prstGeom>
          <a:solidFill>
            <a:srgbClr val="FFFFFF"/>
          </a:solidFill>
          <a:ln w="15875">
            <a:solidFill>
              <a:srgbClr val="191333"/>
            </a:solidFill>
            <a:prstDash val="solid"/>
          </a:ln>
        </p:spPr>
      </p:sp>
      <p:pic>
        <p:nvPicPr>
          <p:cNvPr id="22" name="Image 1" descr="preencoded.png">    </p:cNvPr>
          <p:cNvPicPr>
            <a:picLocks noChangeAspect="1"/>
          </p:cNvPicPr>
          <p:nvPr/>
        </p:nvPicPr>
        <p:blipFill>
          <a:blip r:embed="rId2"/>
          <a:stretch>
            <a:fillRect/>
          </a:stretch>
        </p:blipFill>
        <p:spPr>
          <a:xfrm>
            <a:off x="4796942" y="2026310"/>
            <a:ext cx="263347" cy="263347"/>
          </a:xfrm>
          <a:prstGeom prst="rect">
            <a:avLst/>
          </a:prstGeom>
        </p:spPr>
      </p:pic>
      <p:sp>
        <p:nvSpPr>
          <p:cNvPr id="23" name="Text 18"/>
          <p:cNvSpPr/>
          <p:nvPr/>
        </p:nvSpPr>
        <p:spPr>
          <a:xfrm>
            <a:off x="5349240" y="1883664"/>
            <a:ext cx="2231136" cy="548640"/>
          </a:xfrm>
          <a:prstGeom prst="rect">
            <a:avLst/>
          </a:prstGeom>
          <a:noFill/>
          <a:ln/>
        </p:spPr>
        <p:txBody>
          <a:bodyPr wrap="square" lIns="0" tIns="0" rIns="0" bIns="0" rtlCol="0" anchor="ctr"/>
          <a:lstStyle/>
          <a:p>
            <a:pPr indent="0" marL="0">
              <a:buNone/>
            </a:pPr>
            <a:r>
              <a:rPr lang="en-US" sz="2100" b="1" dirty="0">
                <a:solidFill>
                  <a:srgbClr val="0090AB"/>
                </a:solidFill>
                <a:latin typeface="Calibri" pitchFamily="34" charset="0"/>
                <a:ea typeface="Calibri" pitchFamily="34" charset="-122"/>
                <a:cs typeface="Calibri" pitchFamily="34" charset="-120"/>
              </a:rPr>
              <a:t>Tables</a:t>
            </a:r>
            <a:endParaRPr lang="en-US" sz="2100" dirty="0"/>
          </a:p>
        </p:txBody>
      </p:sp>
      <p:sp>
        <p:nvSpPr>
          <p:cNvPr id="24" name="Shape 19"/>
          <p:cNvSpPr/>
          <p:nvPr/>
        </p:nvSpPr>
        <p:spPr>
          <a:xfrm>
            <a:off x="4672584" y="2743200"/>
            <a:ext cx="118872" cy="118872"/>
          </a:xfrm>
          <a:prstGeom prst="ellipse">
            <a:avLst/>
          </a:prstGeom>
          <a:solidFill>
            <a:srgbClr val="0090AB"/>
          </a:solidFill>
          <a:ln w="12700">
            <a:solidFill>
              <a:srgbClr val="0090AB"/>
            </a:solidFill>
            <a:prstDash val="solid"/>
          </a:ln>
        </p:spPr>
      </p:sp>
      <p:sp>
        <p:nvSpPr>
          <p:cNvPr id="25" name="Text 20"/>
          <p:cNvSpPr/>
          <p:nvPr/>
        </p:nvSpPr>
        <p:spPr>
          <a:xfrm>
            <a:off x="4983480" y="2615184"/>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&lt;tr&gt; is a row, &lt;th&gt; a header cell, &lt;td&gt; a data cell</a:t>
            </a:r>
            <a:endParaRPr lang="en-US" sz="1150" dirty="0"/>
          </a:p>
        </p:txBody>
      </p:sp>
      <p:sp>
        <p:nvSpPr>
          <p:cNvPr id="26" name="Shape 21"/>
          <p:cNvSpPr/>
          <p:nvPr/>
        </p:nvSpPr>
        <p:spPr>
          <a:xfrm>
            <a:off x="4672584" y="3438144"/>
            <a:ext cx="118872" cy="118872"/>
          </a:xfrm>
          <a:prstGeom prst="ellipse">
            <a:avLst/>
          </a:prstGeom>
          <a:solidFill>
            <a:srgbClr val="0090AB"/>
          </a:solidFill>
          <a:ln w="12700">
            <a:solidFill>
              <a:srgbClr val="0090AB"/>
            </a:solidFill>
            <a:prstDash val="solid"/>
          </a:ln>
        </p:spPr>
      </p:sp>
      <p:sp>
        <p:nvSpPr>
          <p:cNvPr id="27" name="Text 22"/>
          <p:cNvSpPr/>
          <p:nvPr/>
        </p:nvSpPr>
        <p:spPr>
          <a:xfrm>
            <a:off x="4983480" y="3310128"/>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thead and tbody group them</a:t>
            </a:r>
            <a:endParaRPr lang="en-US" sz="1150" dirty="0"/>
          </a:p>
        </p:txBody>
      </p:sp>
      <p:sp>
        <p:nvSpPr>
          <p:cNvPr id="28" name="Shape 23"/>
          <p:cNvSpPr/>
          <p:nvPr/>
        </p:nvSpPr>
        <p:spPr>
          <a:xfrm>
            <a:off x="4672584" y="4133088"/>
            <a:ext cx="118872" cy="118872"/>
          </a:xfrm>
          <a:prstGeom prst="ellipse">
            <a:avLst/>
          </a:prstGeom>
          <a:solidFill>
            <a:srgbClr val="0090AB"/>
          </a:solidFill>
          <a:ln w="12700">
            <a:solidFill>
              <a:srgbClr val="0090AB"/>
            </a:solidFill>
            <a:prstDash val="solid"/>
          </a:ln>
        </p:spPr>
      </p:sp>
      <p:sp>
        <p:nvSpPr>
          <p:cNvPr id="29" name="Text 24"/>
          <p:cNvSpPr/>
          <p:nvPr/>
        </p:nvSpPr>
        <p:spPr>
          <a:xfrm>
            <a:off x="4983480" y="4005072"/>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&lt;caption&gt; titles the table</a:t>
            </a:r>
            <a:endParaRPr lang="en-US" sz="1150" dirty="0"/>
          </a:p>
        </p:txBody>
      </p:sp>
      <p:sp>
        <p:nvSpPr>
          <p:cNvPr id="30" name="Shape 25"/>
          <p:cNvSpPr/>
          <p:nvPr/>
        </p:nvSpPr>
        <p:spPr>
          <a:xfrm>
            <a:off x="4672584" y="4828032"/>
            <a:ext cx="118872" cy="118872"/>
          </a:xfrm>
          <a:prstGeom prst="ellipse">
            <a:avLst/>
          </a:prstGeom>
          <a:solidFill>
            <a:srgbClr val="0090AB"/>
          </a:solidFill>
          <a:ln w="12700">
            <a:solidFill>
              <a:srgbClr val="0090AB"/>
            </a:solidFill>
            <a:prstDash val="solid"/>
          </a:ln>
        </p:spPr>
      </p:sp>
      <p:sp>
        <p:nvSpPr>
          <p:cNvPr id="31" name="Text 26"/>
          <p:cNvSpPr/>
          <p:nvPr/>
        </p:nvSpPr>
        <p:spPr>
          <a:xfrm>
            <a:off x="4983480" y="4700016"/>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For data only, never for page layout</a:t>
            </a:r>
            <a:endParaRPr lang="en-US" sz="1150" dirty="0"/>
          </a:p>
        </p:txBody>
      </p:sp>
      <p:sp>
        <p:nvSpPr>
          <p:cNvPr id="32" name="Shape 27"/>
          <p:cNvSpPr/>
          <p:nvPr/>
        </p:nvSpPr>
        <p:spPr>
          <a:xfrm>
            <a:off x="8119872" y="1627632"/>
            <a:ext cx="3419856" cy="3749040"/>
          </a:xfrm>
          <a:prstGeom prst="roundRect">
            <a:avLst>
              <a:gd name="adj" fmla="val 2674"/>
            </a:avLst>
          </a:prstGeom>
          <a:solidFill>
            <a:srgbClr val="FFE6F0"/>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33" name="Shape 28"/>
          <p:cNvSpPr/>
          <p:nvPr/>
        </p:nvSpPr>
        <p:spPr>
          <a:xfrm>
            <a:off x="8394192" y="1883664"/>
            <a:ext cx="548640" cy="548640"/>
          </a:xfrm>
          <a:prstGeom prst="roundRect">
            <a:avLst>
              <a:gd name="adj" fmla="val 16667"/>
            </a:avLst>
          </a:prstGeom>
          <a:solidFill>
            <a:srgbClr val="FFFFFF"/>
          </a:solidFill>
          <a:ln w="15875">
            <a:solidFill>
              <a:srgbClr val="191333"/>
            </a:solidFill>
            <a:prstDash val="solid"/>
          </a:ln>
        </p:spPr>
      </p:sp>
      <p:pic>
        <p:nvPicPr>
          <p:cNvPr id="34" name="Image 2" descr="preencoded.png">    </p:cNvPr>
          <p:cNvPicPr>
            <a:picLocks noChangeAspect="1"/>
          </p:cNvPicPr>
          <p:nvPr/>
        </p:nvPicPr>
        <p:blipFill>
          <a:blip r:embed="rId3"/>
          <a:stretch>
            <a:fillRect/>
          </a:stretch>
        </p:blipFill>
        <p:spPr>
          <a:xfrm>
            <a:off x="8536838" y="2026310"/>
            <a:ext cx="263347" cy="263347"/>
          </a:xfrm>
          <a:prstGeom prst="rect">
            <a:avLst/>
          </a:prstGeom>
        </p:spPr>
      </p:pic>
      <p:sp>
        <p:nvSpPr>
          <p:cNvPr id="35" name="Text 29"/>
          <p:cNvSpPr/>
          <p:nvPr/>
        </p:nvSpPr>
        <p:spPr>
          <a:xfrm>
            <a:off x="9089136" y="1883664"/>
            <a:ext cx="2231136" cy="548640"/>
          </a:xfrm>
          <a:prstGeom prst="rect">
            <a:avLst/>
          </a:prstGeom>
          <a:noFill/>
          <a:ln/>
        </p:spPr>
        <p:txBody>
          <a:bodyPr wrap="square" lIns="0" tIns="0" rIns="0" bIns="0" rtlCol="0" anchor="ctr"/>
          <a:lstStyle/>
          <a:p>
            <a:pPr indent="0" marL="0">
              <a:buNone/>
            </a:pPr>
            <a:r>
              <a:rPr lang="en-US" sz="2100" b="1" dirty="0">
                <a:solidFill>
                  <a:srgbClr val="FF3D8B"/>
                </a:solidFill>
                <a:latin typeface="Calibri" pitchFamily="34" charset="0"/>
                <a:ea typeface="Calibri" pitchFamily="34" charset="-122"/>
                <a:cs typeface="Calibri" pitchFamily="34" charset="-120"/>
              </a:rPr>
              <a:t>Forms</a:t>
            </a:r>
            <a:endParaRPr lang="en-US" sz="2100" dirty="0"/>
          </a:p>
        </p:txBody>
      </p:sp>
      <p:sp>
        <p:nvSpPr>
          <p:cNvPr id="36" name="Shape 30"/>
          <p:cNvSpPr/>
          <p:nvPr/>
        </p:nvSpPr>
        <p:spPr>
          <a:xfrm>
            <a:off x="8412480" y="2743200"/>
            <a:ext cx="118872" cy="118872"/>
          </a:xfrm>
          <a:prstGeom prst="ellipse">
            <a:avLst/>
          </a:prstGeom>
          <a:solidFill>
            <a:srgbClr val="FF3D8B"/>
          </a:solidFill>
          <a:ln w="12700">
            <a:solidFill>
              <a:srgbClr val="FF3D8B"/>
            </a:solidFill>
            <a:prstDash val="solid"/>
          </a:ln>
        </p:spPr>
      </p:sp>
      <p:sp>
        <p:nvSpPr>
          <p:cNvPr id="37" name="Text 31"/>
          <p:cNvSpPr/>
          <p:nvPr/>
        </p:nvSpPr>
        <p:spPr>
          <a:xfrm>
            <a:off x="8723376" y="2615184"/>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&lt;label&gt; asks, &lt;input&gt; collects, &lt;button&gt; sends</a:t>
            </a:r>
            <a:endParaRPr lang="en-US" sz="1150" dirty="0"/>
          </a:p>
        </p:txBody>
      </p:sp>
      <p:sp>
        <p:nvSpPr>
          <p:cNvPr id="38" name="Shape 32"/>
          <p:cNvSpPr/>
          <p:nvPr/>
        </p:nvSpPr>
        <p:spPr>
          <a:xfrm>
            <a:off x="8412480" y="3438144"/>
            <a:ext cx="118872" cy="118872"/>
          </a:xfrm>
          <a:prstGeom prst="ellipse">
            <a:avLst/>
          </a:prstGeom>
          <a:solidFill>
            <a:srgbClr val="FF3D8B"/>
          </a:solidFill>
          <a:ln w="12700">
            <a:solidFill>
              <a:srgbClr val="FF3D8B"/>
            </a:solidFill>
            <a:prstDash val="solid"/>
          </a:ln>
        </p:spPr>
      </p:sp>
      <p:sp>
        <p:nvSpPr>
          <p:cNvPr id="39" name="Text 33"/>
          <p:cNvSpPr/>
          <p:nvPr/>
        </p:nvSpPr>
        <p:spPr>
          <a:xfrm>
            <a:off x="8723376" y="3310128"/>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type decides what input becomes</a:t>
            </a:r>
            <a:endParaRPr lang="en-US" sz="1150" dirty="0"/>
          </a:p>
        </p:txBody>
      </p:sp>
      <p:sp>
        <p:nvSpPr>
          <p:cNvPr id="40" name="Shape 34"/>
          <p:cNvSpPr/>
          <p:nvPr/>
        </p:nvSpPr>
        <p:spPr>
          <a:xfrm>
            <a:off x="8412480" y="4133088"/>
            <a:ext cx="118872" cy="118872"/>
          </a:xfrm>
          <a:prstGeom prst="ellipse">
            <a:avLst/>
          </a:prstGeom>
          <a:solidFill>
            <a:srgbClr val="FF3D8B"/>
          </a:solidFill>
          <a:ln w="12700">
            <a:solidFill>
              <a:srgbClr val="FF3D8B"/>
            </a:solidFill>
            <a:prstDash val="solid"/>
          </a:ln>
        </p:spPr>
      </p:sp>
      <p:sp>
        <p:nvSpPr>
          <p:cNvPr id="41" name="Text 35"/>
          <p:cNvSpPr/>
          <p:nvPr/>
        </p:nvSpPr>
        <p:spPr>
          <a:xfrm>
            <a:off x="8723376" y="4005072"/>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for and id pair a label to its field</a:t>
            </a:r>
            <a:endParaRPr lang="en-US" sz="1150" dirty="0"/>
          </a:p>
        </p:txBody>
      </p:sp>
      <p:sp>
        <p:nvSpPr>
          <p:cNvPr id="42" name="Shape 36"/>
          <p:cNvSpPr/>
          <p:nvPr/>
        </p:nvSpPr>
        <p:spPr>
          <a:xfrm>
            <a:off x="8412480" y="4828032"/>
            <a:ext cx="118872" cy="118872"/>
          </a:xfrm>
          <a:prstGeom prst="ellipse">
            <a:avLst/>
          </a:prstGeom>
          <a:solidFill>
            <a:srgbClr val="FF3D8B"/>
          </a:solidFill>
          <a:ln w="12700">
            <a:solidFill>
              <a:srgbClr val="FF3D8B"/>
            </a:solidFill>
            <a:prstDash val="solid"/>
          </a:ln>
        </p:spPr>
      </p:sp>
      <p:sp>
        <p:nvSpPr>
          <p:cNvPr id="43" name="Text 37"/>
          <p:cNvSpPr/>
          <p:nvPr/>
        </p:nvSpPr>
        <p:spPr>
          <a:xfrm>
            <a:off x="8723376" y="4700016"/>
            <a:ext cx="2523744" cy="603504"/>
          </a:xfrm>
          <a:prstGeom prst="rect">
            <a:avLst/>
          </a:prstGeom>
          <a:noFill/>
          <a:ln/>
        </p:spPr>
        <p:txBody>
          <a:bodyPr wrap="square" lIns="0" tIns="0" rIns="0" bIns="0" rtlCol="0" anchor="t"/>
          <a:lstStyle/>
          <a:p>
            <a:pPr algn="l" indent="0" marL="0">
              <a:lnSpc>
                <a:spcPts val="1500"/>
              </a:lnSpc>
              <a:buNone/>
            </a:pPr>
            <a:r>
              <a:rPr lang="en-US" sz="1150" dirty="0">
                <a:solidFill>
                  <a:srgbClr val="191333"/>
                </a:solidFill>
                <a:latin typeface="Calibri" pitchFamily="34" charset="0"/>
                <a:ea typeface="Calibri" pitchFamily="34" charset="-122"/>
                <a:cs typeface="Calibri" pitchFamily="34" charset="-120"/>
              </a:rPr>
              <a:t>required, min, max and pattern validate free</a:t>
            </a:r>
            <a:endParaRPr lang="en-US" sz="1150" dirty="0"/>
          </a:p>
        </p:txBody>
      </p:sp>
      <p:sp>
        <p:nvSpPr>
          <p:cNvPr id="44" name="Shape 38"/>
          <p:cNvSpPr/>
          <p:nvPr/>
        </p:nvSpPr>
        <p:spPr>
          <a:xfrm>
            <a:off x="640080" y="5559552"/>
            <a:ext cx="10908792" cy="676656"/>
          </a:xfrm>
          <a:prstGeom prst="roundRect">
            <a:avLst>
              <a:gd name="adj" fmla="val 13514"/>
            </a:avLst>
          </a:prstGeom>
          <a:solidFill>
            <a:srgbClr val="F0FBD8"/>
          </a:solidFill>
          <a:ln w="19050">
            <a:solidFill>
              <a:srgbClr val="191333"/>
            </a:solidFill>
            <a:prstDash val="solid"/>
          </a:ln>
          <a:effectLst>
            <a:outerShdw sx="100000" sy="100000" kx="0" ky="0" algn="bl" rotWithShape="0" blurRad="101600" dist="38100" dir="2700000">
              <a:srgbClr val="191333">
                <a:alpha val="100000"/>
              </a:srgbClr>
            </a:outerShdw>
          </a:effectLst>
        </p:spPr>
      </p:sp>
      <p:sp>
        <p:nvSpPr>
          <p:cNvPr id="45" name="Text 39"/>
          <p:cNvSpPr/>
          <p:nvPr/>
        </p:nvSpPr>
        <p:spPr>
          <a:xfrm>
            <a:off x="640080" y="5559552"/>
            <a:ext cx="10908792" cy="676656"/>
          </a:xfrm>
          <a:prstGeom prst="rect">
            <a:avLst/>
          </a:prstGeom>
          <a:noFill/>
          <a:ln/>
        </p:spPr>
        <p:txBody>
          <a:bodyPr wrap="square" lIns="0" tIns="0" rIns="0" bIns="0" rtlCol="0" anchor="ctr"/>
          <a:lstStyle/>
          <a:p>
            <a:pPr algn="ctr" indent="0" marL="0">
              <a:buNone/>
            </a:pPr>
            <a:r>
              <a:rPr lang="en-US" sz="1550" b="1" dirty="0">
                <a:solidFill>
                  <a:srgbClr val="191333"/>
                </a:solidFill>
                <a:latin typeface="Calibri" pitchFamily="34" charset="0"/>
                <a:ea typeface="Calibri" pitchFamily="34" charset="-122"/>
                <a:cs typeface="Calibri" pitchFamily="34" charset="-120"/>
              </a:rPr>
              <a:t>Before next class: finish the contact form, and push today’s files to the batch repository.</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033"/>
        </a:solidFill>
      </p:bgPr>
    </p:bg>
    <p:spTree>
      <p:nvGrpSpPr>
        <p:cNvPr id="1" name=""/>
        <p:cNvGrpSpPr/>
        <p:nvPr/>
      </p:nvGrpSpPr>
      <p:grpSpPr>
        <a:xfrm>
          <a:off x="0" y="0"/>
          <a:ext cx="0" cy="0"/>
          <a:chOff x="0" y="0"/>
          <a:chExt cx="0" cy="0"/>
        </a:xfrm>
      </p:grpSpPr>
      <p:sp>
        <p:nvSpPr>
          <p:cNvPr id="3" name="Text 0"/>
          <p:cNvSpPr/>
          <p:nvPr/>
        </p:nvSpPr>
        <p:spPr>
          <a:xfrm rot="-600000">
            <a:off x="1097280" y="1280160"/>
            <a:ext cx="1371600" cy="365760"/>
          </a:xfrm>
          <a:prstGeom prst="rect">
            <a:avLst/>
          </a:prstGeom>
          <a:noFill/>
          <a:ln/>
        </p:spPr>
        <p:txBody>
          <a:bodyPr wrap="square" lIns="0" tIns="0" rIns="0" bIns="0" rtlCol="0" anchor="ctr"/>
          <a:lstStyle/>
          <a:p>
            <a:pPr algn="ctr" indent="0" marL="0">
              <a:buNone/>
            </a:pPr>
            <a:r>
              <a:rPr lang="en-US" sz="1500" b="1" dirty="0">
                <a:solidFill>
                  <a:srgbClr val="3B3470"/>
                </a:solidFill>
                <a:latin typeface="Courier New" pitchFamily="34" charset="0"/>
                <a:ea typeface="Courier New" pitchFamily="34" charset="-122"/>
                <a:cs typeface="Courier New" pitchFamily="34" charset="-120"/>
              </a:rPr>
              <a:t>&lt;ul&gt;</a:t>
            </a:r>
            <a:endParaRPr lang="en-US" sz="1500" dirty="0"/>
          </a:p>
        </p:txBody>
      </p:sp>
      <p:sp>
        <p:nvSpPr>
          <p:cNvPr id="4" name="Text 1"/>
          <p:cNvSpPr/>
          <p:nvPr/>
        </p:nvSpPr>
        <p:spPr>
          <a:xfrm rot="480000">
            <a:off x="10424160" y="1645920"/>
            <a:ext cx="1371600" cy="365760"/>
          </a:xfrm>
          <a:prstGeom prst="rect">
            <a:avLst/>
          </a:prstGeom>
          <a:noFill/>
          <a:ln/>
        </p:spPr>
        <p:txBody>
          <a:bodyPr wrap="square" lIns="0" tIns="0" rIns="0" bIns="0" rtlCol="0" anchor="ctr"/>
          <a:lstStyle/>
          <a:p>
            <a:pPr algn="ctr" indent="0" marL="0">
              <a:buNone/>
            </a:pPr>
            <a:r>
              <a:rPr lang="en-US" sz="1500" b="1" dirty="0">
                <a:solidFill>
                  <a:srgbClr val="3B3470"/>
                </a:solidFill>
                <a:latin typeface="Courier New" pitchFamily="34" charset="0"/>
                <a:ea typeface="Courier New" pitchFamily="34" charset="-122"/>
                <a:cs typeface="Courier New" pitchFamily="34" charset="-120"/>
              </a:rPr>
              <a:t>&lt;td&gt;</a:t>
            </a:r>
            <a:endParaRPr lang="en-US" sz="1500" dirty="0"/>
          </a:p>
        </p:txBody>
      </p:sp>
      <p:sp>
        <p:nvSpPr>
          <p:cNvPr id="5" name="Text 2"/>
          <p:cNvSpPr/>
          <p:nvPr/>
        </p:nvSpPr>
        <p:spPr>
          <a:xfrm rot="420000">
            <a:off x="914400" y="5120640"/>
            <a:ext cx="1371600" cy="365760"/>
          </a:xfrm>
          <a:prstGeom prst="rect">
            <a:avLst/>
          </a:prstGeom>
          <a:noFill/>
          <a:ln/>
        </p:spPr>
        <p:txBody>
          <a:bodyPr wrap="square" lIns="0" tIns="0" rIns="0" bIns="0" rtlCol="0" anchor="ctr"/>
          <a:lstStyle/>
          <a:p>
            <a:pPr algn="ctr" indent="0" marL="0">
              <a:buNone/>
            </a:pPr>
            <a:r>
              <a:rPr lang="en-US" sz="1500" b="1" dirty="0">
                <a:solidFill>
                  <a:srgbClr val="3B3470"/>
                </a:solidFill>
                <a:latin typeface="Courier New" pitchFamily="34" charset="0"/>
                <a:ea typeface="Courier New" pitchFamily="34" charset="-122"/>
                <a:cs typeface="Courier New" pitchFamily="34" charset="-120"/>
              </a:rPr>
              <a:t>&lt;input&gt;</a:t>
            </a:r>
            <a:endParaRPr lang="en-US" sz="1500" dirty="0"/>
          </a:p>
        </p:txBody>
      </p:sp>
      <p:sp>
        <p:nvSpPr>
          <p:cNvPr id="6" name="Text 3"/>
          <p:cNvSpPr/>
          <p:nvPr/>
        </p:nvSpPr>
        <p:spPr>
          <a:xfrm rot="-480000">
            <a:off x="10789920" y="4754880"/>
            <a:ext cx="1371600" cy="365760"/>
          </a:xfrm>
          <a:prstGeom prst="rect">
            <a:avLst/>
          </a:prstGeom>
          <a:noFill/>
          <a:ln/>
        </p:spPr>
        <p:txBody>
          <a:bodyPr wrap="square" lIns="0" tIns="0" rIns="0" bIns="0" rtlCol="0" anchor="ctr"/>
          <a:lstStyle/>
          <a:p>
            <a:pPr algn="ctr" indent="0" marL="0">
              <a:buNone/>
            </a:pPr>
            <a:r>
              <a:rPr lang="en-US" sz="1500" b="1" dirty="0">
                <a:solidFill>
                  <a:srgbClr val="3B3470"/>
                </a:solidFill>
                <a:latin typeface="Courier New" pitchFamily="34" charset="0"/>
                <a:ea typeface="Courier New" pitchFamily="34" charset="-122"/>
                <a:cs typeface="Courier New" pitchFamily="34" charset="-120"/>
              </a:rPr>
              <a:t>&lt;th&gt;</a:t>
            </a:r>
            <a:endParaRPr lang="en-US" sz="1500" dirty="0"/>
          </a:p>
        </p:txBody>
      </p:sp>
      <p:sp>
        <p:nvSpPr>
          <p:cNvPr id="7" name="Text 4"/>
          <p:cNvSpPr/>
          <p:nvPr/>
        </p:nvSpPr>
        <p:spPr>
          <a:xfrm rot="720000">
            <a:off x="2103120" y="2377440"/>
            <a:ext cx="1371600" cy="365760"/>
          </a:xfrm>
          <a:prstGeom prst="rect">
            <a:avLst/>
          </a:prstGeom>
          <a:noFill/>
          <a:ln/>
        </p:spPr>
        <p:txBody>
          <a:bodyPr wrap="square" lIns="0" tIns="0" rIns="0" bIns="0" rtlCol="0" anchor="ctr"/>
          <a:lstStyle/>
          <a:p>
            <a:pPr algn="ctr" indent="0" marL="0">
              <a:buNone/>
            </a:pPr>
            <a:r>
              <a:rPr lang="en-US" sz="1500" b="1" dirty="0">
                <a:solidFill>
                  <a:srgbClr val="3B3470"/>
                </a:solidFill>
                <a:latin typeface="Courier New" pitchFamily="34" charset="0"/>
                <a:ea typeface="Courier New" pitchFamily="34" charset="-122"/>
                <a:cs typeface="Courier New" pitchFamily="34" charset="-120"/>
              </a:rPr>
              <a:t>&lt;ol&gt;</a:t>
            </a:r>
            <a:endParaRPr lang="en-US" sz="1500" dirty="0"/>
          </a:p>
        </p:txBody>
      </p:sp>
      <p:sp>
        <p:nvSpPr>
          <p:cNvPr id="8" name="Text 5"/>
          <p:cNvSpPr/>
          <p:nvPr/>
        </p:nvSpPr>
        <p:spPr>
          <a:xfrm rot="-360000">
            <a:off x="9692640" y="5669280"/>
            <a:ext cx="1371600" cy="365760"/>
          </a:xfrm>
          <a:prstGeom prst="rect">
            <a:avLst/>
          </a:prstGeom>
          <a:noFill/>
          <a:ln/>
        </p:spPr>
        <p:txBody>
          <a:bodyPr wrap="square" lIns="0" tIns="0" rIns="0" bIns="0" rtlCol="0" anchor="ctr"/>
          <a:lstStyle/>
          <a:p>
            <a:pPr algn="ctr" indent="0" marL="0">
              <a:buNone/>
            </a:pPr>
            <a:r>
              <a:rPr lang="en-US" sz="1500" b="1" dirty="0">
                <a:solidFill>
                  <a:srgbClr val="3B3470"/>
                </a:solidFill>
                <a:latin typeface="Courier New" pitchFamily="34" charset="0"/>
                <a:ea typeface="Courier New" pitchFamily="34" charset="-122"/>
                <a:cs typeface="Courier New" pitchFamily="34" charset="-120"/>
              </a:rPr>
              <a:t>&lt;form&gt;</a:t>
            </a:r>
            <a:endParaRPr lang="en-US" sz="1500" dirty="0"/>
          </a:p>
        </p:txBody>
      </p:sp>
      <p:sp>
        <p:nvSpPr>
          <p:cNvPr id="9" name="Text 6"/>
          <p:cNvSpPr/>
          <p:nvPr/>
        </p:nvSpPr>
        <p:spPr>
          <a:xfrm>
            <a:off x="0" y="2194560"/>
            <a:ext cx="12188952" cy="329184"/>
          </a:xfrm>
          <a:prstGeom prst="rect">
            <a:avLst/>
          </a:prstGeom>
          <a:noFill/>
          <a:ln/>
        </p:spPr>
        <p:txBody>
          <a:bodyPr wrap="square" lIns="0" tIns="0" rIns="0" bIns="0" rtlCol="0" anchor="ctr"/>
          <a:lstStyle/>
          <a:p>
            <a:pPr algn="ctr" indent="0" marL="0">
              <a:buNone/>
            </a:pPr>
            <a:r>
              <a:rPr lang="en-US" sz="1500" dirty="0">
                <a:solidFill>
                  <a:srgbClr val="8B84B8"/>
                </a:solidFill>
                <a:latin typeface="Courier New" pitchFamily="34" charset="0"/>
                <a:ea typeface="Courier New" pitchFamily="34" charset="-122"/>
                <a:cs typeface="Courier New" pitchFamily="34" charset="-120"/>
              </a:rPr>
              <a:t>&lt;!-- your turn --&gt;</a:t>
            </a:r>
            <a:endParaRPr lang="en-US" sz="1500" dirty="0"/>
          </a:p>
        </p:txBody>
      </p:sp>
      <p:sp>
        <p:nvSpPr>
          <p:cNvPr id="10" name="Text 7"/>
          <p:cNvSpPr/>
          <p:nvPr/>
        </p:nvSpPr>
        <p:spPr>
          <a:xfrm>
            <a:off x="0" y="2615184"/>
            <a:ext cx="12188952"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Doubt session</a:t>
            </a:r>
            <a:endParaRPr lang="en-US" sz="4800" dirty="0"/>
          </a:p>
        </p:txBody>
      </p:sp>
      <p:sp>
        <p:nvSpPr>
          <p:cNvPr id="11" name="Shape 8"/>
          <p:cNvSpPr/>
          <p:nvPr/>
        </p:nvSpPr>
        <p:spPr>
          <a:xfrm>
            <a:off x="5545836" y="3675888"/>
            <a:ext cx="1097280" cy="45720"/>
          </a:xfrm>
          <a:prstGeom prst="rect">
            <a:avLst/>
          </a:prstGeom>
          <a:solidFill>
            <a:srgbClr val="FF3D8B"/>
          </a:solidFill>
          <a:ln w="12700">
            <a:solidFill>
              <a:srgbClr val="FF3D8B"/>
            </a:solidFill>
            <a:prstDash val="solid"/>
          </a:ln>
        </p:spPr>
      </p:sp>
      <p:sp>
        <p:nvSpPr>
          <p:cNvPr id="12" name="Text 9"/>
          <p:cNvSpPr/>
          <p:nvPr/>
        </p:nvSpPr>
        <p:spPr>
          <a:xfrm>
            <a:off x="1828800" y="3913632"/>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Lists, tables, forms, or anything from last class that is still fuzzy.</a:t>
            </a:r>
            <a:endParaRPr lang="en-US" sz="1600" dirty="0"/>
          </a:p>
        </p:txBody>
      </p:sp>
      <p:sp>
        <p:nvSpPr>
          <p:cNvPr id="13" name="Shape 10"/>
          <p:cNvSpPr/>
          <p:nvPr/>
        </p:nvSpPr>
        <p:spPr>
          <a:xfrm>
            <a:off x="3931920" y="4663440"/>
            <a:ext cx="4325112" cy="822960"/>
          </a:xfrm>
          <a:prstGeom prst="roundRect">
            <a:avLst>
              <a:gd name="adj" fmla="val 13333"/>
            </a:avLst>
          </a:prstGeom>
          <a:solidFill>
            <a:srgbClr val="241C4D"/>
          </a:solidFill>
          <a:ln w="19050">
            <a:solidFill>
              <a:srgbClr val="3B3470"/>
            </a:solidFill>
            <a:prstDash val="solid"/>
          </a:ln>
        </p:spPr>
      </p:sp>
      <p:pic>
        <p:nvPicPr>
          <p:cNvPr id="14" name="Image 0" descr="preencoded.png">    </p:cNvPr>
          <p:cNvPicPr>
            <a:picLocks noChangeAspect="1"/>
          </p:cNvPicPr>
          <p:nvPr/>
        </p:nvPicPr>
        <p:blipFill>
          <a:blip r:embed="rId1"/>
          <a:stretch>
            <a:fillRect/>
          </a:stretch>
        </p:blipFill>
        <p:spPr>
          <a:xfrm>
            <a:off x="4279392" y="4901184"/>
            <a:ext cx="329184" cy="329184"/>
          </a:xfrm>
          <a:prstGeom prst="rect">
            <a:avLst/>
          </a:prstGeom>
        </p:spPr>
      </p:pic>
      <p:sp>
        <p:nvSpPr>
          <p:cNvPr id="15" name="Text 11"/>
          <p:cNvSpPr/>
          <p:nvPr/>
        </p:nvSpPr>
        <p:spPr>
          <a:xfrm>
            <a:off x="4754880" y="4663440"/>
            <a:ext cx="329184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Next class: CSS makes it pretty.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Lists, Tables and Forms</dc:title>
  <dc:subject>PptxGenJS Presentation</dc:subject>
  <dc:creator>Class 02</dc:creator>
  <cp:lastModifiedBy>Class 02</cp:lastModifiedBy>
  <cp:revision>1</cp:revision>
  <dcterms:created xsi:type="dcterms:W3CDTF">2026-08-17T05:28:38Z</dcterms:created>
  <dcterms:modified xsi:type="dcterms:W3CDTF">2026-08-17T05:28:38Z</dcterms:modified>
</cp:coreProperties>
</file>