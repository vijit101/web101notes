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052560" y="-1554480"/>
            <a:ext cx="4937760" cy="4937760"/>
          </a:xfrm>
          <a:prstGeom prst="ellipse">
            <a:avLst/>
          </a:prstGeom>
          <a:solidFill>
            <a:srgbClr val="1B2A4A"/>
          </a:solidFill>
          <a:ln/>
        </p:spPr>
      </p:sp>
      <p:sp>
        <p:nvSpPr>
          <p:cNvPr id="3" name="Shape 1"/>
          <p:cNvSpPr/>
          <p:nvPr/>
        </p:nvSpPr>
        <p:spPr>
          <a:xfrm>
            <a:off x="10607040" y="4023360"/>
            <a:ext cx="3291840" cy="3291840"/>
          </a:xfrm>
          <a:prstGeom prst="ellipse">
            <a:avLst/>
          </a:prstGeom>
          <a:solidFill>
            <a:srgbClr val="1B2A4A"/>
          </a:solidFill>
          <a:ln/>
        </p:spPr>
      </p:sp>
      <p:sp>
        <p:nvSpPr>
          <p:cNvPr id="4" name="Shape 2"/>
          <p:cNvSpPr/>
          <p:nvPr/>
        </p:nvSpPr>
        <p:spPr>
          <a:xfrm>
            <a:off x="822960" y="1280160"/>
            <a:ext cx="2926080" cy="310896"/>
          </a:xfrm>
          <a:prstGeom prst="roundRect">
            <a:avLst>
              <a:gd name="adj" fmla="val 50000"/>
            </a:avLst>
          </a:prstGeom>
          <a:solidFill>
            <a:srgbClr val="2563EB"/>
          </a:solidFill>
          <a:ln/>
        </p:spPr>
      </p:sp>
      <p:sp>
        <p:nvSpPr>
          <p:cNvPr id="5" name="Text 3"/>
          <p:cNvSpPr/>
          <p:nvPr/>
        </p:nvSpPr>
        <p:spPr>
          <a:xfrm>
            <a:off x="822960" y="1280160"/>
            <a:ext cx="292608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MODULE 2  -  JAVASCRIPT</a:t>
            </a:r>
            <a:endParaRPr lang="en-US" sz="1100" dirty="0"/>
          </a:p>
        </p:txBody>
      </p:sp>
      <p:sp>
        <p:nvSpPr>
          <p:cNvPr id="6" name="Text 4"/>
          <p:cNvSpPr/>
          <p:nvPr/>
        </p:nvSpPr>
        <p:spPr>
          <a:xfrm>
            <a:off x="777240" y="1828800"/>
            <a:ext cx="9601200" cy="2194560"/>
          </a:xfrm>
          <a:prstGeom prst="rect">
            <a:avLst/>
          </a:prstGeom>
          <a:noFill/>
          <a:ln/>
        </p:spPr>
        <p:txBody>
          <a:bodyPr wrap="square" lIns="0" tIns="0" rIns="0" bIns="0" rtlCol="0" anchor="t"/>
          <a:lstStyle/>
          <a:p>
            <a:pPr algn="l" indent="0" marL="0">
              <a:lnSpc>
                <a:spcPct val="98000"/>
              </a:lnSpc>
              <a:buNone/>
            </a:pPr>
            <a:r>
              <a:rPr lang="en-US" sz="5400" b="1" dirty="0">
                <a:solidFill>
                  <a:srgbClr val="FFFFFF"/>
                </a:solidFill>
                <a:latin typeface="Calibri" pitchFamily="34" charset="0"/>
                <a:ea typeface="Calibri" pitchFamily="34" charset="-122"/>
                <a:cs typeface="Calibri" pitchFamily="34" charset="-120"/>
              </a:rPr>
              <a:t>Introduction to</a:t>
            </a:r>
            <a:endParaRPr lang="en-US" sz="5400" dirty="0"/>
          </a:p>
          <a:p>
            <a:pPr algn="l" indent="0" marL="0">
              <a:lnSpc>
                <a:spcPct val="98000"/>
              </a:lnSpc>
              <a:buNone/>
            </a:pPr>
            <a:r>
              <a:rPr lang="en-US" sz="5400" b="1" dirty="0">
                <a:solidFill>
                  <a:srgbClr val="FFFFFF"/>
                </a:solidFill>
                <a:latin typeface="Calibri" pitchFamily="34" charset="0"/>
                <a:ea typeface="Calibri" pitchFamily="34" charset="-122"/>
                <a:cs typeface="Calibri" pitchFamily="34" charset="-120"/>
              </a:rPr>
              <a:t>JavaScript</a:t>
            </a:r>
            <a:endParaRPr lang="en-US" sz="5400" dirty="0"/>
          </a:p>
        </p:txBody>
      </p:sp>
      <p:sp>
        <p:nvSpPr>
          <p:cNvPr id="7" name="Text 5"/>
          <p:cNvSpPr/>
          <p:nvPr/>
        </p:nvSpPr>
        <p:spPr>
          <a:xfrm>
            <a:off x="822960" y="4343400"/>
            <a:ext cx="9326880" cy="640080"/>
          </a:xfrm>
          <a:prstGeom prst="rect">
            <a:avLst/>
          </a:prstGeom>
          <a:noFill/>
          <a:ln/>
        </p:spPr>
        <p:txBody>
          <a:bodyPr wrap="square" lIns="0" tIns="0" rIns="0" bIns="0" rtlCol="0" anchor="ctr"/>
          <a:lstStyle/>
          <a:p>
            <a:pPr algn="l" indent="0" marL="0">
              <a:buNone/>
            </a:pPr>
            <a:r>
              <a:rPr lang="en-US" sz="1800" dirty="0">
                <a:solidFill>
                  <a:srgbClr val="C7DBFF"/>
                </a:solidFill>
                <a:latin typeface="Calibri" pitchFamily="34" charset="0"/>
                <a:ea typeface="Calibri" pitchFamily="34" charset="-122"/>
                <a:cs typeface="Calibri" pitchFamily="34" charset="-120"/>
              </a:rPr>
              <a:t>HTML gave the page a skeleton. CSS made it look good. Now we make it think.</a:t>
            </a:r>
            <a:endParaRPr lang="en-US" sz="1800" dirty="0"/>
          </a:p>
        </p:txBody>
      </p:sp>
      <p:sp>
        <p:nvSpPr>
          <p:cNvPr id="8" name="Shape 6"/>
          <p:cNvSpPr/>
          <p:nvPr/>
        </p:nvSpPr>
        <p:spPr>
          <a:xfrm>
            <a:off x="10469880" y="1097280"/>
            <a:ext cx="1097280" cy="1097280"/>
          </a:xfrm>
          <a:prstGeom prst="roundRect">
            <a:avLst>
              <a:gd name="adj" fmla="val 15000"/>
            </a:avLst>
          </a:prstGeom>
          <a:solidFill>
            <a:srgbClr val="F7DF1E"/>
          </a:solidFill>
          <a:ln/>
        </p:spPr>
      </p:sp>
      <p:sp>
        <p:nvSpPr>
          <p:cNvPr id="9" name="Text 7"/>
          <p:cNvSpPr/>
          <p:nvPr/>
        </p:nvSpPr>
        <p:spPr>
          <a:xfrm>
            <a:off x="10469880" y="1097280"/>
            <a:ext cx="1097280" cy="1097280"/>
          </a:xfrm>
          <a:prstGeom prst="rect">
            <a:avLst/>
          </a:prstGeom>
          <a:noFill/>
          <a:ln/>
        </p:spPr>
        <p:txBody>
          <a:bodyPr wrap="square" lIns="0" tIns="0" rIns="0" bIns="0" rtlCol="0" anchor="ctr"/>
          <a:lstStyle/>
          <a:p>
            <a:pPr algn="ctr" indent="0" marL="0">
              <a:buNone/>
            </a:pPr>
            <a:r>
              <a:rPr lang="en-US" sz="3000" b="1" dirty="0">
                <a:solidFill>
                  <a:srgbClr val="1E1E1E"/>
                </a:solidFill>
                <a:latin typeface="Calibri" pitchFamily="34" charset="0"/>
                <a:ea typeface="Calibri" pitchFamily="34" charset="-122"/>
                <a:cs typeface="Calibri" pitchFamily="34" charset="-120"/>
              </a:rPr>
              <a:t>JS</a:t>
            </a:r>
            <a:endParaRPr lang="en-US" sz="3000" dirty="0"/>
          </a:p>
        </p:txBody>
      </p:sp>
      <p:sp>
        <p:nvSpPr>
          <p:cNvPr id="10" name="Text 8"/>
          <p:cNvSpPr/>
          <p:nvPr/>
        </p:nvSpPr>
        <p:spPr>
          <a:xfrm>
            <a:off x="822960" y="5852160"/>
            <a:ext cx="10058400" cy="365760"/>
          </a:xfrm>
          <a:prstGeom prst="rect">
            <a:avLst/>
          </a:prstGeom>
          <a:noFill/>
          <a:ln/>
        </p:spPr>
        <p:txBody>
          <a:bodyPr wrap="square" lIns="0" tIns="0" rIns="0" bIns="0" rtlCol="0" anchor="ctr"/>
          <a:lstStyle/>
          <a:p>
            <a:pPr algn="l" indent="0" marL="0">
              <a:buNone/>
            </a:pPr>
            <a:r>
              <a:rPr lang="en-US" sz="1300" i="1" dirty="0">
                <a:solidFill>
                  <a:srgbClr val="94A3B8"/>
                </a:solidFill>
                <a:latin typeface="Calibri" pitchFamily="34" charset="0"/>
                <a:ea typeface="Calibri" pitchFamily="34" charset="-122"/>
                <a:cs typeface="Calibri" pitchFamily="34" charset="-120"/>
              </a:rPr>
              <a:t>The language that runs in every browser on earth, and now on servers too.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832104" cy="310896"/>
          </a:xfrm>
          <a:prstGeom prst="roundRect">
            <a:avLst>
              <a:gd name="adj" fmla="val 50000"/>
            </a:avLst>
          </a:prstGeom>
          <a:solidFill>
            <a:srgbClr val="2563EB"/>
          </a:solidFill>
          <a:ln/>
        </p:spPr>
      </p:sp>
      <p:sp>
        <p:nvSpPr>
          <p:cNvPr id="3" name="Text 1"/>
          <p:cNvSpPr/>
          <p:nvPr/>
        </p:nvSpPr>
        <p:spPr>
          <a:xfrm>
            <a:off x="548640" y="457200"/>
            <a:ext cx="832104"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AGENDA</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What we cover today</a:t>
            </a:r>
            <a:endParaRPr lang="en-US" sz="3400" dirty="0"/>
          </a:p>
        </p:txBody>
      </p:sp>
      <p:sp>
        <p:nvSpPr>
          <p:cNvPr id="5" name="Shape 3"/>
          <p:cNvSpPr/>
          <p:nvPr/>
        </p:nvSpPr>
        <p:spPr>
          <a:xfrm>
            <a:off x="548640" y="2103120"/>
            <a:ext cx="2139696" cy="3566160"/>
          </a:xfrm>
          <a:prstGeom prst="roundRect">
            <a:avLst>
              <a:gd name="adj" fmla="val 512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04672" y="2423160"/>
            <a:ext cx="731520" cy="731520"/>
          </a:xfrm>
          <a:prstGeom prst="ellipse">
            <a:avLst/>
          </a:prstGeom>
          <a:solidFill>
            <a:srgbClr val="E5EEFF"/>
          </a:solidFill>
          <a:ln/>
        </p:spPr>
      </p:sp>
      <p:pic>
        <p:nvPicPr>
          <p:cNvPr id="7" name="Image 0" descr="preencoded.png">    </p:cNvPr>
          <p:cNvPicPr>
            <a:picLocks noChangeAspect="1"/>
          </p:cNvPicPr>
          <p:nvPr/>
        </p:nvPicPr>
        <p:blipFill>
          <a:blip r:embed="rId1"/>
          <a:stretch>
            <a:fillRect/>
          </a:stretch>
        </p:blipFill>
        <p:spPr>
          <a:xfrm>
            <a:off x="994867" y="2613355"/>
            <a:ext cx="351130" cy="351130"/>
          </a:xfrm>
          <a:prstGeom prst="rect">
            <a:avLst/>
          </a:prstGeom>
        </p:spPr>
      </p:pic>
      <p:sp>
        <p:nvSpPr>
          <p:cNvPr id="8" name="Shape 5"/>
          <p:cNvSpPr/>
          <p:nvPr/>
        </p:nvSpPr>
        <p:spPr>
          <a:xfrm>
            <a:off x="2029968" y="2423160"/>
            <a:ext cx="402336" cy="402336"/>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9" name="Text 6"/>
          <p:cNvSpPr/>
          <p:nvPr/>
        </p:nvSpPr>
        <p:spPr>
          <a:xfrm>
            <a:off x="2029968" y="2423160"/>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804672" y="3337560"/>
            <a:ext cx="1627632" cy="914400"/>
          </a:xfrm>
          <a:prstGeom prst="rect">
            <a:avLst/>
          </a:prstGeom>
          <a:noFill/>
          <a:ln/>
        </p:spPr>
        <p:txBody>
          <a:bodyPr wrap="square" lIns="0" tIns="0" rIns="0" bIns="0" rtlCol="0" anchor="t"/>
          <a:lstStyle/>
          <a:p>
            <a:pPr algn="l" indent="0" marL="0">
              <a:buNone/>
            </a:pPr>
            <a:r>
              <a:rPr lang="en-US" sz="1550" b="1" dirty="0">
                <a:solidFill>
                  <a:srgbClr val="0F172A"/>
                </a:solidFill>
                <a:latin typeface="Calibri" pitchFamily="34" charset="0"/>
                <a:ea typeface="Calibri" pitchFamily="34" charset="-122"/>
                <a:cs typeface="Calibri" pitchFamily="34" charset="-120"/>
              </a:rPr>
              <a:t>What is JavaScript</a:t>
            </a:r>
            <a:endParaRPr lang="en-US" sz="1550" dirty="0"/>
          </a:p>
        </p:txBody>
      </p:sp>
      <p:sp>
        <p:nvSpPr>
          <p:cNvPr id="11" name="Text 8"/>
          <p:cNvSpPr/>
          <p:nvPr/>
        </p:nvSpPr>
        <p:spPr>
          <a:xfrm>
            <a:off x="804672" y="4297680"/>
            <a:ext cx="1627632" cy="1188720"/>
          </a:xfrm>
          <a:prstGeom prst="rect">
            <a:avLst/>
          </a:prstGeom>
          <a:noFill/>
          <a:ln/>
        </p:spPr>
        <p:txBody>
          <a:bodyPr wrap="square" lIns="0" tIns="0" rIns="0" bIns="0" rtlCol="0" anchor="t"/>
          <a:lstStyle/>
          <a:p>
            <a:pPr algn="l" indent="0" marL="0">
              <a:buNone/>
            </a:pPr>
            <a:r>
              <a:rPr lang="en-US" sz="1200" dirty="0">
                <a:solidFill>
                  <a:srgbClr val="64748B"/>
                </a:solidFill>
                <a:latin typeface="Calibri" pitchFamily="34" charset="0"/>
                <a:ea typeface="Calibri" pitchFamily="34" charset="-122"/>
                <a:cs typeface="Calibri" pitchFamily="34" charset="-120"/>
              </a:rPr>
              <a:t>and how it runs inside a browser</a:t>
            </a:r>
            <a:endParaRPr lang="en-US" sz="1200" dirty="0"/>
          </a:p>
        </p:txBody>
      </p:sp>
      <p:sp>
        <p:nvSpPr>
          <p:cNvPr id="12" name="Shape 9"/>
          <p:cNvSpPr/>
          <p:nvPr/>
        </p:nvSpPr>
        <p:spPr>
          <a:xfrm>
            <a:off x="2862072" y="2103120"/>
            <a:ext cx="2139696" cy="3566160"/>
          </a:xfrm>
          <a:prstGeom prst="roundRect">
            <a:avLst>
              <a:gd name="adj" fmla="val 512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3" name="Shape 10"/>
          <p:cNvSpPr/>
          <p:nvPr/>
        </p:nvSpPr>
        <p:spPr>
          <a:xfrm>
            <a:off x="3118104" y="2423160"/>
            <a:ext cx="731520" cy="731520"/>
          </a:xfrm>
          <a:prstGeom prst="ellipse">
            <a:avLst/>
          </a:prstGeom>
          <a:solidFill>
            <a:srgbClr val="E5EEFF"/>
          </a:solidFill>
          <a:ln/>
        </p:spPr>
      </p:sp>
      <p:pic>
        <p:nvPicPr>
          <p:cNvPr id="14" name="Image 1" descr="preencoded.png">    </p:cNvPr>
          <p:cNvPicPr>
            <a:picLocks noChangeAspect="1"/>
          </p:cNvPicPr>
          <p:nvPr/>
        </p:nvPicPr>
        <p:blipFill>
          <a:blip r:embed="rId2"/>
          <a:stretch>
            <a:fillRect/>
          </a:stretch>
        </p:blipFill>
        <p:spPr>
          <a:xfrm>
            <a:off x="3308299" y="2613355"/>
            <a:ext cx="351130" cy="351130"/>
          </a:xfrm>
          <a:prstGeom prst="rect">
            <a:avLst/>
          </a:prstGeom>
        </p:spPr>
      </p:pic>
      <p:sp>
        <p:nvSpPr>
          <p:cNvPr id="15" name="Shape 11"/>
          <p:cNvSpPr/>
          <p:nvPr/>
        </p:nvSpPr>
        <p:spPr>
          <a:xfrm>
            <a:off x="4343400" y="2423160"/>
            <a:ext cx="402336" cy="402336"/>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6" name="Text 12"/>
          <p:cNvSpPr/>
          <p:nvPr/>
        </p:nvSpPr>
        <p:spPr>
          <a:xfrm>
            <a:off x="4343400" y="2423160"/>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3"/>
          <p:cNvSpPr/>
          <p:nvPr/>
        </p:nvSpPr>
        <p:spPr>
          <a:xfrm>
            <a:off x="3118104" y="3337560"/>
            <a:ext cx="1627632" cy="914400"/>
          </a:xfrm>
          <a:prstGeom prst="rect">
            <a:avLst/>
          </a:prstGeom>
          <a:noFill/>
          <a:ln/>
        </p:spPr>
        <p:txBody>
          <a:bodyPr wrap="square" lIns="0" tIns="0" rIns="0" bIns="0" rtlCol="0" anchor="t"/>
          <a:lstStyle/>
          <a:p>
            <a:pPr algn="l" indent="0" marL="0">
              <a:buNone/>
            </a:pPr>
            <a:r>
              <a:rPr lang="en-US" sz="1550" b="1" dirty="0">
                <a:solidFill>
                  <a:srgbClr val="0F172A"/>
                </a:solidFill>
                <a:latin typeface="Calibri" pitchFamily="34" charset="0"/>
                <a:ea typeface="Calibri" pitchFamily="34" charset="-122"/>
                <a:cs typeface="Calibri" pitchFamily="34" charset="-120"/>
              </a:rPr>
              <a:t>Node.js</a:t>
            </a:r>
            <a:endParaRPr lang="en-US" sz="1550" dirty="0"/>
          </a:p>
        </p:txBody>
      </p:sp>
      <p:sp>
        <p:nvSpPr>
          <p:cNvPr id="18" name="Text 14"/>
          <p:cNvSpPr/>
          <p:nvPr/>
        </p:nvSpPr>
        <p:spPr>
          <a:xfrm>
            <a:off x="3118104" y="4297680"/>
            <a:ext cx="1627632" cy="1188720"/>
          </a:xfrm>
          <a:prstGeom prst="rect">
            <a:avLst/>
          </a:prstGeom>
          <a:noFill/>
          <a:ln/>
        </p:spPr>
        <p:txBody>
          <a:bodyPr wrap="square" lIns="0" tIns="0" rIns="0" bIns="0" rtlCol="0" anchor="t"/>
          <a:lstStyle/>
          <a:p>
            <a:pPr algn="l" indent="0" marL="0">
              <a:buNone/>
            </a:pPr>
            <a:r>
              <a:rPr lang="en-US" sz="1200" dirty="0">
                <a:solidFill>
                  <a:srgbClr val="64748B"/>
                </a:solidFill>
                <a:latin typeface="Calibri" pitchFamily="34" charset="0"/>
                <a:ea typeface="Calibri" pitchFamily="34" charset="-122"/>
                <a:cs typeface="Calibri" pitchFamily="34" charset="-120"/>
              </a:rPr>
              <a:t>installing it, and running JS outside the browser</a:t>
            </a:r>
            <a:endParaRPr lang="en-US" sz="1200" dirty="0"/>
          </a:p>
        </p:txBody>
      </p:sp>
      <p:sp>
        <p:nvSpPr>
          <p:cNvPr id="19" name="Shape 15"/>
          <p:cNvSpPr/>
          <p:nvPr/>
        </p:nvSpPr>
        <p:spPr>
          <a:xfrm>
            <a:off x="5175504" y="2103120"/>
            <a:ext cx="2139696" cy="3566160"/>
          </a:xfrm>
          <a:prstGeom prst="roundRect">
            <a:avLst>
              <a:gd name="adj" fmla="val 512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0" name="Shape 16"/>
          <p:cNvSpPr/>
          <p:nvPr/>
        </p:nvSpPr>
        <p:spPr>
          <a:xfrm>
            <a:off x="5431536" y="2423160"/>
            <a:ext cx="731520" cy="731520"/>
          </a:xfrm>
          <a:prstGeom prst="ellipse">
            <a:avLst/>
          </a:prstGeom>
          <a:solidFill>
            <a:srgbClr val="E5EEFF"/>
          </a:solidFill>
          <a:ln/>
        </p:spPr>
      </p:sp>
      <p:pic>
        <p:nvPicPr>
          <p:cNvPr id="21" name="Image 2" descr="preencoded.png">    </p:cNvPr>
          <p:cNvPicPr>
            <a:picLocks noChangeAspect="1"/>
          </p:cNvPicPr>
          <p:nvPr/>
        </p:nvPicPr>
        <p:blipFill>
          <a:blip r:embed="rId3"/>
          <a:stretch>
            <a:fillRect/>
          </a:stretch>
        </p:blipFill>
        <p:spPr>
          <a:xfrm>
            <a:off x="5621731" y="2613355"/>
            <a:ext cx="351130" cy="351130"/>
          </a:xfrm>
          <a:prstGeom prst="rect">
            <a:avLst/>
          </a:prstGeom>
        </p:spPr>
      </p:pic>
      <p:sp>
        <p:nvSpPr>
          <p:cNvPr id="22" name="Shape 17"/>
          <p:cNvSpPr/>
          <p:nvPr/>
        </p:nvSpPr>
        <p:spPr>
          <a:xfrm>
            <a:off x="6656832" y="2423160"/>
            <a:ext cx="402336" cy="402336"/>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23" name="Text 18"/>
          <p:cNvSpPr/>
          <p:nvPr/>
        </p:nvSpPr>
        <p:spPr>
          <a:xfrm>
            <a:off x="6656832" y="2423160"/>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4" name="Text 19"/>
          <p:cNvSpPr/>
          <p:nvPr/>
        </p:nvSpPr>
        <p:spPr>
          <a:xfrm>
            <a:off x="5431536" y="3337560"/>
            <a:ext cx="1627632" cy="914400"/>
          </a:xfrm>
          <a:prstGeom prst="rect">
            <a:avLst/>
          </a:prstGeom>
          <a:noFill/>
          <a:ln/>
        </p:spPr>
        <p:txBody>
          <a:bodyPr wrap="square" lIns="0" tIns="0" rIns="0" bIns="0" rtlCol="0" anchor="t"/>
          <a:lstStyle/>
          <a:p>
            <a:pPr algn="l" indent="0" marL="0">
              <a:buNone/>
            </a:pPr>
            <a:r>
              <a:rPr lang="en-US" sz="1550" b="1" dirty="0">
                <a:solidFill>
                  <a:srgbClr val="0F172A"/>
                </a:solidFill>
                <a:latin typeface="Calibri" pitchFamily="34" charset="0"/>
                <a:ea typeface="Calibri" pitchFamily="34" charset="-122"/>
                <a:cs typeface="Calibri" pitchFamily="34" charset="-120"/>
              </a:rPr>
              <a:t>Variables</a:t>
            </a:r>
            <a:endParaRPr lang="en-US" sz="1550" dirty="0"/>
          </a:p>
        </p:txBody>
      </p:sp>
      <p:sp>
        <p:nvSpPr>
          <p:cNvPr id="25" name="Text 20"/>
          <p:cNvSpPr/>
          <p:nvPr/>
        </p:nvSpPr>
        <p:spPr>
          <a:xfrm>
            <a:off x="5431536" y="4297680"/>
            <a:ext cx="1627632" cy="1188720"/>
          </a:xfrm>
          <a:prstGeom prst="rect">
            <a:avLst/>
          </a:prstGeom>
          <a:noFill/>
          <a:ln/>
        </p:spPr>
        <p:txBody>
          <a:bodyPr wrap="square" lIns="0" tIns="0" rIns="0" bIns="0" rtlCol="0" anchor="t"/>
          <a:lstStyle/>
          <a:p>
            <a:pPr algn="l" indent="0" marL="0">
              <a:buNone/>
            </a:pPr>
            <a:r>
              <a:rPr lang="en-US" sz="1200" dirty="0">
                <a:solidFill>
                  <a:srgbClr val="64748B"/>
                </a:solidFill>
                <a:latin typeface="Calibri" pitchFamily="34" charset="0"/>
                <a:ea typeface="Calibri" pitchFamily="34" charset="-122"/>
                <a:cs typeface="Calibri" pitchFamily="34" charset="-120"/>
              </a:rPr>
              <a:t>var, let, const, and dynamic typing</a:t>
            </a:r>
            <a:endParaRPr lang="en-US" sz="1200" dirty="0"/>
          </a:p>
        </p:txBody>
      </p:sp>
      <p:sp>
        <p:nvSpPr>
          <p:cNvPr id="26" name="Shape 21"/>
          <p:cNvSpPr/>
          <p:nvPr/>
        </p:nvSpPr>
        <p:spPr>
          <a:xfrm>
            <a:off x="7488936" y="2103120"/>
            <a:ext cx="2139696" cy="3566160"/>
          </a:xfrm>
          <a:prstGeom prst="roundRect">
            <a:avLst>
              <a:gd name="adj" fmla="val 512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7" name="Shape 22"/>
          <p:cNvSpPr/>
          <p:nvPr/>
        </p:nvSpPr>
        <p:spPr>
          <a:xfrm>
            <a:off x="7744968" y="2423160"/>
            <a:ext cx="731520" cy="731520"/>
          </a:xfrm>
          <a:prstGeom prst="ellipse">
            <a:avLst/>
          </a:prstGeom>
          <a:solidFill>
            <a:srgbClr val="E5EEFF"/>
          </a:solidFill>
          <a:ln/>
        </p:spPr>
      </p:sp>
      <p:pic>
        <p:nvPicPr>
          <p:cNvPr id="28" name="Image 3" descr="preencoded.png">    </p:cNvPr>
          <p:cNvPicPr>
            <a:picLocks noChangeAspect="1"/>
          </p:cNvPicPr>
          <p:nvPr/>
        </p:nvPicPr>
        <p:blipFill>
          <a:blip r:embed="rId4"/>
          <a:stretch>
            <a:fillRect/>
          </a:stretch>
        </p:blipFill>
        <p:spPr>
          <a:xfrm>
            <a:off x="7935163" y="2613355"/>
            <a:ext cx="351130" cy="351130"/>
          </a:xfrm>
          <a:prstGeom prst="rect">
            <a:avLst/>
          </a:prstGeom>
        </p:spPr>
      </p:pic>
      <p:sp>
        <p:nvSpPr>
          <p:cNvPr id="29" name="Shape 23"/>
          <p:cNvSpPr/>
          <p:nvPr/>
        </p:nvSpPr>
        <p:spPr>
          <a:xfrm>
            <a:off x="8970264" y="2423160"/>
            <a:ext cx="402336" cy="402336"/>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30" name="Text 24"/>
          <p:cNvSpPr/>
          <p:nvPr/>
        </p:nvSpPr>
        <p:spPr>
          <a:xfrm>
            <a:off x="8970264" y="2423160"/>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1" name="Text 25"/>
          <p:cNvSpPr/>
          <p:nvPr/>
        </p:nvSpPr>
        <p:spPr>
          <a:xfrm>
            <a:off x="7744968" y="3337560"/>
            <a:ext cx="1627632" cy="914400"/>
          </a:xfrm>
          <a:prstGeom prst="rect">
            <a:avLst/>
          </a:prstGeom>
          <a:noFill/>
          <a:ln/>
        </p:spPr>
        <p:txBody>
          <a:bodyPr wrap="square" lIns="0" tIns="0" rIns="0" bIns="0" rtlCol="0" anchor="t"/>
          <a:lstStyle/>
          <a:p>
            <a:pPr algn="l" indent="0" marL="0">
              <a:buNone/>
            </a:pPr>
            <a:r>
              <a:rPr lang="en-US" sz="1550" b="1" dirty="0">
                <a:solidFill>
                  <a:srgbClr val="0F172A"/>
                </a:solidFill>
                <a:latin typeface="Calibri" pitchFamily="34" charset="0"/>
                <a:ea typeface="Calibri" pitchFamily="34" charset="-122"/>
                <a:cs typeface="Calibri" pitchFamily="34" charset="-120"/>
              </a:rPr>
              <a:t>Data types</a:t>
            </a:r>
            <a:endParaRPr lang="en-US" sz="1550" dirty="0"/>
          </a:p>
        </p:txBody>
      </p:sp>
      <p:sp>
        <p:nvSpPr>
          <p:cNvPr id="32" name="Text 26"/>
          <p:cNvSpPr/>
          <p:nvPr/>
        </p:nvSpPr>
        <p:spPr>
          <a:xfrm>
            <a:off x="7744968" y="4297680"/>
            <a:ext cx="1627632" cy="1188720"/>
          </a:xfrm>
          <a:prstGeom prst="rect">
            <a:avLst/>
          </a:prstGeom>
          <a:noFill/>
          <a:ln/>
        </p:spPr>
        <p:txBody>
          <a:bodyPr wrap="square" lIns="0" tIns="0" rIns="0" bIns="0" rtlCol="0" anchor="t"/>
          <a:lstStyle/>
          <a:p>
            <a:pPr algn="l" indent="0" marL="0">
              <a:buNone/>
            </a:pPr>
            <a:r>
              <a:rPr lang="en-US" sz="1200" dirty="0">
                <a:solidFill>
                  <a:srgbClr val="64748B"/>
                </a:solidFill>
                <a:latin typeface="Calibri" pitchFamily="34" charset="0"/>
                <a:ea typeface="Calibri" pitchFamily="34" charset="-122"/>
                <a:cs typeface="Calibri" pitchFamily="34" charset="-120"/>
              </a:rPr>
              <a:t>primitive and reference types</a:t>
            </a:r>
            <a:endParaRPr lang="en-US" sz="1200" dirty="0"/>
          </a:p>
        </p:txBody>
      </p:sp>
      <p:sp>
        <p:nvSpPr>
          <p:cNvPr id="33" name="Shape 27"/>
          <p:cNvSpPr/>
          <p:nvPr/>
        </p:nvSpPr>
        <p:spPr>
          <a:xfrm>
            <a:off x="9802368" y="2103120"/>
            <a:ext cx="2139696" cy="3566160"/>
          </a:xfrm>
          <a:prstGeom prst="roundRect">
            <a:avLst>
              <a:gd name="adj" fmla="val 512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34" name="Shape 28"/>
          <p:cNvSpPr/>
          <p:nvPr/>
        </p:nvSpPr>
        <p:spPr>
          <a:xfrm>
            <a:off x="10058400" y="2423160"/>
            <a:ext cx="731520" cy="731520"/>
          </a:xfrm>
          <a:prstGeom prst="ellipse">
            <a:avLst/>
          </a:prstGeom>
          <a:solidFill>
            <a:srgbClr val="E5EEFF"/>
          </a:solidFill>
          <a:ln/>
        </p:spPr>
      </p:sp>
      <p:pic>
        <p:nvPicPr>
          <p:cNvPr id="35" name="Image 4" descr="preencoded.png">    </p:cNvPr>
          <p:cNvPicPr>
            <a:picLocks noChangeAspect="1"/>
          </p:cNvPicPr>
          <p:nvPr/>
        </p:nvPicPr>
        <p:blipFill>
          <a:blip r:embed="rId5"/>
          <a:stretch>
            <a:fillRect/>
          </a:stretch>
        </p:blipFill>
        <p:spPr>
          <a:xfrm>
            <a:off x="10248595" y="2613355"/>
            <a:ext cx="351130" cy="351130"/>
          </a:xfrm>
          <a:prstGeom prst="rect">
            <a:avLst/>
          </a:prstGeom>
        </p:spPr>
      </p:pic>
      <p:sp>
        <p:nvSpPr>
          <p:cNvPr id="36" name="Shape 29"/>
          <p:cNvSpPr/>
          <p:nvPr/>
        </p:nvSpPr>
        <p:spPr>
          <a:xfrm>
            <a:off x="11283696" y="2423160"/>
            <a:ext cx="402336" cy="402336"/>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37" name="Text 30"/>
          <p:cNvSpPr/>
          <p:nvPr/>
        </p:nvSpPr>
        <p:spPr>
          <a:xfrm>
            <a:off x="11283696" y="2423160"/>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8" name="Text 31"/>
          <p:cNvSpPr/>
          <p:nvPr/>
        </p:nvSpPr>
        <p:spPr>
          <a:xfrm>
            <a:off x="10058400" y="3337560"/>
            <a:ext cx="1627632" cy="914400"/>
          </a:xfrm>
          <a:prstGeom prst="rect">
            <a:avLst/>
          </a:prstGeom>
          <a:noFill/>
          <a:ln/>
        </p:spPr>
        <p:txBody>
          <a:bodyPr wrap="square" lIns="0" tIns="0" rIns="0" bIns="0" rtlCol="0" anchor="t"/>
          <a:lstStyle/>
          <a:p>
            <a:pPr algn="l" indent="0" marL="0">
              <a:buNone/>
            </a:pPr>
            <a:r>
              <a:rPr lang="en-US" sz="1550" b="1" dirty="0">
                <a:solidFill>
                  <a:srgbClr val="0F172A"/>
                </a:solidFill>
                <a:latin typeface="Calibri" pitchFamily="34" charset="0"/>
                <a:ea typeface="Calibri" pitchFamily="34" charset="-122"/>
                <a:cs typeface="Calibri" pitchFamily="34" charset="-120"/>
              </a:rPr>
              <a:t>Functions, arrays, objects</a:t>
            </a:r>
            <a:endParaRPr lang="en-US" sz="1550" dirty="0"/>
          </a:p>
        </p:txBody>
      </p:sp>
      <p:sp>
        <p:nvSpPr>
          <p:cNvPr id="39" name="Text 32"/>
          <p:cNvSpPr/>
          <p:nvPr/>
        </p:nvSpPr>
        <p:spPr>
          <a:xfrm>
            <a:off x="10058400" y="4297680"/>
            <a:ext cx="1627632" cy="1188720"/>
          </a:xfrm>
          <a:prstGeom prst="rect">
            <a:avLst/>
          </a:prstGeom>
          <a:noFill/>
          <a:ln/>
        </p:spPr>
        <p:txBody>
          <a:bodyPr wrap="square" lIns="0" tIns="0" rIns="0" bIns="0" rtlCol="0" anchor="t"/>
          <a:lstStyle/>
          <a:p>
            <a:pPr algn="l" indent="0" marL="0">
              <a:buNone/>
            </a:pPr>
            <a:r>
              <a:rPr lang="en-US" sz="1200" dirty="0">
                <a:solidFill>
                  <a:srgbClr val="64748B"/>
                </a:solidFill>
                <a:latin typeface="Calibri" pitchFamily="34" charset="0"/>
                <a:ea typeface="Calibri" pitchFamily="34" charset="-122"/>
                <a:cs typeface="Calibri" pitchFamily="34" charset="-120"/>
              </a:rPr>
              <a:t>the three you will use every single day</a:t>
            </a:r>
            <a:endParaRPr lang="en-US" sz="1200" dirty="0"/>
          </a:p>
        </p:txBody>
      </p:sp>
      <p:sp>
        <p:nvSpPr>
          <p:cNvPr id="40" name="Shape 33"/>
          <p:cNvSpPr/>
          <p:nvPr/>
        </p:nvSpPr>
        <p:spPr>
          <a:xfrm>
            <a:off x="548640" y="5897880"/>
            <a:ext cx="11109960" cy="566928"/>
          </a:xfrm>
          <a:prstGeom prst="roundRect">
            <a:avLst>
              <a:gd name="adj" fmla="val 19355"/>
            </a:avLst>
          </a:prstGeom>
          <a:solidFill>
            <a:srgbClr val="E5EEFF"/>
          </a:solidFill>
          <a:ln/>
        </p:spPr>
      </p:sp>
      <p:sp>
        <p:nvSpPr>
          <p:cNvPr id="41" name="Shape 34"/>
          <p:cNvSpPr/>
          <p:nvPr/>
        </p:nvSpPr>
        <p:spPr>
          <a:xfrm>
            <a:off x="749808" y="6053328"/>
            <a:ext cx="256032" cy="256032"/>
          </a:xfrm>
          <a:prstGeom prst="ellipse">
            <a:avLst/>
          </a:prstGeom>
          <a:solidFill>
            <a:srgbClr val="2563EB"/>
          </a:solidFill>
          <a:ln/>
        </p:spPr>
      </p:sp>
      <p:sp>
        <p:nvSpPr>
          <p:cNvPr id="42" name="Text 35"/>
          <p:cNvSpPr/>
          <p:nvPr/>
        </p:nvSpPr>
        <p:spPr>
          <a:xfrm>
            <a:off x="1207008" y="5897880"/>
            <a:ext cx="10241280" cy="566928"/>
          </a:xfrm>
          <a:prstGeom prst="rect">
            <a:avLst/>
          </a:prstGeom>
          <a:noFill/>
          <a:ln/>
        </p:spPr>
        <p:txBody>
          <a:bodyPr wrap="square" lIns="0" tIns="0" rIns="0" bIns="0" rtlCol="0" anchor="ctr"/>
          <a:lstStyle/>
          <a:p>
            <a:pPr algn="l" indent="0" marL="0">
              <a:buNone/>
            </a:pPr>
            <a:r>
              <a:rPr lang="en-US" sz="1400" dirty="0">
                <a:solidFill>
                  <a:srgbClr val="0F172A"/>
                </a:solidFill>
                <a:latin typeface="Calibri" pitchFamily="34" charset="0"/>
                <a:ea typeface="Calibri" pitchFamily="34" charset="-122"/>
                <a:cs typeface="Calibri" pitchFamily="34" charset="-120"/>
              </a:rPr>
              <a:t>This is day one of the biggest module in the course. Everything after it, React included, is built on today.</a:t>
            </a:r>
            <a:endParaRPr lang="en-US" sz="1400" dirty="0"/>
          </a:p>
        </p:txBody>
      </p:sp>
      <p:sp>
        <p:nvSpPr>
          <p:cNvPr id="43" name="Text 36"/>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888236" cy="310896"/>
          </a:xfrm>
          <a:prstGeom prst="roundRect">
            <a:avLst>
              <a:gd name="adj" fmla="val 50000"/>
            </a:avLst>
          </a:prstGeom>
          <a:solidFill>
            <a:srgbClr val="2563EB"/>
          </a:solidFill>
          <a:ln/>
        </p:spPr>
      </p:sp>
      <p:sp>
        <p:nvSpPr>
          <p:cNvPr id="3" name="Text 1"/>
          <p:cNvSpPr/>
          <p:nvPr/>
        </p:nvSpPr>
        <p:spPr>
          <a:xfrm>
            <a:off x="548640" y="457200"/>
            <a:ext cx="188823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MODULE IMPORTANCE</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Why this module matters</a:t>
            </a:r>
            <a:endParaRPr lang="en-US" sz="3400" dirty="0"/>
          </a:p>
        </p:txBody>
      </p:sp>
      <p:sp>
        <p:nvSpPr>
          <p:cNvPr id="5" name="Shape 3"/>
          <p:cNvSpPr/>
          <p:nvPr/>
        </p:nvSpPr>
        <p:spPr>
          <a:xfrm>
            <a:off x="548640" y="1965960"/>
            <a:ext cx="5669280" cy="3977640"/>
          </a:xfrm>
          <a:prstGeom prst="roundRect">
            <a:avLst>
              <a:gd name="adj" fmla="val 275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Text 4"/>
          <p:cNvSpPr/>
          <p:nvPr/>
        </p:nvSpPr>
        <p:spPr>
          <a:xfrm>
            <a:off x="822960" y="2194560"/>
            <a:ext cx="5120640" cy="457200"/>
          </a:xfrm>
          <a:prstGeom prst="rect">
            <a:avLst/>
          </a:prstGeom>
          <a:noFill/>
          <a:ln/>
        </p:spPr>
        <p:txBody>
          <a:bodyPr wrap="square" lIns="0" tIns="0" rIns="0" bIns="0" rtlCol="0" anchor="ctr"/>
          <a:lstStyle/>
          <a:p>
            <a:pPr algn="l" indent="0" marL="0">
              <a:buNone/>
            </a:pPr>
            <a:r>
              <a:rPr lang="en-US" sz="1700" b="1" dirty="0">
                <a:solidFill>
                  <a:srgbClr val="0F172A"/>
                </a:solidFill>
                <a:latin typeface="Calibri" pitchFamily="34" charset="0"/>
                <a:ea typeface="Calibri" pitchFamily="34" charset="-122"/>
                <a:cs typeface="Calibri" pitchFamily="34" charset="-120"/>
              </a:rPr>
              <a:t>JavaScript is the backbone of modern web development.</a:t>
            </a:r>
            <a:endParaRPr lang="en-US" sz="1700" dirty="0"/>
          </a:p>
        </p:txBody>
      </p:sp>
      <p:sp>
        <p:nvSpPr>
          <p:cNvPr id="7" name="Text 5"/>
          <p:cNvSpPr/>
          <p:nvPr/>
        </p:nvSpPr>
        <p:spPr>
          <a:xfrm>
            <a:off x="822960" y="2743200"/>
            <a:ext cx="5120640" cy="1554480"/>
          </a:xfrm>
          <a:prstGeom prst="rect">
            <a:avLst/>
          </a:prstGeom>
          <a:noFill/>
          <a:ln/>
        </p:spPr>
        <p:txBody>
          <a:bodyPr wrap="square" lIns="0" tIns="0" rIns="0" bIns="0" rtlCol="0" anchor="t"/>
          <a:lstStyle/>
          <a:p>
            <a:pPr algn="l" indent="0" marL="0">
              <a:buNone/>
            </a:pPr>
            <a:r>
              <a:rPr lang="en-US" sz="1400" dirty="0">
                <a:solidFill>
                  <a:srgbClr val="64748B"/>
                </a:solidFill>
                <a:latin typeface="Calibri" pitchFamily="34" charset="0"/>
                <a:ea typeface="Calibri" pitchFamily="34" charset="-122"/>
                <a:cs typeface="Calibri" pitchFamily="34" charset="-120"/>
              </a:rPr>
              <a:t>This module builds your foundation in asynchronous programming, closures, scope, the event loop, and functional programming. Those are the concepts that separate someone who can write JavaScript from someone who can debug it.</a:t>
            </a:r>
            <a:endParaRPr lang="en-US" sz="1400" dirty="0"/>
          </a:p>
        </p:txBody>
      </p:sp>
      <p:sp>
        <p:nvSpPr>
          <p:cNvPr id="8" name="Text 6"/>
          <p:cNvSpPr/>
          <p:nvPr/>
        </p:nvSpPr>
        <p:spPr>
          <a:xfrm>
            <a:off x="822960" y="4297680"/>
            <a:ext cx="5120640" cy="822960"/>
          </a:xfrm>
          <a:prstGeom prst="rect">
            <a:avLst/>
          </a:prstGeom>
          <a:noFill/>
          <a:ln/>
        </p:spPr>
        <p:txBody>
          <a:bodyPr wrap="square" lIns="0" tIns="0" rIns="0" bIns="0" rtlCol="0" anchor="t"/>
          <a:lstStyle/>
          <a:p>
            <a:pPr algn="l" indent="0" marL="0">
              <a:buNone/>
            </a:pPr>
            <a:r>
              <a:rPr lang="en-US" sz="1400" dirty="0">
                <a:solidFill>
                  <a:srgbClr val="0F172A"/>
                </a:solidFill>
                <a:latin typeface="Calibri" pitchFamily="34" charset="0"/>
                <a:ea typeface="Calibri" pitchFamily="34" charset="-122"/>
                <a:cs typeface="Calibri" pitchFamily="34" charset="-120"/>
              </a:rPr>
              <a:t>Core JavaScript comes up in almost every technical interview, at product and service companies alike.</a:t>
            </a:r>
            <a:endParaRPr lang="en-US" sz="1400" dirty="0"/>
          </a:p>
        </p:txBody>
      </p:sp>
      <p:sp>
        <p:nvSpPr>
          <p:cNvPr id="9" name="Shape 7"/>
          <p:cNvSpPr/>
          <p:nvPr/>
        </p:nvSpPr>
        <p:spPr>
          <a:xfrm>
            <a:off x="822960" y="5120640"/>
            <a:ext cx="5120640" cy="658368"/>
          </a:xfrm>
          <a:prstGeom prst="roundRect">
            <a:avLst>
              <a:gd name="adj" fmla="val 16667"/>
            </a:avLst>
          </a:prstGeom>
          <a:solidFill>
            <a:srgbClr val="EEF2FF"/>
          </a:solidFill>
          <a:ln/>
        </p:spPr>
      </p:sp>
      <p:sp>
        <p:nvSpPr>
          <p:cNvPr id="10" name="Shape 8"/>
          <p:cNvSpPr/>
          <p:nvPr/>
        </p:nvSpPr>
        <p:spPr>
          <a:xfrm>
            <a:off x="1024128" y="5321808"/>
            <a:ext cx="256032" cy="256032"/>
          </a:xfrm>
          <a:prstGeom prst="ellipse">
            <a:avLst/>
          </a:prstGeom>
          <a:solidFill>
            <a:srgbClr val="8B5CF6"/>
          </a:solidFill>
          <a:ln/>
        </p:spPr>
      </p:sp>
      <p:sp>
        <p:nvSpPr>
          <p:cNvPr id="11" name="Text 9"/>
          <p:cNvSpPr/>
          <p:nvPr/>
        </p:nvSpPr>
        <p:spPr>
          <a:xfrm>
            <a:off x="1481328" y="5120640"/>
            <a:ext cx="4251960" cy="658368"/>
          </a:xfrm>
          <a:prstGeom prst="rect">
            <a:avLst/>
          </a:prstGeom>
          <a:noFill/>
          <a:ln/>
        </p:spPr>
        <p:txBody>
          <a:bodyPr wrap="square" lIns="0" tIns="0" rIns="0" bIns="0" rtlCol="0" anchor="ctr"/>
          <a:lstStyle/>
          <a:p>
            <a:pPr algn="l" indent="0" marL="0">
              <a:buNone/>
            </a:pPr>
            <a:r>
              <a:rPr lang="en-US" sz="1400" dirty="0">
                <a:solidFill>
                  <a:srgbClr val="3B2E7A"/>
                </a:solidFill>
                <a:latin typeface="Calibri" pitchFamily="34" charset="0"/>
                <a:ea typeface="Calibri" pitchFamily="34" charset="-122"/>
                <a:cs typeface="Calibri" pitchFamily="34" charset="-120"/>
              </a:rPr>
              <a:t>Mandatory practice: mock interviews and weekly contests.</a:t>
            </a:r>
            <a:endParaRPr lang="en-US" sz="1400" dirty="0"/>
          </a:p>
        </p:txBody>
      </p:sp>
      <p:sp>
        <p:nvSpPr>
          <p:cNvPr id="12" name="Shape 10"/>
          <p:cNvSpPr/>
          <p:nvPr/>
        </p:nvSpPr>
        <p:spPr>
          <a:xfrm>
            <a:off x="6492240" y="1965960"/>
            <a:ext cx="5166360" cy="3977640"/>
          </a:xfrm>
          <a:prstGeom prst="roundRect">
            <a:avLst>
              <a:gd name="adj" fmla="val 2759"/>
            </a:avLst>
          </a:prstGeom>
          <a:solidFill>
            <a:srgbClr val="111B34"/>
          </a:solidFill>
          <a:ln/>
          <a:effectLst>
            <a:outerShdw sx="100000" sy="100000" kx="0" ky="0" algn="bl" rotWithShape="0" blurRad="101600" dist="38100" dir="5400000">
              <a:srgbClr val="0B1220">
                <a:alpha val="18000"/>
              </a:srgbClr>
            </a:outerShdw>
          </a:effectLst>
        </p:spPr>
      </p:sp>
      <p:sp>
        <p:nvSpPr>
          <p:cNvPr id="13" name="Text 11"/>
          <p:cNvSpPr/>
          <p:nvPr/>
        </p:nvSpPr>
        <p:spPr>
          <a:xfrm>
            <a:off x="6766560" y="2194560"/>
            <a:ext cx="4617720" cy="274320"/>
          </a:xfrm>
          <a:prstGeom prst="rect">
            <a:avLst/>
          </a:prstGeom>
          <a:noFill/>
          <a:ln/>
        </p:spPr>
        <p:txBody>
          <a:bodyPr wrap="square" lIns="0" tIns="0" rIns="0" bIns="0" rtlCol="0" anchor="ctr"/>
          <a:lstStyle/>
          <a:p>
            <a:pPr algn="l" indent="0" marL="0">
              <a:buNone/>
            </a:pPr>
            <a:r>
              <a:rPr lang="en-US" sz="1200" b="1" spc="140" kern="0" dirty="0">
                <a:solidFill>
                  <a:srgbClr val="F59E0B"/>
                </a:solidFill>
                <a:latin typeface="Calibri" pitchFamily="34" charset="0"/>
                <a:ea typeface="Calibri" pitchFamily="34" charset="-122"/>
                <a:cs typeface="Calibri" pitchFamily="34" charset="-120"/>
              </a:rPr>
              <a:t>WHERE IT TAKES YOU</a:t>
            </a:r>
            <a:endParaRPr lang="en-US" sz="1200" dirty="0"/>
          </a:p>
        </p:txBody>
      </p:sp>
      <p:sp>
        <p:nvSpPr>
          <p:cNvPr id="14" name="Shape 12"/>
          <p:cNvSpPr/>
          <p:nvPr/>
        </p:nvSpPr>
        <p:spPr>
          <a:xfrm>
            <a:off x="6766560" y="2697480"/>
            <a:ext cx="4617720" cy="685800"/>
          </a:xfrm>
          <a:prstGeom prst="roundRect">
            <a:avLst>
              <a:gd name="adj" fmla="val 16000"/>
            </a:avLst>
          </a:prstGeom>
          <a:solidFill>
            <a:srgbClr val="1B2A4A"/>
          </a:solidFill>
          <a:ln/>
          <a:effectLst>
            <a:outerShdw sx="100000" sy="100000" kx="0" ky="0" algn="bl" rotWithShape="0" blurRad="101600" dist="38100" dir="5400000">
              <a:srgbClr val="0B1220">
                <a:alpha val="18000"/>
              </a:srgbClr>
            </a:outerShdw>
          </a:effectLst>
        </p:spPr>
      </p:sp>
      <p:sp>
        <p:nvSpPr>
          <p:cNvPr id="15" name="Shape 13"/>
          <p:cNvSpPr/>
          <p:nvPr/>
        </p:nvSpPr>
        <p:spPr>
          <a:xfrm>
            <a:off x="6766560" y="2697480"/>
            <a:ext cx="82296" cy="685800"/>
          </a:xfrm>
          <a:prstGeom prst="rect">
            <a:avLst/>
          </a:prstGeom>
          <a:solidFill>
            <a:srgbClr val="2563EB"/>
          </a:solidFill>
          <a:ln/>
        </p:spPr>
      </p:sp>
      <p:sp>
        <p:nvSpPr>
          <p:cNvPr id="16" name="Text 14"/>
          <p:cNvSpPr/>
          <p:nvPr/>
        </p:nvSpPr>
        <p:spPr>
          <a:xfrm>
            <a:off x="6995160" y="2697480"/>
            <a:ext cx="1828800" cy="68580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Frontend</a:t>
            </a:r>
            <a:endParaRPr lang="en-US" sz="1350" dirty="0"/>
          </a:p>
        </p:txBody>
      </p:sp>
      <p:sp>
        <p:nvSpPr>
          <p:cNvPr id="17" name="Text 15"/>
          <p:cNvSpPr/>
          <p:nvPr/>
        </p:nvSpPr>
        <p:spPr>
          <a:xfrm>
            <a:off x="8778240" y="2697480"/>
            <a:ext cx="2514600" cy="685800"/>
          </a:xfrm>
          <a:prstGeom prst="rect">
            <a:avLst/>
          </a:prstGeom>
          <a:noFill/>
          <a:ln/>
        </p:spPr>
        <p:txBody>
          <a:bodyPr wrap="square" lIns="0" tIns="0" rIns="0" bIns="0" rtlCol="0" anchor="ctr"/>
          <a:lstStyle/>
          <a:p>
            <a:pPr algn="l" indent="0" marL="0">
              <a:buNone/>
            </a:pPr>
            <a:r>
              <a:rPr lang="en-US" sz="1150" dirty="0">
                <a:solidFill>
                  <a:srgbClr val="C7DBFF"/>
                </a:solidFill>
                <a:latin typeface="Calibri" pitchFamily="34" charset="0"/>
                <a:ea typeface="Calibri" pitchFamily="34" charset="-122"/>
                <a:cs typeface="Calibri" pitchFamily="34" charset="-120"/>
              </a:rPr>
              <a:t>React, dynamic UIs</a:t>
            </a:r>
            <a:endParaRPr lang="en-US" sz="1150" dirty="0"/>
          </a:p>
        </p:txBody>
      </p:sp>
      <p:sp>
        <p:nvSpPr>
          <p:cNvPr id="18" name="Shape 16"/>
          <p:cNvSpPr/>
          <p:nvPr/>
        </p:nvSpPr>
        <p:spPr>
          <a:xfrm>
            <a:off x="6766560" y="3502152"/>
            <a:ext cx="4617720" cy="685800"/>
          </a:xfrm>
          <a:prstGeom prst="roundRect">
            <a:avLst>
              <a:gd name="adj" fmla="val 16000"/>
            </a:avLst>
          </a:prstGeom>
          <a:solidFill>
            <a:srgbClr val="1B2A4A"/>
          </a:solidFill>
          <a:ln/>
          <a:effectLst>
            <a:outerShdw sx="100000" sy="100000" kx="0" ky="0" algn="bl" rotWithShape="0" blurRad="101600" dist="38100" dir="5400000">
              <a:srgbClr val="0B1220">
                <a:alpha val="18000"/>
              </a:srgbClr>
            </a:outerShdw>
          </a:effectLst>
        </p:spPr>
      </p:sp>
      <p:sp>
        <p:nvSpPr>
          <p:cNvPr id="19" name="Shape 17"/>
          <p:cNvSpPr/>
          <p:nvPr/>
        </p:nvSpPr>
        <p:spPr>
          <a:xfrm>
            <a:off x="6766560" y="3502152"/>
            <a:ext cx="82296" cy="685800"/>
          </a:xfrm>
          <a:prstGeom prst="rect">
            <a:avLst/>
          </a:prstGeom>
          <a:solidFill>
            <a:srgbClr val="22C55E"/>
          </a:solidFill>
          <a:ln/>
        </p:spPr>
      </p:sp>
      <p:sp>
        <p:nvSpPr>
          <p:cNvPr id="20" name="Text 18"/>
          <p:cNvSpPr/>
          <p:nvPr/>
        </p:nvSpPr>
        <p:spPr>
          <a:xfrm>
            <a:off x="6995160" y="3502152"/>
            <a:ext cx="1828800" cy="68580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Backend</a:t>
            </a:r>
            <a:endParaRPr lang="en-US" sz="1350" dirty="0"/>
          </a:p>
        </p:txBody>
      </p:sp>
      <p:sp>
        <p:nvSpPr>
          <p:cNvPr id="21" name="Text 19"/>
          <p:cNvSpPr/>
          <p:nvPr/>
        </p:nvSpPr>
        <p:spPr>
          <a:xfrm>
            <a:off x="8778240" y="3502152"/>
            <a:ext cx="2514600" cy="685800"/>
          </a:xfrm>
          <a:prstGeom prst="rect">
            <a:avLst/>
          </a:prstGeom>
          <a:noFill/>
          <a:ln/>
        </p:spPr>
        <p:txBody>
          <a:bodyPr wrap="square" lIns="0" tIns="0" rIns="0" bIns="0" rtlCol="0" anchor="ctr"/>
          <a:lstStyle/>
          <a:p>
            <a:pPr algn="l" indent="0" marL="0">
              <a:buNone/>
            </a:pPr>
            <a:r>
              <a:rPr lang="en-US" sz="1150" dirty="0">
                <a:solidFill>
                  <a:srgbClr val="C7DBFF"/>
                </a:solidFill>
                <a:latin typeface="Calibri" pitchFamily="34" charset="0"/>
                <a:ea typeface="Calibri" pitchFamily="34" charset="-122"/>
                <a:cs typeface="Calibri" pitchFamily="34" charset="-120"/>
              </a:rPr>
              <a:t>Node, Express, MongoDB</a:t>
            </a:r>
            <a:endParaRPr lang="en-US" sz="1150" dirty="0"/>
          </a:p>
        </p:txBody>
      </p:sp>
      <p:sp>
        <p:nvSpPr>
          <p:cNvPr id="22" name="Shape 20"/>
          <p:cNvSpPr/>
          <p:nvPr/>
        </p:nvSpPr>
        <p:spPr>
          <a:xfrm>
            <a:off x="6766560" y="4306824"/>
            <a:ext cx="4617720" cy="685800"/>
          </a:xfrm>
          <a:prstGeom prst="roundRect">
            <a:avLst>
              <a:gd name="adj" fmla="val 16000"/>
            </a:avLst>
          </a:prstGeom>
          <a:solidFill>
            <a:srgbClr val="1B2A4A"/>
          </a:solidFill>
          <a:ln/>
          <a:effectLst>
            <a:outerShdw sx="100000" sy="100000" kx="0" ky="0" algn="bl" rotWithShape="0" blurRad="101600" dist="38100" dir="5400000">
              <a:srgbClr val="0B1220">
                <a:alpha val="18000"/>
              </a:srgbClr>
            </a:outerShdw>
          </a:effectLst>
        </p:spPr>
      </p:sp>
      <p:sp>
        <p:nvSpPr>
          <p:cNvPr id="23" name="Shape 21"/>
          <p:cNvSpPr/>
          <p:nvPr/>
        </p:nvSpPr>
        <p:spPr>
          <a:xfrm>
            <a:off x="6766560" y="4306824"/>
            <a:ext cx="82296" cy="685800"/>
          </a:xfrm>
          <a:prstGeom prst="rect">
            <a:avLst/>
          </a:prstGeom>
          <a:solidFill>
            <a:srgbClr val="F59E0B"/>
          </a:solidFill>
          <a:ln/>
        </p:spPr>
      </p:sp>
      <p:sp>
        <p:nvSpPr>
          <p:cNvPr id="24" name="Text 22"/>
          <p:cNvSpPr/>
          <p:nvPr/>
        </p:nvSpPr>
        <p:spPr>
          <a:xfrm>
            <a:off x="6995160" y="4306824"/>
            <a:ext cx="1828800" cy="68580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Mobile</a:t>
            </a:r>
            <a:endParaRPr lang="en-US" sz="1350" dirty="0"/>
          </a:p>
        </p:txBody>
      </p:sp>
      <p:sp>
        <p:nvSpPr>
          <p:cNvPr id="25" name="Text 23"/>
          <p:cNvSpPr/>
          <p:nvPr/>
        </p:nvSpPr>
        <p:spPr>
          <a:xfrm>
            <a:off x="8778240" y="4306824"/>
            <a:ext cx="2514600" cy="685800"/>
          </a:xfrm>
          <a:prstGeom prst="rect">
            <a:avLst/>
          </a:prstGeom>
          <a:noFill/>
          <a:ln/>
        </p:spPr>
        <p:txBody>
          <a:bodyPr wrap="square" lIns="0" tIns="0" rIns="0" bIns="0" rtlCol="0" anchor="ctr"/>
          <a:lstStyle/>
          <a:p>
            <a:pPr algn="l" indent="0" marL="0">
              <a:buNone/>
            </a:pPr>
            <a:r>
              <a:rPr lang="en-US" sz="1150" dirty="0">
                <a:solidFill>
                  <a:srgbClr val="C7DBFF"/>
                </a:solidFill>
                <a:latin typeface="Calibri" pitchFamily="34" charset="0"/>
                <a:ea typeface="Calibri" pitchFamily="34" charset="-122"/>
                <a:cs typeface="Calibri" pitchFamily="34" charset="-120"/>
              </a:rPr>
              <a:t>React Native, Ionic</a:t>
            </a:r>
            <a:endParaRPr lang="en-US" sz="1150" dirty="0"/>
          </a:p>
        </p:txBody>
      </p:sp>
      <p:sp>
        <p:nvSpPr>
          <p:cNvPr id="26" name="Shape 24"/>
          <p:cNvSpPr/>
          <p:nvPr/>
        </p:nvSpPr>
        <p:spPr>
          <a:xfrm>
            <a:off x="6766560" y="5111496"/>
            <a:ext cx="4617720" cy="685800"/>
          </a:xfrm>
          <a:prstGeom prst="roundRect">
            <a:avLst>
              <a:gd name="adj" fmla="val 16000"/>
            </a:avLst>
          </a:prstGeom>
          <a:solidFill>
            <a:srgbClr val="1B2A4A"/>
          </a:solidFill>
          <a:ln/>
          <a:effectLst>
            <a:outerShdw sx="100000" sy="100000" kx="0" ky="0" algn="bl" rotWithShape="0" blurRad="101600" dist="38100" dir="5400000">
              <a:srgbClr val="0B1220">
                <a:alpha val="18000"/>
              </a:srgbClr>
            </a:outerShdw>
          </a:effectLst>
        </p:spPr>
      </p:sp>
      <p:sp>
        <p:nvSpPr>
          <p:cNvPr id="27" name="Shape 25"/>
          <p:cNvSpPr/>
          <p:nvPr/>
        </p:nvSpPr>
        <p:spPr>
          <a:xfrm>
            <a:off x="6766560" y="5111496"/>
            <a:ext cx="82296" cy="685800"/>
          </a:xfrm>
          <a:prstGeom prst="rect">
            <a:avLst/>
          </a:prstGeom>
          <a:solidFill>
            <a:srgbClr val="8B5CF6"/>
          </a:solidFill>
          <a:ln/>
        </p:spPr>
      </p:sp>
      <p:sp>
        <p:nvSpPr>
          <p:cNvPr id="28" name="Text 26"/>
          <p:cNvSpPr/>
          <p:nvPr/>
        </p:nvSpPr>
        <p:spPr>
          <a:xfrm>
            <a:off x="6995160" y="5111496"/>
            <a:ext cx="1828800" cy="68580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Desktop and beyond</a:t>
            </a:r>
            <a:endParaRPr lang="en-US" sz="1350" dirty="0"/>
          </a:p>
        </p:txBody>
      </p:sp>
      <p:sp>
        <p:nvSpPr>
          <p:cNvPr id="29" name="Text 27"/>
          <p:cNvSpPr/>
          <p:nvPr/>
        </p:nvSpPr>
        <p:spPr>
          <a:xfrm>
            <a:off x="8778240" y="5111496"/>
            <a:ext cx="2514600" cy="685800"/>
          </a:xfrm>
          <a:prstGeom prst="rect">
            <a:avLst/>
          </a:prstGeom>
          <a:noFill/>
          <a:ln/>
        </p:spPr>
        <p:txBody>
          <a:bodyPr wrap="square" lIns="0" tIns="0" rIns="0" bIns="0" rtlCol="0" anchor="ctr"/>
          <a:lstStyle/>
          <a:p>
            <a:pPr algn="l" indent="0" marL="0">
              <a:buNone/>
            </a:pPr>
            <a:r>
              <a:rPr lang="en-US" sz="1150" dirty="0">
                <a:solidFill>
                  <a:srgbClr val="C7DBFF"/>
                </a:solidFill>
                <a:latin typeface="Calibri" pitchFamily="34" charset="0"/>
                <a:ea typeface="Calibri" pitchFamily="34" charset="-122"/>
                <a:cs typeface="Calibri" pitchFamily="34" charset="-120"/>
              </a:rPr>
              <a:t>Electron, TensorFlow.js, AR and VR</a:t>
            </a:r>
            <a:endParaRPr lang="en-US" sz="1150" dirty="0"/>
          </a:p>
        </p:txBody>
      </p:sp>
      <p:sp>
        <p:nvSpPr>
          <p:cNvPr id="30" name="Text 28"/>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2080260" cy="310896"/>
          </a:xfrm>
          <a:prstGeom prst="roundRect">
            <a:avLst>
              <a:gd name="adj" fmla="val 50000"/>
            </a:avLst>
          </a:prstGeom>
          <a:solidFill>
            <a:srgbClr val="2563EB"/>
          </a:solidFill>
          <a:ln/>
        </p:spPr>
      </p:sp>
      <p:sp>
        <p:nvSpPr>
          <p:cNvPr id="3" name="Text 1"/>
          <p:cNvSpPr/>
          <p:nvPr/>
        </p:nvSpPr>
        <p:spPr>
          <a:xfrm>
            <a:off x="548640" y="457200"/>
            <a:ext cx="20802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JOB MARKET SNAPSHOT</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What the job actually asks for</a:t>
            </a:r>
            <a:endParaRPr lang="en-US" sz="3400" dirty="0"/>
          </a:p>
        </p:txBody>
      </p:sp>
      <p:sp>
        <p:nvSpPr>
          <p:cNvPr id="5" name="Shape 3"/>
          <p:cNvSpPr/>
          <p:nvPr/>
        </p:nvSpPr>
        <p:spPr>
          <a:xfrm>
            <a:off x="548640" y="2011680"/>
            <a:ext cx="3611880" cy="3931920"/>
          </a:xfrm>
          <a:prstGeom prst="roundRect">
            <a:avLst>
              <a:gd name="adj" fmla="val 3038"/>
            </a:avLst>
          </a:prstGeom>
          <a:solidFill>
            <a:srgbClr val="FEF2F4"/>
          </a:solidFill>
          <a:ln/>
          <a:effectLst>
            <a:outerShdw sx="100000" sy="100000" kx="0" ky="0" algn="bl" rotWithShape="0" blurRad="101600" dist="38100" dir="5400000">
              <a:srgbClr val="0B1220">
                <a:alpha val="18000"/>
              </a:srgbClr>
            </a:outerShdw>
          </a:effectLst>
        </p:spPr>
      </p:sp>
      <p:sp>
        <p:nvSpPr>
          <p:cNvPr id="6" name="Text 4"/>
          <p:cNvSpPr/>
          <p:nvPr/>
        </p:nvSpPr>
        <p:spPr>
          <a:xfrm>
            <a:off x="822960" y="2267712"/>
            <a:ext cx="3063240" cy="384048"/>
          </a:xfrm>
          <a:prstGeom prst="rect">
            <a:avLst/>
          </a:prstGeom>
          <a:noFill/>
          <a:ln/>
        </p:spPr>
        <p:txBody>
          <a:bodyPr wrap="square" lIns="0" tIns="0" rIns="0" bIns="0" rtlCol="0" anchor="ctr"/>
          <a:lstStyle/>
          <a:p>
            <a:pPr algn="l" indent="0" marL="0">
              <a:buNone/>
            </a:pPr>
            <a:r>
              <a:rPr lang="en-US" sz="1900" b="1" dirty="0">
                <a:solidFill>
                  <a:srgbClr val="FB7185"/>
                </a:solidFill>
                <a:latin typeface="Calibri" pitchFamily="34" charset="0"/>
                <a:ea typeface="Calibri" pitchFamily="34" charset="-122"/>
                <a:cs typeface="Calibri" pitchFamily="34" charset="-120"/>
              </a:rPr>
              <a:t>Zomato</a:t>
            </a:r>
            <a:endParaRPr lang="en-US" sz="1900" dirty="0"/>
          </a:p>
        </p:txBody>
      </p:sp>
      <p:sp>
        <p:nvSpPr>
          <p:cNvPr id="7" name="Text 5"/>
          <p:cNvSpPr/>
          <p:nvPr/>
        </p:nvSpPr>
        <p:spPr>
          <a:xfrm>
            <a:off x="822960" y="2670048"/>
            <a:ext cx="3063240" cy="347472"/>
          </a:xfrm>
          <a:prstGeom prst="rect">
            <a:avLst/>
          </a:prstGeom>
          <a:noFill/>
          <a:ln/>
        </p:spPr>
        <p:txBody>
          <a:bodyPr wrap="square" lIns="0" tIns="0" rIns="0" bIns="0" rtlCol="0" anchor="ctr"/>
          <a:lstStyle/>
          <a:p>
            <a:pPr algn="l" indent="0" marL="0">
              <a:buNone/>
            </a:pPr>
            <a:r>
              <a:rPr lang="en-US" sz="1350" b="1" dirty="0">
                <a:solidFill>
                  <a:srgbClr val="7F1D3A"/>
                </a:solidFill>
                <a:latin typeface="Calibri" pitchFamily="34" charset="0"/>
                <a:ea typeface="Calibri" pitchFamily="34" charset="-122"/>
                <a:cs typeface="Calibri" pitchFamily="34" charset="-120"/>
              </a:rPr>
              <a:t>Frontend Developer</a:t>
            </a:r>
            <a:endParaRPr lang="en-US" sz="1350" dirty="0"/>
          </a:p>
        </p:txBody>
      </p:sp>
      <p:sp>
        <p:nvSpPr>
          <p:cNvPr id="8" name="Text 6"/>
          <p:cNvSpPr/>
          <p:nvPr/>
        </p:nvSpPr>
        <p:spPr>
          <a:xfrm>
            <a:off x="822960" y="3108960"/>
            <a:ext cx="3063240" cy="1234440"/>
          </a:xfrm>
          <a:prstGeom prst="rect">
            <a:avLst/>
          </a:prstGeom>
          <a:noFill/>
          <a:ln/>
        </p:spPr>
        <p:txBody>
          <a:bodyPr wrap="square" lIns="0" tIns="0" rIns="0" bIns="0" rtlCol="0" anchor="t"/>
          <a:lstStyle/>
          <a:p>
            <a:pPr algn="l" indent="0" marL="0">
              <a:buNone/>
            </a:pPr>
            <a:r>
              <a:rPr lang="en-US" sz="1250" dirty="0">
                <a:solidFill>
                  <a:srgbClr val="7F1D3A"/>
                </a:solidFill>
                <a:latin typeface="Calibri" pitchFamily="34" charset="0"/>
                <a:ea typeface="Calibri" pitchFamily="34" charset="-122"/>
                <a:cs typeface="Calibri" pitchFamily="34" charset="-120"/>
              </a:rPr>
              <a:t>Build and optimise dynamic UI components, keep the experience smooth on web and mobile</a:t>
            </a:r>
            <a:endParaRPr lang="en-US" sz="1250" dirty="0"/>
          </a:p>
        </p:txBody>
      </p:sp>
      <p:sp>
        <p:nvSpPr>
          <p:cNvPr id="9" name="Text 7"/>
          <p:cNvSpPr/>
          <p:nvPr/>
        </p:nvSpPr>
        <p:spPr>
          <a:xfrm>
            <a:off x="822960" y="4389120"/>
            <a:ext cx="3063240" cy="256032"/>
          </a:xfrm>
          <a:prstGeom prst="rect">
            <a:avLst/>
          </a:prstGeom>
          <a:noFill/>
          <a:ln/>
        </p:spPr>
        <p:txBody>
          <a:bodyPr wrap="square" lIns="0" tIns="0" rIns="0" bIns="0" rtlCol="0" anchor="ctr"/>
          <a:lstStyle/>
          <a:p>
            <a:pPr algn="l" indent="0" marL="0">
              <a:buNone/>
            </a:pPr>
            <a:r>
              <a:rPr lang="en-US" sz="950" b="1" spc="120" kern="0" dirty="0">
                <a:solidFill>
                  <a:srgbClr val="FB7185"/>
                </a:solidFill>
                <a:latin typeface="Calibri" pitchFamily="34" charset="0"/>
                <a:ea typeface="Calibri" pitchFamily="34" charset="-122"/>
                <a:cs typeface="Calibri" pitchFamily="34" charset="-120"/>
              </a:rPr>
              <a:t>SKILLS</a:t>
            </a:r>
            <a:endParaRPr lang="en-US" sz="950" dirty="0"/>
          </a:p>
        </p:txBody>
      </p:sp>
      <p:sp>
        <p:nvSpPr>
          <p:cNvPr id="10" name="Shape 8"/>
          <p:cNvSpPr/>
          <p:nvPr/>
        </p:nvSpPr>
        <p:spPr>
          <a:xfrm>
            <a:off x="822960" y="4709160"/>
            <a:ext cx="3063240" cy="310896"/>
          </a:xfrm>
          <a:prstGeom prst="roundRect">
            <a:avLst>
              <a:gd name="adj" fmla="val 50000"/>
            </a:avLst>
          </a:prstGeom>
          <a:solidFill>
            <a:srgbClr val="FFFFFF"/>
          </a:solidFill>
          <a:ln/>
        </p:spPr>
      </p:sp>
      <p:sp>
        <p:nvSpPr>
          <p:cNvPr id="11" name="Text 9"/>
          <p:cNvSpPr/>
          <p:nvPr/>
        </p:nvSpPr>
        <p:spPr>
          <a:xfrm>
            <a:off x="914400" y="4709160"/>
            <a:ext cx="2880360" cy="310896"/>
          </a:xfrm>
          <a:prstGeom prst="rect">
            <a:avLst/>
          </a:prstGeom>
          <a:noFill/>
          <a:ln/>
        </p:spPr>
        <p:txBody>
          <a:bodyPr wrap="square" lIns="0" tIns="0" rIns="0" bIns="0" rtlCol="0" anchor="ctr"/>
          <a:lstStyle/>
          <a:p>
            <a:pPr algn="l" indent="0" marL="0">
              <a:buNone/>
            </a:pPr>
            <a:r>
              <a:rPr lang="en-US" sz="1050" dirty="0">
                <a:solidFill>
                  <a:srgbClr val="7F1D3A"/>
                </a:solidFill>
                <a:latin typeface="Courier New" pitchFamily="34" charset="0"/>
                <a:ea typeface="Courier New" pitchFamily="34" charset="-122"/>
                <a:cs typeface="Courier New" pitchFamily="34" charset="-120"/>
              </a:rPr>
              <a:t>JavaScript (ES6+)</a:t>
            </a:r>
            <a:endParaRPr lang="en-US" sz="1050" dirty="0"/>
          </a:p>
        </p:txBody>
      </p:sp>
      <p:sp>
        <p:nvSpPr>
          <p:cNvPr id="12" name="Shape 10"/>
          <p:cNvSpPr/>
          <p:nvPr/>
        </p:nvSpPr>
        <p:spPr>
          <a:xfrm>
            <a:off x="822960" y="5093208"/>
            <a:ext cx="3063240" cy="310896"/>
          </a:xfrm>
          <a:prstGeom prst="roundRect">
            <a:avLst>
              <a:gd name="adj" fmla="val 50000"/>
            </a:avLst>
          </a:prstGeom>
          <a:solidFill>
            <a:srgbClr val="FFFFFF"/>
          </a:solidFill>
          <a:ln/>
        </p:spPr>
      </p:sp>
      <p:sp>
        <p:nvSpPr>
          <p:cNvPr id="13" name="Text 11"/>
          <p:cNvSpPr/>
          <p:nvPr/>
        </p:nvSpPr>
        <p:spPr>
          <a:xfrm>
            <a:off x="914400" y="5093208"/>
            <a:ext cx="2880360" cy="310896"/>
          </a:xfrm>
          <a:prstGeom prst="rect">
            <a:avLst/>
          </a:prstGeom>
          <a:noFill/>
          <a:ln/>
        </p:spPr>
        <p:txBody>
          <a:bodyPr wrap="square" lIns="0" tIns="0" rIns="0" bIns="0" rtlCol="0" anchor="ctr"/>
          <a:lstStyle/>
          <a:p>
            <a:pPr algn="l" indent="0" marL="0">
              <a:buNone/>
            </a:pPr>
            <a:r>
              <a:rPr lang="en-US" sz="1050" dirty="0">
                <a:solidFill>
                  <a:srgbClr val="7F1D3A"/>
                </a:solidFill>
                <a:latin typeface="Courier New" pitchFamily="34" charset="0"/>
                <a:ea typeface="Courier New" pitchFamily="34" charset="-122"/>
                <a:cs typeface="Courier New" pitchFamily="34" charset="-120"/>
              </a:rPr>
              <a:t>HTML and CSS</a:t>
            </a:r>
            <a:endParaRPr lang="en-US" sz="1050" dirty="0"/>
          </a:p>
        </p:txBody>
      </p:sp>
      <p:sp>
        <p:nvSpPr>
          <p:cNvPr id="14" name="Shape 12"/>
          <p:cNvSpPr/>
          <p:nvPr/>
        </p:nvSpPr>
        <p:spPr>
          <a:xfrm>
            <a:off x="822960" y="5477256"/>
            <a:ext cx="3063240" cy="310896"/>
          </a:xfrm>
          <a:prstGeom prst="roundRect">
            <a:avLst>
              <a:gd name="adj" fmla="val 50000"/>
            </a:avLst>
          </a:prstGeom>
          <a:solidFill>
            <a:srgbClr val="FFFFFF"/>
          </a:solidFill>
          <a:ln/>
        </p:spPr>
      </p:sp>
      <p:sp>
        <p:nvSpPr>
          <p:cNvPr id="15" name="Text 13"/>
          <p:cNvSpPr/>
          <p:nvPr/>
        </p:nvSpPr>
        <p:spPr>
          <a:xfrm>
            <a:off x="914400" y="5477256"/>
            <a:ext cx="2880360" cy="310896"/>
          </a:xfrm>
          <a:prstGeom prst="rect">
            <a:avLst/>
          </a:prstGeom>
          <a:noFill/>
          <a:ln/>
        </p:spPr>
        <p:txBody>
          <a:bodyPr wrap="square" lIns="0" tIns="0" rIns="0" bIns="0" rtlCol="0" anchor="ctr"/>
          <a:lstStyle/>
          <a:p>
            <a:pPr algn="l" indent="0" marL="0">
              <a:buNone/>
            </a:pPr>
            <a:r>
              <a:rPr lang="en-US" sz="1050" dirty="0">
                <a:solidFill>
                  <a:srgbClr val="7F1D3A"/>
                </a:solidFill>
                <a:latin typeface="Courier New" pitchFamily="34" charset="0"/>
                <a:ea typeface="Courier New" pitchFamily="34" charset="-122"/>
                <a:cs typeface="Courier New" pitchFamily="34" charset="-120"/>
              </a:rPr>
              <a:t>async programming</a:t>
            </a:r>
            <a:endParaRPr lang="en-US" sz="1050" dirty="0"/>
          </a:p>
        </p:txBody>
      </p:sp>
      <p:sp>
        <p:nvSpPr>
          <p:cNvPr id="16" name="Shape 14"/>
          <p:cNvSpPr/>
          <p:nvPr/>
        </p:nvSpPr>
        <p:spPr>
          <a:xfrm>
            <a:off x="4416552" y="2011680"/>
            <a:ext cx="3611880" cy="3931920"/>
          </a:xfrm>
          <a:prstGeom prst="roundRect">
            <a:avLst>
              <a:gd name="adj" fmla="val 3038"/>
            </a:avLst>
          </a:prstGeom>
          <a:solidFill>
            <a:srgbClr val="E5EEFF"/>
          </a:solidFill>
          <a:ln/>
          <a:effectLst>
            <a:outerShdw sx="100000" sy="100000" kx="0" ky="0" algn="bl" rotWithShape="0" blurRad="101600" dist="38100" dir="5400000">
              <a:srgbClr val="0B1220">
                <a:alpha val="18000"/>
              </a:srgbClr>
            </a:outerShdw>
          </a:effectLst>
        </p:spPr>
      </p:sp>
      <p:sp>
        <p:nvSpPr>
          <p:cNvPr id="17" name="Text 15"/>
          <p:cNvSpPr/>
          <p:nvPr/>
        </p:nvSpPr>
        <p:spPr>
          <a:xfrm>
            <a:off x="4690872" y="2267712"/>
            <a:ext cx="3063240" cy="384048"/>
          </a:xfrm>
          <a:prstGeom prst="rect">
            <a:avLst/>
          </a:prstGeom>
          <a:noFill/>
          <a:ln/>
        </p:spPr>
        <p:txBody>
          <a:bodyPr wrap="square" lIns="0" tIns="0" rIns="0" bIns="0" rtlCol="0" anchor="ctr"/>
          <a:lstStyle/>
          <a:p>
            <a:pPr algn="l" indent="0" marL="0">
              <a:buNone/>
            </a:pPr>
            <a:r>
              <a:rPr lang="en-US" sz="1900" b="1" dirty="0">
                <a:solidFill>
                  <a:srgbClr val="2563EB"/>
                </a:solidFill>
                <a:latin typeface="Calibri" pitchFamily="34" charset="0"/>
                <a:ea typeface="Calibri" pitchFamily="34" charset="-122"/>
                <a:cs typeface="Calibri" pitchFamily="34" charset="-120"/>
              </a:rPr>
              <a:t>Razorpay</a:t>
            </a:r>
            <a:endParaRPr lang="en-US" sz="1900" dirty="0"/>
          </a:p>
        </p:txBody>
      </p:sp>
      <p:sp>
        <p:nvSpPr>
          <p:cNvPr id="18" name="Text 16"/>
          <p:cNvSpPr/>
          <p:nvPr/>
        </p:nvSpPr>
        <p:spPr>
          <a:xfrm>
            <a:off x="4690872" y="2670048"/>
            <a:ext cx="3063240" cy="347472"/>
          </a:xfrm>
          <a:prstGeom prst="rect">
            <a:avLst/>
          </a:prstGeom>
          <a:noFill/>
          <a:ln/>
        </p:spPr>
        <p:txBody>
          <a:bodyPr wrap="square" lIns="0" tIns="0" rIns="0" bIns="0" rtlCol="0" anchor="ctr"/>
          <a:lstStyle/>
          <a:p>
            <a:pPr algn="l" indent="0" marL="0">
              <a:buNone/>
            </a:pPr>
            <a:r>
              <a:rPr lang="en-US" sz="1350" b="1" dirty="0">
                <a:solidFill>
                  <a:srgbClr val="0F172A"/>
                </a:solidFill>
                <a:latin typeface="Calibri" pitchFamily="34" charset="0"/>
                <a:ea typeface="Calibri" pitchFamily="34" charset="-122"/>
                <a:cs typeface="Calibri" pitchFamily="34" charset="-120"/>
              </a:rPr>
              <a:t>UI Engineer</a:t>
            </a:r>
            <a:endParaRPr lang="en-US" sz="1350" dirty="0"/>
          </a:p>
        </p:txBody>
      </p:sp>
      <p:sp>
        <p:nvSpPr>
          <p:cNvPr id="19" name="Text 17"/>
          <p:cNvSpPr/>
          <p:nvPr/>
        </p:nvSpPr>
        <p:spPr>
          <a:xfrm>
            <a:off x="4690872" y="3108960"/>
            <a:ext cx="3063240" cy="1234440"/>
          </a:xfrm>
          <a:prstGeom prst="rect">
            <a:avLst/>
          </a:prstGeom>
          <a:noFill/>
          <a:ln/>
        </p:spPr>
        <p:txBody>
          <a:bodyPr wrap="square" lIns="0" tIns="0" rIns="0" bIns="0" rtlCol="0" anchor="t"/>
          <a:lstStyle/>
          <a:p>
            <a:pPr algn="l" indent="0" marL="0">
              <a:buNone/>
            </a:pPr>
            <a:r>
              <a:rPr lang="en-US" sz="1250" dirty="0">
                <a:solidFill>
                  <a:srgbClr val="0F172A"/>
                </a:solidFill>
                <a:latin typeface="Calibri" pitchFamily="34" charset="0"/>
                <a:ea typeface="Calibri" pitchFamily="34" charset="-122"/>
                <a:cs typeface="Calibri" pitchFamily="34" charset="-120"/>
              </a:rPr>
              <a:t>Work with backend teams, build event-driven interfaces, manage component state</a:t>
            </a:r>
            <a:endParaRPr lang="en-US" sz="1250" dirty="0"/>
          </a:p>
        </p:txBody>
      </p:sp>
      <p:sp>
        <p:nvSpPr>
          <p:cNvPr id="20" name="Text 18"/>
          <p:cNvSpPr/>
          <p:nvPr/>
        </p:nvSpPr>
        <p:spPr>
          <a:xfrm>
            <a:off x="4690872" y="4389120"/>
            <a:ext cx="3063240" cy="256032"/>
          </a:xfrm>
          <a:prstGeom prst="rect">
            <a:avLst/>
          </a:prstGeom>
          <a:noFill/>
          <a:ln/>
        </p:spPr>
        <p:txBody>
          <a:bodyPr wrap="square" lIns="0" tIns="0" rIns="0" bIns="0" rtlCol="0" anchor="ctr"/>
          <a:lstStyle/>
          <a:p>
            <a:pPr algn="l" indent="0" marL="0">
              <a:buNone/>
            </a:pPr>
            <a:r>
              <a:rPr lang="en-US" sz="950" b="1" spc="120" kern="0" dirty="0">
                <a:solidFill>
                  <a:srgbClr val="2563EB"/>
                </a:solidFill>
                <a:latin typeface="Calibri" pitchFamily="34" charset="0"/>
                <a:ea typeface="Calibri" pitchFamily="34" charset="-122"/>
                <a:cs typeface="Calibri" pitchFamily="34" charset="-120"/>
              </a:rPr>
              <a:t>SKILLS</a:t>
            </a:r>
            <a:endParaRPr lang="en-US" sz="950" dirty="0"/>
          </a:p>
        </p:txBody>
      </p:sp>
      <p:sp>
        <p:nvSpPr>
          <p:cNvPr id="21" name="Shape 19"/>
          <p:cNvSpPr/>
          <p:nvPr/>
        </p:nvSpPr>
        <p:spPr>
          <a:xfrm>
            <a:off x="4690872" y="4709160"/>
            <a:ext cx="3063240" cy="310896"/>
          </a:xfrm>
          <a:prstGeom prst="roundRect">
            <a:avLst>
              <a:gd name="adj" fmla="val 50000"/>
            </a:avLst>
          </a:prstGeom>
          <a:solidFill>
            <a:srgbClr val="FFFFFF"/>
          </a:solidFill>
          <a:ln/>
        </p:spPr>
      </p:sp>
      <p:sp>
        <p:nvSpPr>
          <p:cNvPr id="22" name="Text 20"/>
          <p:cNvSpPr/>
          <p:nvPr/>
        </p:nvSpPr>
        <p:spPr>
          <a:xfrm>
            <a:off x="4782312" y="4709160"/>
            <a:ext cx="2880360" cy="310896"/>
          </a:xfrm>
          <a:prstGeom prst="rect">
            <a:avLst/>
          </a:prstGeom>
          <a:noFill/>
          <a:ln/>
        </p:spPr>
        <p:txBody>
          <a:bodyPr wrap="square" lIns="0" tIns="0" rIns="0" bIns="0" rtlCol="0" anchor="ctr"/>
          <a:lstStyle/>
          <a:p>
            <a:pPr algn="l" indent="0" marL="0">
              <a:buNone/>
            </a:pPr>
            <a:r>
              <a:rPr lang="en-US" sz="1050" dirty="0">
                <a:solidFill>
                  <a:srgbClr val="0F172A"/>
                </a:solidFill>
                <a:latin typeface="Courier New" pitchFamily="34" charset="0"/>
                <a:ea typeface="Courier New" pitchFamily="34" charset="-122"/>
                <a:cs typeface="Courier New" pitchFamily="34" charset="-120"/>
              </a:rPr>
              <a:t>JavaScript</a:t>
            </a:r>
            <a:endParaRPr lang="en-US" sz="1050" dirty="0"/>
          </a:p>
        </p:txBody>
      </p:sp>
      <p:sp>
        <p:nvSpPr>
          <p:cNvPr id="23" name="Shape 21"/>
          <p:cNvSpPr/>
          <p:nvPr/>
        </p:nvSpPr>
        <p:spPr>
          <a:xfrm>
            <a:off x="4690872" y="5093208"/>
            <a:ext cx="3063240" cy="310896"/>
          </a:xfrm>
          <a:prstGeom prst="roundRect">
            <a:avLst>
              <a:gd name="adj" fmla="val 50000"/>
            </a:avLst>
          </a:prstGeom>
          <a:solidFill>
            <a:srgbClr val="FFFFFF"/>
          </a:solidFill>
          <a:ln/>
        </p:spPr>
      </p:sp>
      <p:sp>
        <p:nvSpPr>
          <p:cNvPr id="24" name="Text 22"/>
          <p:cNvSpPr/>
          <p:nvPr/>
        </p:nvSpPr>
        <p:spPr>
          <a:xfrm>
            <a:off x="4782312" y="5093208"/>
            <a:ext cx="2880360" cy="310896"/>
          </a:xfrm>
          <a:prstGeom prst="rect">
            <a:avLst/>
          </a:prstGeom>
          <a:noFill/>
          <a:ln/>
        </p:spPr>
        <p:txBody>
          <a:bodyPr wrap="square" lIns="0" tIns="0" rIns="0" bIns="0" rtlCol="0" anchor="ctr"/>
          <a:lstStyle/>
          <a:p>
            <a:pPr algn="l" indent="0" marL="0">
              <a:buNone/>
            </a:pPr>
            <a:r>
              <a:rPr lang="en-US" sz="1050" dirty="0">
                <a:solidFill>
                  <a:srgbClr val="0F172A"/>
                </a:solidFill>
                <a:latin typeface="Courier New" pitchFamily="34" charset="0"/>
                <a:ea typeface="Courier New" pitchFamily="34" charset="-122"/>
                <a:cs typeface="Courier New" pitchFamily="34" charset="-120"/>
              </a:rPr>
              <a:t>DOM manipulation</a:t>
            </a:r>
            <a:endParaRPr lang="en-US" sz="1050" dirty="0"/>
          </a:p>
        </p:txBody>
      </p:sp>
      <p:sp>
        <p:nvSpPr>
          <p:cNvPr id="25" name="Shape 23"/>
          <p:cNvSpPr/>
          <p:nvPr/>
        </p:nvSpPr>
        <p:spPr>
          <a:xfrm>
            <a:off x="4690872" y="5477256"/>
            <a:ext cx="3063240" cy="310896"/>
          </a:xfrm>
          <a:prstGeom prst="roundRect">
            <a:avLst>
              <a:gd name="adj" fmla="val 50000"/>
            </a:avLst>
          </a:prstGeom>
          <a:solidFill>
            <a:srgbClr val="FFFFFF"/>
          </a:solidFill>
          <a:ln/>
        </p:spPr>
      </p:sp>
      <p:sp>
        <p:nvSpPr>
          <p:cNvPr id="26" name="Text 24"/>
          <p:cNvSpPr/>
          <p:nvPr/>
        </p:nvSpPr>
        <p:spPr>
          <a:xfrm>
            <a:off x="4782312" y="5477256"/>
            <a:ext cx="2880360" cy="310896"/>
          </a:xfrm>
          <a:prstGeom prst="rect">
            <a:avLst/>
          </a:prstGeom>
          <a:noFill/>
          <a:ln/>
        </p:spPr>
        <p:txBody>
          <a:bodyPr wrap="square" lIns="0" tIns="0" rIns="0" bIns="0" rtlCol="0" anchor="ctr"/>
          <a:lstStyle/>
          <a:p>
            <a:pPr algn="l" indent="0" marL="0">
              <a:buNone/>
            </a:pPr>
            <a:r>
              <a:rPr lang="en-US" sz="1050" dirty="0">
                <a:solidFill>
                  <a:srgbClr val="0F172A"/>
                </a:solidFill>
                <a:latin typeface="Courier New" pitchFamily="34" charset="0"/>
                <a:ea typeface="Courier New" pitchFamily="34" charset="-122"/>
                <a:cs typeface="Courier New" pitchFamily="34" charset="-120"/>
              </a:rPr>
              <a:t>debugging</a:t>
            </a:r>
            <a:endParaRPr lang="en-US" sz="1050" dirty="0"/>
          </a:p>
        </p:txBody>
      </p:sp>
      <p:sp>
        <p:nvSpPr>
          <p:cNvPr id="27" name="Shape 25"/>
          <p:cNvSpPr/>
          <p:nvPr/>
        </p:nvSpPr>
        <p:spPr>
          <a:xfrm>
            <a:off x="8284464" y="2011680"/>
            <a:ext cx="3611880" cy="3931920"/>
          </a:xfrm>
          <a:prstGeom prst="roundRect">
            <a:avLst>
              <a:gd name="adj" fmla="val 3038"/>
            </a:avLst>
          </a:prstGeom>
          <a:solidFill>
            <a:srgbClr val="FFF3E0"/>
          </a:solidFill>
          <a:ln/>
          <a:effectLst>
            <a:outerShdw sx="100000" sy="100000" kx="0" ky="0" algn="bl" rotWithShape="0" blurRad="101600" dist="38100" dir="5400000">
              <a:srgbClr val="0B1220">
                <a:alpha val="18000"/>
              </a:srgbClr>
            </a:outerShdw>
          </a:effectLst>
        </p:spPr>
      </p:sp>
      <p:sp>
        <p:nvSpPr>
          <p:cNvPr id="28" name="Text 26"/>
          <p:cNvSpPr/>
          <p:nvPr/>
        </p:nvSpPr>
        <p:spPr>
          <a:xfrm>
            <a:off x="8558784" y="2267712"/>
            <a:ext cx="3063240" cy="384048"/>
          </a:xfrm>
          <a:prstGeom prst="rect">
            <a:avLst/>
          </a:prstGeom>
          <a:noFill/>
          <a:ln/>
        </p:spPr>
        <p:txBody>
          <a:bodyPr wrap="square" lIns="0" tIns="0" rIns="0" bIns="0" rtlCol="0" anchor="ctr"/>
          <a:lstStyle/>
          <a:p>
            <a:pPr algn="l" indent="0" marL="0">
              <a:buNone/>
            </a:pPr>
            <a:r>
              <a:rPr lang="en-US" sz="1900" b="1" dirty="0">
                <a:solidFill>
                  <a:srgbClr val="F59E0B"/>
                </a:solidFill>
                <a:latin typeface="Calibri" pitchFamily="34" charset="0"/>
                <a:ea typeface="Calibri" pitchFamily="34" charset="-122"/>
                <a:cs typeface="Calibri" pitchFamily="34" charset="-120"/>
              </a:rPr>
              <a:t>Swiggy</a:t>
            </a:r>
            <a:endParaRPr lang="en-US" sz="1900" dirty="0"/>
          </a:p>
        </p:txBody>
      </p:sp>
      <p:sp>
        <p:nvSpPr>
          <p:cNvPr id="29" name="Text 27"/>
          <p:cNvSpPr/>
          <p:nvPr/>
        </p:nvSpPr>
        <p:spPr>
          <a:xfrm>
            <a:off x="8558784" y="2670048"/>
            <a:ext cx="3063240" cy="347472"/>
          </a:xfrm>
          <a:prstGeom prst="rect">
            <a:avLst/>
          </a:prstGeom>
          <a:noFill/>
          <a:ln/>
        </p:spPr>
        <p:txBody>
          <a:bodyPr wrap="square" lIns="0" tIns="0" rIns="0" bIns="0" rtlCol="0" anchor="ctr"/>
          <a:lstStyle/>
          <a:p>
            <a:pPr algn="l" indent="0" marL="0">
              <a:buNone/>
            </a:pPr>
            <a:r>
              <a:rPr lang="en-US" sz="1350" b="1" dirty="0">
                <a:solidFill>
                  <a:srgbClr val="7A4A05"/>
                </a:solidFill>
                <a:latin typeface="Calibri" pitchFamily="34" charset="0"/>
                <a:ea typeface="Calibri" pitchFamily="34" charset="-122"/>
                <a:cs typeface="Calibri" pitchFamily="34" charset="-120"/>
              </a:rPr>
              <a:t>Software Engineer (Web)</a:t>
            </a:r>
            <a:endParaRPr lang="en-US" sz="1350" dirty="0"/>
          </a:p>
        </p:txBody>
      </p:sp>
      <p:sp>
        <p:nvSpPr>
          <p:cNvPr id="30" name="Text 28"/>
          <p:cNvSpPr/>
          <p:nvPr/>
        </p:nvSpPr>
        <p:spPr>
          <a:xfrm>
            <a:off x="8558784" y="3108960"/>
            <a:ext cx="3063240" cy="1234440"/>
          </a:xfrm>
          <a:prstGeom prst="rect">
            <a:avLst/>
          </a:prstGeom>
          <a:noFill/>
          <a:ln/>
        </p:spPr>
        <p:txBody>
          <a:bodyPr wrap="square" lIns="0" tIns="0" rIns="0" bIns="0" rtlCol="0" anchor="t"/>
          <a:lstStyle/>
          <a:p>
            <a:pPr algn="l" indent="0" marL="0">
              <a:buNone/>
            </a:pPr>
            <a:r>
              <a:rPr lang="en-US" sz="1250" dirty="0">
                <a:solidFill>
                  <a:srgbClr val="7A4A05"/>
                </a:solidFill>
                <a:latin typeface="Calibri" pitchFamily="34" charset="0"/>
                <a:ea typeface="Calibri" pitchFamily="34" charset="-122"/>
                <a:cs typeface="Calibri" pitchFamily="34" charset="-120"/>
              </a:rPr>
              <a:t>Scalable UI features, tuned for performance and accessibility</a:t>
            </a:r>
            <a:endParaRPr lang="en-US" sz="1250" dirty="0"/>
          </a:p>
        </p:txBody>
      </p:sp>
      <p:sp>
        <p:nvSpPr>
          <p:cNvPr id="31" name="Text 29"/>
          <p:cNvSpPr/>
          <p:nvPr/>
        </p:nvSpPr>
        <p:spPr>
          <a:xfrm>
            <a:off x="8558784" y="4389120"/>
            <a:ext cx="3063240" cy="256032"/>
          </a:xfrm>
          <a:prstGeom prst="rect">
            <a:avLst/>
          </a:prstGeom>
          <a:noFill/>
          <a:ln/>
        </p:spPr>
        <p:txBody>
          <a:bodyPr wrap="square" lIns="0" tIns="0" rIns="0" bIns="0" rtlCol="0" anchor="ctr"/>
          <a:lstStyle/>
          <a:p>
            <a:pPr algn="l" indent="0" marL="0">
              <a:buNone/>
            </a:pPr>
            <a:r>
              <a:rPr lang="en-US" sz="950" b="1" spc="120" kern="0" dirty="0">
                <a:solidFill>
                  <a:srgbClr val="F59E0B"/>
                </a:solidFill>
                <a:latin typeface="Calibri" pitchFamily="34" charset="0"/>
                <a:ea typeface="Calibri" pitchFamily="34" charset="-122"/>
                <a:cs typeface="Calibri" pitchFamily="34" charset="-120"/>
              </a:rPr>
              <a:t>SKILLS</a:t>
            </a:r>
            <a:endParaRPr lang="en-US" sz="950" dirty="0"/>
          </a:p>
        </p:txBody>
      </p:sp>
      <p:sp>
        <p:nvSpPr>
          <p:cNvPr id="32" name="Shape 30"/>
          <p:cNvSpPr/>
          <p:nvPr/>
        </p:nvSpPr>
        <p:spPr>
          <a:xfrm>
            <a:off x="8558784" y="4709160"/>
            <a:ext cx="3063240" cy="310896"/>
          </a:xfrm>
          <a:prstGeom prst="roundRect">
            <a:avLst>
              <a:gd name="adj" fmla="val 50000"/>
            </a:avLst>
          </a:prstGeom>
          <a:solidFill>
            <a:srgbClr val="FFFFFF"/>
          </a:solidFill>
          <a:ln/>
        </p:spPr>
      </p:sp>
      <p:sp>
        <p:nvSpPr>
          <p:cNvPr id="33" name="Text 31"/>
          <p:cNvSpPr/>
          <p:nvPr/>
        </p:nvSpPr>
        <p:spPr>
          <a:xfrm>
            <a:off x="8650224" y="4709160"/>
            <a:ext cx="2880360" cy="310896"/>
          </a:xfrm>
          <a:prstGeom prst="rect">
            <a:avLst/>
          </a:prstGeom>
          <a:noFill/>
          <a:ln/>
        </p:spPr>
        <p:txBody>
          <a:bodyPr wrap="square" lIns="0" tIns="0" rIns="0" bIns="0" rtlCol="0" anchor="ctr"/>
          <a:lstStyle/>
          <a:p>
            <a:pPr algn="l" indent="0" marL="0">
              <a:buNone/>
            </a:pPr>
            <a:r>
              <a:rPr lang="en-US" sz="1050" dirty="0">
                <a:solidFill>
                  <a:srgbClr val="7A4A05"/>
                </a:solidFill>
                <a:latin typeface="Courier New" pitchFamily="34" charset="0"/>
                <a:ea typeface="Courier New" pitchFamily="34" charset="-122"/>
                <a:cs typeface="Courier New" pitchFamily="34" charset="-120"/>
              </a:rPr>
              <a:t>JavaScript</a:t>
            </a:r>
            <a:endParaRPr lang="en-US" sz="1050" dirty="0"/>
          </a:p>
        </p:txBody>
      </p:sp>
      <p:sp>
        <p:nvSpPr>
          <p:cNvPr id="34" name="Shape 32"/>
          <p:cNvSpPr/>
          <p:nvPr/>
        </p:nvSpPr>
        <p:spPr>
          <a:xfrm>
            <a:off x="8558784" y="5093208"/>
            <a:ext cx="3063240" cy="310896"/>
          </a:xfrm>
          <a:prstGeom prst="roundRect">
            <a:avLst>
              <a:gd name="adj" fmla="val 50000"/>
            </a:avLst>
          </a:prstGeom>
          <a:solidFill>
            <a:srgbClr val="FFFFFF"/>
          </a:solidFill>
          <a:ln/>
        </p:spPr>
      </p:sp>
      <p:sp>
        <p:nvSpPr>
          <p:cNvPr id="35" name="Text 33"/>
          <p:cNvSpPr/>
          <p:nvPr/>
        </p:nvSpPr>
        <p:spPr>
          <a:xfrm>
            <a:off x="8650224" y="5093208"/>
            <a:ext cx="2880360" cy="310896"/>
          </a:xfrm>
          <a:prstGeom prst="rect">
            <a:avLst/>
          </a:prstGeom>
          <a:noFill/>
          <a:ln/>
        </p:spPr>
        <p:txBody>
          <a:bodyPr wrap="square" lIns="0" tIns="0" rIns="0" bIns="0" rtlCol="0" anchor="ctr"/>
          <a:lstStyle/>
          <a:p>
            <a:pPr algn="l" indent="0" marL="0">
              <a:buNone/>
            </a:pPr>
            <a:r>
              <a:rPr lang="en-US" sz="1050" dirty="0">
                <a:solidFill>
                  <a:srgbClr val="7A4A05"/>
                </a:solidFill>
                <a:latin typeface="Courier New" pitchFamily="34" charset="0"/>
                <a:ea typeface="Courier New" pitchFamily="34" charset="-122"/>
                <a:cs typeface="Courier New" pitchFamily="34" charset="-120"/>
              </a:rPr>
              <a:t>React basics</a:t>
            </a:r>
            <a:endParaRPr lang="en-US" sz="1050" dirty="0"/>
          </a:p>
        </p:txBody>
      </p:sp>
      <p:sp>
        <p:nvSpPr>
          <p:cNvPr id="36" name="Shape 34"/>
          <p:cNvSpPr/>
          <p:nvPr/>
        </p:nvSpPr>
        <p:spPr>
          <a:xfrm>
            <a:off x="8558784" y="5477256"/>
            <a:ext cx="3063240" cy="310896"/>
          </a:xfrm>
          <a:prstGeom prst="roundRect">
            <a:avLst>
              <a:gd name="adj" fmla="val 50000"/>
            </a:avLst>
          </a:prstGeom>
          <a:solidFill>
            <a:srgbClr val="FFFFFF"/>
          </a:solidFill>
          <a:ln/>
        </p:spPr>
      </p:sp>
      <p:sp>
        <p:nvSpPr>
          <p:cNvPr id="37" name="Text 35"/>
          <p:cNvSpPr/>
          <p:nvPr/>
        </p:nvSpPr>
        <p:spPr>
          <a:xfrm>
            <a:off x="8650224" y="5477256"/>
            <a:ext cx="2880360" cy="310896"/>
          </a:xfrm>
          <a:prstGeom prst="rect">
            <a:avLst/>
          </a:prstGeom>
          <a:noFill/>
          <a:ln/>
        </p:spPr>
        <p:txBody>
          <a:bodyPr wrap="square" lIns="0" tIns="0" rIns="0" bIns="0" rtlCol="0" anchor="ctr"/>
          <a:lstStyle/>
          <a:p>
            <a:pPr algn="l" indent="0" marL="0">
              <a:buNone/>
            </a:pPr>
            <a:r>
              <a:rPr lang="en-US" sz="1050" dirty="0">
                <a:solidFill>
                  <a:srgbClr val="7A4A05"/>
                </a:solidFill>
                <a:latin typeface="Courier New" pitchFamily="34" charset="0"/>
                <a:ea typeface="Courier New" pitchFamily="34" charset="-122"/>
                <a:cs typeface="Courier New" pitchFamily="34" charset="-120"/>
              </a:rPr>
              <a:t>async handling</a:t>
            </a:r>
            <a:endParaRPr lang="en-US" sz="1050" dirty="0"/>
          </a:p>
        </p:txBody>
      </p:sp>
      <p:sp>
        <p:nvSpPr>
          <p:cNvPr id="38" name="Text 36"/>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01</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1</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What is JavaScript</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The language that made web pages respond.</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CONCEPT</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What is JavaScript?</a:t>
            </a:r>
            <a:endParaRPr lang="en-US" sz="3400" dirty="0"/>
          </a:p>
        </p:txBody>
      </p:sp>
      <p:sp>
        <p:nvSpPr>
          <p:cNvPr id="5" name="Shape 3"/>
          <p:cNvSpPr/>
          <p:nvPr/>
        </p:nvSpPr>
        <p:spPr>
          <a:xfrm>
            <a:off x="548640" y="1965960"/>
            <a:ext cx="5440680" cy="3977640"/>
          </a:xfrm>
          <a:prstGeom prst="roundRect">
            <a:avLst>
              <a:gd name="adj" fmla="val 275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Text 4"/>
          <p:cNvSpPr/>
          <p:nvPr/>
        </p:nvSpPr>
        <p:spPr>
          <a:xfrm>
            <a:off x="822960" y="2212848"/>
            <a:ext cx="4892040" cy="777240"/>
          </a:xfrm>
          <a:prstGeom prst="rect">
            <a:avLst/>
          </a:prstGeom>
          <a:noFill/>
          <a:ln/>
        </p:spPr>
        <p:txBody>
          <a:bodyPr wrap="square" lIns="0" tIns="0" rIns="0" bIns="0" rtlCol="0" anchor="t"/>
          <a:lstStyle/>
          <a:p>
            <a:pPr algn="l" indent="0" marL="0">
              <a:buNone/>
            </a:pPr>
            <a:r>
              <a:rPr lang="en-US" sz="1700" b="1" dirty="0">
                <a:solidFill>
                  <a:srgbClr val="0F172A"/>
                </a:solidFill>
                <a:latin typeface="Calibri" pitchFamily="34" charset="0"/>
                <a:ea typeface="Calibri" pitchFamily="34" charset="-122"/>
                <a:cs typeface="Calibri" pitchFamily="34" charset="-120"/>
              </a:rPr>
              <a:t>A language for adding interactivity to websites and web apps.</a:t>
            </a:r>
            <a:endParaRPr lang="en-US" sz="1700" dirty="0"/>
          </a:p>
        </p:txBody>
      </p:sp>
      <p:sp>
        <p:nvSpPr>
          <p:cNvPr id="7" name="Text 5"/>
          <p:cNvSpPr/>
          <p:nvPr/>
        </p:nvSpPr>
        <p:spPr>
          <a:xfrm>
            <a:off x="822960" y="3063240"/>
            <a:ext cx="4892040" cy="914400"/>
          </a:xfrm>
          <a:prstGeom prst="rect">
            <a:avLst/>
          </a:prstGeom>
          <a:noFill/>
          <a:ln/>
        </p:spPr>
        <p:txBody>
          <a:bodyPr wrap="square" lIns="0" tIns="0" rIns="0" bIns="0" rtlCol="0" anchor="t"/>
          <a:lstStyle/>
          <a:p>
            <a:pPr algn="l" indent="0" marL="0">
              <a:buNone/>
            </a:pPr>
            <a:r>
              <a:rPr lang="en-US" sz="1450" dirty="0">
                <a:solidFill>
                  <a:srgbClr val="64748B"/>
                </a:solidFill>
                <a:latin typeface="Calibri" pitchFamily="34" charset="0"/>
                <a:ea typeface="Calibri" pitchFamily="34" charset="-122"/>
                <a:cs typeface="Calibri" pitchFamily="34" charset="-120"/>
              </a:rPr>
              <a:t>Before JavaScript, a web page was a poster. You could read it, and that was all. Nothing responded to you.</a:t>
            </a:r>
            <a:endParaRPr lang="en-US" sz="1450" dirty="0"/>
          </a:p>
        </p:txBody>
      </p:sp>
      <p:sp>
        <p:nvSpPr>
          <p:cNvPr id="8" name="Text 6"/>
          <p:cNvSpPr/>
          <p:nvPr/>
        </p:nvSpPr>
        <p:spPr>
          <a:xfrm>
            <a:off x="822960" y="4023360"/>
            <a:ext cx="4892040" cy="1005840"/>
          </a:xfrm>
          <a:prstGeom prst="rect">
            <a:avLst/>
          </a:prstGeom>
          <a:noFill/>
          <a:ln/>
        </p:spPr>
        <p:txBody>
          <a:bodyPr wrap="square" lIns="0" tIns="0" rIns="0" bIns="0" rtlCol="0" anchor="t"/>
          <a:lstStyle/>
          <a:p>
            <a:pPr algn="l" indent="0" marL="0">
              <a:buNone/>
            </a:pPr>
            <a:r>
              <a:rPr lang="en-US" sz="1450" dirty="0">
                <a:solidFill>
                  <a:srgbClr val="0F172A"/>
                </a:solidFill>
                <a:latin typeface="Calibri" pitchFamily="34" charset="0"/>
                <a:ea typeface="Calibri" pitchFamily="34" charset="-122"/>
                <a:cs typeface="Calibri" pitchFamily="34" charset="-120"/>
              </a:rPr>
              <a:t>Every dropdown, every live search, every add-to-cart that updates without a reload is JavaScript doing its job.</a:t>
            </a:r>
            <a:endParaRPr lang="en-US" sz="1450" dirty="0"/>
          </a:p>
        </p:txBody>
      </p:sp>
      <p:sp>
        <p:nvSpPr>
          <p:cNvPr id="9" name="Shape 7"/>
          <p:cNvSpPr/>
          <p:nvPr/>
        </p:nvSpPr>
        <p:spPr>
          <a:xfrm>
            <a:off x="822960" y="5074920"/>
            <a:ext cx="4892040" cy="685800"/>
          </a:xfrm>
          <a:prstGeom prst="roundRect">
            <a:avLst>
              <a:gd name="adj" fmla="val 16000"/>
            </a:avLst>
          </a:prstGeom>
          <a:solidFill>
            <a:srgbClr val="E5EEFF"/>
          </a:solidFill>
          <a:ln/>
        </p:spPr>
      </p:sp>
      <p:sp>
        <p:nvSpPr>
          <p:cNvPr id="10" name="Shape 8"/>
          <p:cNvSpPr/>
          <p:nvPr/>
        </p:nvSpPr>
        <p:spPr>
          <a:xfrm>
            <a:off x="1024128" y="5289804"/>
            <a:ext cx="256032" cy="256032"/>
          </a:xfrm>
          <a:prstGeom prst="ellipse">
            <a:avLst/>
          </a:prstGeom>
          <a:solidFill>
            <a:srgbClr val="2563EB"/>
          </a:solidFill>
          <a:ln/>
        </p:spPr>
      </p:sp>
      <p:sp>
        <p:nvSpPr>
          <p:cNvPr id="11" name="Text 9"/>
          <p:cNvSpPr/>
          <p:nvPr/>
        </p:nvSpPr>
        <p:spPr>
          <a:xfrm>
            <a:off x="1481328" y="5074920"/>
            <a:ext cx="4023360" cy="685800"/>
          </a:xfrm>
          <a:prstGeom prst="rect">
            <a:avLst/>
          </a:prstGeom>
          <a:noFill/>
          <a:ln/>
        </p:spPr>
        <p:txBody>
          <a:bodyPr wrap="square" lIns="0" tIns="0" rIns="0" bIns="0" rtlCol="0" anchor="ctr"/>
          <a:lstStyle/>
          <a:p>
            <a:pPr algn="l" indent="0" marL="0">
              <a:buNone/>
            </a:pPr>
            <a:r>
              <a:rPr lang="en-US" sz="1400" dirty="0">
                <a:solidFill>
                  <a:srgbClr val="0F172A"/>
                </a:solidFill>
                <a:latin typeface="Calibri" pitchFamily="34" charset="0"/>
                <a:ea typeface="Calibri" pitchFamily="34" charset="-122"/>
                <a:cs typeface="Calibri" pitchFamily="34" charset="-120"/>
              </a:rPr>
              <a:t>Browsers like Chrome, Firefox and Safari all support it natively.</a:t>
            </a:r>
            <a:endParaRPr lang="en-US" sz="1400" dirty="0"/>
          </a:p>
        </p:txBody>
      </p:sp>
      <p:sp>
        <p:nvSpPr>
          <p:cNvPr id="12" name="Shape 10"/>
          <p:cNvSpPr/>
          <p:nvPr/>
        </p:nvSpPr>
        <p:spPr>
          <a:xfrm>
            <a:off x="6217920" y="1965960"/>
            <a:ext cx="5440680" cy="3977640"/>
          </a:xfrm>
          <a:prstGeom prst="roundRect">
            <a:avLst>
              <a:gd name="adj" fmla="val 2759"/>
            </a:avLst>
          </a:prstGeom>
          <a:solidFill>
            <a:srgbClr val="111B34"/>
          </a:solidFill>
          <a:ln/>
          <a:effectLst>
            <a:outerShdw sx="100000" sy="100000" kx="0" ky="0" algn="bl" rotWithShape="0" blurRad="101600" dist="38100" dir="5400000">
              <a:srgbClr val="0B1220">
                <a:alpha val="18000"/>
              </a:srgbClr>
            </a:outerShdw>
          </a:effectLst>
        </p:spPr>
      </p:sp>
      <p:sp>
        <p:nvSpPr>
          <p:cNvPr id="13" name="Text 11"/>
          <p:cNvSpPr/>
          <p:nvPr/>
        </p:nvSpPr>
        <p:spPr>
          <a:xfrm>
            <a:off x="6492240" y="2194560"/>
            <a:ext cx="4892040" cy="274320"/>
          </a:xfrm>
          <a:prstGeom prst="rect">
            <a:avLst/>
          </a:prstGeom>
          <a:noFill/>
          <a:ln/>
        </p:spPr>
        <p:txBody>
          <a:bodyPr wrap="square" lIns="0" tIns="0" rIns="0" bIns="0" rtlCol="0" anchor="ctr"/>
          <a:lstStyle/>
          <a:p>
            <a:pPr algn="l" indent="0" marL="0">
              <a:buNone/>
            </a:pPr>
            <a:r>
              <a:rPr lang="en-US" sz="1200" b="1" spc="140" kern="0" dirty="0">
                <a:solidFill>
                  <a:srgbClr val="F59E0B"/>
                </a:solidFill>
                <a:latin typeface="Calibri" pitchFamily="34" charset="0"/>
                <a:ea typeface="Calibri" pitchFamily="34" charset="-122"/>
                <a:cs typeface="Calibri" pitchFamily="34" charset="-120"/>
              </a:rPr>
              <a:t>A LITTLE HISTORY</a:t>
            </a:r>
            <a:endParaRPr lang="en-US" sz="1200" dirty="0"/>
          </a:p>
        </p:txBody>
      </p:sp>
      <p:sp>
        <p:nvSpPr>
          <p:cNvPr id="14" name="Shape 12"/>
          <p:cNvSpPr/>
          <p:nvPr/>
        </p:nvSpPr>
        <p:spPr>
          <a:xfrm>
            <a:off x="6537960" y="2807208"/>
            <a:ext cx="310896" cy="310896"/>
          </a:xfrm>
          <a:prstGeom prst="ellipse">
            <a:avLst/>
          </a:prstGeom>
          <a:solidFill>
            <a:srgbClr val="2563EB"/>
          </a:solidFill>
          <a:ln/>
        </p:spPr>
      </p:sp>
      <p:sp>
        <p:nvSpPr>
          <p:cNvPr id="15" name="Text 13"/>
          <p:cNvSpPr/>
          <p:nvPr/>
        </p:nvSpPr>
        <p:spPr>
          <a:xfrm>
            <a:off x="6537960" y="28072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6" name="Shape 14"/>
          <p:cNvSpPr/>
          <p:nvPr/>
        </p:nvSpPr>
        <p:spPr>
          <a:xfrm>
            <a:off x="6693408" y="3154680"/>
            <a:ext cx="0" cy="347472"/>
          </a:xfrm>
          <a:prstGeom prst="line">
            <a:avLst/>
          </a:prstGeom>
          <a:noFill/>
          <a:ln w="25400">
            <a:solidFill>
              <a:srgbClr val="1B2A4A"/>
            </a:solidFill>
            <a:prstDash val="solid"/>
          </a:ln>
        </p:spPr>
      </p:sp>
      <p:sp>
        <p:nvSpPr>
          <p:cNvPr id="17" name="Text 15"/>
          <p:cNvSpPr/>
          <p:nvPr/>
        </p:nvSpPr>
        <p:spPr>
          <a:xfrm>
            <a:off x="6995160" y="2715768"/>
            <a:ext cx="4389120" cy="292608"/>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Brendan Eich</a:t>
            </a:r>
            <a:endParaRPr lang="en-US" sz="1400" dirty="0"/>
          </a:p>
        </p:txBody>
      </p:sp>
      <p:sp>
        <p:nvSpPr>
          <p:cNvPr id="18" name="Text 16"/>
          <p:cNvSpPr/>
          <p:nvPr/>
        </p:nvSpPr>
        <p:spPr>
          <a:xfrm>
            <a:off x="6995160" y="3026664"/>
            <a:ext cx="4389120" cy="411480"/>
          </a:xfrm>
          <a:prstGeom prst="rect">
            <a:avLst/>
          </a:prstGeom>
          <a:noFill/>
          <a:ln/>
        </p:spPr>
        <p:txBody>
          <a:bodyPr wrap="square" lIns="0" tIns="0" rIns="0" bIns="0" rtlCol="0" anchor="t"/>
          <a:lstStyle/>
          <a:p>
            <a:pPr algn="l" indent="0" marL="0">
              <a:buNone/>
            </a:pPr>
            <a:r>
              <a:rPr lang="en-US" sz="1150" dirty="0">
                <a:solidFill>
                  <a:srgbClr val="C7DBFF"/>
                </a:solidFill>
                <a:latin typeface="Calibri" pitchFamily="34" charset="0"/>
                <a:ea typeface="Calibri" pitchFamily="34" charset="-122"/>
                <a:cs typeface="Calibri" pitchFamily="34" charset="-120"/>
              </a:rPr>
              <a:t>wrote the first version of the language</a:t>
            </a:r>
            <a:endParaRPr lang="en-US" sz="1150" dirty="0"/>
          </a:p>
        </p:txBody>
      </p:sp>
      <p:sp>
        <p:nvSpPr>
          <p:cNvPr id="19" name="Shape 17"/>
          <p:cNvSpPr/>
          <p:nvPr/>
        </p:nvSpPr>
        <p:spPr>
          <a:xfrm>
            <a:off x="6537960" y="3611880"/>
            <a:ext cx="310896" cy="310896"/>
          </a:xfrm>
          <a:prstGeom prst="ellipse">
            <a:avLst/>
          </a:prstGeom>
          <a:solidFill>
            <a:srgbClr val="2563EB"/>
          </a:solidFill>
          <a:ln/>
        </p:spPr>
      </p:sp>
      <p:sp>
        <p:nvSpPr>
          <p:cNvPr id="20" name="Text 18"/>
          <p:cNvSpPr/>
          <p:nvPr/>
        </p:nvSpPr>
        <p:spPr>
          <a:xfrm>
            <a:off x="6537960" y="36118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Shape 19"/>
          <p:cNvSpPr/>
          <p:nvPr/>
        </p:nvSpPr>
        <p:spPr>
          <a:xfrm>
            <a:off x="6693408" y="3959352"/>
            <a:ext cx="0" cy="347472"/>
          </a:xfrm>
          <a:prstGeom prst="line">
            <a:avLst/>
          </a:prstGeom>
          <a:noFill/>
          <a:ln w="25400">
            <a:solidFill>
              <a:srgbClr val="1B2A4A"/>
            </a:solidFill>
            <a:prstDash val="solid"/>
          </a:ln>
        </p:spPr>
      </p:sp>
      <p:sp>
        <p:nvSpPr>
          <p:cNvPr id="22" name="Text 20"/>
          <p:cNvSpPr/>
          <p:nvPr/>
        </p:nvSpPr>
        <p:spPr>
          <a:xfrm>
            <a:off x="6995160" y="3520440"/>
            <a:ext cx="4389120" cy="292608"/>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In 10 days</a:t>
            </a:r>
            <a:endParaRPr lang="en-US" sz="1400" dirty="0"/>
          </a:p>
        </p:txBody>
      </p:sp>
      <p:sp>
        <p:nvSpPr>
          <p:cNvPr id="23" name="Text 21"/>
          <p:cNvSpPr/>
          <p:nvPr/>
        </p:nvSpPr>
        <p:spPr>
          <a:xfrm>
            <a:off x="6995160" y="3831336"/>
            <a:ext cx="4389120" cy="411480"/>
          </a:xfrm>
          <a:prstGeom prst="rect">
            <a:avLst/>
          </a:prstGeom>
          <a:noFill/>
          <a:ln/>
        </p:spPr>
        <p:txBody>
          <a:bodyPr wrap="square" lIns="0" tIns="0" rIns="0" bIns="0" rtlCol="0" anchor="t"/>
          <a:lstStyle/>
          <a:p>
            <a:pPr algn="l" indent="0" marL="0">
              <a:buNone/>
            </a:pPr>
            <a:r>
              <a:rPr lang="en-US" sz="1150" dirty="0">
                <a:solidFill>
                  <a:srgbClr val="C7DBFF"/>
                </a:solidFill>
                <a:latin typeface="Calibri" pitchFamily="34" charset="0"/>
                <a:ea typeface="Calibri" pitchFamily="34" charset="-122"/>
                <a:cs typeface="Calibri" pitchFamily="34" charset="-120"/>
              </a:rPr>
              <a:t>that is not a typo. Ten days.</a:t>
            </a:r>
            <a:endParaRPr lang="en-US" sz="1150" dirty="0"/>
          </a:p>
        </p:txBody>
      </p:sp>
      <p:sp>
        <p:nvSpPr>
          <p:cNvPr id="24" name="Shape 22"/>
          <p:cNvSpPr/>
          <p:nvPr/>
        </p:nvSpPr>
        <p:spPr>
          <a:xfrm>
            <a:off x="6537960" y="4416552"/>
            <a:ext cx="310896" cy="310896"/>
          </a:xfrm>
          <a:prstGeom prst="ellipse">
            <a:avLst/>
          </a:prstGeom>
          <a:solidFill>
            <a:srgbClr val="2563EB"/>
          </a:solidFill>
          <a:ln/>
        </p:spPr>
      </p:sp>
      <p:sp>
        <p:nvSpPr>
          <p:cNvPr id="25" name="Text 23"/>
          <p:cNvSpPr/>
          <p:nvPr/>
        </p:nvSpPr>
        <p:spPr>
          <a:xfrm>
            <a:off x="6537960" y="44165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Shape 24"/>
          <p:cNvSpPr/>
          <p:nvPr/>
        </p:nvSpPr>
        <p:spPr>
          <a:xfrm>
            <a:off x="6693408" y="4764024"/>
            <a:ext cx="0" cy="347472"/>
          </a:xfrm>
          <a:prstGeom prst="line">
            <a:avLst/>
          </a:prstGeom>
          <a:noFill/>
          <a:ln w="25400">
            <a:solidFill>
              <a:srgbClr val="1B2A4A"/>
            </a:solidFill>
            <a:prstDash val="solid"/>
          </a:ln>
        </p:spPr>
      </p:sp>
      <p:sp>
        <p:nvSpPr>
          <p:cNvPr id="27" name="Text 25"/>
          <p:cNvSpPr/>
          <p:nvPr/>
        </p:nvSpPr>
        <p:spPr>
          <a:xfrm>
            <a:off x="6995160" y="4325112"/>
            <a:ext cx="4389120" cy="292608"/>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Called LiveScript</a:t>
            </a:r>
            <a:endParaRPr lang="en-US" sz="1400" dirty="0"/>
          </a:p>
        </p:txBody>
      </p:sp>
      <p:sp>
        <p:nvSpPr>
          <p:cNvPr id="28" name="Text 26"/>
          <p:cNvSpPr/>
          <p:nvPr/>
        </p:nvSpPr>
        <p:spPr>
          <a:xfrm>
            <a:off x="6995160" y="4636008"/>
            <a:ext cx="4389120" cy="411480"/>
          </a:xfrm>
          <a:prstGeom prst="rect">
            <a:avLst/>
          </a:prstGeom>
          <a:noFill/>
          <a:ln/>
        </p:spPr>
        <p:txBody>
          <a:bodyPr wrap="square" lIns="0" tIns="0" rIns="0" bIns="0" rtlCol="0" anchor="t"/>
          <a:lstStyle/>
          <a:p>
            <a:pPr algn="l" indent="0" marL="0">
              <a:buNone/>
            </a:pPr>
            <a:r>
              <a:rPr lang="en-US" sz="1150" dirty="0">
                <a:solidFill>
                  <a:srgbClr val="C7DBFF"/>
                </a:solidFill>
                <a:latin typeface="Calibri" pitchFamily="34" charset="0"/>
                <a:ea typeface="Calibri" pitchFamily="34" charset="-122"/>
                <a:cs typeface="Calibri" pitchFamily="34" charset="-120"/>
              </a:rPr>
              <a:t>that was the original name</a:t>
            </a:r>
            <a:endParaRPr lang="en-US" sz="1150" dirty="0"/>
          </a:p>
        </p:txBody>
      </p:sp>
      <p:sp>
        <p:nvSpPr>
          <p:cNvPr id="29" name="Shape 27"/>
          <p:cNvSpPr/>
          <p:nvPr/>
        </p:nvSpPr>
        <p:spPr>
          <a:xfrm>
            <a:off x="6537960" y="5221224"/>
            <a:ext cx="310896" cy="310896"/>
          </a:xfrm>
          <a:prstGeom prst="ellipse">
            <a:avLst/>
          </a:prstGeom>
          <a:solidFill>
            <a:srgbClr val="2563EB"/>
          </a:solidFill>
          <a:ln/>
        </p:spPr>
      </p:sp>
      <p:sp>
        <p:nvSpPr>
          <p:cNvPr id="30" name="Text 28"/>
          <p:cNvSpPr/>
          <p:nvPr/>
        </p:nvSpPr>
        <p:spPr>
          <a:xfrm>
            <a:off x="6537960" y="522122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p:nvPr/>
        </p:nvSpPr>
        <p:spPr>
          <a:xfrm>
            <a:off x="6995160" y="5129784"/>
            <a:ext cx="4389120" cy="292608"/>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Renamed JavaScript</a:t>
            </a:r>
            <a:endParaRPr lang="en-US" sz="1400" dirty="0"/>
          </a:p>
        </p:txBody>
      </p:sp>
      <p:sp>
        <p:nvSpPr>
          <p:cNvPr id="32" name="Text 30"/>
          <p:cNvSpPr/>
          <p:nvPr/>
        </p:nvSpPr>
        <p:spPr>
          <a:xfrm>
            <a:off x="6995160" y="5440680"/>
            <a:ext cx="4389120" cy="411480"/>
          </a:xfrm>
          <a:prstGeom prst="rect">
            <a:avLst/>
          </a:prstGeom>
          <a:noFill/>
          <a:ln/>
        </p:spPr>
        <p:txBody>
          <a:bodyPr wrap="square" lIns="0" tIns="0" rIns="0" bIns="0" rtlCol="0" anchor="t"/>
          <a:lstStyle/>
          <a:p>
            <a:pPr algn="l" indent="0" marL="0">
              <a:buNone/>
            </a:pPr>
            <a:r>
              <a:rPr lang="en-US" sz="1150" dirty="0">
                <a:solidFill>
                  <a:srgbClr val="C7DBFF"/>
                </a:solidFill>
                <a:latin typeface="Calibri" pitchFamily="34" charset="0"/>
                <a:ea typeface="Calibri" pitchFamily="34" charset="-122"/>
                <a:cs typeface="Calibri" pitchFamily="34" charset="-120"/>
              </a:rPr>
              <a:t>purely to ride the popularity of Java. The two are unrelated.</a:t>
            </a:r>
            <a:endParaRPr lang="en-US" sz="1150" dirty="0"/>
          </a:p>
        </p:txBody>
      </p:sp>
      <p:sp>
        <p:nvSpPr>
          <p:cNvPr id="33" name="Text 31"/>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984248" cy="310896"/>
          </a:xfrm>
          <a:prstGeom prst="roundRect">
            <a:avLst>
              <a:gd name="adj" fmla="val 50000"/>
            </a:avLst>
          </a:prstGeom>
          <a:solidFill>
            <a:srgbClr val="2563EB"/>
          </a:solidFill>
          <a:ln/>
        </p:spPr>
      </p:sp>
      <p:sp>
        <p:nvSpPr>
          <p:cNvPr id="3" name="Text 1"/>
          <p:cNvSpPr/>
          <p:nvPr/>
        </p:nvSpPr>
        <p:spPr>
          <a:xfrm>
            <a:off x="548640" y="457200"/>
            <a:ext cx="1984248"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JAVASCRIPT ENGINES</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What actually runs the code?</a:t>
            </a:r>
            <a:endParaRPr lang="en-US" sz="3400" dirty="0"/>
          </a:p>
        </p:txBody>
      </p:sp>
      <p:sp>
        <p:nvSpPr>
          <p:cNvPr id="5" name="Text 3"/>
          <p:cNvSpPr/>
          <p:nvPr/>
        </p:nvSpPr>
        <p:spPr>
          <a:xfrm>
            <a:off x="548640" y="1828800"/>
            <a:ext cx="11064240" cy="457200"/>
          </a:xfrm>
          <a:prstGeom prst="rect">
            <a:avLst/>
          </a:prstGeom>
          <a:noFill/>
          <a:ln/>
        </p:spPr>
        <p:txBody>
          <a:bodyPr wrap="square" lIns="0" tIns="0" rIns="0" bIns="0" rtlCol="0" anchor="ctr"/>
          <a:lstStyle/>
          <a:p>
            <a:pPr algn="l" indent="0" marL="0">
              <a:buNone/>
            </a:pPr>
            <a:r>
              <a:rPr lang="en-US" sz="1500" dirty="0">
                <a:solidFill>
                  <a:srgbClr val="64748B"/>
                </a:solidFill>
                <a:latin typeface="Calibri" pitchFamily="34" charset="0"/>
                <a:ea typeface="Calibri" pitchFamily="34" charset="-122"/>
                <a:cs typeface="Calibri" pitchFamily="34" charset="-120"/>
              </a:rPr>
              <a:t>Your browser does not understand JavaScript by itself. It ships with an engine whose whole job is reading and running it.</a:t>
            </a:r>
            <a:endParaRPr lang="en-US" sz="1500" dirty="0"/>
          </a:p>
        </p:txBody>
      </p:sp>
      <p:sp>
        <p:nvSpPr>
          <p:cNvPr id="6" name="Shape 4"/>
          <p:cNvSpPr/>
          <p:nvPr/>
        </p:nvSpPr>
        <p:spPr>
          <a:xfrm>
            <a:off x="640080" y="2468880"/>
            <a:ext cx="2514600" cy="1554480"/>
          </a:xfrm>
          <a:prstGeom prst="roundRect">
            <a:avLst>
              <a:gd name="adj" fmla="val 7059"/>
            </a:avLst>
          </a:prstGeom>
          <a:solidFill>
            <a:srgbClr val="F1F5F9"/>
          </a:solidFill>
          <a:ln/>
          <a:effectLst>
            <a:outerShdw sx="100000" sy="100000" kx="0" ky="0" algn="bl" rotWithShape="0" blurRad="101600" dist="38100" dir="5400000">
              <a:srgbClr val="0B1220">
                <a:alpha val="18000"/>
              </a:srgbClr>
            </a:outerShdw>
          </a:effectLst>
        </p:spPr>
      </p:sp>
      <p:sp>
        <p:nvSpPr>
          <p:cNvPr id="7" name="Text 5"/>
          <p:cNvSpPr/>
          <p:nvPr/>
        </p:nvSpPr>
        <p:spPr>
          <a:xfrm>
            <a:off x="777240" y="2761488"/>
            <a:ext cx="2240280"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You write</a:t>
            </a:r>
            <a:endParaRPr lang="en-US" sz="1500" dirty="0"/>
          </a:p>
        </p:txBody>
      </p:sp>
      <p:sp>
        <p:nvSpPr>
          <p:cNvPr id="8" name="Text 6"/>
          <p:cNvSpPr/>
          <p:nvPr/>
        </p:nvSpPr>
        <p:spPr>
          <a:xfrm>
            <a:off x="777240" y="3218688"/>
            <a:ext cx="2240280" cy="548640"/>
          </a:xfrm>
          <a:prstGeom prst="rect">
            <a:avLst/>
          </a:prstGeom>
          <a:noFill/>
          <a:ln/>
        </p:spPr>
        <p:txBody>
          <a:bodyPr wrap="square" lIns="0" tIns="0" rIns="0" bIns="0" rtlCol="0" anchor="t"/>
          <a:lstStyle/>
          <a:p>
            <a:pPr algn="ctr" indent="0" marL="0">
              <a:buNone/>
            </a:pPr>
            <a:r>
              <a:rPr lang="en-US" sz="1100" dirty="0">
                <a:solidFill>
                  <a:srgbClr val="64748B"/>
                </a:solidFill>
                <a:latin typeface="Courier New" pitchFamily="34" charset="0"/>
                <a:ea typeface="Courier New" pitchFamily="34" charset="-122"/>
                <a:cs typeface="Courier New" pitchFamily="34" charset="-120"/>
              </a:rPr>
              <a:t>script.js</a:t>
            </a:r>
            <a:endParaRPr lang="en-US" sz="1100" dirty="0"/>
          </a:p>
        </p:txBody>
      </p:sp>
      <p:sp>
        <p:nvSpPr>
          <p:cNvPr id="9" name="Shape 7"/>
          <p:cNvSpPr/>
          <p:nvPr/>
        </p:nvSpPr>
        <p:spPr>
          <a:xfrm>
            <a:off x="3227832" y="3246120"/>
            <a:ext cx="237744" cy="0"/>
          </a:xfrm>
          <a:prstGeom prst="line">
            <a:avLst/>
          </a:prstGeom>
          <a:noFill/>
          <a:ln w="25400">
            <a:solidFill>
              <a:srgbClr val="2563EB"/>
            </a:solidFill>
            <a:prstDash val="solid"/>
            <a:tailEnd type="triangle"/>
          </a:ln>
        </p:spPr>
      </p:sp>
      <p:sp>
        <p:nvSpPr>
          <p:cNvPr id="10" name="Shape 8"/>
          <p:cNvSpPr/>
          <p:nvPr/>
        </p:nvSpPr>
        <p:spPr>
          <a:xfrm>
            <a:off x="3538728" y="2468880"/>
            <a:ext cx="2514600" cy="1554480"/>
          </a:xfrm>
          <a:prstGeom prst="roundRect">
            <a:avLst>
              <a:gd name="adj" fmla="val 7059"/>
            </a:avLst>
          </a:prstGeom>
          <a:solidFill>
            <a:srgbClr val="E5EEFF"/>
          </a:solidFill>
          <a:ln/>
          <a:effectLst>
            <a:outerShdw sx="100000" sy="100000" kx="0" ky="0" algn="bl" rotWithShape="0" blurRad="101600" dist="38100" dir="5400000">
              <a:srgbClr val="0B1220">
                <a:alpha val="18000"/>
              </a:srgbClr>
            </a:outerShdw>
          </a:effectLst>
        </p:spPr>
      </p:sp>
      <p:sp>
        <p:nvSpPr>
          <p:cNvPr id="11" name="Text 9"/>
          <p:cNvSpPr/>
          <p:nvPr/>
        </p:nvSpPr>
        <p:spPr>
          <a:xfrm>
            <a:off x="3675888" y="2761488"/>
            <a:ext cx="2240280"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Browser loads it</a:t>
            </a:r>
            <a:endParaRPr lang="en-US" sz="1500" dirty="0"/>
          </a:p>
        </p:txBody>
      </p:sp>
      <p:sp>
        <p:nvSpPr>
          <p:cNvPr id="12" name="Text 10"/>
          <p:cNvSpPr/>
          <p:nvPr/>
        </p:nvSpPr>
        <p:spPr>
          <a:xfrm>
            <a:off x="3675888" y="3218688"/>
            <a:ext cx="2240280" cy="548640"/>
          </a:xfrm>
          <a:prstGeom prst="rect">
            <a:avLst/>
          </a:prstGeom>
          <a:noFill/>
          <a:ln/>
        </p:spPr>
        <p:txBody>
          <a:bodyPr wrap="square" lIns="0" tIns="0" rIns="0" bIns="0" rtlCol="0" anchor="t"/>
          <a:lstStyle/>
          <a:p>
            <a:pPr algn="ctr" indent="0" marL="0">
              <a:buNone/>
            </a:pPr>
            <a:r>
              <a:rPr lang="en-US" sz="1100" dirty="0">
                <a:solidFill>
                  <a:srgbClr val="2563EB"/>
                </a:solidFill>
                <a:latin typeface="Courier New" pitchFamily="34" charset="0"/>
                <a:ea typeface="Courier New" pitchFamily="34" charset="-122"/>
                <a:cs typeface="Courier New" pitchFamily="34" charset="-120"/>
              </a:rPr>
              <a:t>Chrome, Firefox, Safari</a:t>
            </a:r>
            <a:endParaRPr lang="en-US" sz="1100" dirty="0"/>
          </a:p>
        </p:txBody>
      </p:sp>
      <p:sp>
        <p:nvSpPr>
          <p:cNvPr id="13" name="Shape 11"/>
          <p:cNvSpPr/>
          <p:nvPr/>
        </p:nvSpPr>
        <p:spPr>
          <a:xfrm>
            <a:off x="6126480" y="3246120"/>
            <a:ext cx="237744" cy="0"/>
          </a:xfrm>
          <a:prstGeom prst="line">
            <a:avLst/>
          </a:prstGeom>
          <a:noFill/>
          <a:ln w="25400">
            <a:solidFill>
              <a:srgbClr val="2563EB"/>
            </a:solidFill>
            <a:prstDash val="solid"/>
            <a:tailEnd type="triangle"/>
          </a:ln>
        </p:spPr>
      </p:sp>
      <p:sp>
        <p:nvSpPr>
          <p:cNvPr id="14" name="Shape 12"/>
          <p:cNvSpPr/>
          <p:nvPr/>
        </p:nvSpPr>
        <p:spPr>
          <a:xfrm>
            <a:off x="6437376" y="2468880"/>
            <a:ext cx="2514600" cy="1554480"/>
          </a:xfrm>
          <a:prstGeom prst="roundRect">
            <a:avLst>
              <a:gd name="adj" fmla="val 7059"/>
            </a:avLst>
          </a:prstGeom>
          <a:solidFill>
            <a:srgbClr val="E7FBEF"/>
          </a:solidFill>
          <a:ln/>
          <a:effectLst>
            <a:outerShdw sx="100000" sy="100000" kx="0" ky="0" algn="bl" rotWithShape="0" blurRad="101600" dist="38100" dir="5400000">
              <a:srgbClr val="0B1220">
                <a:alpha val="18000"/>
              </a:srgbClr>
            </a:outerShdw>
          </a:effectLst>
        </p:spPr>
      </p:sp>
      <p:sp>
        <p:nvSpPr>
          <p:cNvPr id="15" name="Text 13"/>
          <p:cNvSpPr/>
          <p:nvPr/>
        </p:nvSpPr>
        <p:spPr>
          <a:xfrm>
            <a:off x="6574536" y="2761488"/>
            <a:ext cx="2240280" cy="384048"/>
          </a:xfrm>
          <a:prstGeom prst="rect">
            <a:avLst/>
          </a:prstGeom>
          <a:noFill/>
          <a:ln/>
        </p:spPr>
        <p:txBody>
          <a:bodyPr wrap="square" lIns="0" tIns="0" rIns="0" bIns="0" rtlCol="0" anchor="ctr"/>
          <a:lstStyle/>
          <a:p>
            <a:pPr algn="ctr" indent="0" marL="0">
              <a:buNone/>
            </a:pPr>
            <a:r>
              <a:rPr lang="en-US" sz="1500" b="1" dirty="0">
                <a:solidFill>
                  <a:srgbClr val="14532D"/>
                </a:solidFill>
                <a:latin typeface="Calibri" pitchFamily="34" charset="0"/>
                <a:ea typeface="Calibri" pitchFamily="34" charset="-122"/>
                <a:cs typeface="Calibri" pitchFamily="34" charset="-120"/>
              </a:rPr>
              <a:t>Engine runs it</a:t>
            </a:r>
            <a:endParaRPr lang="en-US" sz="1500" dirty="0"/>
          </a:p>
        </p:txBody>
      </p:sp>
      <p:sp>
        <p:nvSpPr>
          <p:cNvPr id="16" name="Text 14"/>
          <p:cNvSpPr/>
          <p:nvPr/>
        </p:nvSpPr>
        <p:spPr>
          <a:xfrm>
            <a:off x="6574536" y="3218688"/>
            <a:ext cx="2240280" cy="548640"/>
          </a:xfrm>
          <a:prstGeom prst="rect">
            <a:avLst/>
          </a:prstGeom>
          <a:noFill/>
          <a:ln/>
        </p:spPr>
        <p:txBody>
          <a:bodyPr wrap="square" lIns="0" tIns="0" rIns="0" bIns="0" rtlCol="0" anchor="t"/>
          <a:lstStyle/>
          <a:p>
            <a:pPr algn="ctr" indent="0" marL="0">
              <a:buNone/>
            </a:pPr>
            <a:r>
              <a:rPr lang="en-US" sz="1100" dirty="0">
                <a:solidFill>
                  <a:srgbClr val="22C55E"/>
                </a:solidFill>
                <a:latin typeface="Courier New" pitchFamily="34" charset="0"/>
                <a:ea typeface="Courier New" pitchFamily="34" charset="-122"/>
                <a:cs typeface="Courier New" pitchFamily="34" charset="-120"/>
              </a:rPr>
              <a:t>V8, SpiderMonkey</a:t>
            </a:r>
            <a:endParaRPr lang="en-US" sz="1100" dirty="0"/>
          </a:p>
        </p:txBody>
      </p:sp>
      <p:sp>
        <p:nvSpPr>
          <p:cNvPr id="17" name="Shape 15"/>
          <p:cNvSpPr/>
          <p:nvPr/>
        </p:nvSpPr>
        <p:spPr>
          <a:xfrm>
            <a:off x="9025128" y="3246120"/>
            <a:ext cx="237744" cy="0"/>
          </a:xfrm>
          <a:prstGeom prst="line">
            <a:avLst/>
          </a:prstGeom>
          <a:noFill/>
          <a:ln w="25400">
            <a:solidFill>
              <a:srgbClr val="2563EB"/>
            </a:solidFill>
            <a:prstDash val="solid"/>
            <a:tailEnd type="triangle"/>
          </a:ln>
        </p:spPr>
      </p:sp>
      <p:sp>
        <p:nvSpPr>
          <p:cNvPr id="18" name="Shape 16"/>
          <p:cNvSpPr/>
          <p:nvPr/>
        </p:nvSpPr>
        <p:spPr>
          <a:xfrm>
            <a:off x="9336024" y="2468880"/>
            <a:ext cx="2514600" cy="1554480"/>
          </a:xfrm>
          <a:prstGeom prst="roundRect">
            <a:avLst>
              <a:gd name="adj" fmla="val 7059"/>
            </a:avLst>
          </a:prstGeom>
          <a:solidFill>
            <a:srgbClr val="FFF3E0"/>
          </a:solidFill>
          <a:ln/>
          <a:effectLst>
            <a:outerShdw sx="100000" sy="100000" kx="0" ky="0" algn="bl" rotWithShape="0" blurRad="101600" dist="38100" dir="5400000">
              <a:srgbClr val="0B1220">
                <a:alpha val="18000"/>
              </a:srgbClr>
            </a:outerShdw>
          </a:effectLst>
        </p:spPr>
      </p:sp>
      <p:sp>
        <p:nvSpPr>
          <p:cNvPr id="19" name="Text 17"/>
          <p:cNvSpPr/>
          <p:nvPr/>
        </p:nvSpPr>
        <p:spPr>
          <a:xfrm>
            <a:off x="9473184" y="2761488"/>
            <a:ext cx="2240280" cy="384048"/>
          </a:xfrm>
          <a:prstGeom prst="rect">
            <a:avLst/>
          </a:prstGeom>
          <a:noFill/>
          <a:ln/>
        </p:spPr>
        <p:txBody>
          <a:bodyPr wrap="square" lIns="0" tIns="0" rIns="0" bIns="0" rtlCol="0" anchor="ctr"/>
          <a:lstStyle/>
          <a:p>
            <a:pPr algn="ctr" indent="0" marL="0">
              <a:buNone/>
            </a:pPr>
            <a:r>
              <a:rPr lang="en-US" sz="1500" b="1" dirty="0">
                <a:solidFill>
                  <a:srgbClr val="7A4A05"/>
                </a:solidFill>
                <a:latin typeface="Calibri" pitchFamily="34" charset="0"/>
                <a:ea typeface="Calibri" pitchFamily="34" charset="-122"/>
                <a:cs typeface="Calibri" pitchFamily="34" charset="-120"/>
              </a:rPr>
              <a:t>Page reacts</a:t>
            </a:r>
            <a:endParaRPr lang="en-US" sz="1500" dirty="0"/>
          </a:p>
        </p:txBody>
      </p:sp>
      <p:sp>
        <p:nvSpPr>
          <p:cNvPr id="20" name="Text 18"/>
          <p:cNvSpPr/>
          <p:nvPr/>
        </p:nvSpPr>
        <p:spPr>
          <a:xfrm>
            <a:off x="9473184" y="3218688"/>
            <a:ext cx="2240280" cy="548640"/>
          </a:xfrm>
          <a:prstGeom prst="rect">
            <a:avLst/>
          </a:prstGeom>
          <a:noFill/>
          <a:ln/>
        </p:spPr>
        <p:txBody>
          <a:bodyPr wrap="square" lIns="0" tIns="0" rIns="0" bIns="0" rtlCol="0" anchor="t"/>
          <a:lstStyle/>
          <a:p>
            <a:pPr algn="ctr" indent="0" marL="0">
              <a:buNone/>
            </a:pPr>
            <a:r>
              <a:rPr lang="en-US" sz="1100" dirty="0">
                <a:solidFill>
                  <a:srgbClr val="F59E0B"/>
                </a:solidFill>
                <a:latin typeface="Courier New" pitchFamily="34" charset="0"/>
                <a:ea typeface="Courier New" pitchFamily="34" charset="-122"/>
                <a:cs typeface="Courier New" pitchFamily="34" charset="-120"/>
              </a:rPr>
              <a:t>things move and update</a:t>
            </a:r>
            <a:endParaRPr lang="en-US" sz="1100" dirty="0"/>
          </a:p>
        </p:txBody>
      </p:sp>
      <p:sp>
        <p:nvSpPr>
          <p:cNvPr id="21" name="Shape 19"/>
          <p:cNvSpPr/>
          <p:nvPr/>
        </p:nvSpPr>
        <p:spPr>
          <a:xfrm>
            <a:off x="640080" y="4434840"/>
            <a:ext cx="356616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2" name="Text 20"/>
          <p:cNvSpPr/>
          <p:nvPr/>
        </p:nvSpPr>
        <p:spPr>
          <a:xfrm>
            <a:off x="868680" y="4572000"/>
            <a:ext cx="3108960" cy="32004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Chrome and Edge</a:t>
            </a:r>
            <a:endParaRPr lang="en-US" sz="1300" dirty="0"/>
          </a:p>
        </p:txBody>
      </p:sp>
      <p:sp>
        <p:nvSpPr>
          <p:cNvPr id="23" name="Text 21"/>
          <p:cNvSpPr/>
          <p:nvPr/>
        </p:nvSpPr>
        <p:spPr>
          <a:xfrm>
            <a:off x="868680" y="4919472"/>
            <a:ext cx="3108960" cy="457200"/>
          </a:xfrm>
          <a:prstGeom prst="rect">
            <a:avLst/>
          </a:prstGeom>
          <a:noFill/>
          <a:ln/>
        </p:spPr>
        <p:txBody>
          <a:bodyPr wrap="square" lIns="0" tIns="0" rIns="0" bIns="0" rtlCol="0" anchor="ctr"/>
          <a:lstStyle/>
          <a:p>
            <a:pPr algn="l" indent="0" marL="0">
              <a:buNone/>
            </a:pPr>
            <a:r>
              <a:rPr lang="en-US" sz="1700" b="1" dirty="0">
                <a:solidFill>
                  <a:srgbClr val="2563EB"/>
                </a:solidFill>
                <a:latin typeface="Courier New" pitchFamily="34" charset="0"/>
                <a:ea typeface="Courier New" pitchFamily="34" charset="-122"/>
                <a:cs typeface="Courier New" pitchFamily="34" charset="-120"/>
              </a:rPr>
              <a:t>V8</a:t>
            </a:r>
            <a:endParaRPr lang="en-US" sz="1700" dirty="0"/>
          </a:p>
        </p:txBody>
      </p:sp>
      <p:sp>
        <p:nvSpPr>
          <p:cNvPr id="24" name="Shape 22"/>
          <p:cNvSpPr/>
          <p:nvPr/>
        </p:nvSpPr>
        <p:spPr>
          <a:xfrm>
            <a:off x="4434840" y="4434840"/>
            <a:ext cx="356616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5" name="Text 23"/>
          <p:cNvSpPr/>
          <p:nvPr/>
        </p:nvSpPr>
        <p:spPr>
          <a:xfrm>
            <a:off x="4663440" y="4572000"/>
            <a:ext cx="3108960" cy="32004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Firefox</a:t>
            </a:r>
            <a:endParaRPr lang="en-US" sz="1300" dirty="0"/>
          </a:p>
        </p:txBody>
      </p:sp>
      <p:sp>
        <p:nvSpPr>
          <p:cNvPr id="26" name="Text 24"/>
          <p:cNvSpPr/>
          <p:nvPr/>
        </p:nvSpPr>
        <p:spPr>
          <a:xfrm>
            <a:off x="4663440" y="4919472"/>
            <a:ext cx="3108960" cy="457200"/>
          </a:xfrm>
          <a:prstGeom prst="rect">
            <a:avLst/>
          </a:prstGeom>
          <a:noFill/>
          <a:ln/>
        </p:spPr>
        <p:txBody>
          <a:bodyPr wrap="square" lIns="0" tIns="0" rIns="0" bIns="0" rtlCol="0" anchor="ctr"/>
          <a:lstStyle/>
          <a:p>
            <a:pPr algn="l" indent="0" marL="0">
              <a:buNone/>
            </a:pPr>
            <a:r>
              <a:rPr lang="en-US" sz="1700" b="1" dirty="0">
                <a:solidFill>
                  <a:srgbClr val="F59E0B"/>
                </a:solidFill>
                <a:latin typeface="Courier New" pitchFamily="34" charset="0"/>
                <a:ea typeface="Courier New" pitchFamily="34" charset="-122"/>
                <a:cs typeface="Courier New" pitchFamily="34" charset="-120"/>
              </a:rPr>
              <a:t>SpiderMonkey</a:t>
            </a:r>
            <a:endParaRPr lang="en-US" sz="1700" dirty="0"/>
          </a:p>
        </p:txBody>
      </p:sp>
      <p:sp>
        <p:nvSpPr>
          <p:cNvPr id="27" name="Shape 25"/>
          <p:cNvSpPr/>
          <p:nvPr/>
        </p:nvSpPr>
        <p:spPr>
          <a:xfrm>
            <a:off x="8229600" y="4434840"/>
            <a:ext cx="356616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8" name="Text 26"/>
          <p:cNvSpPr/>
          <p:nvPr/>
        </p:nvSpPr>
        <p:spPr>
          <a:xfrm>
            <a:off x="8458200" y="4572000"/>
            <a:ext cx="3108960" cy="320040"/>
          </a:xfrm>
          <a:prstGeom prst="rect">
            <a:avLst/>
          </a:prstGeom>
          <a:noFill/>
          <a:ln/>
        </p:spPr>
        <p:txBody>
          <a:bodyPr wrap="square" lIns="0" tIns="0" rIns="0" bIns="0" rtlCol="0" anchor="ctr"/>
          <a:lstStyle/>
          <a:p>
            <a:pPr algn="l" indent="0" marL="0">
              <a:buNone/>
            </a:pPr>
            <a:r>
              <a:rPr lang="en-US" sz="1300" dirty="0">
                <a:solidFill>
                  <a:srgbClr val="64748B"/>
                </a:solidFill>
                <a:latin typeface="Calibri" pitchFamily="34" charset="0"/>
                <a:ea typeface="Calibri" pitchFamily="34" charset="-122"/>
                <a:cs typeface="Calibri" pitchFamily="34" charset="-120"/>
              </a:rPr>
              <a:t>Safari</a:t>
            </a:r>
            <a:endParaRPr lang="en-US" sz="1300" dirty="0"/>
          </a:p>
        </p:txBody>
      </p:sp>
      <p:sp>
        <p:nvSpPr>
          <p:cNvPr id="29" name="Text 27"/>
          <p:cNvSpPr/>
          <p:nvPr/>
        </p:nvSpPr>
        <p:spPr>
          <a:xfrm>
            <a:off x="8458200" y="4919472"/>
            <a:ext cx="3108960" cy="457200"/>
          </a:xfrm>
          <a:prstGeom prst="rect">
            <a:avLst/>
          </a:prstGeom>
          <a:noFill/>
          <a:ln/>
        </p:spPr>
        <p:txBody>
          <a:bodyPr wrap="square" lIns="0" tIns="0" rIns="0" bIns="0" rtlCol="0" anchor="ctr"/>
          <a:lstStyle/>
          <a:p>
            <a:pPr algn="l" indent="0" marL="0">
              <a:buNone/>
            </a:pPr>
            <a:r>
              <a:rPr lang="en-US" sz="1700" b="1" dirty="0">
                <a:solidFill>
                  <a:srgbClr val="22C55E"/>
                </a:solidFill>
                <a:latin typeface="Courier New" pitchFamily="34" charset="0"/>
                <a:ea typeface="Courier New" pitchFamily="34" charset="-122"/>
                <a:cs typeface="Courier New" pitchFamily="34" charset="-120"/>
              </a:rPr>
              <a:t>JavaScriptCore</a:t>
            </a:r>
            <a:endParaRPr lang="en-US" sz="1700" dirty="0"/>
          </a:p>
        </p:txBody>
      </p:sp>
      <p:sp>
        <p:nvSpPr>
          <p:cNvPr id="30" name="Shape 28"/>
          <p:cNvSpPr/>
          <p:nvPr/>
        </p:nvSpPr>
        <p:spPr>
          <a:xfrm>
            <a:off x="640080" y="5806440"/>
            <a:ext cx="10927080" cy="640080"/>
          </a:xfrm>
          <a:prstGeom prst="roundRect">
            <a:avLst>
              <a:gd name="adj" fmla="val 17143"/>
            </a:avLst>
          </a:prstGeom>
          <a:solidFill>
            <a:srgbClr val="E7FBEF"/>
          </a:solidFill>
          <a:ln/>
        </p:spPr>
      </p:sp>
      <p:sp>
        <p:nvSpPr>
          <p:cNvPr id="31" name="Shape 29"/>
          <p:cNvSpPr/>
          <p:nvPr/>
        </p:nvSpPr>
        <p:spPr>
          <a:xfrm>
            <a:off x="841248" y="5998464"/>
            <a:ext cx="256032" cy="256032"/>
          </a:xfrm>
          <a:prstGeom prst="ellipse">
            <a:avLst/>
          </a:prstGeom>
          <a:solidFill>
            <a:srgbClr val="22C55E"/>
          </a:solidFill>
          <a:ln/>
        </p:spPr>
      </p:sp>
      <p:sp>
        <p:nvSpPr>
          <p:cNvPr id="32" name="Text 30"/>
          <p:cNvSpPr/>
          <p:nvPr/>
        </p:nvSpPr>
        <p:spPr>
          <a:xfrm>
            <a:off x="1298448" y="5806440"/>
            <a:ext cx="10058400" cy="64008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Same language, different engines. That is why code can behave slightly differently across browsers.</a:t>
            </a:r>
            <a:endParaRPr lang="en-US" sz="1400" dirty="0"/>
          </a:p>
        </p:txBody>
      </p:sp>
      <p:sp>
        <p:nvSpPr>
          <p:cNvPr id="33" name="Text 31"/>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548640" y="457200"/>
            <a:ext cx="3291840" cy="310896"/>
          </a:xfrm>
          <a:prstGeom prst="roundRect">
            <a:avLst>
              <a:gd name="adj" fmla="val 50000"/>
            </a:avLst>
          </a:prstGeom>
          <a:solidFill>
            <a:srgbClr val="FB7185"/>
          </a:solidFill>
          <a:ln/>
        </p:spPr>
      </p:sp>
      <p:sp>
        <p:nvSpPr>
          <p:cNvPr id="3" name="Text 1"/>
          <p:cNvSpPr/>
          <p:nvPr/>
        </p:nvSpPr>
        <p:spPr>
          <a:xfrm>
            <a:off x="548640" y="457200"/>
            <a:ext cx="32918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LIVE CODE  -  SWITCH TO VS CODE</a:t>
            </a:r>
            <a:endParaRPr lang="en-US" sz="1100" dirty="0"/>
          </a:p>
        </p:txBody>
      </p:sp>
      <p:sp>
        <p:nvSpPr>
          <p:cNvPr id="4" name="Text 2"/>
          <p:cNvSpPr/>
          <p:nvPr/>
        </p:nvSpPr>
        <p:spPr>
          <a:xfrm>
            <a:off x="548640" y="896112"/>
            <a:ext cx="1097280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Your first line of JavaScript</a:t>
            </a:r>
            <a:endParaRPr lang="en-US" sz="3000" dirty="0"/>
          </a:p>
        </p:txBody>
      </p:sp>
      <p:sp>
        <p:nvSpPr>
          <p:cNvPr id="5" name="Shape 3"/>
          <p:cNvSpPr/>
          <p:nvPr/>
        </p:nvSpPr>
        <p:spPr>
          <a:xfrm>
            <a:off x="548640" y="1691640"/>
            <a:ext cx="6766560" cy="4480560"/>
          </a:xfrm>
          <a:prstGeom prst="roundRect">
            <a:avLst>
              <a:gd name="adj" fmla="val 2449"/>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1911096"/>
            <a:ext cx="128016" cy="128016"/>
          </a:xfrm>
          <a:prstGeom prst="ellipse">
            <a:avLst/>
          </a:prstGeom>
          <a:solidFill>
            <a:srgbClr val="FF5F56"/>
          </a:solidFill>
          <a:ln/>
        </p:spPr>
      </p:sp>
      <p:sp>
        <p:nvSpPr>
          <p:cNvPr id="7" name="Shape 5"/>
          <p:cNvSpPr/>
          <p:nvPr/>
        </p:nvSpPr>
        <p:spPr>
          <a:xfrm>
            <a:off x="1042416" y="1911096"/>
            <a:ext cx="128016" cy="128016"/>
          </a:xfrm>
          <a:prstGeom prst="ellipse">
            <a:avLst/>
          </a:prstGeom>
          <a:solidFill>
            <a:srgbClr val="FFBD2E"/>
          </a:solidFill>
          <a:ln/>
        </p:spPr>
      </p:sp>
      <p:sp>
        <p:nvSpPr>
          <p:cNvPr id="8" name="Shape 6"/>
          <p:cNvSpPr/>
          <p:nvPr/>
        </p:nvSpPr>
        <p:spPr>
          <a:xfrm>
            <a:off x="1280160" y="1911096"/>
            <a:ext cx="128016" cy="128016"/>
          </a:xfrm>
          <a:prstGeom prst="ellipse">
            <a:avLst/>
          </a:prstGeom>
          <a:solidFill>
            <a:srgbClr val="27C93F"/>
          </a:solidFill>
          <a:ln/>
        </p:spPr>
      </p:sp>
      <p:sp>
        <p:nvSpPr>
          <p:cNvPr id="9" name="Text 7"/>
          <p:cNvSpPr/>
          <p:nvPr/>
        </p:nvSpPr>
        <p:spPr>
          <a:xfrm>
            <a:off x="1645920" y="1801368"/>
            <a:ext cx="54864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browser console</a:t>
            </a:r>
            <a:endParaRPr lang="en-US" sz="1100" dirty="0"/>
          </a:p>
        </p:txBody>
      </p:sp>
      <p:sp>
        <p:nvSpPr>
          <p:cNvPr id="10" name="Text 8"/>
          <p:cNvSpPr/>
          <p:nvPr/>
        </p:nvSpPr>
        <p:spPr>
          <a:xfrm>
            <a:off x="804672" y="2221992"/>
            <a:ext cx="6254496" cy="3767328"/>
          </a:xfrm>
          <a:prstGeom prst="rect">
            <a:avLst/>
          </a:prstGeom>
          <a:noFill/>
          <a:ln/>
        </p:spPr>
        <p:txBody>
          <a:bodyPr wrap="square" lIns="0" tIns="0" rIns="0" bIns="0" rtlCol="0" anchor="t"/>
          <a:lstStyle/>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"Hello"</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var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"Scaler"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7498080" y="1691640"/>
            <a:ext cx="4160520" cy="4480560"/>
          </a:xfrm>
          <a:prstGeom prst="roundRect">
            <a:avLst>
              <a:gd name="adj" fmla="val 2637"/>
            </a:avLst>
          </a:prstGeom>
          <a:solidFill>
            <a:srgbClr val="1B2A4A"/>
          </a:solidFill>
          <a:ln/>
        </p:spPr>
      </p:sp>
      <p:sp>
        <p:nvSpPr>
          <p:cNvPr id="12" name="Text 10"/>
          <p:cNvSpPr/>
          <p:nvPr/>
        </p:nvSpPr>
        <p:spPr>
          <a:xfrm>
            <a:off x="7726680" y="1874520"/>
            <a:ext cx="3749040" cy="320040"/>
          </a:xfrm>
          <a:prstGeom prst="rect">
            <a:avLst/>
          </a:prstGeom>
          <a:noFill/>
          <a:ln/>
        </p:spPr>
        <p:txBody>
          <a:bodyPr wrap="square" lIns="0" tIns="0" rIns="0" bIns="0" rtlCol="0" anchor="ctr"/>
          <a:lstStyle/>
          <a:p>
            <a:pPr algn="l" indent="0" marL="0">
              <a:buNone/>
            </a:pPr>
            <a:r>
              <a:rPr lang="en-US" sz="1200" b="1" spc="150" kern="0" dirty="0">
                <a:solidFill>
                  <a:srgbClr val="F59E0B"/>
                </a:solidFill>
                <a:latin typeface="Calibri" pitchFamily="34" charset="0"/>
                <a:ea typeface="Calibri" pitchFamily="34" charset="-122"/>
                <a:cs typeface="Calibri" pitchFamily="34" charset="-120"/>
              </a:rPr>
              <a:t>SAY THIS WHILE YOU TYPE</a:t>
            </a:r>
            <a:endParaRPr lang="en-US" sz="1200" dirty="0"/>
          </a:p>
        </p:txBody>
      </p:sp>
      <p:sp>
        <p:nvSpPr>
          <p:cNvPr id="13" name="Text 11"/>
          <p:cNvSpPr/>
          <p:nvPr/>
        </p:nvSpPr>
        <p:spPr>
          <a:xfrm>
            <a:off x="7726680" y="2286000"/>
            <a:ext cx="3794760" cy="3749040"/>
          </a:xfrm>
          <a:prstGeom prst="rect">
            <a:avLst/>
          </a:prstGeom>
          <a:noFill/>
          <a:ln/>
        </p:spPr>
        <p:txBody>
          <a:bodyPr wrap="square" lIns="0" tIns="0" rIns="0" bIns="0" rtlCol="0" anchor="t"/>
          <a:lstStyle/>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Right click anywhere on a page and choose Inspect.</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Open the Console tab. This is a live JavaScript prompt.</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console.log prints things out. Same idea as print in any language.</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In Java you would write System.out.println. This is that.</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Type it, press Enter, and the value comes straight back.</a:t>
            </a:r>
            <a:endParaRPr lang="en-US" sz="1350" dirty="0"/>
          </a:p>
        </p:txBody>
      </p:sp>
      <p:sp>
        <p:nvSpPr>
          <p:cNvPr id="14" name="Text 1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Introduction to JavaScript</a:t>
            </a:r>
            <a:endParaRPr lang="en-US" sz="1000" dirty="0"/>
          </a:p>
        </p:txBody>
      </p:sp>
      <p:sp>
        <p:nvSpPr>
          <p:cNvPr id="15" name="Text 1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600200" cy="310896"/>
          </a:xfrm>
          <a:prstGeom prst="roundRect">
            <a:avLst>
              <a:gd name="adj" fmla="val 50000"/>
            </a:avLst>
          </a:prstGeom>
          <a:solidFill>
            <a:srgbClr val="2563EB"/>
          </a:solidFill>
          <a:ln/>
        </p:spPr>
      </p:sp>
      <p:sp>
        <p:nvSpPr>
          <p:cNvPr id="3" name="Text 1"/>
          <p:cNvSpPr/>
          <p:nvPr/>
        </p:nvSpPr>
        <p:spPr>
          <a:xfrm>
            <a:off x="548640" y="457200"/>
            <a:ext cx="16002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THE SCRIPT TAG</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From console to a real file</a:t>
            </a:r>
            <a:endParaRPr lang="en-US" sz="3400" dirty="0"/>
          </a:p>
        </p:txBody>
      </p:sp>
      <p:sp>
        <p:nvSpPr>
          <p:cNvPr id="5" name="Shape 3"/>
          <p:cNvSpPr/>
          <p:nvPr/>
        </p:nvSpPr>
        <p:spPr>
          <a:xfrm>
            <a:off x="548640" y="1965960"/>
            <a:ext cx="5760720" cy="3154680"/>
          </a:xfrm>
          <a:prstGeom prst="roundRect">
            <a:avLst>
              <a:gd name="adj" fmla="val 3478"/>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2185416"/>
            <a:ext cx="128016" cy="128016"/>
          </a:xfrm>
          <a:prstGeom prst="ellipse">
            <a:avLst/>
          </a:prstGeom>
          <a:solidFill>
            <a:srgbClr val="FF5F56"/>
          </a:solidFill>
          <a:ln/>
        </p:spPr>
      </p:sp>
      <p:sp>
        <p:nvSpPr>
          <p:cNvPr id="7" name="Shape 5"/>
          <p:cNvSpPr/>
          <p:nvPr/>
        </p:nvSpPr>
        <p:spPr>
          <a:xfrm>
            <a:off x="1042416" y="2185416"/>
            <a:ext cx="128016" cy="128016"/>
          </a:xfrm>
          <a:prstGeom prst="ellipse">
            <a:avLst/>
          </a:prstGeom>
          <a:solidFill>
            <a:srgbClr val="FFBD2E"/>
          </a:solidFill>
          <a:ln/>
        </p:spPr>
      </p:sp>
      <p:sp>
        <p:nvSpPr>
          <p:cNvPr id="8" name="Shape 6"/>
          <p:cNvSpPr/>
          <p:nvPr/>
        </p:nvSpPr>
        <p:spPr>
          <a:xfrm>
            <a:off x="1280160" y="2185416"/>
            <a:ext cx="128016" cy="128016"/>
          </a:xfrm>
          <a:prstGeom prst="ellipse">
            <a:avLst/>
          </a:prstGeom>
          <a:solidFill>
            <a:srgbClr val="27C93F"/>
          </a:solidFill>
          <a:ln/>
        </p:spPr>
      </p:sp>
      <p:sp>
        <p:nvSpPr>
          <p:cNvPr id="9" name="Text 7"/>
          <p:cNvSpPr/>
          <p:nvPr/>
        </p:nvSpPr>
        <p:spPr>
          <a:xfrm>
            <a:off x="1645920" y="2075688"/>
            <a:ext cx="448056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intro.html</a:t>
            </a:r>
            <a:endParaRPr lang="en-US" sz="1100" dirty="0"/>
          </a:p>
        </p:txBody>
      </p:sp>
      <p:sp>
        <p:nvSpPr>
          <p:cNvPr id="10" name="Text 8"/>
          <p:cNvSpPr/>
          <p:nvPr/>
        </p:nvSpPr>
        <p:spPr>
          <a:xfrm>
            <a:off x="804672" y="2496312"/>
            <a:ext cx="5248656" cy="2441448"/>
          </a:xfrm>
          <a:prstGeom prst="rect">
            <a:avLst/>
          </a:prstGeom>
          <a:noFill/>
          <a:ln/>
        </p:spPr>
        <p:txBody>
          <a:bodyPr wrap="square" lIns="0" tIns="0" rIns="0" bIns="0" rtlCol="0" anchor="t"/>
          <a:lstStyle/>
          <a:p>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&lt;body</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&gt;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&lt;h1</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&gt;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My</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page</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&lt;/h1</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&gt;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&lt;script</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&gt;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FDBA74"/>
                </a:solidFill>
                <a:latin typeface="Courier New" pitchFamily="34" charset="0"/>
                <a:ea typeface="Courier New" pitchFamily="34" charset="-122"/>
                <a:cs typeface="Courier New" pitchFamily="34" charset="-120"/>
              </a:rPr>
              <a:t>'Hello World'</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&lt;/script</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&gt;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&lt;/body</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&gt;</a:t>
            </a:r>
            <a:endParaRPr lang="en-US" sz="1200" dirty="0"/>
          </a:p>
        </p:txBody>
      </p:sp>
      <p:sp>
        <p:nvSpPr>
          <p:cNvPr id="11" name="Shape 9"/>
          <p:cNvSpPr/>
          <p:nvPr/>
        </p:nvSpPr>
        <p:spPr>
          <a:xfrm>
            <a:off x="548640" y="5257800"/>
            <a:ext cx="5760720" cy="960120"/>
          </a:xfrm>
          <a:prstGeom prst="roundRect">
            <a:avLst>
              <a:gd name="adj" fmla="val 11429"/>
            </a:avLst>
          </a:prstGeom>
          <a:solidFill>
            <a:srgbClr val="E5EEFF"/>
          </a:solidFill>
          <a:ln/>
          <a:effectLst>
            <a:outerShdw sx="100000" sy="100000" kx="0" ky="0" algn="bl" rotWithShape="0" blurRad="101600" dist="38100" dir="5400000">
              <a:srgbClr val="0B1220">
                <a:alpha val="18000"/>
              </a:srgbClr>
            </a:outerShdw>
          </a:effectLst>
        </p:spPr>
      </p:sp>
      <p:sp>
        <p:nvSpPr>
          <p:cNvPr id="12" name="Text 10"/>
          <p:cNvSpPr/>
          <p:nvPr/>
        </p:nvSpPr>
        <p:spPr>
          <a:xfrm>
            <a:off x="822960" y="5257800"/>
            <a:ext cx="5257800" cy="960120"/>
          </a:xfrm>
          <a:prstGeom prst="rect">
            <a:avLst/>
          </a:prstGeom>
          <a:noFill/>
          <a:ln/>
        </p:spPr>
        <p:txBody>
          <a:bodyPr wrap="square" lIns="0" tIns="0" rIns="0" bIns="0" rtlCol="0" anchor="ctr"/>
          <a:lstStyle/>
          <a:p>
            <a:pPr algn="l" indent="0" marL="0">
              <a:buNone/>
            </a:pPr>
            <a:r>
              <a:rPr lang="en-US" sz="1350" dirty="0">
                <a:solidFill>
                  <a:srgbClr val="0F172A"/>
                </a:solidFill>
                <a:latin typeface="Calibri" pitchFamily="34" charset="0"/>
                <a:ea typeface="Calibri" pitchFamily="34" charset="-122"/>
                <a:cs typeface="Calibri" pitchFamily="34" charset="-120"/>
              </a:rPr>
              <a:t>CSS goes in the head with &lt;style&gt;. JavaScript goes at the end of the body with &lt;script&gt;.</a:t>
            </a:r>
            <a:endParaRPr lang="en-US" sz="1350" dirty="0"/>
          </a:p>
        </p:txBody>
      </p:sp>
      <p:sp>
        <p:nvSpPr>
          <p:cNvPr id="13" name="Shape 11"/>
          <p:cNvSpPr/>
          <p:nvPr/>
        </p:nvSpPr>
        <p:spPr>
          <a:xfrm>
            <a:off x="6583680" y="1965960"/>
            <a:ext cx="5074920" cy="4251960"/>
          </a:xfrm>
          <a:prstGeom prst="roundRect">
            <a:avLst>
              <a:gd name="adj" fmla="val 2581"/>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4" name="Text 12"/>
          <p:cNvSpPr/>
          <p:nvPr/>
        </p:nvSpPr>
        <p:spPr>
          <a:xfrm>
            <a:off x="6858000" y="2176272"/>
            <a:ext cx="4572000" cy="365760"/>
          </a:xfrm>
          <a:prstGeom prst="rect">
            <a:avLst/>
          </a:prstGeom>
          <a:noFill/>
          <a:ln/>
        </p:spPr>
        <p:txBody>
          <a:bodyPr wrap="square" lIns="0" tIns="0" rIns="0" bIns="0" rtlCol="0" anchor="ctr"/>
          <a:lstStyle/>
          <a:p>
            <a:pPr algn="l" indent="0" marL="0">
              <a:buNone/>
            </a:pPr>
            <a:r>
              <a:rPr lang="en-US" sz="1650" b="1" dirty="0">
                <a:solidFill>
                  <a:srgbClr val="0F172A"/>
                </a:solidFill>
                <a:latin typeface="Calibri" pitchFamily="34" charset="0"/>
                <a:ea typeface="Calibri" pitchFamily="34" charset="-122"/>
                <a:cs typeface="Calibri" pitchFamily="34" charset="-120"/>
              </a:rPr>
              <a:t>Why at the end of the body?</a:t>
            </a:r>
            <a:endParaRPr lang="en-US" sz="1650" dirty="0"/>
          </a:p>
        </p:txBody>
      </p:sp>
      <p:sp>
        <p:nvSpPr>
          <p:cNvPr id="15" name="Text 13"/>
          <p:cNvSpPr/>
          <p:nvPr/>
        </p:nvSpPr>
        <p:spPr>
          <a:xfrm>
            <a:off x="6858000" y="2670048"/>
            <a:ext cx="4572000" cy="256032"/>
          </a:xfrm>
          <a:prstGeom prst="rect">
            <a:avLst/>
          </a:prstGeom>
          <a:noFill/>
          <a:ln/>
        </p:spPr>
        <p:txBody>
          <a:bodyPr wrap="square" lIns="0" tIns="0" rIns="0" bIns="0" rtlCol="0" anchor="ctr"/>
          <a:lstStyle/>
          <a:p>
            <a:pPr algn="l" indent="0" marL="0">
              <a:buNone/>
            </a:pPr>
            <a:r>
              <a:rPr lang="en-US" sz="1150" b="1" spc="80" kern="0" dirty="0">
                <a:solidFill>
                  <a:srgbClr val="FB7185"/>
                </a:solidFill>
                <a:latin typeface="Calibri" pitchFamily="34" charset="0"/>
                <a:ea typeface="Calibri" pitchFamily="34" charset="-122"/>
                <a:cs typeface="Calibri" pitchFamily="34" charset="-120"/>
              </a:rPr>
              <a:t>script at the top</a:t>
            </a:r>
            <a:endParaRPr lang="en-US" sz="1150" dirty="0"/>
          </a:p>
        </p:txBody>
      </p:sp>
      <p:sp>
        <p:nvSpPr>
          <p:cNvPr id="16" name="Shape 14"/>
          <p:cNvSpPr/>
          <p:nvPr/>
        </p:nvSpPr>
        <p:spPr>
          <a:xfrm>
            <a:off x="6858000" y="2971800"/>
            <a:ext cx="2011680" cy="384048"/>
          </a:xfrm>
          <a:prstGeom prst="roundRect">
            <a:avLst>
              <a:gd name="adj" fmla="val 14286"/>
            </a:avLst>
          </a:prstGeom>
          <a:solidFill>
            <a:srgbClr val="FB7185"/>
          </a:solidFill>
          <a:ln/>
        </p:spPr>
      </p:sp>
      <p:sp>
        <p:nvSpPr>
          <p:cNvPr id="17" name="Text 15"/>
          <p:cNvSpPr/>
          <p:nvPr/>
        </p:nvSpPr>
        <p:spPr>
          <a:xfrm>
            <a:off x="6858000" y="2971800"/>
            <a:ext cx="201168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JS runs</a:t>
            </a:r>
            <a:endParaRPr lang="en-US" sz="1050" dirty="0"/>
          </a:p>
        </p:txBody>
      </p:sp>
      <p:sp>
        <p:nvSpPr>
          <p:cNvPr id="18" name="Shape 16"/>
          <p:cNvSpPr/>
          <p:nvPr/>
        </p:nvSpPr>
        <p:spPr>
          <a:xfrm>
            <a:off x="8942832" y="2971800"/>
            <a:ext cx="2423160" cy="384048"/>
          </a:xfrm>
          <a:prstGeom prst="roundRect">
            <a:avLst>
              <a:gd name="adj" fmla="val 14286"/>
            </a:avLst>
          </a:prstGeom>
          <a:solidFill>
            <a:srgbClr val="F1F5F9"/>
          </a:solidFill>
          <a:ln/>
        </p:spPr>
      </p:sp>
      <p:sp>
        <p:nvSpPr>
          <p:cNvPr id="19" name="Text 17"/>
          <p:cNvSpPr/>
          <p:nvPr/>
        </p:nvSpPr>
        <p:spPr>
          <a:xfrm>
            <a:off x="8942832" y="2971800"/>
            <a:ext cx="2423160" cy="384048"/>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page appears</a:t>
            </a:r>
            <a:endParaRPr lang="en-US" sz="1050" dirty="0"/>
          </a:p>
        </p:txBody>
      </p:sp>
      <p:sp>
        <p:nvSpPr>
          <p:cNvPr id="20" name="Text 18"/>
          <p:cNvSpPr/>
          <p:nvPr/>
        </p:nvSpPr>
        <p:spPr>
          <a:xfrm>
            <a:off x="6858000" y="3429000"/>
            <a:ext cx="4572000" cy="274320"/>
          </a:xfrm>
          <a:prstGeom prst="rect">
            <a:avLst/>
          </a:prstGeom>
          <a:noFill/>
          <a:ln/>
        </p:spPr>
        <p:txBody>
          <a:bodyPr wrap="square" lIns="0" tIns="0" rIns="0" bIns="0" rtlCol="0" anchor="ctr"/>
          <a:lstStyle/>
          <a:p>
            <a:pPr algn="l" indent="0" marL="0">
              <a:buNone/>
            </a:pPr>
            <a:r>
              <a:rPr lang="en-US" sz="1100" i="1" dirty="0">
                <a:solidFill>
                  <a:srgbClr val="FB7185"/>
                </a:solidFill>
                <a:latin typeface="Calibri" pitchFamily="34" charset="0"/>
                <a:ea typeface="Calibri" pitchFamily="34" charset="-122"/>
                <a:cs typeface="Calibri" pitchFamily="34" charset="-120"/>
              </a:rPr>
              <a:t>user stares at a blank screen first</a:t>
            </a:r>
            <a:endParaRPr lang="en-US" sz="1100" dirty="0"/>
          </a:p>
        </p:txBody>
      </p:sp>
      <p:sp>
        <p:nvSpPr>
          <p:cNvPr id="21" name="Text 19"/>
          <p:cNvSpPr/>
          <p:nvPr/>
        </p:nvSpPr>
        <p:spPr>
          <a:xfrm>
            <a:off x="6858000" y="3886200"/>
            <a:ext cx="4572000" cy="256032"/>
          </a:xfrm>
          <a:prstGeom prst="rect">
            <a:avLst/>
          </a:prstGeom>
          <a:noFill/>
          <a:ln/>
        </p:spPr>
        <p:txBody>
          <a:bodyPr wrap="square" lIns="0" tIns="0" rIns="0" bIns="0" rtlCol="0" anchor="ctr"/>
          <a:lstStyle/>
          <a:p>
            <a:pPr algn="l" indent="0" marL="0">
              <a:buNone/>
            </a:pPr>
            <a:r>
              <a:rPr lang="en-US" sz="1150" b="1" spc="80" kern="0" dirty="0">
                <a:solidFill>
                  <a:srgbClr val="22C55E"/>
                </a:solidFill>
                <a:latin typeface="Calibri" pitchFamily="34" charset="0"/>
                <a:ea typeface="Calibri" pitchFamily="34" charset="-122"/>
                <a:cs typeface="Calibri" pitchFamily="34" charset="-120"/>
              </a:rPr>
              <a:t>script at the end</a:t>
            </a:r>
            <a:endParaRPr lang="en-US" sz="1150" dirty="0"/>
          </a:p>
        </p:txBody>
      </p:sp>
      <p:sp>
        <p:nvSpPr>
          <p:cNvPr id="22" name="Shape 20"/>
          <p:cNvSpPr/>
          <p:nvPr/>
        </p:nvSpPr>
        <p:spPr>
          <a:xfrm>
            <a:off x="6858000" y="4187952"/>
            <a:ext cx="2423160" cy="384048"/>
          </a:xfrm>
          <a:prstGeom prst="roundRect">
            <a:avLst>
              <a:gd name="adj" fmla="val 14286"/>
            </a:avLst>
          </a:prstGeom>
          <a:solidFill>
            <a:srgbClr val="22C55E"/>
          </a:solidFill>
          <a:ln/>
        </p:spPr>
      </p:sp>
      <p:sp>
        <p:nvSpPr>
          <p:cNvPr id="23" name="Text 21"/>
          <p:cNvSpPr/>
          <p:nvPr/>
        </p:nvSpPr>
        <p:spPr>
          <a:xfrm>
            <a:off x="6858000" y="4187952"/>
            <a:ext cx="242316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page appears</a:t>
            </a:r>
            <a:endParaRPr lang="en-US" sz="1050" dirty="0"/>
          </a:p>
        </p:txBody>
      </p:sp>
      <p:sp>
        <p:nvSpPr>
          <p:cNvPr id="24" name="Shape 22"/>
          <p:cNvSpPr/>
          <p:nvPr/>
        </p:nvSpPr>
        <p:spPr>
          <a:xfrm>
            <a:off x="9354312" y="4187952"/>
            <a:ext cx="2011680" cy="384048"/>
          </a:xfrm>
          <a:prstGeom prst="roundRect">
            <a:avLst>
              <a:gd name="adj" fmla="val 14286"/>
            </a:avLst>
          </a:prstGeom>
          <a:solidFill>
            <a:srgbClr val="F1F5F9"/>
          </a:solidFill>
          <a:ln/>
        </p:spPr>
      </p:sp>
      <p:sp>
        <p:nvSpPr>
          <p:cNvPr id="25" name="Text 23"/>
          <p:cNvSpPr/>
          <p:nvPr/>
        </p:nvSpPr>
        <p:spPr>
          <a:xfrm>
            <a:off x="9354312" y="4187952"/>
            <a:ext cx="2011680" cy="384048"/>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JS runs</a:t>
            </a:r>
            <a:endParaRPr lang="en-US" sz="1050" dirty="0"/>
          </a:p>
        </p:txBody>
      </p:sp>
      <p:sp>
        <p:nvSpPr>
          <p:cNvPr id="26" name="Text 24"/>
          <p:cNvSpPr/>
          <p:nvPr/>
        </p:nvSpPr>
        <p:spPr>
          <a:xfrm>
            <a:off x="6858000" y="4645152"/>
            <a:ext cx="4572000" cy="274320"/>
          </a:xfrm>
          <a:prstGeom prst="rect">
            <a:avLst/>
          </a:prstGeom>
          <a:noFill/>
          <a:ln/>
        </p:spPr>
        <p:txBody>
          <a:bodyPr wrap="square" lIns="0" tIns="0" rIns="0" bIns="0" rtlCol="0" anchor="ctr"/>
          <a:lstStyle/>
          <a:p>
            <a:pPr algn="l" indent="0" marL="0">
              <a:buNone/>
            </a:pPr>
            <a:r>
              <a:rPr lang="en-US" sz="1100" i="1" dirty="0">
                <a:solidFill>
                  <a:srgbClr val="22C55E"/>
                </a:solidFill>
                <a:latin typeface="Calibri" pitchFamily="34" charset="0"/>
                <a:ea typeface="Calibri" pitchFamily="34" charset="-122"/>
                <a:cs typeface="Calibri" pitchFamily="34" charset="-120"/>
              </a:rPr>
              <a:t>content shows first, so the page feels faster</a:t>
            </a:r>
            <a:endParaRPr lang="en-US" sz="1100" dirty="0"/>
          </a:p>
        </p:txBody>
      </p:sp>
      <p:sp>
        <p:nvSpPr>
          <p:cNvPr id="27" name="Shape 25"/>
          <p:cNvSpPr/>
          <p:nvPr/>
        </p:nvSpPr>
        <p:spPr>
          <a:xfrm>
            <a:off x="6858000" y="5029200"/>
            <a:ext cx="4572000" cy="960120"/>
          </a:xfrm>
          <a:prstGeom prst="roundRect">
            <a:avLst>
              <a:gd name="adj" fmla="val 11429"/>
            </a:avLst>
          </a:prstGeom>
          <a:solidFill>
            <a:srgbClr val="E5EEFF"/>
          </a:solidFill>
          <a:ln/>
        </p:spPr>
      </p:sp>
      <p:sp>
        <p:nvSpPr>
          <p:cNvPr id="28" name="Shape 26"/>
          <p:cNvSpPr/>
          <p:nvPr/>
        </p:nvSpPr>
        <p:spPr>
          <a:xfrm>
            <a:off x="7059168" y="5381244"/>
            <a:ext cx="256032" cy="256032"/>
          </a:xfrm>
          <a:prstGeom prst="ellipse">
            <a:avLst/>
          </a:prstGeom>
          <a:solidFill>
            <a:srgbClr val="2563EB"/>
          </a:solidFill>
          <a:ln/>
        </p:spPr>
      </p:sp>
      <p:sp>
        <p:nvSpPr>
          <p:cNvPr id="29" name="Text 27"/>
          <p:cNvSpPr/>
          <p:nvPr/>
        </p:nvSpPr>
        <p:spPr>
          <a:xfrm>
            <a:off x="7516368" y="5029200"/>
            <a:ext cx="3703320" cy="960120"/>
          </a:xfrm>
          <a:prstGeom prst="rect">
            <a:avLst/>
          </a:prstGeom>
          <a:noFill/>
          <a:ln/>
        </p:spPr>
        <p:txBody>
          <a:bodyPr wrap="square" lIns="0" tIns="0" rIns="0" bIns="0" rtlCol="0" anchor="ctr"/>
          <a:lstStyle/>
          <a:p>
            <a:pPr algn="l" indent="0" marL="0">
              <a:buNone/>
            </a:pPr>
            <a:r>
              <a:rPr lang="en-US" sz="1400" dirty="0">
                <a:solidFill>
                  <a:srgbClr val="0F172A"/>
                </a:solidFill>
                <a:latin typeface="Calibri" pitchFamily="34" charset="0"/>
                <a:ea typeface="Calibri" pitchFamily="34" charset="-122"/>
                <a:cs typeface="Calibri" pitchFamily="34" charset="-120"/>
              </a:rPr>
              <a:t>We come back to the full reason later in the module.</a:t>
            </a:r>
            <a:endParaRPr lang="en-US" sz="1400" dirty="0"/>
          </a:p>
        </p:txBody>
      </p:sp>
      <p:sp>
        <p:nvSpPr>
          <p:cNvPr id="30" name="Text 28"/>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2080260" cy="310896"/>
          </a:xfrm>
          <a:prstGeom prst="roundRect">
            <a:avLst>
              <a:gd name="adj" fmla="val 50000"/>
            </a:avLst>
          </a:prstGeom>
          <a:solidFill>
            <a:srgbClr val="2563EB"/>
          </a:solidFill>
          <a:ln/>
        </p:spPr>
      </p:sp>
      <p:sp>
        <p:nvSpPr>
          <p:cNvPr id="3" name="Text 1"/>
          <p:cNvSpPr/>
          <p:nvPr/>
        </p:nvSpPr>
        <p:spPr>
          <a:xfrm>
            <a:off x="548640" y="457200"/>
            <a:ext cx="20802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EXTERNAL JAVASCRIPT</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Move it into its own file</a:t>
            </a:r>
            <a:endParaRPr lang="en-US" sz="3400" dirty="0"/>
          </a:p>
        </p:txBody>
      </p:sp>
      <p:sp>
        <p:nvSpPr>
          <p:cNvPr id="5" name="Shape 3"/>
          <p:cNvSpPr/>
          <p:nvPr/>
        </p:nvSpPr>
        <p:spPr>
          <a:xfrm>
            <a:off x="548640" y="1965960"/>
            <a:ext cx="5440680" cy="2011680"/>
          </a:xfrm>
          <a:prstGeom prst="roundRect">
            <a:avLst>
              <a:gd name="adj" fmla="val 5455"/>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2185416"/>
            <a:ext cx="128016" cy="128016"/>
          </a:xfrm>
          <a:prstGeom prst="ellipse">
            <a:avLst/>
          </a:prstGeom>
          <a:solidFill>
            <a:srgbClr val="FF5F56"/>
          </a:solidFill>
          <a:ln/>
        </p:spPr>
      </p:sp>
      <p:sp>
        <p:nvSpPr>
          <p:cNvPr id="7" name="Shape 5"/>
          <p:cNvSpPr/>
          <p:nvPr/>
        </p:nvSpPr>
        <p:spPr>
          <a:xfrm>
            <a:off x="1042416" y="2185416"/>
            <a:ext cx="128016" cy="128016"/>
          </a:xfrm>
          <a:prstGeom prst="ellipse">
            <a:avLst/>
          </a:prstGeom>
          <a:solidFill>
            <a:srgbClr val="FFBD2E"/>
          </a:solidFill>
          <a:ln/>
        </p:spPr>
      </p:sp>
      <p:sp>
        <p:nvSpPr>
          <p:cNvPr id="8" name="Shape 6"/>
          <p:cNvSpPr/>
          <p:nvPr/>
        </p:nvSpPr>
        <p:spPr>
          <a:xfrm>
            <a:off x="1280160" y="2185416"/>
            <a:ext cx="128016" cy="128016"/>
          </a:xfrm>
          <a:prstGeom prst="ellipse">
            <a:avLst/>
          </a:prstGeom>
          <a:solidFill>
            <a:srgbClr val="27C93F"/>
          </a:solidFill>
          <a:ln/>
        </p:spPr>
      </p:sp>
      <p:sp>
        <p:nvSpPr>
          <p:cNvPr id="9" name="Text 7"/>
          <p:cNvSpPr/>
          <p:nvPr/>
        </p:nvSpPr>
        <p:spPr>
          <a:xfrm>
            <a:off x="1645920" y="2075688"/>
            <a:ext cx="416052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index.js</a:t>
            </a:r>
            <a:endParaRPr lang="en-US" sz="1100" dirty="0"/>
          </a:p>
        </p:txBody>
      </p:sp>
      <p:sp>
        <p:nvSpPr>
          <p:cNvPr id="10" name="Text 8"/>
          <p:cNvSpPr/>
          <p:nvPr/>
        </p:nvSpPr>
        <p:spPr>
          <a:xfrm>
            <a:off x="804672" y="2496312"/>
            <a:ext cx="4928616" cy="1298448"/>
          </a:xfrm>
          <a:prstGeom prst="rect">
            <a:avLst/>
          </a:prstGeom>
          <a:noFill/>
          <a:ln/>
        </p:spPr>
        <p:txBody>
          <a:bodyPr wrap="square" lIns="0" tIns="0" rIns="0" bIns="0" rtlCol="0" anchor="t"/>
          <a:lstStyle/>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FDBA74"/>
                </a:solidFill>
                <a:latin typeface="Courier New" pitchFamily="34" charset="0"/>
                <a:ea typeface="Courier New" pitchFamily="34" charset="-122"/>
                <a:cs typeface="Courier New" pitchFamily="34" charset="-120"/>
              </a:rPr>
              <a:t>"hello from the script file"</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1" name="Shape 9"/>
          <p:cNvSpPr/>
          <p:nvPr/>
        </p:nvSpPr>
        <p:spPr>
          <a:xfrm>
            <a:off x="548640" y="4114800"/>
            <a:ext cx="5440680" cy="2011680"/>
          </a:xfrm>
          <a:prstGeom prst="roundRect">
            <a:avLst>
              <a:gd name="adj" fmla="val 5455"/>
            </a:avLst>
          </a:prstGeom>
          <a:solidFill>
            <a:srgbClr val="0C1526"/>
          </a:solidFill>
          <a:ln/>
          <a:effectLst>
            <a:outerShdw sx="100000" sy="100000" kx="0" ky="0" algn="bl" rotWithShape="0" blurRad="101600" dist="38100" dir="5400000">
              <a:srgbClr val="0B1220">
                <a:alpha val="18000"/>
              </a:srgbClr>
            </a:outerShdw>
          </a:effectLst>
        </p:spPr>
      </p:sp>
      <p:sp>
        <p:nvSpPr>
          <p:cNvPr id="12" name="Shape 10"/>
          <p:cNvSpPr/>
          <p:nvPr/>
        </p:nvSpPr>
        <p:spPr>
          <a:xfrm>
            <a:off x="804672" y="4334256"/>
            <a:ext cx="128016" cy="128016"/>
          </a:xfrm>
          <a:prstGeom prst="ellipse">
            <a:avLst/>
          </a:prstGeom>
          <a:solidFill>
            <a:srgbClr val="FF5F56"/>
          </a:solidFill>
          <a:ln/>
        </p:spPr>
      </p:sp>
      <p:sp>
        <p:nvSpPr>
          <p:cNvPr id="13" name="Shape 11"/>
          <p:cNvSpPr/>
          <p:nvPr/>
        </p:nvSpPr>
        <p:spPr>
          <a:xfrm>
            <a:off x="1042416" y="4334256"/>
            <a:ext cx="128016" cy="128016"/>
          </a:xfrm>
          <a:prstGeom prst="ellipse">
            <a:avLst/>
          </a:prstGeom>
          <a:solidFill>
            <a:srgbClr val="FFBD2E"/>
          </a:solidFill>
          <a:ln/>
        </p:spPr>
      </p:sp>
      <p:sp>
        <p:nvSpPr>
          <p:cNvPr id="14" name="Shape 12"/>
          <p:cNvSpPr/>
          <p:nvPr/>
        </p:nvSpPr>
        <p:spPr>
          <a:xfrm>
            <a:off x="1280160" y="4334256"/>
            <a:ext cx="128016" cy="128016"/>
          </a:xfrm>
          <a:prstGeom prst="ellipse">
            <a:avLst/>
          </a:prstGeom>
          <a:solidFill>
            <a:srgbClr val="27C93F"/>
          </a:solidFill>
          <a:ln/>
        </p:spPr>
      </p:sp>
      <p:sp>
        <p:nvSpPr>
          <p:cNvPr id="15" name="Text 13"/>
          <p:cNvSpPr/>
          <p:nvPr/>
        </p:nvSpPr>
        <p:spPr>
          <a:xfrm>
            <a:off x="1645920" y="4224528"/>
            <a:ext cx="416052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index.html</a:t>
            </a:r>
            <a:endParaRPr lang="en-US" sz="1100" dirty="0"/>
          </a:p>
        </p:txBody>
      </p:sp>
      <p:sp>
        <p:nvSpPr>
          <p:cNvPr id="16" name="Text 14"/>
          <p:cNvSpPr/>
          <p:nvPr/>
        </p:nvSpPr>
        <p:spPr>
          <a:xfrm>
            <a:off x="804672" y="4645152"/>
            <a:ext cx="4928616" cy="1298448"/>
          </a:xfrm>
          <a:prstGeom prst="rect">
            <a:avLst/>
          </a:prstGeom>
          <a:noFill/>
          <a:ln/>
        </p:spPr>
        <p:txBody>
          <a:bodyPr wrap="square" lIns="0" tIns="0" rIns="0" bIns="0" rtlCol="0" anchor="t"/>
          <a:lstStyle/>
          <a:p>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&lt;body</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&gt;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&lt;script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src</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FDBA74"/>
                </a:solidFill>
                <a:latin typeface="Courier New" pitchFamily="34" charset="0"/>
                <a:ea typeface="Courier New" pitchFamily="34" charset="-122"/>
                <a:cs typeface="Courier New" pitchFamily="34" charset="-120"/>
              </a:rPr>
              <a:t>"./index.js"</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&gt;</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&lt;/script</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&gt;</a:t>
            </a:r>
            <a:endParaRPr lang="en-US" sz="1200" dirty="0"/>
          </a:p>
          <a:p>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&lt;/body</a:t>
            </a:r>
            <a:pPr algn="l" indent="0" marL="0">
              <a:lnSpc>
                <a:spcPct val="108000"/>
              </a:lnSpc>
              <a:buNone/>
            </a:pPr>
            <a:r>
              <a:rPr lang="en-US" sz="1200" dirty="0">
                <a:solidFill>
                  <a:srgbClr val="7DD3FC"/>
                </a:solidFill>
                <a:latin typeface="Courier New" pitchFamily="34" charset="0"/>
                <a:ea typeface="Courier New" pitchFamily="34" charset="-122"/>
                <a:cs typeface="Courier New" pitchFamily="34" charset="-120"/>
              </a:rPr>
              <a:t>&gt;</a:t>
            </a:r>
            <a:endParaRPr lang="en-US" sz="1200" dirty="0"/>
          </a:p>
        </p:txBody>
      </p:sp>
      <p:sp>
        <p:nvSpPr>
          <p:cNvPr id="17" name="Shape 15"/>
          <p:cNvSpPr/>
          <p:nvPr/>
        </p:nvSpPr>
        <p:spPr>
          <a:xfrm>
            <a:off x="6126480" y="4023360"/>
            <a:ext cx="384048" cy="0"/>
          </a:xfrm>
          <a:prstGeom prst="line">
            <a:avLst/>
          </a:prstGeom>
          <a:noFill/>
          <a:ln w="31750">
            <a:solidFill>
              <a:srgbClr val="2563EB"/>
            </a:solidFill>
            <a:prstDash val="solid"/>
            <a:tailEnd type="triangle"/>
          </a:ln>
        </p:spPr>
      </p:sp>
      <p:sp>
        <p:nvSpPr>
          <p:cNvPr id="18" name="Shape 16"/>
          <p:cNvSpPr/>
          <p:nvPr/>
        </p:nvSpPr>
        <p:spPr>
          <a:xfrm>
            <a:off x="6675120" y="1965960"/>
            <a:ext cx="4983480" cy="4160520"/>
          </a:xfrm>
          <a:prstGeom prst="roundRect">
            <a:avLst>
              <a:gd name="adj" fmla="val 2198"/>
            </a:avLst>
          </a:prstGeom>
          <a:solidFill>
            <a:srgbClr val="E8EEF7"/>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9" name="Shape 17"/>
          <p:cNvSpPr/>
          <p:nvPr/>
        </p:nvSpPr>
        <p:spPr>
          <a:xfrm>
            <a:off x="6876288" y="2130552"/>
            <a:ext cx="109728" cy="109728"/>
          </a:xfrm>
          <a:prstGeom prst="ellipse">
            <a:avLst/>
          </a:prstGeom>
          <a:solidFill>
            <a:srgbClr val="FF5F56"/>
          </a:solidFill>
          <a:ln/>
        </p:spPr>
      </p:sp>
      <p:sp>
        <p:nvSpPr>
          <p:cNvPr id="20" name="Shape 18"/>
          <p:cNvSpPr/>
          <p:nvPr/>
        </p:nvSpPr>
        <p:spPr>
          <a:xfrm>
            <a:off x="7077456" y="2130552"/>
            <a:ext cx="109728" cy="109728"/>
          </a:xfrm>
          <a:prstGeom prst="ellipse">
            <a:avLst/>
          </a:prstGeom>
          <a:solidFill>
            <a:srgbClr val="FFBD2E"/>
          </a:solidFill>
          <a:ln/>
        </p:spPr>
      </p:sp>
      <p:sp>
        <p:nvSpPr>
          <p:cNvPr id="21" name="Shape 19"/>
          <p:cNvSpPr/>
          <p:nvPr/>
        </p:nvSpPr>
        <p:spPr>
          <a:xfrm>
            <a:off x="7278624" y="2130552"/>
            <a:ext cx="109728" cy="109728"/>
          </a:xfrm>
          <a:prstGeom prst="ellipse">
            <a:avLst/>
          </a:prstGeom>
          <a:solidFill>
            <a:srgbClr val="27C93F"/>
          </a:solidFill>
          <a:ln/>
        </p:spPr>
      </p:sp>
      <p:sp>
        <p:nvSpPr>
          <p:cNvPr id="22" name="Shape 20"/>
          <p:cNvSpPr/>
          <p:nvPr/>
        </p:nvSpPr>
        <p:spPr>
          <a:xfrm>
            <a:off x="7635240" y="2084832"/>
            <a:ext cx="3749040" cy="237744"/>
          </a:xfrm>
          <a:prstGeom prst="roundRect">
            <a:avLst>
              <a:gd name="adj" fmla="val 50000"/>
            </a:avLst>
          </a:prstGeom>
          <a:solidFill>
            <a:srgbClr val="FFFFFF"/>
          </a:solidFill>
          <a:ln w="12700">
            <a:solidFill>
              <a:srgbClr val="D5DEEC"/>
            </a:solidFill>
            <a:prstDash val="solid"/>
          </a:ln>
        </p:spPr>
      </p:sp>
      <p:sp>
        <p:nvSpPr>
          <p:cNvPr id="23" name="Text 21"/>
          <p:cNvSpPr/>
          <p:nvPr/>
        </p:nvSpPr>
        <p:spPr>
          <a:xfrm>
            <a:off x="7772400" y="2084832"/>
            <a:ext cx="3520440" cy="237744"/>
          </a:xfrm>
          <a:prstGeom prst="rect">
            <a:avLst/>
          </a:prstGeom>
          <a:noFill/>
          <a:ln/>
        </p:spPr>
        <p:txBody>
          <a:bodyPr wrap="square" lIns="0" tIns="0" rIns="0" bIns="0" rtlCol="0" anchor="ctr"/>
          <a:lstStyle/>
          <a:p>
            <a:pPr algn="l" indent="0" marL="0">
              <a:buNone/>
            </a:pPr>
            <a:r>
              <a:rPr lang="en-US" sz="900" dirty="0">
                <a:solidFill>
                  <a:srgbClr val="64748B"/>
                </a:solidFill>
                <a:latin typeface="Courier New" pitchFamily="34" charset="0"/>
                <a:ea typeface="Courier New" pitchFamily="34" charset="-122"/>
                <a:cs typeface="Courier New" pitchFamily="34" charset="-120"/>
              </a:rPr>
              <a:t>index.html</a:t>
            </a:r>
            <a:endParaRPr lang="en-US" sz="900" dirty="0"/>
          </a:p>
        </p:txBody>
      </p:sp>
      <p:sp>
        <p:nvSpPr>
          <p:cNvPr id="24" name="Shape 22"/>
          <p:cNvSpPr/>
          <p:nvPr/>
        </p:nvSpPr>
        <p:spPr>
          <a:xfrm>
            <a:off x="6784848" y="2423160"/>
            <a:ext cx="4764024" cy="3593592"/>
          </a:xfrm>
          <a:prstGeom prst="rect">
            <a:avLst/>
          </a:prstGeom>
          <a:solidFill>
            <a:srgbClr val="FFFFFF"/>
          </a:solidFill>
          <a:ln/>
        </p:spPr>
      </p:sp>
      <p:sp>
        <p:nvSpPr>
          <p:cNvPr id="25" name="Text 23"/>
          <p:cNvSpPr/>
          <p:nvPr/>
        </p:nvSpPr>
        <p:spPr>
          <a:xfrm>
            <a:off x="7059168" y="2651760"/>
            <a:ext cx="4215384" cy="457200"/>
          </a:xfrm>
          <a:prstGeom prst="rect">
            <a:avLst/>
          </a:prstGeom>
          <a:noFill/>
          <a:ln/>
        </p:spPr>
        <p:txBody>
          <a:bodyPr wrap="square" lIns="0" tIns="0" rIns="0" bIns="0" rtlCol="0" anchor="ctr"/>
          <a:lstStyle/>
          <a:p>
            <a:pPr algn="l" indent="0" marL="0">
              <a:buNone/>
            </a:pPr>
            <a:r>
              <a:rPr lang="en-US" sz="2200" b="1" dirty="0">
                <a:solidFill>
                  <a:srgbClr val="000000"/>
                </a:solidFill>
                <a:latin typeface="Times New Roman" pitchFamily="34" charset="0"/>
                <a:ea typeface="Times New Roman" pitchFamily="34" charset="-122"/>
                <a:cs typeface="Times New Roman" pitchFamily="34" charset="-120"/>
              </a:rPr>
              <a:t>My page</a:t>
            </a:r>
            <a:endParaRPr lang="en-US" sz="2200" dirty="0"/>
          </a:p>
        </p:txBody>
      </p:sp>
      <p:sp>
        <p:nvSpPr>
          <p:cNvPr id="26" name="Shape 24"/>
          <p:cNvSpPr/>
          <p:nvPr/>
        </p:nvSpPr>
        <p:spPr>
          <a:xfrm>
            <a:off x="6784848" y="3794760"/>
            <a:ext cx="4764024" cy="2221992"/>
          </a:xfrm>
          <a:prstGeom prst="rect">
            <a:avLst/>
          </a:prstGeom>
          <a:solidFill>
            <a:srgbClr val="F7F7F7"/>
          </a:solidFill>
          <a:ln w="12700">
            <a:solidFill>
              <a:srgbClr val="DDDDDD"/>
            </a:solidFill>
            <a:prstDash val="solid"/>
          </a:ln>
        </p:spPr>
      </p:sp>
      <p:sp>
        <p:nvSpPr>
          <p:cNvPr id="27" name="Text 25"/>
          <p:cNvSpPr/>
          <p:nvPr/>
        </p:nvSpPr>
        <p:spPr>
          <a:xfrm>
            <a:off x="6967728" y="3886200"/>
            <a:ext cx="1828800" cy="274320"/>
          </a:xfrm>
          <a:prstGeom prst="rect">
            <a:avLst/>
          </a:prstGeom>
          <a:noFill/>
          <a:ln/>
        </p:spPr>
        <p:txBody>
          <a:bodyPr wrap="square" lIns="0" tIns="0" rIns="0" bIns="0" rtlCol="0" anchor="ctr"/>
          <a:lstStyle/>
          <a:p>
            <a:pPr algn="l" indent="0" marL="0">
              <a:buNone/>
            </a:pPr>
            <a:r>
              <a:rPr lang="en-US" sz="1050" b="1" dirty="0">
                <a:solidFill>
                  <a:srgbClr val="64748B"/>
                </a:solidFill>
                <a:latin typeface="Calibri" pitchFamily="34" charset="0"/>
                <a:ea typeface="Calibri" pitchFamily="34" charset="-122"/>
                <a:cs typeface="Calibri" pitchFamily="34" charset="-120"/>
              </a:rPr>
              <a:t>Console</a:t>
            </a:r>
            <a:endParaRPr lang="en-US" sz="1050" dirty="0"/>
          </a:p>
        </p:txBody>
      </p:sp>
      <p:sp>
        <p:nvSpPr>
          <p:cNvPr id="28" name="Text 26"/>
          <p:cNvSpPr/>
          <p:nvPr/>
        </p:nvSpPr>
        <p:spPr>
          <a:xfrm>
            <a:off x="7059168" y="4297680"/>
            <a:ext cx="4215384" cy="292608"/>
          </a:xfrm>
          <a:prstGeom prst="rect">
            <a:avLst/>
          </a:prstGeom>
          <a:noFill/>
          <a:ln/>
        </p:spPr>
        <p:txBody>
          <a:bodyPr wrap="square" lIns="0" tIns="0" rIns="0" bIns="0" rtlCol="0" anchor="ctr"/>
          <a:lstStyle/>
          <a:p>
            <a:pPr algn="l" indent="0" marL="0">
              <a:buNone/>
            </a:pPr>
            <a:r>
              <a:rPr lang="en-US" sz="1150" dirty="0">
                <a:solidFill>
                  <a:srgbClr val="111111"/>
                </a:solidFill>
                <a:latin typeface="Courier New" pitchFamily="34" charset="0"/>
                <a:ea typeface="Courier New" pitchFamily="34" charset="-122"/>
                <a:cs typeface="Courier New" pitchFamily="34" charset="-120"/>
              </a:rPr>
              <a:t>hello from the script file</a:t>
            </a:r>
            <a:endParaRPr lang="en-US" sz="1150" dirty="0"/>
          </a:p>
        </p:txBody>
      </p:sp>
      <p:sp>
        <p:nvSpPr>
          <p:cNvPr id="29" name="Text 27"/>
          <p:cNvSpPr/>
          <p:nvPr/>
        </p:nvSpPr>
        <p:spPr>
          <a:xfrm>
            <a:off x="7059168" y="4617720"/>
            <a:ext cx="4215384" cy="274320"/>
          </a:xfrm>
          <a:prstGeom prst="rect">
            <a:avLst/>
          </a:prstGeom>
          <a:noFill/>
          <a:ln/>
        </p:spPr>
        <p:txBody>
          <a:bodyPr wrap="square" lIns="0" tIns="0" rIns="0" bIns="0" rtlCol="0" anchor="ctr"/>
          <a:lstStyle/>
          <a:p>
            <a:pPr algn="r" indent="0" marL="0">
              <a:buNone/>
            </a:pPr>
            <a:r>
              <a:rPr lang="en-US" sz="900" dirty="0">
                <a:solidFill>
                  <a:srgbClr val="64748B"/>
                </a:solidFill>
                <a:latin typeface="Courier New" pitchFamily="34" charset="0"/>
                <a:ea typeface="Courier New" pitchFamily="34" charset="-122"/>
                <a:cs typeface="Courier New" pitchFamily="34" charset="-120"/>
              </a:rPr>
              <a:t>index.js:1</a:t>
            </a:r>
            <a:endParaRPr lang="en-US" sz="900" dirty="0"/>
          </a:p>
        </p:txBody>
      </p:sp>
      <p:sp>
        <p:nvSpPr>
          <p:cNvPr id="30" name="Text 28"/>
          <p:cNvSpPr/>
          <p:nvPr/>
        </p:nvSpPr>
        <p:spPr>
          <a:xfrm>
            <a:off x="6675120" y="6217920"/>
            <a:ext cx="4983480" cy="320040"/>
          </a:xfrm>
          <a:prstGeom prst="rect">
            <a:avLst/>
          </a:prstGeom>
          <a:noFill/>
          <a:ln/>
        </p:spPr>
        <p:txBody>
          <a:bodyPr wrap="square" lIns="0" tIns="0" rIns="0" bIns="0" rtlCol="0" anchor="ctr"/>
          <a:lstStyle/>
          <a:p>
            <a:pPr algn="ctr" indent="0" marL="0">
              <a:buNone/>
            </a:pPr>
            <a:r>
              <a:rPr lang="en-US" sz="1150" i="1" dirty="0">
                <a:solidFill>
                  <a:srgbClr val="64748B"/>
                </a:solidFill>
                <a:latin typeface="Calibri" pitchFamily="34" charset="0"/>
                <a:ea typeface="Calibri" pitchFamily="34" charset="-122"/>
                <a:cs typeface="Calibri" pitchFamily="34" charset="-120"/>
              </a:rPr>
              <a:t>Same idea as linking a stylesheet. Keep behaviour out of your markup.</a:t>
            </a:r>
            <a:endParaRPr lang="en-US" sz="1150" dirty="0"/>
          </a:p>
        </p:txBody>
      </p:sp>
      <p:sp>
        <p:nvSpPr>
          <p:cNvPr id="31" name="Text 29"/>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02</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2</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Node.js</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Taking JavaScript out of the browser.</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NODE.JS</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JavaScript without a browser</a:t>
            </a:r>
            <a:endParaRPr lang="en-US" sz="3400" dirty="0"/>
          </a:p>
        </p:txBody>
      </p:sp>
      <p:sp>
        <p:nvSpPr>
          <p:cNvPr id="5" name="Text 3"/>
          <p:cNvSpPr/>
          <p:nvPr/>
        </p:nvSpPr>
        <p:spPr>
          <a:xfrm>
            <a:off x="548640" y="1828800"/>
            <a:ext cx="11064240" cy="457200"/>
          </a:xfrm>
          <a:prstGeom prst="rect">
            <a:avLst/>
          </a:prstGeom>
          <a:noFill/>
          <a:ln/>
        </p:spPr>
        <p:txBody>
          <a:bodyPr wrap="square" lIns="0" tIns="0" rIns="0" bIns="0" rtlCol="0" anchor="ctr"/>
          <a:lstStyle/>
          <a:p>
            <a:pPr algn="l" indent="0" marL="0">
              <a:buNone/>
            </a:pPr>
            <a:r>
              <a:rPr lang="en-US" sz="1500" dirty="0">
                <a:solidFill>
                  <a:srgbClr val="64748B"/>
                </a:solidFill>
                <a:latin typeface="Calibri" pitchFamily="34" charset="0"/>
                <a:ea typeface="Calibri" pitchFamily="34" charset="-122"/>
                <a:cs typeface="Calibri" pitchFamily="34" charset="-120"/>
              </a:rPr>
              <a:t>JavaScript was built for browsers. Ryan Dahl took the V8 engine out of Chrome and wrapped it so the same language could run anywhere.</a:t>
            </a:r>
            <a:endParaRPr lang="en-US" sz="1500" dirty="0"/>
          </a:p>
        </p:txBody>
      </p:sp>
      <p:sp>
        <p:nvSpPr>
          <p:cNvPr id="6" name="Shape 4"/>
          <p:cNvSpPr/>
          <p:nvPr/>
        </p:nvSpPr>
        <p:spPr>
          <a:xfrm>
            <a:off x="548640" y="2423160"/>
            <a:ext cx="5440680" cy="3108960"/>
          </a:xfrm>
          <a:prstGeom prst="roundRect">
            <a:avLst>
              <a:gd name="adj" fmla="val 3529"/>
            </a:avLst>
          </a:prstGeom>
          <a:solidFill>
            <a:srgbClr val="E5EEFF"/>
          </a:solidFill>
          <a:ln/>
          <a:effectLst>
            <a:outerShdw sx="100000" sy="100000" kx="0" ky="0" algn="bl" rotWithShape="0" blurRad="101600" dist="38100" dir="5400000">
              <a:srgbClr val="0B1220">
                <a:alpha val="18000"/>
              </a:srgbClr>
            </a:outerShdw>
          </a:effectLst>
        </p:spPr>
      </p:sp>
      <p:sp>
        <p:nvSpPr>
          <p:cNvPr id="7" name="Text 5"/>
          <p:cNvSpPr/>
          <p:nvPr/>
        </p:nvSpPr>
        <p:spPr>
          <a:xfrm>
            <a:off x="822960" y="2606040"/>
            <a:ext cx="4892040" cy="274320"/>
          </a:xfrm>
          <a:prstGeom prst="rect">
            <a:avLst/>
          </a:prstGeom>
          <a:noFill/>
          <a:ln/>
        </p:spPr>
        <p:txBody>
          <a:bodyPr wrap="square" lIns="0" tIns="0" rIns="0" bIns="0" rtlCol="0" anchor="ctr"/>
          <a:lstStyle/>
          <a:p>
            <a:pPr algn="l" indent="0" marL="0">
              <a:buNone/>
            </a:pPr>
            <a:r>
              <a:rPr lang="en-US" sz="1150" b="1" spc="120" kern="0" dirty="0">
                <a:solidFill>
                  <a:srgbClr val="2563EB"/>
                </a:solidFill>
                <a:latin typeface="Calibri" pitchFamily="34" charset="0"/>
                <a:ea typeface="Calibri" pitchFamily="34" charset="-122"/>
                <a:cs typeface="Calibri" pitchFamily="34" charset="-120"/>
              </a:rPr>
              <a:t>IN THE BROWSER</a:t>
            </a:r>
            <a:endParaRPr lang="en-US" sz="1150" dirty="0"/>
          </a:p>
        </p:txBody>
      </p:sp>
      <p:sp>
        <p:nvSpPr>
          <p:cNvPr id="8" name="Shape 6"/>
          <p:cNvSpPr/>
          <p:nvPr/>
        </p:nvSpPr>
        <p:spPr>
          <a:xfrm>
            <a:off x="868680" y="3017520"/>
            <a:ext cx="4800600" cy="685800"/>
          </a:xfrm>
          <a:prstGeom prst="roundRect">
            <a:avLst>
              <a:gd name="adj" fmla="val 16000"/>
            </a:avLst>
          </a:prstGeom>
          <a:solidFill>
            <a:srgbClr val="FFFFFF"/>
          </a:solidFill>
          <a:ln/>
          <a:effectLst>
            <a:outerShdw sx="100000" sy="100000" kx="0" ky="0" algn="bl" rotWithShape="0" blurRad="101600" dist="38100" dir="5400000">
              <a:srgbClr val="0B1220">
                <a:alpha val="18000"/>
              </a:srgbClr>
            </a:outerShdw>
          </a:effectLst>
        </p:spPr>
      </p:sp>
      <p:sp>
        <p:nvSpPr>
          <p:cNvPr id="9" name="Text 7"/>
          <p:cNvSpPr/>
          <p:nvPr/>
        </p:nvSpPr>
        <p:spPr>
          <a:xfrm>
            <a:off x="1051560" y="3017520"/>
            <a:ext cx="4434840" cy="685800"/>
          </a:xfrm>
          <a:prstGeom prst="rect">
            <a:avLst/>
          </a:prstGeom>
          <a:noFill/>
          <a:ln/>
        </p:spPr>
        <p:txBody>
          <a:bodyPr wrap="square" lIns="0" tIns="0" rIns="0" bIns="0" rtlCol="0" anchor="ctr"/>
          <a:lstStyle/>
          <a:p>
            <a:pPr algn="l" indent="0" marL="0">
              <a:buNone/>
            </a:pPr>
            <a:r>
              <a:rPr lang="en-US" sz="1400" b="1" dirty="0">
                <a:solidFill>
                  <a:srgbClr val="0F172A"/>
                </a:solidFill>
                <a:latin typeface="Calibri" pitchFamily="34" charset="0"/>
                <a:ea typeface="Calibri" pitchFamily="34" charset="-122"/>
                <a:cs typeface="Calibri" pitchFamily="34" charset="-120"/>
              </a:rPr>
              <a:t>Chrome</a:t>
            </a:r>
            <a:endParaRPr lang="en-US" sz="1400" dirty="0"/>
          </a:p>
        </p:txBody>
      </p:sp>
      <p:sp>
        <p:nvSpPr>
          <p:cNvPr id="10" name="Shape 8"/>
          <p:cNvSpPr/>
          <p:nvPr/>
        </p:nvSpPr>
        <p:spPr>
          <a:xfrm>
            <a:off x="1188720" y="3840480"/>
            <a:ext cx="4160520" cy="685800"/>
          </a:xfrm>
          <a:prstGeom prst="roundRect">
            <a:avLst>
              <a:gd name="adj" fmla="val 16000"/>
            </a:avLst>
          </a:prstGeom>
          <a:solidFill>
            <a:srgbClr val="2563EB"/>
          </a:solidFill>
          <a:ln/>
          <a:effectLst>
            <a:outerShdw sx="100000" sy="100000" kx="0" ky="0" algn="bl" rotWithShape="0" blurRad="101600" dist="38100" dir="5400000">
              <a:srgbClr val="0B1220">
                <a:alpha val="18000"/>
              </a:srgbClr>
            </a:outerShdw>
          </a:effectLst>
        </p:spPr>
      </p:sp>
      <p:sp>
        <p:nvSpPr>
          <p:cNvPr id="11" name="Text 9"/>
          <p:cNvSpPr/>
          <p:nvPr/>
        </p:nvSpPr>
        <p:spPr>
          <a:xfrm>
            <a:off x="1371600" y="3840480"/>
            <a:ext cx="3794760" cy="685800"/>
          </a:xfrm>
          <a:prstGeom prst="rect">
            <a:avLst/>
          </a:prstGeom>
          <a:noFill/>
          <a:ln/>
        </p:spPr>
        <p:txBody>
          <a:bodyPr wrap="square" lIns="0" tIns="0" rIns="0" bIns="0" rtlCol="0" anchor="ctr"/>
          <a:lstStyle/>
          <a:p>
            <a:pPr algn="l" indent="0" marL="0">
              <a:buNone/>
            </a:pPr>
            <a:r>
              <a:rPr lang="en-US" sz="1350" b="1" dirty="0">
                <a:solidFill>
                  <a:srgbClr val="FFFFFF"/>
                </a:solidFill>
                <a:latin typeface="Courier New" pitchFamily="34" charset="0"/>
                <a:ea typeface="Courier New" pitchFamily="34" charset="-122"/>
                <a:cs typeface="Courier New" pitchFamily="34" charset="-120"/>
              </a:rPr>
              <a:t>V8 engine</a:t>
            </a:r>
            <a:endParaRPr lang="en-US" sz="1350" dirty="0"/>
          </a:p>
        </p:txBody>
      </p:sp>
      <p:sp>
        <p:nvSpPr>
          <p:cNvPr id="12" name="Text 10"/>
          <p:cNvSpPr/>
          <p:nvPr/>
        </p:nvSpPr>
        <p:spPr>
          <a:xfrm>
            <a:off x="868680" y="4663440"/>
            <a:ext cx="4800600" cy="365760"/>
          </a:xfrm>
          <a:prstGeom prst="rect">
            <a:avLst/>
          </a:prstGeom>
          <a:noFill/>
          <a:ln/>
        </p:spPr>
        <p:txBody>
          <a:bodyPr wrap="square" lIns="0" tIns="0" rIns="0" bIns="0" rtlCol="0" anchor="ctr"/>
          <a:lstStyle/>
          <a:p>
            <a:pPr algn="l" indent="0" marL="0">
              <a:buNone/>
            </a:pPr>
            <a:r>
              <a:rPr lang="en-US" sz="1250" dirty="0">
                <a:solidFill>
                  <a:srgbClr val="64748B"/>
                </a:solidFill>
                <a:latin typeface="Calibri" pitchFamily="34" charset="0"/>
                <a:ea typeface="Calibri" pitchFamily="34" charset="-122"/>
                <a:cs typeface="Calibri" pitchFamily="34" charset="-120"/>
              </a:rPr>
              <a:t>runs your script.js on a web page</a:t>
            </a:r>
            <a:endParaRPr lang="en-US" sz="1250" dirty="0"/>
          </a:p>
        </p:txBody>
      </p:sp>
      <p:sp>
        <p:nvSpPr>
          <p:cNvPr id="13" name="Text 11"/>
          <p:cNvSpPr/>
          <p:nvPr/>
        </p:nvSpPr>
        <p:spPr>
          <a:xfrm>
            <a:off x="868680" y="5029200"/>
            <a:ext cx="4800600" cy="365760"/>
          </a:xfrm>
          <a:prstGeom prst="rect">
            <a:avLst/>
          </a:prstGeom>
          <a:noFill/>
          <a:ln/>
        </p:spPr>
        <p:txBody>
          <a:bodyPr wrap="square" lIns="0" tIns="0" rIns="0" bIns="0" rtlCol="0" anchor="ctr"/>
          <a:lstStyle/>
          <a:p>
            <a:pPr algn="l" indent="0" marL="0">
              <a:buNone/>
            </a:pPr>
            <a:r>
              <a:rPr lang="en-US" sz="1150" i="1" dirty="0">
                <a:solidFill>
                  <a:srgbClr val="2563EB"/>
                </a:solidFill>
                <a:latin typeface="Calibri" pitchFamily="34" charset="0"/>
                <a:ea typeface="Calibri" pitchFamily="34" charset="-122"/>
                <a:cs typeface="Calibri" pitchFamily="34" charset="-120"/>
              </a:rPr>
              <a:t>can touch the page, cannot touch your files</a:t>
            </a:r>
            <a:endParaRPr lang="en-US" sz="1150" dirty="0"/>
          </a:p>
        </p:txBody>
      </p:sp>
      <p:sp>
        <p:nvSpPr>
          <p:cNvPr id="14" name="Shape 12"/>
          <p:cNvSpPr/>
          <p:nvPr/>
        </p:nvSpPr>
        <p:spPr>
          <a:xfrm>
            <a:off x="6217920" y="2423160"/>
            <a:ext cx="5440680" cy="3108960"/>
          </a:xfrm>
          <a:prstGeom prst="roundRect">
            <a:avLst>
              <a:gd name="adj" fmla="val 3529"/>
            </a:avLst>
          </a:prstGeom>
          <a:solidFill>
            <a:srgbClr val="E7FBEF"/>
          </a:solidFill>
          <a:ln/>
          <a:effectLst>
            <a:outerShdw sx="100000" sy="100000" kx="0" ky="0" algn="bl" rotWithShape="0" blurRad="101600" dist="38100" dir="5400000">
              <a:srgbClr val="0B1220">
                <a:alpha val="18000"/>
              </a:srgbClr>
            </a:outerShdw>
          </a:effectLst>
        </p:spPr>
      </p:sp>
      <p:sp>
        <p:nvSpPr>
          <p:cNvPr id="15" name="Text 13"/>
          <p:cNvSpPr/>
          <p:nvPr/>
        </p:nvSpPr>
        <p:spPr>
          <a:xfrm>
            <a:off x="6492240" y="2606040"/>
            <a:ext cx="4892040" cy="274320"/>
          </a:xfrm>
          <a:prstGeom prst="rect">
            <a:avLst/>
          </a:prstGeom>
          <a:noFill/>
          <a:ln/>
        </p:spPr>
        <p:txBody>
          <a:bodyPr wrap="square" lIns="0" tIns="0" rIns="0" bIns="0" rtlCol="0" anchor="ctr"/>
          <a:lstStyle/>
          <a:p>
            <a:pPr algn="l" indent="0" marL="0">
              <a:buNone/>
            </a:pPr>
            <a:r>
              <a:rPr lang="en-US" sz="1150" b="1" spc="120" kern="0" dirty="0">
                <a:solidFill>
                  <a:srgbClr val="3C873A"/>
                </a:solidFill>
                <a:latin typeface="Calibri" pitchFamily="34" charset="0"/>
                <a:ea typeface="Calibri" pitchFamily="34" charset="-122"/>
                <a:cs typeface="Calibri" pitchFamily="34" charset="-120"/>
              </a:rPr>
              <a:t>ON YOUR MACHINE</a:t>
            </a:r>
            <a:endParaRPr lang="en-US" sz="1150" dirty="0"/>
          </a:p>
        </p:txBody>
      </p:sp>
      <p:sp>
        <p:nvSpPr>
          <p:cNvPr id="16" name="Shape 14"/>
          <p:cNvSpPr/>
          <p:nvPr/>
        </p:nvSpPr>
        <p:spPr>
          <a:xfrm>
            <a:off x="6537960" y="3017520"/>
            <a:ext cx="4800600" cy="685800"/>
          </a:xfrm>
          <a:prstGeom prst="roundRect">
            <a:avLst>
              <a:gd name="adj" fmla="val 16000"/>
            </a:avLst>
          </a:prstGeom>
          <a:solidFill>
            <a:srgbClr val="FFFFFF"/>
          </a:solidFill>
          <a:ln/>
          <a:effectLst>
            <a:outerShdw sx="100000" sy="100000" kx="0" ky="0" algn="bl" rotWithShape="0" blurRad="101600" dist="38100" dir="5400000">
              <a:srgbClr val="0B1220">
                <a:alpha val="18000"/>
              </a:srgbClr>
            </a:outerShdw>
          </a:effectLst>
        </p:spPr>
      </p:sp>
      <p:sp>
        <p:nvSpPr>
          <p:cNvPr id="17" name="Text 15"/>
          <p:cNvSpPr/>
          <p:nvPr/>
        </p:nvSpPr>
        <p:spPr>
          <a:xfrm>
            <a:off x="6720840" y="3017520"/>
            <a:ext cx="4434840" cy="685800"/>
          </a:xfrm>
          <a:prstGeom prst="rect">
            <a:avLst/>
          </a:prstGeom>
          <a:noFill/>
          <a:ln/>
        </p:spPr>
        <p:txBody>
          <a:bodyPr wrap="square" lIns="0" tIns="0" rIns="0" bIns="0" rtlCol="0" anchor="ctr"/>
          <a:lstStyle/>
          <a:p>
            <a:pPr algn="l" indent="0" marL="0">
              <a:buNone/>
            </a:pPr>
            <a:r>
              <a:rPr lang="en-US" sz="1400" b="1" dirty="0">
                <a:solidFill>
                  <a:srgbClr val="14532D"/>
                </a:solidFill>
                <a:latin typeface="Calibri" pitchFamily="34" charset="0"/>
                <a:ea typeface="Calibri" pitchFamily="34" charset="-122"/>
                <a:cs typeface="Calibri" pitchFamily="34" charset="-120"/>
              </a:rPr>
              <a:t>Node.js runtime</a:t>
            </a:r>
            <a:endParaRPr lang="en-US" sz="1400" dirty="0"/>
          </a:p>
        </p:txBody>
      </p:sp>
      <p:sp>
        <p:nvSpPr>
          <p:cNvPr id="18" name="Shape 16"/>
          <p:cNvSpPr/>
          <p:nvPr/>
        </p:nvSpPr>
        <p:spPr>
          <a:xfrm>
            <a:off x="6858000" y="3840480"/>
            <a:ext cx="4160520" cy="685800"/>
          </a:xfrm>
          <a:prstGeom prst="roundRect">
            <a:avLst>
              <a:gd name="adj" fmla="val 16000"/>
            </a:avLst>
          </a:prstGeom>
          <a:solidFill>
            <a:srgbClr val="3C873A"/>
          </a:solidFill>
          <a:ln/>
          <a:effectLst>
            <a:outerShdw sx="100000" sy="100000" kx="0" ky="0" algn="bl" rotWithShape="0" blurRad="101600" dist="38100" dir="5400000">
              <a:srgbClr val="0B1220">
                <a:alpha val="18000"/>
              </a:srgbClr>
            </a:outerShdw>
          </a:effectLst>
        </p:spPr>
      </p:sp>
      <p:sp>
        <p:nvSpPr>
          <p:cNvPr id="19" name="Text 17"/>
          <p:cNvSpPr/>
          <p:nvPr/>
        </p:nvSpPr>
        <p:spPr>
          <a:xfrm>
            <a:off x="7040880" y="3840480"/>
            <a:ext cx="3794760" cy="685800"/>
          </a:xfrm>
          <a:prstGeom prst="rect">
            <a:avLst/>
          </a:prstGeom>
          <a:noFill/>
          <a:ln/>
        </p:spPr>
        <p:txBody>
          <a:bodyPr wrap="square" lIns="0" tIns="0" rIns="0" bIns="0" rtlCol="0" anchor="ctr"/>
          <a:lstStyle/>
          <a:p>
            <a:pPr algn="l" indent="0" marL="0">
              <a:buNone/>
            </a:pPr>
            <a:r>
              <a:rPr lang="en-US" sz="1350" b="1" dirty="0">
                <a:solidFill>
                  <a:srgbClr val="FFFFFF"/>
                </a:solidFill>
                <a:latin typeface="Courier New" pitchFamily="34" charset="0"/>
                <a:ea typeface="Courier New" pitchFamily="34" charset="-122"/>
                <a:cs typeface="Courier New" pitchFamily="34" charset="-120"/>
              </a:rPr>
              <a:t>V8 engine</a:t>
            </a:r>
            <a:endParaRPr lang="en-US" sz="1350" dirty="0"/>
          </a:p>
        </p:txBody>
      </p:sp>
      <p:sp>
        <p:nvSpPr>
          <p:cNvPr id="20" name="Text 18"/>
          <p:cNvSpPr/>
          <p:nvPr/>
        </p:nvSpPr>
        <p:spPr>
          <a:xfrm>
            <a:off x="6537960" y="4663440"/>
            <a:ext cx="4800600" cy="365760"/>
          </a:xfrm>
          <a:prstGeom prst="rect">
            <a:avLst/>
          </a:prstGeom>
          <a:noFill/>
          <a:ln/>
        </p:spPr>
        <p:txBody>
          <a:bodyPr wrap="square" lIns="0" tIns="0" rIns="0" bIns="0" rtlCol="0" anchor="ctr"/>
          <a:lstStyle/>
          <a:p>
            <a:pPr algn="l" indent="0" marL="0">
              <a:buNone/>
            </a:pPr>
            <a:r>
              <a:rPr lang="en-US" sz="1250" dirty="0">
                <a:solidFill>
                  <a:srgbClr val="14532D"/>
                </a:solidFill>
                <a:latin typeface="Calibri" pitchFamily="34" charset="0"/>
                <a:ea typeface="Calibri" pitchFamily="34" charset="-122"/>
                <a:cs typeface="Calibri" pitchFamily="34" charset="-120"/>
              </a:rPr>
              <a:t>runs your file.js from the terminal</a:t>
            </a:r>
            <a:endParaRPr lang="en-US" sz="1250" dirty="0"/>
          </a:p>
        </p:txBody>
      </p:sp>
      <p:sp>
        <p:nvSpPr>
          <p:cNvPr id="21" name="Text 19"/>
          <p:cNvSpPr/>
          <p:nvPr/>
        </p:nvSpPr>
        <p:spPr>
          <a:xfrm>
            <a:off x="6537960" y="5029200"/>
            <a:ext cx="4800600" cy="365760"/>
          </a:xfrm>
          <a:prstGeom prst="rect">
            <a:avLst/>
          </a:prstGeom>
          <a:noFill/>
          <a:ln/>
        </p:spPr>
        <p:txBody>
          <a:bodyPr wrap="square" lIns="0" tIns="0" rIns="0" bIns="0" rtlCol="0" anchor="ctr"/>
          <a:lstStyle/>
          <a:p>
            <a:pPr algn="l" indent="0" marL="0">
              <a:buNone/>
            </a:pPr>
            <a:r>
              <a:rPr lang="en-US" sz="1150" i="1" dirty="0">
                <a:solidFill>
                  <a:srgbClr val="3C873A"/>
                </a:solidFill>
                <a:latin typeface="Calibri" pitchFamily="34" charset="0"/>
                <a:ea typeface="Calibri" pitchFamily="34" charset="-122"/>
                <a:cs typeface="Calibri" pitchFamily="34" charset="-120"/>
              </a:rPr>
              <a:t>no page at all, but it can read files and serve requests</a:t>
            </a:r>
            <a:endParaRPr lang="en-US" sz="1150" dirty="0"/>
          </a:p>
        </p:txBody>
      </p:sp>
      <p:sp>
        <p:nvSpPr>
          <p:cNvPr id="22" name="Shape 20"/>
          <p:cNvSpPr/>
          <p:nvPr/>
        </p:nvSpPr>
        <p:spPr>
          <a:xfrm>
            <a:off x="548640" y="5669280"/>
            <a:ext cx="11109960" cy="658368"/>
          </a:xfrm>
          <a:prstGeom prst="roundRect">
            <a:avLst>
              <a:gd name="adj" fmla="val 16667"/>
            </a:avLst>
          </a:prstGeom>
          <a:solidFill>
            <a:srgbClr val="EEF2FF"/>
          </a:solidFill>
          <a:ln/>
        </p:spPr>
      </p:sp>
      <p:sp>
        <p:nvSpPr>
          <p:cNvPr id="23" name="Shape 21"/>
          <p:cNvSpPr/>
          <p:nvPr/>
        </p:nvSpPr>
        <p:spPr>
          <a:xfrm>
            <a:off x="749808" y="5870448"/>
            <a:ext cx="256032" cy="256032"/>
          </a:xfrm>
          <a:prstGeom prst="ellipse">
            <a:avLst/>
          </a:prstGeom>
          <a:solidFill>
            <a:srgbClr val="8B5CF6"/>
          </a:solidFill>
          <a:ln/>
        </p:spPr>
      </p:sp>
      <p:sp>
        <p:nvSpPr>
          <p:cNvPr id="24" name="Text 22"/>
          <p:cNvSpPr/>
          <p:nvPr/>
        </p:nvSpPr>
        <p:spPr>
          <a:xfrm>
            <a:off x="1207008" y="5669280"/>
            <a:ext cx="10241280" cy="658368"/>
          </a:xfrm>
          <a:prstGeom prst="rect">
            <a:avLst/>
          </a:prstGeom>
          <a:noFill/>
          <a:ln/>
        </p:spPr>
        <p:txBody>
          <a:bodyPr wrap="square" lIns="0" tIns="0" rIns="0" bIns="0" rtlCol="0" anchor="ctr"/>
          <a:lstStyle/>
          <a:p>
            <a:pPr algn="l" indent="0" marL="0">
              <a:buNone/>
            </a:pPr>
            <a:r>
              <a:rPr lang="en-US" sz="1400" dirty="0">
                <a:solidFill>
                  <a:srgbClr val="3B2E7A"/>
                </a:solidFill>
                <a:latin typeface="Calibri" pitchFamily="34" charset="0"/>
                <a:ea typeface="Calibri" pitchFamily="34" charset="-122"/>
                <a:cs typeface="Calibri" pitchFamily="34" charset="-120"/>
              </a:rPr>
              <a:t>Same engine at the heart of both. Node is an open-source runtime that lets that engine live outside a browser.</a:t>
            </a:r>
            <a:endParaRPr lang="en-US" sz="1400" dirty="0"/>
          </a:p>
        </p:txBody>
      </p:sp>
      <p:sp>
        <p:nvSpPr>
          <p:cNvPr id="25"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736092" cy="310896"/>
          </a:xfrm>
          <a:prstGeom prst="roundRect">
            <a:avLst>
              <a:gd name="adj" fmla="val 50000"/>
            </a:avLst>
          </a:prstGeom>
          <a:solidFill>
            <a:srgbClr val="2563EB"/>
          </a:solidFill>
          <a:ln/>
        </p:spPr>
      </p:sp>
      <p:sp>
        <p:nvSpPr>
          <p:cNvPr id="3" name="Text 1"/>
          <p:cNvSpPr/>
          <p:nvPr/>
        </p:nvSpPr>
        <p:spPr>
          <a:xfrm>
            <a:off x="548640" y="457200"/>
            <a:ext cx="736092"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SETUP</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Install it and run a file</a:t>
            </a:r>
            <a:endParaRPr lang="en-US" sz="3400" dirty="0"/>
          </a:p>
        </p:txBody>
      </p:sp>
      <p:sp>
        <p:nvSpPr>
          <p:cNvPr id="5" name="Shape 3"/>
          <p:cNvSpPr/>
          <p:nvPr/>
        </p:nvSpPr>
        <p:spPr>
          <a:xfrm>
            <a:off x="548640" y="1965960"/>
            <a:ext cx="5440680" cy="3977640"/>
          </a:xfrm>
          <a:prstGeom prst="roundRect">
            <a:avLst>
              <a:gd name="adj" fmla="val 275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Text 4"/>
          <p:cNvSpPr/>
          <p:nvPr/>
        </p:nvSpPr>
        <p:spPr>
          <a:xfrm>
            <a:off x="822960" y="2194560"/>
            <a:ext cx="4892040" cy="365760"/>
          </a:xfrm>
          <a:prstGeom prst="rect">
            <a:avLst/>
          </a:prstGeom>
          <a:noFill/>
          <a:ln/>
        </p:spPr>
        <p:txBody>
          <a:bodyPr wrap="square" lIns="0" tIns="0" rIns="0" bIns="0" rtlCol="0" anchor="ctr"/>
          <a:lstStyle/>
          <a:p>
            <a:pPr algn="l" indent="0" marL="0">
              <a:buNone/>
            </a:pPr>
            <a:r>
              <a:rPr lang="en-US" sz="1700" b="1" dirty="0">
                <a:solidFill>
                  <a:srgbClr val="0F172A"/>
                </a:solidFill>
                <a:latin typeface="Calibri" pitchFamily="34" charset="0"/>
                <a:ea typeface="Calibri" pitchFamily="34" charset="-122"/>
                <a:cs typeface="Calibri" pitchFamily="34" charset="-120"/>
              </a:rPr>
              <a:t>Getting set up</a:t>
            </a:r>
            <a:endParaRPr lang="en-US" sz="1700" dirty="0"/>
          </a:p>
        </p:txBody>
      </p:sp>
      <p:sp>
        <p:nvSpPr>
          <p:cNvPr id="7" name="Shape 5"/>
          <p:cNvSpPr/>
          <p:nvPr/>
        </p:nvSpPr>
        <p:spPr>
          <a:xfrm>
            <a:off x="868680" y="2798064"/>
            <a:ext cx="310896" cy="310896"/>
          </a:xfrm>
          <a:prstGeom prst="ellipse">
            <a:avLst/>
          </a:prstGeom>
          <a:solidFill>
            <a:srgbClr val="3C873A"/>
          </a:solidFill>
          <a:ln/>
        </p:spPr>
      </p:sp>
      <p:sp>
        <p:nvSpPr>
          <p:cNvPr id="8" name="Text 6"/>
          <p:cNvSpPr/>
          <p:nvPr/>
        </p:nvSpPr>
        <p:spPr>
          <a:xfrm>
            <a:off x="868680" y="27980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325880" y="2743200"/>
            <a:ext cx="4389120" cy="420624"/>
          </a:xfrm>
          <a:prstGeom prst="rect">
            <a:avLst/>
          </a:prstGeom>
          <a:noFill/>
          <a:ln/>
        </p:spPr>
        <p:txBody>
          <a:bodyPr wrap="square" lIns="0" tIns="0" rIns="0" bIns="0" rtlCol="0" anchor="ctr"/>
          <a:lstStyle/>
          <a:p>
            <a:pPr algn="l" indent="0" marL="0">
              <a:buNone/>
            </a:pPr>
            <a:r>
              <a:rPr lang="en-US" sz="1350" dirty="0">
                <a:solidFill>
                  <a:srgbClr val="0F172A"/>
                </a:solidFill>
                <a:latin typeface="Calibri" pitchFamily="34" charset="0"/>
                <a:ea typeface="Calibri" pitchFamily="34" charset="-122"/>
                <a:cs typeface="Calibri" pitchFamily="34" charset="-120"/>
              </a:rPr>
              <a:t>Download from nodejs.org</a:t>
            </a:r>
            <a:endParaRPr lang="en-US" sz="1350" dirty="0"/>
          </a:p>
        </p:txBody>
      </p:sp>
      <p:sp>
        <p:nvSpPr>
          <p:cNvPr id="10" name="Shape 8"/>
          <p:cNvSpPr/>
          <p:nvPr/>
        </p:nvSpPr>
        <p:spPr>
          <a:xfrm>
            <a:off x="868680" y="3364992"/>
            <a:ext cx="310896" cy="310896"/>
          </a:xfrm>
          <a:prstGeom prst="ellipse">
            <a:avLst/>
          </a:prstGeom>
          <a:solidFill>
            <a:srgbClr val="3C873A"/>
          </a:solidFill>
          <a:ln/>
        </p:spPr>
      </p:sp>
      <p:sp>
        <p:nvSpPr>
          <p:cNvPr id="11" name="Text 9"/>
          <p:cNvSpPr/>
          <p:nvPr/>
        </p:nvSpPr>
        <p:spPr>
          <a:xfrm>
            <a:off x="868680" y="33649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325880" y="3310128"/>
            <a:ext cx="4389120" cy="420624"/>
          </a:xfrm>
          <a:prstGeom prst="rect">
            <a:avLst/>
          </a:prstGeom>
          <a:noFill/>
          <a:ln/>
        </p:spPr>
        <p:txBody>
          <a:bodyPr wrap="square" lIns="0" tIns="0" rIns="0" bIns="0" rtlCol="0" anchor="ctr"/>
          <a:lstStyle/>
          <a:p>
            <a:pPr algn="l" indent="0" marL="0">
              <a:buNone/>
            </a:pPr>
            <a:r>
              <a:rPr lang="en-US" sz="1350" dirty="0">
                <a:solidFill>
                  <a:srgbClr val="0F172A"/>
                </a:solidFill>
                <a:latin typeface="Calibri" pitchFamily="34" charset="0"/>
                <a:ea typeface="Calibri" pitchFamily="34" charset="-122"/>
                <a:cs typeface="Calibri" pitchFamily="34" charset="-120"/>
              </a:rPr>
              <a:t>Choose the LTS version (long term support)</a:t>
            </a:r>
            <a:endParaRPr lang="en-US" sz="1350" dirty="0"/>
          </a:p>
        </p:txBody>
      </p:sp>
      <p:sp>
        <p:nvSpPr>
          <p:cNvPr id="13" name="Shape 11"/>
          <p:cNvSpPr/>
          <p:nvPr/>
        </p:nvSpPr>
        <p:spPr>
          <a:xfrm>
            <a:off x="868680" y="3931920"/>
            <a:ext cx="310896" cy="310896"/>
          </a:xfrm>
          <a:prstGeom prst="ellipse">
            <a:avLst/>
          </a:prstGeom>
          <a:solidFill>
            <a:srgbClr val="3C873A"/>
          </a:solidFill>
          <a:ln/>
        </p:spPr>
      </p:sp>
      <p:sp>
        <p:nvSpPr>
          <p:cNvPr id="14" name="Text 12"/>
          <p:cNvSpPr/>
          <p:nvPr/>
        </p:nvSpPr>
        <p:spPr>
          <a:xfrm>
            <a:off x="868680" y="39319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325880" y="3877056"/>
            <a:ext cx="4389120" cy="420624"/>
          </a:xfrm>
          <a:prstGeom prst="rect">
            <a:avLst/>
          </a:prstGeom>
          <a:noFill/>
          <a:ln/>
        </p:spPr>
        <p:txBody>
          <a:bodyPr wrap="square" lIns="0" tIns="0" rIns="0" bIns="0" rtlCol="0" anchor="ctr"/>
          <a:lstStyle/>
          <a:p>
            <a:pPr algn="l" indent="0" marL="0">
              <a:buNone/>
            </a:pPr>
            <a:r>
              <a:rPr lang="en-US" sz="1350" dirty="0">
                <a:solidFill>
                  <a:srgbClr val="0F172A"/>
                </a:solidFill>
                <a:latin typeface="Calibri" pitchFamily="34" charset="0"/>
                <a:ea typeface="Calibri" pitchFamily="34" charset="-122"/>
                <a:cs typeface="Calibri" pitchFamily="34" charset="-120"/>
              </a:rPr>
              <a:t>Open Terminal on Mac, or Command Prompt on Windows</a:t>
            </a:r>
            <a:endParaRPr lang="en-US" sz="1350" dirty="0"/>
          </a:p>
        </p:txBody>
      </p:sp>
      <p:sp>
        <p:nvSpPr>
          <p:cNvPr id="16" name="Shape 14"/>
          <p:cNvSpPr/>
          <p:nvPr/>
        </p:nvSpPr>
        <p:spPr>
          <a:xfrm>
            <a:off x="868680" y="4498848"/>
            <a:ext cx="310896" cy="310896"/>
          </a:xfrm>
          <a:prstGeom prst="ellipse">
            <a:avLst/>
          </a:prstGeom>
          <a:solidFill>
            <a:srgbClr val="3C873A"/>
          </a:solidFill>
          <a:ln/>
        </p:spPr>
      </p:sp>
      <p:sp>
        <p:nvSpPr>
          <p:cNvPr id="17" name="Text 15"/>
          <p:cNvSpPr/>
          <p:nvPr/>
        </p:nvSpPr>
        <p:spPr>
          <a:xfrm>
            <a:off x="868680" y="44988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1325880" y="4443984"/>
            <a:ext cx="4389120" cy="420624"/>
          </a:xfrm>
          <a:prstGeom prst="rect">
            <a:avLst/>
          </a:prstGeom>
          <a:noFill/>
          <a:ln/>
        </p:spPr>
        <p:txBody>
          <a:bodyPr wrap="square" lIns="0" tIns="0" rIns="0" bIns="0" rtlCol="0" anchor="ctr"/>
          <a:lstStyle/>
          <a:p>
            <a:pPr algn="l" indent="0" marL="0">
              <a:buNone/>
            </a:pPr>
            <a:r>
              <a:rPr lang="en-US" sz="1350" dirty="0">
                <a:solidFill>
                  <a:srgbClr val="0F172A"/>
                </a:solidFill>
                <a:latin typeface="Calibri" pitchFamily="34" charset="0"/>
                <a:ea typeface="Calibri" pitchFamily="34" charset="-122"/>
                <a:cs typeface="Calibri" pitchFamily="34" charset="-120"/>
              </a:rPr>
              <a:t>Check it worked with node --version</a:t>
            </a:r>
            <a:endParaRPr lang="en-US" sz="1350" dirty="0"/>
          </a:p>
        </p:txBody>
      </p:sp>
      <p:sp>
        <p:nvSpPr>
          <p:cNvPr id="19" name="Shape 17"/>
          <p:cNvSpPr/>
          <p:nvPr/>
        </p:nvSpPr>
        <p:spPr>
          <a:xfrm>
            <a:off x="868680" y="5065776"/>
            <a:ext cx="310896" cy="310896"/>
          </a:xfrm>
          <a:prstGeom prst="ellipse">
            <a:avLst/>
          </a:prstGeom>
          <a:solidFill>
            <a:srgbClr val="3C873A"/>
          </a:solidFill>
          <a:ln/>
        </p:spPr>
      </p:sp>
      <p:sp>
        <p:nvSpPr>
          <p:cNvPr id="20" name="Text 18"/>
          <p:cNvSpPr/>
          <p:nvPr/>
        </p:nvSpPr>
        <p:spPr>
          <a:xfrm>
            <a:off x="868680" y="506577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9"/>
          <p:cNvSpPr/>
          <p:nvPr/>
        </p:nvSpPr>
        <p:spPr>
          <a:xfrm>
            <a:off x="1325880" y="5010912"/>
            <a:ext cx="4389120" cy="420624"/>
          </a:xfrm>
          <a:prstGeom prst="rect">
            <a:avLst/>
          </a:prstGeom>
          <a:noFill/>
          <a:ln/>
        </p:spPr>
        <p:txBody>
          <a:bodyPr wrap="square" lIns="0" tIns="0" rIns="0" bIns="0" rtlCol="0" anchor="ctr"/>
          <a:lstStyle/>
          <a:p>
            <a:pPr algn="l" indent="0" marL="0">
              <a:buNone/>
            </a:pPr>
            <a:r>
              <a:rPr lang="en-US" sz="1350" dirty="0">
                <a:solidFill>
                  <a:srgbClr val="0F172A"/>
                </a:solidFill>
                <a:latin typeface="Calibri" pitchFamily="34" charset="0"/>
                <a:ea typeface="Calibri" pitchFamily="34" charset="-122"/>
                <a:cs typeface="Calibri" pitchFamily="34" charset="-120"/>
              </a:rPr>
              <a:t>Type node on its own for a live JavaScript prompt</a:t>
            </a:r>
            <a:endParaRPr lang="en-US" sz="1350" dirty="0"/>
          </a:p>
        </p:txBody>
      </p:sp>
      <p:sp>
        <p:nvSpPr>
          <p:cNvPr id="22" name="Shape 20"/>
          <p:cNvSpPr/>
          <p:nvPr/>
        </p:nvSpPr>
        <p:spPr>
          <a:xfrm>
            <a:off x="868680" y="5504688"/>
            <a:ext cx="4846320" cy="685800"/>
          </a:xfrm>
          <a:prstGeom prst="roundRect">
            <a:avLst>
              <a:gd name="adj" fmla="val 16000"/>
            </a:avLst>
          </a:prstGeom>
          <a:solidFill>
            <a:srgbClr val="FFF3E0"/>
          </a:solidFill>
          <a:ln/>
        </p:spPr>
      </p:sp>
      <p:sp>
        <p:nvSpPr>
          <p:cNvPr id="23" name="Shape 21"/>
          <p:cNvSpPr/>
          <p:nvPr/>
        </p:nvSpPr>
        <p:spPr>
          <a:xfrm>
            <a:off x="1069848" y="5719572"/>
            <a:ext cx="256032" cy="256032"/>
          </a:xfrm>
          <a:prstGeom prst="ellipse">
            <a:avLst/>
          </a:prstGeom>
          <a:solidFill>
            <a:srgbClr val="F59E0B"/>
          </a:solidFill>
          <a:ln/>
        </p:spPr>
      </p:sp>
      <p:sp>
        <p:nvSpPr>
          <p:cNvPr id="24" name="Text 22"/>
          <p:cNvSpPr/>
          <p:nvPr/>
        </p:nvSpPr>
        <p:spPr>
          <a:xfrm>
            <a:off x="1527048" y="5504688"/>
            <a:ext cx="3977640" cy="685800"/>
          </a:xfrm>
          <a:prstGeom prst="rect">
            <a:avLst/>
          </a:prstGeom>
          <a:noFill/>
          <a:ln/>
        </p:spPr>
        <p:txBody>
          <a:bodyPr wrap="square" lIns="0" tIns="0" rIns="0" bIns="0" rtlCol="0" anchor="ctr"/>
          <a:lstStyle/>
          <a:p>
            <a:pPr algn="l" indent="0" marL="0">
              <a:buNone/>
            </a:pPr>
            <a:r>
              <a:rPr lang="en-US" sz="1400" dirty="0">
                <a:solidFill>
                  <a:srgbClr val="7A4A05"/>
                </a:solidFill>
                <a:latin typeface="Calibri" pitchFamily="34" charset="0"/>
                <a:ea typeface="Calibri" pitchFamily="34" charset="-122"/>
                <a:cs typeface="Calibri" pitchFamily="34" charset="-120"/>
              </a:rPr>
              <a:t>Windows and you hit commandNotFoundException? It is a PATH issue, we will fix it together.</a:t>
            </a:r>
            <a:endParaRPr lang="en-US" sz="1400" dirty="0"/>
          </a:p>
        </p:txBody>
      </p:sp>
      <p:sp>
        <p:nvSpPr>
          <p:cNvPr id="25" name="Shape 23"/>
          <p:cNvSpPr/>
          <p:nvPr/>
        </p:nvSpPr>
        <p:spPr>
          <a:xfrm>
            <a:off x="6217920" y="1965960"/>
            <a:ext cx="5440680" cy="1417320"/>
          </a:xfrm>
          <a:prstGeom prst="roundRect">
            <a:avLst>
              <a:gd name="adj" fmla="val 5161"/>
            </a:avLst>
          </a:prstGeom>
          <a:solidFill>
            <a:srgbClr val="0B1020"/>
          </a:solidFill>
          <a:ln/>
          <a:effectLst>
            <a:outerShdw sx="100000" sy="100000" kx="0" ky="0" algn="bl" rotWithShape="0" blurRad="101600" dist="38100" dir="5400000">
              <a:srgbClr val="0B1220">
                <a:alpha val="18000"/>
              </a:srgbClr>
            </a:outerShdw>
          </a:effectLst>
        </p:spPr>
      </p:sp>
      <p:sp>
        <p:nvSpPr>
          <p:cNvPr id="26" name="Text 24"/>
          <p:cNvSpPr/>
          <p:nvPr/>
        </p:nvSpPr>
        <p:spPr>
          <a:xfrm>
            <a:off x="6446520" y="2075688"/>
            <a:ext cx="4983480" cy="237744"/>
          </a:xfrm>
          <a:prstGeom prst="rect">
            <a:avLst/>
          </a:prstGeom>
          <a:noFill/>
          <a:ln/>
        </p:spPr>
        <p:txBody>
          <a:bodyPr wrap="square" lIns="0" tIns="0" rIns="0" bIns="0" rtlCol="0" anchor="ctr"/>
          <a:lstStyle/>
          <a:p>
            <a:pPr algn="l" indent="0" marL="0">
              <a:buNone/>
            </a:pPr>
            <a:r>
              <a:rPr lang="en-US" sz="950" dirty="0">
                <a:solidFill>
                  <a:srgbClr val="94A3B8"/>
                </a:solidFill>
                <a:latin typeface="Courier New" pitchFamily="34" charset="0"/>
                <a:ea typeface="Courier New" pitchFamily="34" charset="-122"/>
                <a:cs typeface="Courier New" pitchFamily="34" charset="-120"/>
              </a:rPr>
              <a:t>checking the install</a:t>
            </a:r>
            <a:endParaRPr lang="en-US" sz="950" dirty="0"/>
          </a:p>
        </p:txBody>
      </p:sp>
      <p:sp>
        <p:nvSpPr>
          <p:cNvPr id="27" name="Text 25"/>
          <p:cNvSpPr/>
          <p:nvPr/>
        </p:nvSpPr>
        <p:spPr>
          <a:xfrm>
            <a:off x="6446520" y="2377440"/>
            <a:ext cx="4983480" cy="292608"/>
          </a:xfrm>
          <a:prstGeom prst="rect">
            <a:avLst/>
          </a:prstGeom>
          <a:noFill/>
          <a:ln/>
        </p:spPr>
        <p:txBody>
          <a:bodyPr wrap="square" lIns="0" tIns="0" rIns="0" bIns="0" rtlCol="0" anchor="ctr"/>
          <a:lstStyle/>
          <a:p>
            <a:pPr algn="l" indent="0" marL="0">
              <a:buNone/>
            </a:pPr>
            <a:r>
              <a:rPr lang="en-US" sz="1200" b="1" dirty="0">
                <a:solidFill>
                  <a:srgbClr val="22C55E"/>
                </a:solidFill>
                <a:latin typeface="Courier New" pitchFamily="34" charset="0"/>
                <a:ea typeface="Courier New" pitchFamily="34" charset="-122"/>
                <a:cs typeface="Courier New" pitchFamily="34" charset="-120"/>
              </a:rPr>
              <a:t>$ </a:t>
            </a:r>
            <a:pPr algn="l" indent="0" marL="0">
              <a:buNone/>
            </a:pPr>
            <a:r>
              <a:rPr lang="en-US" sz="1200" dirty="0">
                <a:solidFill>
                  <a:srgbClr val="FFFFFF"/>
                </a:solidFill>
                <a:latin typeface="Courier New" pitchFamily="34" charset="0"/>
                <a:ea typeface="Courier New" pitchFamily="34" charset="-122"/>
                <a:cs typeface="Courier New" pitchFamily="34" charset="-120"/>
              </a:rPr>
              <a:t>node --version</a:t>
            </a:r>
            <a:endParaRPr lang="en-US" sz="1200" dirty="0"/>
          </a:p>
        </p:txBody>
      </p:sp>
      <p:sp>
        <p:nvSpPr>
          <p:cNvPr id="28" name="Text 26"/>
          <p:cNvSpPr/>
          <p:nvPr/>
        </p:nvSpPr>
        <p:spPr>
          <a:xfrm>
            <a:off x="6446520" y="2688336"/>
            <a:ext cx="4983480" cy="292608"/>
          </a:xfrm>
          <a:prstGeom prst="rect">
            <a:avLst/>
          </a:prstGeom>
          <a:noFill/>
          <a:ln/>
        </p:spPr>
        <p:txBody>
          <a:bodyPr wrap="square" lIns="0" tIns="0" rIns="0" bIns="0" rtlCol="0" anchor="ctr"/>
          <a:lstStyle/>
          <a:p>
            <a:pPr algn="l" indent="0" marL="0">
              <a:buNone/>
            </a:pPr>
            <a:pPr algn="l" indent="0" marL="0">
              <a:buNone/>
            </a:pPr>
            <a:r>
              <a:rPr lang="en-US" sz="1200" dirty="0">
                <a:solidFill>
                  <a:srgbClr val="22C55E"/>
                </a:solidFill>
                <a:latin typeface="Courier New" pitchFamily="34" charset="0"/>
                <a:ea typeface="Courier New" pitchFamily="34" charset="-122"/>
                <a:cs typeface="Courier New" pitchFamily="34" charset="-120"/>
              </a:rPr>
              <a:t>v20.11.1</a:t>
            </a:r>
            <a:endParaRPr lang="en-US" sz="1200" dirty="0"/>
          </a:p>
        </p:txBody>
      </p:sp>
      <p:sp>
        <p:nvSpPr>
          <p:cNvPr id="29" name="Shape 27"/>
          <p:cNvSpPr/>
          <p:nvPr/>
        </p:nvSpPr>
        <p:spPr>
          <a:xfrm>
            <a:off x="6217920" y="3520440"/>
            <a:ext cx="5440680" cy="1234440"/>
          </a:xfrm>
          <a:prstGeom prst="roundRect">
            <a:avLst>
              <a:gd name="adj" fmla="val 8889"/>
            </a:avLst>
          </a:prstGeom>
          <a:solidFill>
            <a:srgbClr val="0C1526"/>
          </a:solidFill>
          <a:ln/>
          <a:effectLst>
            <a:outerShdw sx="100000" sy="100000" kx="0" ky="0" algn="bl" rotWithShape="0" blurRad="101600" dist="38100" dir="5400000">
              <a:srgbClr val="0B1220">
                <a:alpha val="18000"/>
              </a:srgbClr>
            </a:outerShdw>
          </a:effectLst>
        </p:spPr>
      </p:sp>
      <p:sp>
        <p:nvSpPr>
          <p:cNvPr id="30" name="Shape 28"/>
          <p:cNvSpPr/>
          <p:nvPr/>
        </p:nvSpPr>
        <p:spPr>
          <a:xfrm>
            <a:off x="6473952" y="3739896"/>
            <a:ext cx="128016" cy="128016"/>
          </a:xfrm>
          <a:prstGeom prst="ellipse">
            <a:avLst/>
          </a:prstGeom>
          <a:solidFill>
            <a:srgbClr val="FF5F56"/>
          </a:solidFill>
          <a:ln/>
        </p:spPr>
      </p:sp>
      <p:sp>
        <p:nvSpPr>
          <p:cNvPr id="31" name="Shape 29"/>
          <p:cNvSpPr/>
          <p:nvPr/>
        </p:nvSpPr>
        <p:spPr>
          <a:xfrm>
            <a:off x="6711696" y="3739896"/>
            <a:ext cx="128016" cy="128016"/>
          </a:xfrm>
          <a:prstGeom prst="ellipse">
            <a:avLst/>
          </a:prstGeom>
          <a:solidFill>
            <a:srgbClr val="FFBD2E"/>
          </a:solidFill>
          <a:ln/>
        </p:spPr>
      </p:sp>
      <p:sp>
        <p:nvSpPr>
          <p:cNvPr id="32" name="Shape 30"/>
          <p:cNvSpPr/>
          <p:nvPr/>
        </p:nvSpPr>
        <p:spPr>
          <a:xfrm>
            <a:off x="6949440" y="3739896"/>
            <a:ext cx="128016" cy="128016"/>
          </a:xfrm>
          <a:prstGeom prst="ellipse">
            <a:avLst/>
          </a:prstGeom>
          <a:solidFill>
            <a:srgbClr val="27C93F"/>
          </a:solidFill>
          <a:ln/>
        </p:spPr>
      </p:sp>
      <p:sp>
        <p:nvSpPr>
          <p:cNvPr id="33" name="Text 31"/>
          <p:cNvSpPr/>
          <p:nvPr/>
        </p:nvSpPr>
        <p:spPr>
          <a:xfrm>
            <a:off x="7315200" y="3630168"/>
            <a:ext cx="416052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JsNode.js</a:t>
            </a:r>
            <a:endParaRPr lang="en-US" sz="1100" dirty="0"/>
          </a:p>
        </p:txBody>
      </p:sp>
      <p:sp>
        <p:nvSpPr>
          <p:cNvPr id="34" name="Text 32"/>
          <p:cNvSpPr/>
          <p:nvPr/>
        </p:nvSpPr>
        <p:spPr>
          <a:xfrm>
            <a:off x="6473952" y="4050792"/>
            <a:ext cx="4928616" cy="521208"/>
          </a:xfrm>
          <a:prstGeom prst="rect">
            <a:avLst/>
          </a:prstGeom>
          <a:noFill/>
          <a:ln/>
        </p:spPr>
        <p:txBody>
          <a:bodyPr wrap="square" lIns="0" tIns="0" rIns="0" bIns="0" rtlCol="0" anchor="t"/>
          <a:lstStyle/>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FDBA74"/>
                </a:solidFill>
                <a:latin typeface="Courier New" pitchFamily="34" charset="0"/>
                <a:ea typeface="Courier New" pitchFamily="34" charset="-122"/>
                <a:cs typeface="Courier New" pitchFamily="34" charset="-120"/>
              </a:rPr>
              <a:t>'Hi from Node js'</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35" name="Shape 33"/>
          <p:cNvSpPr/>
          <p:nvPr/>
        </p:nvSpPr>
        <p:spPr>
          <a:xfrm>
            <a:off x="6217920" y="4892040"/>
            <a:ext cx="5440680" cy="1325880"/>
          </a:xfrm>
          <a:prstGeom prst="roundRect">
            <a:avLst>
              <a:gd name="adj" fmla="val 5517"/>
            </a:avLst>
          </a:prstGeom>
          <a:solidFill>
            <a:srgbClr val="0B1020"/>
          </a:solidFill>
          <a:ln/>
          <a:effectLst>
            <a:outerShdw sx="100000" sy="100000" kx="0" ky="0" algn="bl" rotWithShape="0" blurRad="101600" dist="38100" dir="5400000">
              <a:srgbClr val="0B1220">
                <a:alpha val="18000"/>
              </a:srgbClr>
            </a:outerShdw>
          </a:effectLst>
        </p:spPr>
      </p:sp>
      <p:sp>
        <p:nvSpPr>
          <p:cNvPr id="36" name="Text 34"/>
          <p:cNvSpPr/>
          <p:nvPr/>
        </p:nvSpPr>
        <p:spPr>
          <a:xfrm>
            <a:off x="6446520" y="5001768"/>
            <a:ext cx="4983480" cy="237744"/>
          </a:xfrm>
          <a:prstGeom prst="rect">
            <a:avLst/>
          </a:prstGeom>
          <a:noFill/>
          <a:ln/>
        </p:spPr>
        <p:txBody>
          <a:bodyPr wrap="square" lIns="0" tIns="0" rIns="0" bIns="0" rtlCol="0" anchor="ctr"/>
          <a:lstStyle/>
          <a:p>
            <a:pPr algn="l" indent="0" marL="0">
              <a:buNone/>
            </a:pPr>
            <a:r>
              <a:rPr lang="en-US" sz="950" dirty="0">
                <a:solidFill>
                  <a:srgbClr val="94A3B8"/>
                </a:solidFill>
                <a:latin typeface="Courier New" pitchFamily="34" charset="0"/>
                <a:ea typeface="Courier New" pitchFamily="34" charset="-122"/>
                <a:cs typeface="Courier New" pitchFamily="34" charset="-120"/>
              </a:rPr>
              <a:t>running the file</a:t>
            </a:r>
            <a:endParaRPr lang="en-US" sz="950" dirty="0"/>
          </a:p>
        </p:txBody>
      </p:sp>
      <p:sp>
        <p:nvSpPr>
          <p:cNvPr id="37" name="Text 35"/>
          <p:cNvSpPr/>
          <p:nvPr/>
        </p:nvSpPr>
        <p:spPr>
          <a:xfrm>
            <a:off x="6446520" y="5303520"/>
            <a:ext cx="4983480" cy="292608"/>
          </a:xfrm>
          <a:prstGeom prst="rect">
            <a:avLst/>
          </a:prstGeom>
          <a:noFill/>
          <a:ln/>
        </p:spPr>
        <p:txBody>
          <a:bodyPr wrap="square" lIns="0" tIns="0" rIns="0" bIns="0" rtlCol="0" anchor="ctr"/>
          <a:lstStyle/>
          <a:p>
            <a:pPr algn="l" indent="0" marL="0">
              <a:buNone/>
            </a:pPr>
            <a:r>
              <a:rPr lang="en-US" sz="1200" b="1" dirty="0">
                <a:solidFill>
                  <a:srgbClr val="22C55E"/>
                </a:solidFill>
                <a:latin typeface="Courier New" pitchFamily="34" charset="0"/>
                <a:ea typeface="Courier New" pitchFamily="34" charset="-122"/>
                <a:cs typeface="Courier New" pitchFamily="34" charset="-120"/>
              </a:rPr>
              <a:t>$ </a:t>
            </a:r>
            <a:pPr algn="l" indent="0" marL="0">
              <a:buNone/>
            </a:pPr>
            <a:r>
              <a:rPr lang="en-US" sz="1200" dirty="0">
                <a:solidFill>
                  <a:srgbClr val="FFFFFF"/>
                </a:solidFill>
                <a:latin typeface="Courier New" pitchFamily="34" charset="0"/>
                <a:ea typeface="Courier New" pitchFamily="34" charset="-122"/>
                <a:cs typeface="Courier New" pitchFamily="34" charset="-120"/>
              </a:rPr>
              <a:t>node JsNode.js</a:t>
            </a:r>
            <a:endParaRPr lang="en-US" sz="1200" dirty="0"/>
          </a:p>
        </p:txBody>
      </p:sp>
      <p:sp>
        <p:nvSpPr>
          <p:cNvPr id="38" name="Text 36"/>
          <p:cNvSpPr/>
          <p:nvPr/>
        </p:nvSpPr>
        <p:spPr>
          <a:xfrm>
            <a:off x="6446520" y="5614416"/>
            <a:ext cx="4983480" cy="292608"/>
          </a:xfrm>
          <a:prstGeom prst="rect">
            <a:avLst/>
          </a:prstGeom>
          <a:noFill/>
          <a:ln/>
        </p:spPr>
        <p:txBody>
          <a:bodyPr wrap="square" lIns="0" tIns="0" rIns="0" bIns="0" rtlCol="0" anchor="ctr"/>
          <a:lstStyle/>
          <a:p>
            <a:pPr algn="l" indent="0" marL="0">
              <a:buNone/>
            </a:pPr>
            <a:pPr algn="l" indent="0" marL="0">
              <a:buNone/>
            </a:pPr>
            <a:r>
              <a:rPr lang="en-US" sz="1200" dirty="0">
                <a:solidFill>
                  <a:srgbClr val="22C55E"/>
                </a:solidFill>
                <a:latin typeface="Courier New" pitchFamily="34" charset="0"/>
                <a:ea typeface="Courier New" pitchFamily="34" charset="-122"/>
                <a:cs typeface="Courier New" pitchFamily="34" charset="-120"/>
              </a:rPr>
              <a:t>Hi from Node js</a:t>
            </a:r>
            <a:endParaRPr lang="en-US" sz="1200" dirty="0"/>
          </a:p>
        </p:txBody>
      </p:sp>
      <p:sp>
        <p:nvSpPr>
          <p:cNvPr id="39" name="Text 37"/>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216152" cy="310896"/>
          </a:xfrm>
          <a:prstGeom prst="roundRect">
            <a:avLst>
              <a:gd name="adj" fmla="val 50000"/>
            </a:avLst>
          </a:prstGeom>
          <a:solidFill>
            <a:srgbClr val="2563EB"/>
          </a:solidFill>
          <a:ln/>
        </p:spPr>
      </p:sp>
      <p:sp>
        <p:nvSpPr>
          <p:cNvPr id="3" name="Text 1"/>
          <p:cNvSpPr/>
          <p:nvPr/>
        </p:nvSpPr>
        <p:spPr>
          <a:xfrm>
            <a:off x="548640" y="457200"/>
            <a:ext cx="1216152"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AFTER NODE</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What JavaScript can build now</a:t>
            </a:r>
            <a:endParaRPr lang="en-US" sz="3400" dirty="0"/>
          </a:p>
        </p:txBody>
      </p:sp>
      <p:sp>
        <p:nvSpPr>
          <p:cNvPr id="5" name="Shape 3"/>
          <p:cNvSpPr/>
          <p:nvPr/>
        </p:nvSpPr>
        <p:spPr>
          <a:xfrm>
            <a:off x="548640" y="2011680"/>
            <a:ext cx="3611880" cy="1874520"/>
          </a:xfrm>
          <a:prstGeom prst="roundRect">
            <a:avLst>
              <a:gd name="adj" fmla="val 5854"/>
            </a:avLst>
          </a:prstGeom>
          <a:solidFill>
            <a:srgbClr val="E7FBEF"/>
          </a:solidFill>
          <a:ln/>
          <a:effectLst>
            <a:outerShdw sx="100000" sy="100000" kx="0" ky="0" algn="bl" rotWithShape="0" blurRad="101600" dist="38100" dir="5400000">
              <a:srgbClr val="0B1220">
                <a:alpha val="18000"/>
              </a:srgbClr>
            </a:outerShdw>
          </a:effectLst>
        </p:spPr>
      </p:sp>
      <p:sp>
        <p:nvSpPr>
          <p:cNvPr id="6" name="Shape 4"/>
          <p:cNvSpPr/>
          <p:nvPr/>
        </p:nvSpPr>
        <p:spPr>
          <a:xfrm>
            <a:off x="822960" y="2304288"/>
            <a:ext cx="658368" cy="658368"/>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994136" y="2475464"/>
            <a:ext cx="316017" cy="316017"/>
          </a:xfrm>
          <a:prstGeom prst="rect">
            <a:avLst/>
          </a:prstGeom>
        </p:spPr>
      </p:pic>
      <p:sp>
        <p:nvSpPr>
          <p:cNvPr id="8" name="Text 5"/>
          <p:cNvSpPr/>
          <p:nvPr/>
        </p:nvSpPr>
        <p:spPr>
          <a:xfrm>
            <a:off x="1600200" y="2359152"/>
            <a:ext cx="2331720" cy="384048"/>
          </a:xfrm>
          <a:prstGeom prst="rect">
            <a:avLst/>
          </a:prstGeom>
          <a:noFill/>
          <a:ln/>
        </p:spPr>
        <p:txBody>
          <a:bodyPr wrap="square" lIns="0" tIns="0" rIns="0" bIns="0" rtlCol="0" anchor="ctr"/>
          <a:lstStyle/>
          <a:p>
            <a:pPr algn="l" indent="0" marL="0">
              <a:buNone/>
            </a:pPr>
            <a:r>
              <a:rPr lang="en-US" sz="1600" b="1" dirty="0">
                <a:solidFill>
                  <a:srgbClr val="14532D"/>
                </a:solidFill>
                <a:latin typeface="Calibri" pitchFamily="34" charset="0"/>
                <a:ea typeface="Calibri" pitchFamily="34" charset="-122"/>
                <a:cs typeface="Calibri" pitchFamily="34" charset="-120"/>
              </a:rPr>
              <a:t>Servers</a:t>
            </a:r>
            <a:endParaRPr lang="en-US" sz="1600" dirty="0"/>
          </a:p>
        </p:txBody>
      </p:sp>
      <p:sp>
        <p:nvSpPr>
          <p:cNvPr id="9" name="Text 6"/>
          <p:cNvSpPr/>
          <p:nvPr/>
        </p:nvSpPr>
        <p:spPr>
          <a:xfrm>
            <a:off x="822960" y="3108960"/>
            <a:ext cx="3063240" cy="640080"/>
          </a:xfrm>
          <a:prstGeom prst="rect">
            <a:avLst/>
          </a:prstGeom>
          <a:noFill/>
          <a:ln/>
        </p:spPr>
        <p:txBody>
          <a:bodyPr wrap="square" lIns="0" tIns="0" rIns="0" bIns="0" rtlCol="0" anchor="t"/>
          <a:lstStyle/>
          <a:p>
            <a:pPr algn="l" indent="0" marL="0">
              <a:buNone/>
            </a:pPr>
            <a:r>
              <a:rPr lang="en-US" sz="1250" dirty="0">
                <a:solidFill>
                  <a:srgbClr val="14532D"/>
                </a:solidFill>
                <a:latin typeface="Calibri" pitchFamily="34" charset="0"/>
                <a:ea typeface="Calibri" pitchFamily="34" charset="-122"/>
                <a:cs typeface="Calibri" pitchFamily="34" charset="-120"/>
              </a:rPr>
              <a:t>Node and Express power real backends</a:t>
            </a:r>
            <a:endParaRPr lang="en-US" sz="1250" dirty="0"/>
          </a:p>
        </p:txBody>
      </p:sp>
      <p:sp>
        <p:nvSpPr>
          <p:cNvPr id="10" name="Shape 7"/>
          <p:cNvSpPr/>
          <p:nvPr/>
        </p:nvSpPr>
        <p:spPr>
          <a:xfrm>
            <a:off x="4416552" y="2011680"/>
            <a:ext cx="3611880" cy="1874520"/>
          </a:xfrm>
          <a:prstGeom prst="roundRect">
            <a:avLst>
              <a:gd name="adj" fmla="val 5854"/>
            </a:avLst>
          </a:prstGeom>
          <a:solidFill>
            <a:srgbClr val="E5EEFF"/>
          </a:solidFill>
          <a:ln/>
          <a:effectLst>
            <a:outerShdw sx="100000" sy="100000" kx="0" ky="0" algn="bl" rotWithShape="0" blurRad="101600" dist="38100" dir="5400000">
              <a:srgbClr val="0B1220">
                <a:alpha val="18000"/>
              </a:srgbClr>
            </a:outerShdw>
          </a:effectLst>
        </p:spPr>
      </p:sp>
      <p:sp>
        <p:nvSpPr>
          <p:cNvPr id="11" name="Shape 8"/>
          <p:cNvSpPr/>
          <p:nvPr/>
        </p:nvSpPr>
        <p:spPr>
          <a:xfrm>
            <a:off x="4690872" y="2304288"/>
            <a:ext cx="658368" cy="658368"/>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4862048" y="2475464"/>
            <a:ext cx="316017" cy="316017"/>
          </a:xfrm>
          <a:prstGeom prst="rect">
            <a:avLst/>
          </a:prstGeom>
        </p:spPr>
      </p:pic>
      <p:sp>
        <p:nvSpPr>
          <p:cNvPr id="13" name="Text 9"/>
          <p:cNvSpPr/>
          <p:nvPr/>
        </p:nvSpPr>
        <p:spPr>
          <a:xfrm>
            <a:off x="5468112" y="2359152"/>
            <a:ext cx="2331720" cy="384048"/>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Web apps</a:t>
            </a:r>
            <a:endParaRPr lang="en-US" sz="1600" dirty="0"/>
          </a:p>
        </p:txBody>
      </p:sp>
      <p:sp>
        <p:nvSpPr>
          <p:cNvPr id="14" name="Text 10"/>
          <p:cNvSpPr/>
          <p:nvPr/>
        </p:nvSpPr>
        <p:spPr>
          <a:xfrm>
            <a:off x="4690872" y="3108960"/>
            <a:ext cx="3063240" cy="640080"/>
          </a:xfrm>
          <a:prstGeom prst="rect">
            <a:avLst/>
          </a:prstGeom>
          <a:noFill/>
          <a:ln/>
        </p:spPr>
        <p:txBody>
          <a:bodyPr wrap="square" lIns="0" tIns="0" rIns="0" bIns="0" rtlCol="0" anchor="t"/>
          <a:lstStyle/>
          <a:p>
            <a:pPr algn="l" indent="0" marL="0">
              <a:buNone/>
            </a:pPr>
            <a:r>
              <a:rPr lang="en-US" sz="1250" dirty="0">
                <a:solidFill>
                  <a:srgbClr val="0F172A"/>
                </a:solidFill>
                <a:latin typeface="Calibri" pitchFamily="34" charset="0"/>
                <a:ea typeface="Calibri" pitchFamily="34" charset="-122"/>
                <a:cs typeface="Calibri" pitchFamily="34" charset="-120"/>
              </a:rPr>
              <a:t>React, and MongoDB on the data side</a:t>
            </a:r>
            <a:endParaRPr lang="en-US" sz="1250" dirty="0"/>
          </a:p>
        </p:txBody>
      </p:sp>
      <p:sp>
        <p:nvSpPr>
          <p:cNvPr id="15" name="Shape 11"/>
          <p:cNvSpPr/>
          <p:nvPr/>
        </p:nvSpPr>
        <p:spPr>
          <a:xfrm>
            <a:off x="8284464" y="2011680"/>
            <a:ext cx="3611880" cy="1874520"/>
          </a:xfrm>
          <a:prstGeom prst="roundRect">
            <a:avLst>
              <a:gd name="adj" fmla="val 5854"/>
            </a:avLst>
          </a:prstGeom>
          <a:solidFill>
            <a:srgbClr val="FFF3E0"/>
          </a:solidFill>
          <a:ln/>
          <a:effectLst>
            <a:outerShdw sx="100000" sy="100000" kx="0" ky="0" algn="bl" rotWithShape="0" blurRad="101600" dist="38100" dir="5400000">
              <a:srgbClr val="0B1220">
                <a:alpha val="18000"/>
              </a:srgbClr>
            </a:outerShdw>
          </a:effectLst>
        </p:spPr>
      </p:sp>
      <p:sp>
        <p:nvSpPr>
          <p:cNvPr id="16" name="Shape 12"/>
          <p:cNvSpPr/>
          <p:nvPr/>
        </p:nvSpPr>
        <p:spPr>
          <a:xfrm>
            <a:off x="8558784" y="2304288"/>
            <a:ext cx="658368" cy="658368"/>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8729960" y="2475464"/>
            <a:ext cx="316017" cy="316017"/>
          </a:xfrm>
          <a:prstGeom prst="rect">
            <a:avLst/>
          </a:prstGeom>
        </p:spPr>
      </p:pic>
      <p:sp>
        <p:nvSpPr>
          <p:cNvPr id="18" name="Text 13"/>
          <p:cNvSpPr/>
          <p:nvPr/>
        </p:nvSpPr>
        <p:spPr>
          <a:xfrm>
            <a:off x="9336024" y="2359152"/>
            <a:ext cx="2331720" cy="384048"/>
          </a:xfrm>
          <a:prstGeom prst="rect">
            <a:avLst/>
          </a:prstGeom>
          <a:noFill/>
          <a:ln/>
        </p:spPr>
        <p:txBody>
          <a:bodyPr wrap="square" lIns="0" tIns="0" rIns="0" bIns="0" rtlCol="0" anchor="ctr"/>
          <a:lstStyle/>
          <a:p>
            <a:pPr algn="l" indent="0" marL="0">
              <a:buNone/>
            </a:pPr>
            <a:r>
              <a:rPr lang="en-US" sz="1600" b="1" dirty="0">
                <a:solidFill>
                  <a:srgbClr val="7A4A05"/>
                </a:solidFill>
                <a:latin typeface="Calibri" pitchFamily="34" charset="0"/>
                <a:ea typeface="Calibri" pitchFamily="34" charset="-122"/>
                <a:cs typeface="Calibri" pitchFamily="34" charset="-120"/>
              </a:rPr>
              <a:t>Mobile apps</a:t>
            </a:r>
            <a:endParaRPr lang="en-US" sz="1600" dirty="0"/>
          </a:p>
        </p:txBody>
      </p:sp>
      <p:sp>
        <p:nvSpPr>
          <p:cNvPr id="19" name="Text 14"/>
          <p:cNvSpPr/>
          <p:nvPr/>
        </p:nvSpPr>
        <p:spPr>
          <a:xfrm>
            <a:off x="8558784" y="3108960"/>
            <a:ext cx="3063240" cy="640080"/>
          </a:xfrm>
          <a:prstGeom prst="rect">
            <a:avLst/>
          </a:prstGeom>
          <a:noFill/>
          <a:ln/>
        </p:spPr>
        <p:txBody>
          <a:bodyPr wrap="square" lIns="0" tIns="0" rIns="0" bIns="0" rtlCol="0" anchor="t"/>
          <a:lstStyle/>
          <a:p>
            <a:pPr algn="l" indent="0" marL="0">
              <a:buNone/>
            </a:pPr>
            <a:r>
              <a:rPr lang="en-US" sz="1250" dirty="0">
                <a:solidFill>
                  <a:srgbClr val="7A4A05"/>
                </a:solidFill>
                <a:latin typeface="Calibri" pitchFamily="34" charset="0"/>
                <a:ea typeface="Calibri" pitchFamily="34" charset="-122"/>
                <a:cs typeface="Calibri" pitchFamily="34" charset="-120"/>
              </a:rPr>
              <a:t>React Native and Ionic</a:t>
            </a:r>
            <a:endParaRPr lang="en-US" sz="1250" dirty="0"/>
          </a:p>
        </p:txBody>
      </p:sp>
      <p:sp>
        <p:nvSpPr>
          <p:cNvPr id="20" name="Shape 15"/>
          <p:cNvSpPr/>
          <p:nvPr/>
        </p:nvSpPr>
        <p:spPr>
          <a:xfrm>
            <a:off x="548640" y="4087368"/>
            <a:ext cx="3611880" cy="1874520"/>
          </a:xfrm>
          <a:prstGeom prst="roundRect">
            <a:avLst>
              <a:gd name="adj" fmla="val 5854"/>
            </a:avLst>
          </a:prstGeom>
          <a:solidFill>
            <a:srgbClr val="EEF2FF"/>
          </a:solidFill>
          <a:ln/>
          <a:effectLst>
            <a:outerShdw sx="100000" sy="100000" kx="0" ky="0" algn="bl" rotWithShape="0" blurRad="101600" dist="38100" dir="5400000">
              <a:srgbClr val="0B1220">
                <a:alpha val="18000"/>
              </a:srgbClr>
            </a:outerShdw>
          </a:effectLst>
        </p:spPr>
      </p:sp>
      <p:sp>
        <p:nvSpPr>
          <p:cNvPr id="21" name="Shape 16"/>
          <p:cNvSpPr/>
          <p:nvPr/>
        </p:nvSpPr>
        <p:spPr>
          <a:xfrm>
            <a:off x="822960" y="4379976"/>
            <a:ext cx="658368" cy="658368"/>
          </a:xfrm>
          <a:prstGeom prst="ellipse">
            <a:avLst/>
          </a:prstGeom>
          <a:solidFill>
            <a:srgbClr val="FFFFFF"/>
          </a:solidFill>
          <a:ln/>
        </p:spPr>
      </p:sp>
      <p:pic>
        <p:nvPicPr>
          <p:cNvPr id="22" name="Image 3" descr="preencoded.png">    </p:cNvPr>
          <p:cNvPicPr>
            <a:picLocks noChangeAspect="1"/>
          </p:cNvPicPr>
          <p:nvPr/>
        </p:nvPicPr>
        <p:blipFill>
          <a:blip r:embed="rId4"/>
          <a:stretch>
            <a:fillRect/>
          </a:stretch>
        </p:blipFill>
        <p:spPr>
          <a:xfrm>
            <a:off x="994136" y="4551152"/>
            <a:ext cx="316017" cy="316017"/>
          </a:xfrm>
          <a:prstGeom prst="rect">
            <a:avLst/>
          </a:prstGeom>
        </p:spPr>
      </p:pic>
      <p:sp>
        <p:nvSpPr>
          <p:cNvPr id="23" name="Text 17"/>
          <p:cNvSpPr/>
          <p:nvPr/>
        </p:nvSpPr>
        <p:spPr>
          <a:xfrm>
            <a:off x="1600200" y="4434840"/>
            <a:ext cx="2331720" cy="384048"/>
          </a:xfrm>
          <a:prstGeom prst="rect">
            <a:avLst/>
          </a:prstGeom>
          <a:noFill/>
          <a:ln/>
        </p:spPr>
        <p:txBody>
          <a:bodyPr wrap="square" lIns="0" tIns="0" rIns="0" bIns="0" rtlCol="0" anchor="ctr"/>
          <a:lstStyle/>
          <a:p>
            <a:pPr algn="l" indent="0" marL="0">
              <a:buNone/>
            </a:pPr>
            <a:r>
              <a:rPr lang="en-US" sz="1600" b="1" dirty="0">
                <a:solidFill>
                  <a:srgbClr val="3B2E7A"/>
                </a:solidFill>
                <a:latin typeface="Calibri" pitchFamily="34" charset="0"/>
                <a:ea typeface="Calibri" pitchFamily="34" charset="-122"/>
                <a:cs typeface="Calibri" pitchFamily="34" charset="-120"/>
              </a:rPr>
              <a:t>Desktop apps</a:t>
            </a:r>
            <a:endParaRPr lang="en-US" sz="1600" dirty="0"/>
          </a:p>
        </p:txBody>
      </p:sp>
      <p:sp>
        <p:nvSpPr>
          <p:cNvPr id="24" name="Text 18"/>
          <p:cNvSpPr/>
          <p:nvPr/>
        </p:nvSpPr>
        <p:spPr>
          <a:xfrm>
            <a:off x="822960" y="5184648"/>
            <a:ext cx="3063240" cy="640080"/>
          </a:xfrm>
          <a:prstGeom prst="rect">
            <a:avLst/>
          </a:prstGeom>
          <a:noFill/>
          <a:ln/>
        </p:spPr>
        <p:txBody>
          <a:bodyPr wrap="square" lIns="0" tIns="0" rIns="0" bIns="0" rtlCol="0" anchor="t"/>
          <a:lstStyle/>
          <a:p>
            <a:pPr algn="l" indent="0" marL="0">
              <a:buNone/>
            </a:pPr>
            <a:r>
              <a:rPr lang="en-US" sz="1250" dirty="0">
                <a:solidFill>
                  <a:srgbClr val="3B2E7A"/>
                </a:solidFill>
                <a:latin typeface="Calibri" pitchFamily="34" charset="0"/>
                <a:ea typeface="Calibri" pitchFamily="34" charset="-122"/>
                <a:cs typeface="Calibri" pitchFamily="34" charset="-120"/>
              </a:rPr>
              <a:t>Electron. VS Code itself is built on it</a:t>
            </a:r>
            <a:endParaRPr lang="en-US" sz="1250" dirty="0"/>
          </a:p>
        </p:txBody>
      </p:sp>
      <p:sp>
        <p:nvSpPr>
          <p:cNvPr id="25" name="Shape 19"/>
          <p:cNvSpPr/>
          <p:nvPr/>
        </p:nvSpPr>
        <p:spPr>
          <a:xfrm>
            <a:off x="4416552" y="4087368"/>
            <a:ext cx="3611880" cy="1874520"/>
          </a:xfrm>
          <a:prstGeom prst="roundRect">
            <a:avLst>
              <a:gd name="adj" fmla="val 5854"/>
            </a:avLst>
          </a:prstGeom>
          <a:solidFill>
            <a:srgbClr val="FEF2F4"/>
          </a:solidFill>
          <a:ln/>
          <a:effectLst>
            <a:outerShdw sx="100000" sy="100000" kx="0" ky="0" algn="bl" rotWithShape="0" blurRad="101600" dist="38100" dir="5400000">
              <a:srgbClr val="0B1220">
                <a:alpha val="18000"/>
              </a:srgbClr>
            </a:outerShdw>
          </a:effectLst>
        </p:spPr>
      </p:sp>
      <p:sp>
        <p:nvSpPr>
          <p:cNvPr id="26" name="Shape 20"/>
          <p:cNvSpPr/>
          <p:nvPr/>
        </p:nvSpPr>
        <p:spPr>
          <a:xfrm>
            <a:off x="4690872" y="4379976"/>
            <a:ext cx="658368" cy="658368"/>
          </a:xfrm>
          <a:prstGeom prst="ellipse">
            <a:avLst/>
          </a:prstGeom>
          <a:solidFill>
            <a:srgbClr val="FFFFFF"/>
          </a:solidFill>
          <a:ln/>
        </p:spPr>
      </p:sp>
      <p:pic>
        <p:nvPicPr>
          <p:cNvPr id="27" name="Image 4" descr="preencoded.png">    </p:cNvPr>
          <p:cNvPicPr>
            <a:picLocks noChangeAspect="1"/>
          </p:cNvPicPr>
          <p:nvPr/>
        </p:nvPicPr>
        <p:blipFill>
          <a:blip r:embed="rId5"/>
          <a:stretch>
            <a:fillRect/>
          </a:stretch>
        </p:blipFill>
        <p:spPr>
          <a:xfrm>
            <a:off x="4862048" y="4551152"/>
            <a:ext cx="316017" cy="316017"/>
          </a:xfrm>
          <a:prstGeom prst="rect">
            <a:avLst/>
          </a:prstGeom>
        </p:spPr>
      </p:pic>
      <p:sp>
        <p:nvSpPr>
          <p:cNvPr id="28" name="Text 21"/>
          <p:cNvSpPr/>
          <p:nvPr/>
        </p:nvSpPr>
        <p:spPr>
          <a:xfrm>
            <a:off x="5468112" y="4434840"/>
            <a:ext cx="2331720" cy="384048"/>
          </a:xfrm>
          <a:prstGeom prst="rect">
            <a:avLst/>
          </a:prstGeom>
          <a:noFill/>
          <a:ln/>
        </p:spPr>
        <p:txBody>
          <a:bodyPr wrap="square" lIns="0" tIns="0" rIns="0" bIns="0" rtlCol="0" anchor="ctr"/>
          <a:lstStyle/>
          <a:p>
            <a:pPr algn="l" indent="0" marL="0">
              <a:buNone/>
            </a:pPr>
            <a:r>
              <a:rPr lang="en-US" sz="1600" b="1" dirty="0">
                <a:solidFill>
                  <a:srgbClr val="7F1D3A"/>
                </a:solidFill>
                <a:latin typeface="Calibri" pitchFamily="34" charset="0"/>
                <a:ea typeface="Calibri" pitchFamily="34" charset="-122"/>
                <a:cs typeface="Calibri" pitchFamily="34" charset="-120"/>
              </a:rPr>
              <a:t>AI and ML</a:t>
            </a:r>
            <a:endParaRPr lang="en-US" sz="1600" dirty="0"/>
          </a:p>
        </p:txBody>
      </p:sp>
      <p:sp>
        <p:nvSpPr>
          <p:cNvPr id="29" name="Text 22"/>
          <p:cNvSpPr/>
          <p:nvPr/>
        </p:nvSpPr>
        <p:spPr>
          <a:xfrm>
            <a:off x="4690872" y="5184648"/>
            <a:ext cx="3063240" cy="640080"/>
          </a:xfrm>
          <a:prstGeom prst="rect">
            <a:avLst/>
          </a:prstGeom>
          <a:noFill/>
          <a:ln/>
        </p:spPr>
        <p:txBody>
          <a:bodyPr wrap="square" lIns="0" tIns="0" rIns="0" bIns="0" rtlCol="0" anchor="t"/>
          <a:lstStyle/>
          <a:p>
            <a:pPr algn="l" indent="0" marL="0">
              <a:buNone/>
            </a:pPr>
            <a:r>
              <a:rPr lang="en-US" sz="1250" dirty="0">
                <a:solidFill>
                  <a:srgbClr val="7F1D3A"/>
                </a:solidFill>
                <a:latin typeface="Calibri" pitchFamily="34" charset="0"/>
                <a:ea typeface="Calibri" pitchFamily="34" charset="-122"/>
                <a:cs typeface="Calibri" pitchFamily="34" charset="-120"/>
              </a:rPr>
              <a:t>TensorFlow.js runs models in the browser</a:t>
            </a:r>
            <a:endParaRPr lang="en-US" sz="1250" dirty="0"/>
          </a:p>
        </p:txBody>
      </p:sp>
      <p:sp>
        <p:nvSpPr>
          <p:cNvPr id="30" name="Shape 23"/>
          <p:cNvSpPr/>
          <p:nvPr/>
        </p:nvSpPr>
        <p:spPr>
          <a:xfrm>
            <a:off x="8284464" y="4087368"/>
            <a:ext cx="3611880" cy="1874520"/>
          </a:xfrm>
          <a:prstGeom prst="roundRect">
            <a:avLst>
              <a:gd name="adj" fmla="val 5854"/>
            </a:avLst>
          </a:prstGeom>
          <a:solidFill>
            <a:srgbClr val="F1F5F9"/>
          </a:solidFill>
          <a:ln/>
          <a:effectLst>
            <a:outerShdw sx="100000" sy="100000" kx="0" ky="0" algn="bl" rotWithShape="0" blurRad="101600" dist="38100" dir="5400000">
              <a:srgbClr val="0B1220">
                <a:alpha val="18000"/>
              </a:srgbClr>
            </a:outerShdw>
          </a:effectLst>
        </p:spPr>
      </p:sp>
      <p:sp>
        <p:nvSpPr>
          <p:cNvPr id="31" name="Shape 24"/>
          <p:cNvSpPr/>
          <p:nvPr/>
        </p:nvSpPr>
        <p:spPr>
          <a:xfrm>
            <a:off x="8558784" y="4379976"/>
            <a:ext cx="658368" cy="658368"/>
          </a:xfrm>
          <a:prstGeom prst="ellipse">
            <a:avLst/>
          </a:prstGeom>
          <a:solidFill>
            <a:srgbClr val="FFFFFF"/>
          </a:solidFill>
          <a:ln/>
        </p:spPr>
      </p:sp>
      <p:pic>
        <p:nvPicPr>
          <p:cNvPr id="32" name="Image 5" descr="preencoded.png">    </p:cNvPr>
          <p:cNvPicPr>
            <a:picLocks noChangeAspect="1"/>
          </p:cNvPicPr>
          <p:nvPr/>
        </p:nvPicPr>
        <p:blipFill>
          <a:blip r:embed="rId6"/>
          <a:stretch>
            <a:fillRect/>
          </a:stretch>
        </p:blipFill>
        <p:spPr>
          <a:xfrm>
            <a:off x="8729960" y="4551152"/>
            <a:ext cx="316017" cy="316017"/>
          </a:xfrm>
          <a:prstGeom prst="rect">
            <a:avLst/>
          </a:prstGeom>
        </p:spPr>
      </p:pic>
      <p:sp>
        <p:nvSpPr>
          <p:cNvPr id="33" name="Text 25"/>
          <p:cNvSpPr/>
          <p:nvPr/>
        </p:nvSpPr>
        <p:spPr>
          <a:xfrm>
            <a:off x="9336024" y="4434840"/>
            <a:ext cx="2331720" cy="384048"/>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AR and VR</a:t>
            </a:r>
            <a:endParaRPr lang="en-US" sz="1600" dirty="0"/>
          </a:p>
        </p:txBody>
      </p:sp>
      <p:sp>
        <p:nvSpPr>
          <p:cNvPr id="34" name="Text 26"/>
          <p:cNvSpPr/>
          <p:nvPr/>
        </p:nvSpPr>
        <p:spPr>
          <a:xfrm>
            <a:off x="8558784" y="5184648"/>
            <a:ext cx="3063240" cy="640080"/>
          </a:xfrm>
          <a:prstGeom prst="rect">
            <a:avLst/>
          </a:prstGeom>
          <a:noFill/>
          <a:ln/>
        </p:spPr>
        <p:txBody>
          <a:bodyPr wrap="square" lIns="0" tIns="0" rIns="0" bIns="0" rtlCol="0" anchor="t"/>
          <a:lstStyle/>
          <a:p>
            <a:pPr algn="l" indent="0" marL="0">
              <a:buNone/>
            </a:pPr>
            <a:r>
              <a:rPr lang="en-US" sz="1250" dirty="0">
                <a:solidFill>
                  <a:srgbClr val="0F172A"/>
                </a:solidFill>
                <a:latin typeface="Calibri" pitchFamily="34" charset="0"/>
                <a:ea typeface="Calibri" pitchFamily="34" charset="-122"/>
                <a:cs typeface="Calibri" pitchFamily="34" charset="-120"/>
              </a:rPr>
              <a:t>the metaverse layer is JavaScript too</a:t>
            </a:r>
            <a:endParaRPr lang="en-US" sz="1250" dirty="0"/>
          </a:p>
        </p:txBody>
      </p:sp>
      <p:sp>
        <p:nvSpPr>
          <p:cNvPr id="35" name="Text 27"/>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502920"/>
            <a:ext cx="1371600" cy="310896"/>
          </a:xfrm>
          <a:prstGeom prst="roundRect">
            <a:avLst>
              <a:gd name="adj" fmla="val 50000"/>
            </a:avLst>
          </a:prstGeom>
          <a:solidFill>
            <a:srgbClr val="8B5CF6"/>
          </a:solidFill>
          <a:ln/>
        </p:spPr>
      </p:sp>
      <p:sp>
        <p:nvSpPr>
          <p:cNvPr id="3" name="Text 1"/>
          <p:cNvSpPr/>
          <p:nvPr/>
        </p:nvSpPr>
        <p:spPr>
          <a:xfrm>
            <a:off x="548640" y="50292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QUIZ 1</a:t>
            </a:r>
            <a:endParaRPr lang="en-US" sz="1100" dirty="0"/>
          </a:p>
        </p:txBody>
      </p:sp>
      <p:sp>
        <p:nvSpPr>
          <p:cNvPr id="4" name="Text 2"/>
          <p:cNvSpPr/>
          <p:nvPr/>
        </p:nvSpPr>
        <p:spPr>
          <a:xfrm>
            <a:off x="548640" y="1005840"/>
            <a:ext cx="11064240" cy="1005840"/>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What is Node.js?</a:t>
            </a:r>
            <a:endParaRPr lang="en-US" sz="3000" dirty="0"/>
          </a:p>
        </p:txBody>
      </p:sp>
      <p:sp>
        <p:nvSpPr>
          <p:cNvPr id="5" name="Shape 3"/>
          <p:cNvSpPr/>
          <p:nvPr/>
        </p:nvSpPr>
        <p:spPr>
          <a:xfrm>
            <a:off x="54864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22960" y="2715768"/>
            <a:ext cx="457200" cy="457200"/>
          </a:xfrm>
          <a:prstGeom prst="roundRect">
            <a:avLst>
              <a:gd name="adj" fmla="val 20000"/>
            </a:avLst>
          </a:prstGeom>
          <a:solidFill>
            <a:srgbClr val="2563EB"/>
          </a:solidFill>
          <a:ln/>
        </p:spPr>
      </p:sp>
      <p:sp>
        <p:nvSpPr>
          <p:cNvPr id="7" name="Text 5"/>
          <p:cNvSpPr/>
          <p:nvPr/>
        </p:nvSpPr>
        <p:spPr>
          <a:xfrm>
            <a:off x="82296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150876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A JavaScript library for building UIs</a:t>
            </a:r>
            <a:endParaRPr lang="en-US" sz="1500" dirty="0"/>
          </a:p>
        </p:txBody>
      </p:sp>
      <p:sp>
        <p:nvSpPr>
          <p:cNvPr id="9" name="Shape 7"/>
          <p:cNvSpPr/>
          <p:nvPr/>
        </p:nvSpPr>
        <p:spPr>
          <a:xfrm>
            <a:off x="628650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0" name="Shape 8"/>
          <p:cNvSpPr/>
          <p:nvPr/>
        </p:nvSpPr>
        <p:spPr>
          <a:xfrm>
            <a:off x="6560820" y="2715768"/>
            <a:ext cx="457200" cy="457200"/>
          </a:xfrm>
          <a:prstGeom prst="roundRect">
            <a:avLst>
              <a:gd name="adj" fmla="val 20000"/>
            </a:avLst>
          </a:prstGeom>
          <a:solidFill>
            <a:srgbClr val="2563EB"/>
          </a:solidFill>
          <a:ln/>
        </p:spPr>
      </p:sp>
      <p:sp>
        <p:nvSpPr>
          <p:cNvPr id="11" name="Text 9"/>
          <p:cNvSpPr/>
          <p:nvPr/>
        </p:nvSpPr>
        <p:spPr>
          <a:xfrm>
            <a:off x="656082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724662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A runtime that lets JavaScript run outside the browser</a:t>
            </a:r>
            <a:endParaRPr lang="en-US" sz="1500" dirty="0"/>
          </a:p>
        </p:txBody>
      </p:sp>
      <p:sp>
        <p:nvSpPr>
          <p:cNvPr id="13" name="Shape 11"/>
          <p:cNvSpPr/>
          <p:nvPr/>
        </p:nvSpPr>
        <p:spPr>
          <a:xfrm>
            <a:off x="54864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4" name="Shape 12"/>
          <p:cNvSpPr/>
          <p:nvPr/>
        </p:nvSpPr>
        <p:spPr>
          <a:xfrm>
            <a:off x="822960" y="4315968"/>
            <a:ext cx="457200" cy="457200"/>
          </a:xfrm>
          <a:prstGeom prst="roundRect">
            <a:avLst>
              <a:gd name="adj" fmla="val 20000"/>
            </a:avLst>
          </a:prstGeom>
          <a:solidFill>
            <a:srgbClr val="2563EB"/>
          </a:solidFill>
          <a:ln/>
        </p:spPr>
      </p:sp>
      <p:sp>
        <p:nvSpPr>
          <p:cNvPr id="15" name="Text 13"/>
          <p:cNvSpPr/>
          <p:nvPr/>
        </p:nvSpPr>
        <p:spPr>
          <a:xfrm>
            <a:off x="82296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6" name="Text 14"/>
          <p:cNvSpPr/>
          <p:nvPr/>
        </p:nvSpPr>
        <p:spPr>
          <a:xfrm>
            <a:off x="150876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A browser built for developers</a:t>
            </a:r>
            <a:endParaRPr lang="en-US" sz="1500" dirty="0"/>
          </a:p>
        </p:txBody>
      </p:sp>
      <p:sp>
        <p:nvSpPr>
          <p:cNvPr id="17" name="Shape 15"/>
          <p:cNvSpPr/>
          <p:nvPr/>
        </p:nvSpPr>
        <p:spPr>
          <a:xfrm>
            <a:off x="628650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8" name="Shape 16"/>
          <p:cNvSpPr/>
          <p:nvPr/>
        </p:nvSpPr>
        <p:spPr>
          <a:xfrm>
            <a:off x="6560820" y="4315968"/>
            <a:ext cx="457200" cy="457200"/>
          </a:xfrm>
          <a:prstGeom prst="roundRect">
            <a:avLst>
              <a:gd name="adj" fmla="val 20000"/>
            </a:avLst>
          </a:prstGeom>
          <a:solidFill>
            <a:srgbClr val="2563EB"/>
          </a:solidFill>
          <a:ln/>
        </p:spPr>
      </p:sp>
      <p:sp>
        <p:nvSpPr>
          <p:cNvPr id="19" name="Text 17"/>
          <p:cNvSpPr/>
          <p:nvPr/>
        </p:nvSpPr>
        <p:spPr>
          <a:xfrm>
            <a:off x="656082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0" name="Text 18"/>
          <p:cNvSpPr/>
          <p:nvPr/>
        </p:nvSpPr>
        <p:spPr>
          <a:xfrm>
            <a:off x="724662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A replacement for the V8 engine</a:t>
            </a:r>
            <a:endParaRPr lang="en-US" sz="1500" dirty="0"/>
          </a:p>
        </p:txBody>
      </p:sp>
      <p:sp>
        <p:nvSpPr>
          <p:cNvPr id="21" name="Shape 19"/>
          <p:cNvSpPr/>
          <p:nvPr/>
        </p:nvSpPr>
        <p:spPr>
          <a:xfrm>
            <a:off x="548640" y="5532120"/>
            <a:ext cx="11109960" cy="777240"/>
          </a:xfrm>
          <a:prstGeom prst="roundRect">
            <a:avLst>
              <a:gd name="adj" fmla="val 14118"/>
            </a:avLst>
          </a:prstGeom>
          <a:solidFill>
            <a:srgbClr val="E7FBEF"/>
          </a:solidFill>
          <a:ln/>
        </p:spPr>
      </p:sp>
      <p:sp>
        <p:nvSpPr>
          <p:cNvPr id="22" name="Shape 20"/>
          <p:cNvSpPr/>
          <p:nvPr/>
        </p:nvSpPr>
        <p:spPr>
          <a:xfrm>
            <a:off x="749808" y="5792724"/>
            <a:ext cx="256032" cy="256032"/>
          </a:xfrm>
          <a:prstGeom prst="ellipse">
            <a:avLst/>
          </a:prstGeom>
          <a:solidFill>
            <a:srgbClr val="22C55E"/>
          </a:solidFill>
          <a:ln/>
        </p:spPr>
      </p:sp>
      <p:sp>
        <p:nvSpPr>
          <p:cNvPr id="23" name="Text 21"/>
          <p:cNvSpPr/>
          <p:nvPr/>
        </p:nvSpPr>
        <p:spPr>
          <a:xfrm>
            <a:off x="1207008" y="5532120"/>
            <a:ext cx="10241280" cy="77724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Hands up for A, B, C, D. Then ask: which engine does Node actually use inside it?</a:t>
            </a:r>
            <a:endParaRPr lang="en-US" sz="1400" dirty="0"/>
          </a:p>
        </p:txBody>
      </p:sp>
      <p:sp>
        <p:nvSpPr>
          <p:cNvPr id="24"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Introduction to JavaScript</a:t>
            </a:r>
            <a:endParaRPr lang="en-US" sz="1000" dirty="0"/>
          </a:p>
        </p:txBody>
      </p:sp>
      <p:sp>
        <p:nvSpPr>
          <p:cNvPr id="25"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4480560" y="1371600"/>
            <a:ext cx="3200400" cy="3200400"/>
          </a:xfrm>
          <a:prstGeom prst="ellipse">
            <a:avLst/>
          </a:prstGeom>
          <a:solidFill>
            <a:srgbClr val="2563EB"/>
          </a:solidFill>
          <a:ln/>
          <a:effectLst>
            <a:outerShdw sx="100000" sy="100000" kx="0" ky="0" algn="bl" rotWithShape="0" blurRad="254000" dist="38100" dir="5400000">
              <a:srgbClr val="0B1220">
                <a:alpha val="40000"/>
              </a:srgbClr>
            </a:outerShdw>
          </a:effectLst>
        </p:spPr>
      </p:sp>
      <p:sp>
        <p:nvSpPr>
          <p:cNvPr id="3" name="Shape 1"/>
          <p:cNvSpPr/>
          <p:nvPr/>
        </p:nvSpPr>
        <p:spPr>
          <a:xfrm>
            <a:off x="5394960" y="2286000"/>
            <a:ext cx="1371600" cy="1371600"/>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5751576" y="2642616"/>
            <a:ext cx="658368" cy="658368"/>
          </a:xfrm>
          <a:prstGeom prst="rect">
            <a:avLst/>
          </a:prstGeom>
        </p:spPr>
      </p:pic>
      <p:sp>
        <p:nvSpPr>
          <p:cNvPr id="5" name="Text 2"/>
          <p:cNvSpPr/>
          <p:nvPr/>
        </p:nvSpPr>
        <p:spPr>
          <a:xfrm>
            <a:off x="914400" y="4709160"/>
            <a:ext cx="10360152"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5 minute break</a:t>
            </a:r>
            <a:endParaRPr lang="en-US" sz="4000" dirty="0"/>
          </a:p>
        </p:txBody>
      </p:sp>
      <p:sp>
        <p:nvSpPr>
          <p:cNvPr id="6" name="Text 3"/>
          <p:cNvSpPr/>
          <p:nvPr/>
        </p:nvSpPr>
        <p:spPr>
          <a:xfrm>
            <a:off x="914400" y="5440680"/>
            <a:ext cx="10360152" cy="457200"/>
          </a:xfrm>
          <a:prstGeom prst="rect">
            <a:avLst/>
          </a:prstGeom>
          <a:noFill/>
          <a:ln/>
        </p:spPr>
        <p:txBody>
          <a:bodyPr wrap="square" lIns="0" tIns="0" rIns="0" bIns="0" rtlCol="0" anchor="ctr"/>
          <a:lstStyle/>
          <a:p>
            <a:pPr algn="ctr" indent="0" marL="0">
              <a:buNone/>
            </a:pPr>
            <a:r>
              <a:rPr lang="en-US" sz="1600" dirty="0">
                <a:solidFill>
                  <a:srgbClr val="C7DBFF"/>
                </a:solidFill>
                <a:latin typeface="Calibri" pitchFamily="34" charset="0"/>
                <a:ea typeface="Calibri" pitchFamily="34" charset="-122"/>
                <a:cs typeface="Calibri" pitchFamily="34" charset="-120"/>
              </a:rPr>
              <a:t>Stand up. Water. Rest your eyes. We resume on the dot.</a:t>
            </a:r>
            <a:endParaRPr lang="en-US" sz="1600" dirty="0"/>
          </a:p>
        </p:txBody>
      </p:sp>
      <p:sp>
        <p:nvSpPr>
          <p:cNvPr id="7" name="Shape 4"/>
          <p:cNvSpPr/>
          <p:nvPr/>
        </p:nvSpPr>
        <p:spPr>
          <a:xfrm>
            <a:off x="822960" y="640080"/>
            <a:ext cx="2560320" cy="310896"/>
          </a:xfrm>
          <a:prstGeom prst="roundRect">
            <a:avLst>
              <a:gd name="adj" fmla="val 50000"/>
            </a:avLst>
          </a:prstGeom>
          <a:solidFill>
            <a:srgbClr val="1B2A4A"/>
          </a:solidFill>
          <a:ln/>
        </p:spPr>
      </p:sp>
      <p:sp>
        <p:nvSpPr>
          <p:cNvPr id="8" name="Text 5"/>
          <p:cNvSpPr/>
          <p:nvPr/>
        </p:nvSpPr>
        <p:spPr>
          <a:xfrm>
            <a:off x="822960" y="640080"/>
            <a:ext cx="256032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SETUP AND BACKGROUND DONE</a:t>
            </a:r>
            <a:endParaRPr lang="en-US" sz="1100" dirty="0"/>
          </a:p>
        </p:txBody>
      </p:sp>
      <p:sp>
        <p:nvSpPr>
          <p:cNvPr id="9" name="Text 6"/>
          <p:cNvSpPr/>
          <p:nvPr/>
        </p:nvSpPr>
        <p:spPr>
          <a:xfrm>
            <a:off x="914400" y="5943600"/>
            <a:ext cx="10360152" cy="365760"/>
          </a:xfrm>
          <a:prstGeom prst="rect">
            <a:avLst/>
          </a:prstGeom>
          <a:noFill/>
          <a:ln/>
        </p:spPr>
        <p:txBody>
          <a:bodyPr wrap="square" lIns="0" tIns="0" rIns="0" bIns="0"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Next up: variables and data types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03</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3</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Variables</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Named boxes in memory, and three ways to make them.</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CONCEPT</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Variables and dynamic typing</a:t>
            </a:r>
            <a:endParaRPr lang="en-US" sz="3400" dirty="0"/>
          </a:p>
        </p:txBody>
      </p:sp>
      <p:sp>
        <p:nvSpPr>
          <p:cNvPr id="5" name="Shape 3"/>
          <p:cNvSpPr/>
          <p:nvPr/>
        </p:nvSpPr>
        <p:spPr>
          <a:xfrm>
            <a:off x="548640" y="1965960"/>
            <a:ext cx="5440680" cy="1965960"/>
          </a:xfrm>
          <a:prstGeom prst="roundRect">
            <a:avLst>
              <a:gd name="adj" fmla="val 5581"/>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Text 4"/>
          <p:cNvSpPr/>
          <p:nvPr/>
        </p:nvSpPr>
        <p:spPr>
          <a:xfrm>
            <a:off x="822960" y="2148840"/>
            <a:ext cx="4892040" cy="685800"/>
          </a:xfrm>
          <a:prstGeom prst="rect">
            <a:avLst/>
          </a:prstGeom>
          <a:noFill/>
          <a:ln/>
        </p:spPr>
        <p:txBody>
          <a:bodyPr wrap="square" lIns="0" tIns="0" rIns="0" bIns="0" rtlCol="0" anchor="t"/>
          <a:lstStyle/>
          <a:p>
            <a:pPr algn="l" indent="0" marL="0">
              <a:buNone/>
            </a:pPr>
            <a:r>
              <a:rPr lang="en-US" sz="1550" b="1" dirty="0">
                <a:solidFill>
                  <a:srgbClr val="0F172A"/>
                </a:solidFill>
                <a:latin typeface="Calibri" pitchFamily="34" charset="0"/>
                <a:ea typeface="Calibri" pitchFamily="34" charset="-122"/>
                <a:cs typeface="Calibri" pitchFamily="34" charset="-120"/>
              </a:rPr>
              <a:t>A variable is a named space in memory that holds a value.</a:t>
            </a:r>
            <a:endParaRPr lang="en-US" sz="1550" dirty="0"/>
          </a:p>
        </p:txBody>
      </p:sp>
      <p:sp>
        <p:nvSpPr>
          <p:cNvPr id="7" name="Shape 5"/>
          <p:cNvSpPr/>
          <p:nvPr/>
        </p:nvSpPr>
        <p:spPr>
          <a:xfrm>
            <a:off x="868680" y="2926080"/>
            <a:ext cx="1371600" cy="731520"/>
          </a:xfrm>
          <a:prstGeom prst="roundRect">
            <a:avLst>
              <a:gd name="adj" fmla="val 10000"/>
            </a:avLst>
          </a:prstGeom>
          <a:solidFill>
            <a:srgbClr val="E5EEFF"/>
          </a:solidFill>
          <a:ln w="19050">
            <a:solidFill>
              <a:srgbClr val="2563EB"/>
            </a:solidFill>
            <a:prstDash val="solid"/>
          </a:ln>
        </p:spPr>
      </p:sp>
      <p:sp>
        <p:nvSpPr>
          <p:cNvPr id="8" name="Text 6"/>
          <p:cNvSpPr/>
          <p:nvPr/>
        </p:nvSpPr>
        <p:spPr>
          <a:xfrm>
            <a:off x="868680" y="2926080"/>
            <a:ext cx="1371600" cy="731520"/>
          </a:xfrm>
          <a:prstGeom prst="rect">
            <a:avLst/>
          </a:prstGeom>
          <a:noFill/>
          <a:ln/>
        </p:spPr>
        <p:txBody>
          <a:bodyPr wrap="square" lIns="0" tIns="0" rIns="0" bIns="0" rtlCol="0" anchor="ctr"/>
          <a:lstStyle/>
          <a:p>
            <a:pPr algn="ctr" indent="0" marL="0">
              <a:buNone/>
            </a:pPr>
            <a:r>
              <a:rPr lang="en-US" sz="1800" b="1" dirty="0">
                <a:solidFill>
                  <a:srgbClr val="0F172A"/>
                </a:solidFill>
                <a:latin typeface="Courier New" pitchFamily="34" charset="0"/>
                <a:ea typeface="Courier New" pitchFamily="34" charset="-122"/>
                <a:cs typeface="Courier New" pitchFamily="34" charset="-120"/>
              </a:rPr>
              <a:t>30</a:t>
            </a:r>
            <a:endParaRPr lang="en-US" sz="1800" dirty="0"/>
          </a:p>
        </p:txBody>
      </p:sp>
      <p:sp>
        <p:nvSpPr>
          <p:cNvPr id="9" name="Text 7"/>
          <p:cNvSpPr/>
          <p:nvPr/>
        </p:nvSpPr>
        <p:spPr>
          <a:xfrm>
            <a:off x="868680" y="3657600"/>
            <a:ext cx="1371600" cy="256032"/>
          </a:xfrm>
          <a:prstGeom prst="rect">
            <a:avLst/>
          </a:prstGeom>
          <a:noFill/>
          <a:ln/>
        </p:spPr>
        <p:txBody>
          <a:bodyPr wrap="square" lIns="0" tIns="0" rIns="0" bIns="0" rtlCol="0" anchor="ctr"/>
          <a:lstStyle/>
          <a:p>
            <a:pPr algn="ctr" indent="0" marL="0">
              <a:buNone/>
            </a:pPr>
            <a:r>
              <a:rPr lang="en-US" sz="1200" b="1" dirty="0">
                <a:solidFill>
                  <a:srgbClr val="2563EB"/>
                </a:solidFill>
                <a:latin typeface="Courier New" pitchFamily="34" charset="0"/>
                <a:ea typeface="Courier New" pitchFamily="34" charset="-122"/>
                <a:cs typeface="Courier New" pitchFamily="34" charset="-120"/>
              </a:rPr>
              <a:t>a</a:t>
            </a:r>
            <a:endParaRPr lang="en-US" sz="1200" dirty="0"/>
          </a:p>
        </p:txBody>
      </p:sp>
      <p:sp>
        <p:nvSpPr>
          <p:cNvPr id="10" name="Text 8"/>
          <p:cNvSpPr/>
          <p:nvPr/>
        </p:nvSpPr>
        <p:spPr>
          <a:xfrm>
            <a:off x="2468880" y="2926080"/>
            <a:ext cx="3200400" cy="731520"/>
          </a:xfrm>
          <a:prstGeom prst="rect">
            <a:avLst/>
          </a:prstGeom>
          <a:noFill/>
          <a:ln/>
        </p:spPr>
        <p:txBody>
          <a:bodyPr wrap="square" lIns="0" tIns="0" rIns="0" bIns="0" rtlCol="0" anchor="ctr"/>
          <a:lstStyle/>
          <a:p>
            <a:pPr algn="l" indent="0" marL="0">
              <a:buNone/>
            </a:pPr>
            <a:r>
              <a:rPr lang="en-US" sz="1400" b="1" dirty="0">
                <a:solidFill>
                  <a:srgbClr val="64748B"/>
                </a:solidFill>
                <a:latin typeface="Courier New" pitchFamily="34" charset="0"/>
                <a:ea typeface="Courier New" pitchFamily="34" charset="-122"/>
                <a:cs typeface="Courier New" pitchFamily="34" charset="-120"/>
              </a:rPr>
              <a:t>var a = 30;</a:t>
            </a:r>
            <a:endParaRPr lang="en-US" sz="1400" dirty="0"/>
          </a:p>
        </p:txBody>
      </p:sp>
      <p:sp>
        <p:nvSpPr>
          <p:cNvPr id="11" name="Shape 9"/>
          <p:cNvSpPr/>
          <p:nvPr/>
        </p:nvSpPr>
        <p:spPr>
          <a:xfrm>
            <a:off x="548640" y="4160520"/>
            <a:ext cx="5440680" cy="1965960"/>
          </a:xfrm>
          <a:prstGeom prst="roundRect">
            <a:avLst>
              <a:gd name="adj" fmla="val 5581"/>
            </a:avLst>
          </a:prstGeom>
          <a:solidFill>
            <a:srgbClr val="FFF3E0"/>
          </a:solidFill>
          <a:ln/>
          <a:effectLst>
            <a:outerShdw sx="100000" sy="100000" kx="0" ky="0" algn="bl" rotWithShape="0" blurRad="101600" dist="38100" dir="5400000">
              <a:srgbClr val="0B1220">
                <a:alpha val="18000"/>
              </a:srgbClr>
            </a:outerShdw>
          </a:effectLst>
        </p:spPr>
      </p:sp>
      <p:sp>
        <p:nvSpPr>
          <p:cNvPr id="12" name="Text 10"/>
          <p:cNvSpPr/>
          <p:nvPr/>
        </p:nvSpPr>
        <p:spPr>
          <a:xfrm>
            <a:off x="822960" y="4315968"/>
            <a:ext cx="4892040" cy="347472"/>
          </a:xfrm>
          <a:prstGeom prst="rect">
            <a:avLst/>
          </a:prstGeom>
          <a:noFill/>
          <a:ln/>
        </p:spPr>
        <p:txBody>
          <a:bodyPr wrap="square" lIns="0" tIns="0" rIns="0" bIns="0" rtlCol="0" anchor="ctr"/>
          <a:lstStyle/>
          <a:p>
            <a:pPr algn="l" indent="0" marL="0">
              <a:buNone/>
            </a:pPr>
            <a:r>
              <a:rPr lang="en-US" sz="1550" b="1" dirty="0">
                <a:solidFill>
                  <a:srgbClr val="7A4A05"/>
                </a:solidFill>
                <a:latin typeface="Calibri" pitchFamily="34" charset="0"/>
                <a:ea typeface="Calibri" pitchFamily="34" charset="-122"/>
                <a:cs typeface="Calibri" pitchFamily="34" charset="-120"/>
              </a:rPr>
              <a:t>Dynamically typed</a:t>
            </a:r>
            <a:endParaRPr lang="en-US" sz="1550" dirty="0"/>
          </a:p>
        </p:txBody>
      </p:sp>
      <p:sp>
        <p:nvSpPr>
          <p:cNvPr id="13" name="Text 11"/>
          <p:cNvSpPr/>
          <p:nvPr/>
        </p:nvSpPr>
        <p:spPr>
          <a:xfrm>
            <a:off x="822960" y="4709160"/>
            <a:ext cx="4892040" cy="1234440"/>
          </a:xfrm>
          <a:prstGeom prst="rect">
            <a:avLst/>
          </a:prstGeom>
          <a:noFill/>
          <a:ln/>
        </p:spPr>
        <p:txBody>
          <a:bodyPr wrap="square" lIns="0" tIns="0" rIns="0" bIns="0" rtlCol="0" anchor="t"/>
          <a:lstStyle/>
          <a:p>
            <a:pPr algn="l" indent="0" marL="0">
              <a:buNone/>
            </a:pPr>
            <a:r>
              <a:rPr lang="en-US" sz="1300" dirty="0">
                <a:solidFill>
                  <a:srgbClr val="7A4A05"/>
                </a:solidFill>
                <a:latin typeface="Calibri" pitchFamily="34" charset="0"/>
                <a:ea typeface="Calibri" pitchFamily="34" charset="-122"/>
                <a:cs typeface="Calibri" pitchFamily="34" charset="-120"/>
              </a:rPr>
              <a:t>JavaScript does not ask you to declare a type. The same variable can hold a number now and a string a line later. Languages that do demand it are called strictly typed.</a:t>
            </a:r>
            <a:endParaRPr lang="en-US" sz="1300" dirty="0"/>
          </a:p>
        </p:txBody>
      </p:sp>
      <p:sp>
        <p:nvSpPr>
          <p:cNvPr id="14" name="Shape 12"/>
          <p:cNvSpPr/>
          <p:nvPr/>
        </p:nvSpPr>
        <p:spPr>
          <a:xfrm>
            <a:off x="6217920" y="1965960"/>
            <a:ext cx="5440680" cy="2377440"/>
          </a:xfrm>
          <a:prstGeom prst="roundRect">
            <a:avLst>
              <a:gd name="adj" fmla="val 4615"/>
            </a:avLst>
          </a:prstGeom>
          <a:solidFill>
            <a:srgbClr val="0C1526"/>
          </a:solidFill>
          <a:ln/>
          <a:effectLst>
            <a:outerShdw sx="100000" sy="100000" kx="0" ky="0" algn="bl" rotWithShape="0" blurRad="101600" dist="38100" dir="5400000">
              <a:srgbClr val="0B1220">
                <a:alpha val="18000"/>
              </a:srgbClr>
            </a:outerShdw>
          </a:effectLst>
        </p:spPr>
      </p:sp>
      <p:sp>
        <p:nvSpPr>
          <p:cNvPr id="15" name="Shape 13"/>
          <p:cNvSpPr/>
          <p:nvPr/>
        </p:nvSpPr>
        <p:spPr>
          <a:xfrm>
            <a:off x="6473952" y="2185416"/>
            <a:ext cx="128016" cy="128016"/>
          </a:xfrm>
          <a:prstGeom prst="ellipse">
            <a:avLst/>
          </a:prstGeom>
          <a:solidFill>
            <a:srgbClr val="FF5F56"/>
          </a:solidFill>
          <a:ln/>
        </p:spPr>
      </p:sp>
      <p:sp>
        <p:nvSpPr>
          <p:cNvPr id="16" name="Shape 14"/>
          <p:cNvSpPr/>
          <p:nvPr/>
        </p:nvSpPr>
        <p:spPr>
          <a:xfrm>
            <a:off x="6711696" y="2185416"/>
            <a:ext cx="128016" cy="128016"/>
          </a:xfrm>
          <a:prstGeom prst="ellipse">
            <a:avLst/>
          </a:prstGeom>
          <a:solidFill>
            <a:srgbClr val="FFBD2E"/>
          </a:solidFill>
          <a:ln/>
        </p:spPr>
      </p:sp>
      <p:sp>
        <p:nvSpPr>
          <p:cNvPr id="17" name="Shape 15"/>
          <p:cNvSpPr/>
          <p:nvPr/>
        </p:nvSpPr>
        <p:spPr>
          <a:xfrm>
            <a:off x="6949440" y="2185416"/>
            <a:ext cx="128016" cy="128016"/>
          </a:xfrm>
          <a:prstGeom prst="ellipse">
            <a:avLst/>
          </a:prstGeom>
          <a:solidFill>
            <a:srgbClr val="27C93F"/>
          </a:solidFill>
          <a:ln/>
        </p:spPr>
      </p:sp>
      <p:sp>
        <p:nvSpPr>
          <p:cNvPr id="18" name="Text 16"/>
          <p:cNvSpPr/>
          <p:nvPr/>
        </p:nvSpPr>
        <p:spPr>
          <a:xfrm>
            <a:off x="7315200" y="2075688"/>
            <a:ext cx="416052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same name, different values</a:t>
            </a:r>
            <a:endParaRPr lang="en-US" sz="1100" dirty="0"/>
          </a:p>
        </p:txBody>
      </p:sp>
      <p:sp>
        <p:nvSpPr>
          <p:cNvPr id="19" name="Text 17"/>
          <p:cNvSpPr/>
          <p:nvPr/>
        </p:nvSpPr>
        <p:spPr>
          <a:xfrm>
            <a:off x="6473952" y="2496312"/>
            <a:ext cx="4928616" cy="1664208"/>
          </a:xfrm>
          <a:prstGeom prst="rect">
            <a:avLst/>
          </a:prstGeom>
          <a:noFill/>
          <a:ln/>
        </p:spPr>
        <p:txBody>
          <a:bodyPr wrap="square" lIns="0" tIns="0" rIns="0" bIns="0" rtlCol="0" anchor="t"/>
          <a:lstStyle/>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var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true</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 true</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var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false</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 false</a:t>
            </a:r>
            <a:endParaRPr lang="en-US" sz="1250" dirty="0"/>
          </a:p>
        </p:txBody>
      </p:sp>
      <p:sp>
        <p:nvSpPr>
          <p:cNvPr id="20" name="Shape 18"/>
          <p:cNvSpPr/>
          <p:nvPr/>
        </p:nvSpPr>
        <p:spPr>
          <a:xfrm>
            <a:off x="6217920" y="4526280"/>
            <a:ext cx="5440680" cy="1600200"/>
          </a:xfrm>
          <a:prstGeom prst="roundRect">
            <a:avLst>
              <a:gd name="adj" fmla="val 6857"/>
            </a:avLst>
          </a:prstGeom>
          <a:solidFill>
            <a:srgbClr val="FEF2F4"/>
          </a:solidFill>
          <a:ln/>
          <a:effectLst>
            <a:outerShdw sx="100000" sy="100000" kx="0" ky="0" algn="bl" rotWithShape="0" blurRad="101600" dist="38100" dir="5400000">
              <a:srgbClr val="0B1220">
                <a:alpha val="18000"/>
              </a:srgbClr>
            </a:outerShdw>
          </a:effectLst>
        </p:spPr>
      </p:sp>
      <p:sp>
        <p:nvSpPr>
          <p:cNvPr id="21" name="Text 19"/>
          <p:cNvSpPr/>
          <p:nvPr/>
        </p:nvSpPr>
        <p:spPr>
          <a:xfrm>
            <a:off x="6492240" y="4681728"/>
            <a:ext cx="4892040" cy="347472"/>
          </a:xfrm>
          <a:prstGeom prst="rect">
            <a:avLst/>
          </a:prstGeom>
          <a:noFill/>
          <a:ln/>
        </p:spPr>
        <p:txBody>
          <a:bodyPr wrap="square" lIns="0" tIns="0" rIns="0" bIns="0" rtlCol="0" anchor="ctr"/>
          <a:lstStyle/>
          <a:p>
            <a:pPr algn="l" indent="0" marL="0">
              <a:buNone/>
            </a:pPr>
            <a:r>
              <a:rPr lang="en-US" sz="1550" b="1" dirty="0">
                <a:solidFill>
                  <a:srgbClr val="7F1D3A"/>
                </a:solidFill>
                <a:latin typeface="Calibri" pitchFamily="34" charset="0"/>
                <a:ea typeface="Calibri" pitchFamily="34" charset="-122"/>
                <a:cs typeface="Calibri" pitchFamily="34" charset="-120"/>
              </a:rPr>
              <a:t>The problem with var</a:t>
            </a:r>
            <a:endParaRPr lang="en-US" sz="1550" dirty="0"/>
          </a:p>
        </p:txBody>
      </p:sp>
      <p:sp>
        <p:nvSpPr>
          <p:cNvPr id="22" name="Text 20"/>
          <p:cNvSpPr/>
          <p:nvPr/>
        </p:nvSpPr>
        <p:spPr>
          <a:xfrm>
            <a:off x="6492240" y="5074920"/>
            <a:ext cx="4892040" cy="914400"/>
          </a:xfrm>
          <a:prstGeom prst="rect">
            <a:avLst/>
          </a:prstGeom>
          <a:noFill/>
          <a:ln/>
        </p:spPr>
        <p:txBody>
          <a:bodyPr wrap="square" lIns="0" tIns="0" rIns="0" bIns="0" rtlCol="0" anchor="t"/>
          <a:lstStyle/>
          <a:p>
            <a:pPr algn="l" indent="0" marL="0">
              <a:buNone/>
            </a:pPr>
            <a:r>
              <a:rPr lang="en-US" sz="1300" dirty="0">
                <a:solidFill>
                  <a:srgbClr val="7F1D3A"/>
                </a:solidFill>
                <a:latin typeface="Calibri" pitchFamily="34" charset="0"/>
                <a:ea typeface="Calibri" pitchFamily="34" charset="-122"/>
                <a:cs typeface="Calibri" pitchFamily="34" charset="-120"/>
              </a:rPr>
              <a:t>It lets you declare the same variable twice without complaint. On a large file that is how bugs hide. ES6 introduced let and const to close that door.</a:t>
            </a:r>
            <a:endParaRPr lang="en-US" sz="1300" dirty="0"/>
          </a:p>
        </p:txBody>
      </p:sp>
      <p:sp>
        <p:nvSpPr>
          <p:cNvPr id="23" name="Text 21"/>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DRY RUN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var, let and const</a:t>
            </a:r>
            <a:endParaRPr lang="en-US" sz="3400" dirty="0"/>
          </a:p>
        </p:txBody>
      </p:sp>
      <p:sp>
        <p:nvSpPr>
          <p:cNvPr id="5" name="Text 3"/>
          <p:cNvSpPr/>
          <p:nvPr/>
        </p:nvSpPr>
        <p:spPr>
          <a:xfrm>
            <a:off x="777240" y="1965960"/>
            <a:ext cx="1371600" cy="274320"/>
          </a:xfrm>
          <a:prstGeom prst="rect">
            <a:avLst/>
          </a:prstGeom>
          <a:noFill/>
          <a:ln/>
        </p:spPr>
        <p:txBody>
          <a:bodyPr wrap="square" lIns="0" tIns="0" rIns="0" bIns="0" rtlCol="0" anchor="ctr"/>
          <a:lstStyle/>
          <a:p>
            <a:pPr algn="l" indent="0" marL="0">
              <a:buNone/>
            </a:pPr>
            <a:endParaRPr lang="en-US" sz="950" dirty="0"/>
          </a:p>
        </p:txBody>
      </p:sp>
      <p:sp>
        <p:nvSpPr>
          <p:cNvPr id="6" name="Text 4"/>
          <p:cNvSpPr/>
          <p:nvPr/>
        </p:nvSpPr>
        <p:spPr>
          <a:xfrm>
            <a:off x="2194560" y="1965960"/>
            <a:ext cx="2103120" cy="274320"/>
          </a:xfrm>
          <a:prstGeom prst="rect">
            <a:avLst/>
          </a:prstGeom>
          <a:noFill/>
          <a:ln/>
        </p:spPr>
        <p:txBody>
          <a:bodyPr wrap="square" lIns="0" tIns="0" rIns="0" bIns="0" rtlCol="0" anchor="ctr"/>
          <a:lstStyle/>
          <a:p>
            <a:pPr algn="l" indent="0" marL="0">
              <a:buNone/>
            </a:pPr>
            <a:r>
              <a:rPr lang="en-US" sz="950" b="1" spc="100" kern="0" dirty="0">
                <a:solidFill>
                  <a:srgbClr val="64748B"/>
                </a:solidFill>
                <a:latin typeface="Calibri" pitchFamily="34" charset="0"/>
                <a:ea typeface="Calibri" pitchFamily="34" charset="-122"/>
                <a:cs typeface="Calibri" pitchFamily="34" charset="-120"/>
              </a:rPr>
              <a:t>RE-DECLARATION</a:t>
            </a:r>
            <a:endParaRPr lang="en-US" sz="950" dirty="0"/>
          </a:p>
        </p:txBody>
      </p:sp>
      <p:sp>
        <p:nvSpPr>
          <p:cNvPr id="7" name="Text 5"/>
          <p:cNvSpPr/>
          <p:nvPr/>
        </p:nvSpPr>
        <p:spPr>
          <a:xfrm>
            <a:off x="4343400" y="1965960"/>
            <a:ext cx="2011680" cy="274320"/>
          </a:xfrm>
          <a:prstGeom prst="rect">
            <a:avLst/>
          </a:prstGeom>
          <a:noFill/>
          <a:ln/>
        </p:spPr>
        <p:txBody>
          <a:bodyPr wrap="square" lIns="0" tIns="0" rIns="0" bIns="0" rtlCol="0" anchor="ctr"/>
          <a:lstStyle/>
          <a:p>
            <a:pPr algn="l" indent="0" marL="0">
              <a:buNone/>
            </a:pPr>
            <a:r>
              <a:rPr lang="en-US" sz="950" b="1" spc="100" kern="0" dirty="0">
                <a:solidFill>
                  <a:srgbClr val="64748B"/>
                </a:solidFill>
                <a:latin typeface="Calibri" pitchFamily="34" charset="0"/>
                <a:ea typeface="Calibri" pitchFamily="34" charset="-122"/>
                <a:cs typeface="Calibri" pitchFamily="34" charset="-120"/>
              </a:rPr>
              <a:t>RE-ASSIGNMENT</a:t>
            </a:r>
            <a:endParaRPr lang="en-US" sz="950" dirty="0"/>
          </a:p>
        </p:txBody>
      </p:sp>
      <p:sp>
        <p:nvSpPr>
          <p:cNvPr id="8" name="Shape 6"/>
          <p:cNvSpPr/>
          <p:nvPr/>
        </p:nvSpPr>
        <p:spPr>
          <a:xfrm>
            <a:off x="548640" y="2331720"/>
            <a:ext cx="5943600" cy="713232"/>
          </a:xfrm>
          <a:prstGeom prst="roundRect">
            <a:avLst>
              <a:gd name="adj" fmla="val 15385"/>
            </a:avLst>
          </a:prstGeom>
          <a:solidFill>
            <a:srgbClr val="FEF2F4"/>
          </a:solidFill>
          <a:ln/>
          <a:effectLst>
            <a:outerShdw sx="100000" sy="100000" kx="0" ky="0" algn="bl" rotWithShape="0" blurRad="101600" dist="38100" dir="5400000">
              <a:srgbClr val="0B1220">
                <a:alpha val="18000"/>
              </a:srgbClr>
            </a:outerShdw>
          </a:effectLst>
        </p:spPr>
      </p:sp>
      <p:sp>
        <p:nvSpPr>
          <p:cNvPr id="9" name="Text 7"/>
          <p:cNvSpPr/>
          <p:nvPr/>
        </p:nvSpPr>
        <p:spPr>
          <a:xfrm>
            <a:off x="777240" y="2331720"/>
            <a:ext cx="1371600" cy="713232"/>
          </a:xfrm>
          <a:prstGeom prst="rect">
            <a:avLst/>
          </a:prstGeom>
          <a:noFill/>
          <a:ln/>
        </p:spPr>
        <p:txBody>
          <a:bodyPr wrap="square" lIns="0" tIns="0" rIns="0" bIns="0" rtlCol="0" anchor="ctr"/>
          <a:lstStyle/>
          <a:p>
            <a:pPr algn="l" indent="0" marL="0">
              <a:buNone/>
            </a:pPr>
            <a:r>
              <a:rPr lang="en-US" sz="1500" b="1" dirty="0">
                <a:solidFill>
                  <a:srgbClr val="0F172A"/>
                </a:solidFill>
                <a:latin typeface="Courier New" pitchFamily="34" charset="0"/>
                <a:ea typeface="Courier New" pitchFamily="34" charset="-122"/>
                <a:cs typeface="Courier New" pitchFamily="34" charset="-120"/>
              </a:rPr>
              <a:t>var</a:t>
            </a:r>
            <a:endParaRPr lang="en-US" sz="1500" dirty="0"/>
          </a:p>
        </p:txBody>
      </p:sp>
      <p:sp>
        <p:nvSpPr>
          <p:cNvPr id="10" name="Text 8"/>
          <p:cNvSpPr/>
          <p:nvPr/>
        </p:nvSpPr>
        <p:spPr>
          <a:xfrm>
            <a:off x="2194560" y="2331720"/>
            <a:ext cx="2103120" cy="713232"/>
          </a:xfrm>
          <a:prstGeom prst="rect">
            <a:avLst/>
          </a:prstGeom>
          <a:noFill/>
          <a:ln/>
        </p:spPr>
        <p:txBody>
          <a:bodyPr wrap="square" lIns="0" tIns="0" rIns="0" bIns="0" rtlCol="0" anchor="ctr"/>
          <a:lstStyle/>
          <a:p>
            <a:pPr algn="l" indent="0" marL="0">
              <a:buNone/>
            </a:pPr>
            <a:r>
              <a:rPr lang="en-US" sz="1400" b="1" dirty="0">
                <a:solidFill>
                  <a:srgbClr val="FB7185"/>
                </a:solidFill>
                <a:latin typeface="Calibri" pitchFamily="34" charset="0"/>
                <a:ea typeface="Calibri" pitchFamily="34" charset="-122"/>
                <a:cs typeface="Calibri" pitchFamily="34" charset="-120"/>
              </a:rPr>
              <a:t>Yes</a:t>
            </a:r>
            <a:endParaRPr lang="en-US" sz="1400" dirty="0"/>
          </a:p>
        </p:txBody>
      </p:sp>
      <p:sp>
        <p:nvSpPr>
          <p:cNvPr id="11" name="Text 9"/>
          <p:cNvSpPr/>
          <p:nvPr/>
        </p:nvSpPr>
        <p:spPr>
          <a:xfrm>
            <a:off x="4343400" y="2331720"/>
            <a:ext cx="2011680" cy="713232"/>
          </a:xfrm>
          <a:prstGeom prst="rect">
            <a:avLst/>
          </a:prstGeom>
          <a:noFill/>
          <a:ln/>
        </p:spPr>
        <p:txBody>
          <a:bodyPr wrap="square" lIns="0" tIns="0" rIns="0" bIns="0" rtlCol="0" anchor="ctr"/>
          <a:lstStyle/>
          <a:p>
            <a:pPr algn="l" indent="0" marL="0">
              <a:buNone/>
            </a:pPr>
            <a:r>
              <a:rPr lang="en-US" sz="1400" b="1" dirty="0">
                <a:solidFill>
                  <a:srgbClr val="FB7185"/>
                </a:solidFill>
                <a:latin typeface="Calibri" pitchFamily="34" charset="0"/>
                <a:ea typeface="Calibri" pitchFamily="34" charset="-122"/>
                <a:cs typeface="Calibri" pitchFamily="34" charset="-120"/>
              </a:rPr>
              <a:t>Yes</a:t>
            </a:r>
            <a:endParaRPr lang="en-US" sz="1400" dirty="0"/>
          </a:p>
        </p:txBody>
      </p:sp>
      <p:sp>
        <p:nvSpPr>
          <p:cNvPr id="12" name="Shape 10"/>
          <p:cNvSpPr/>
          <p:nvPr/>
        </p:nvSpPr>
        <p:spPr>
          <a:xfrm>
            <a:off x="548640" y="3154680"/>
            <a:ext cx="5943600" cy="713232"/>
          </a:xfrm>
          <a:prstGeom prst="roundRect">
            <a:avLst>
              <a:gd name="adj" fmla="val 15385"/>
            </a:avLst>
          </a:prstGeom>
          <a:solidFill>
            <a:srgbClr val="E5EEFF"/>
          </a:solidFill>
          <a:ln/>
          <a:effectLst>
            <a:outerShdw sx="100000" sy="100000" kx="0" ky="0" algn="bl" rotWithShape="0" blurRad="101600" dist="38100" dir="5400000">
              <a:srgbClr val="0B1220">
                <a:alpha val="18000"/>
              </a:srgbClr>
            </a:outerShdw>
          </a:effectLst>
        </p:spPr>
      </p:sp>
      <p:sp>
        <p:nvSpPr>
          <p:cNvPr id="13" name="Text 11"/>
          <p:cNvSpPr/>
          <p:nvPr/>
        </p:nvSpPr>
        <p:spPr>
          <a:xfrm>
            <a:off x="777240" y="3154680"/>
            <a:ext cx="1371600" cy="713232"/>
          </a:xfrm>
          <a:prstGeom prst="rect">
            <a:avLst/>
          </a:prstGeom>
          <a:noFill/>
          <a:ln/>
        </p:spPr>
        <p:txBody>
          <a:bodyPr wrap="square" lIns="0" tIns="0" rIns="0" bIns="0" rtlCol="0" anchor="ctr"/>
          <a:lstStyle/>
          <a:p>
            <a:pPr algn="l" indent="0" marL="0">
              <a:buNone/>
            </a:pPr>
            <a:r>
              <a:rPr lang="en-US" sz="1500" b="1" dirty="0">
                <a:solidFill>
                  <a:srgbClr val="0F172A"/>
                </a:solidFill>
                <a:latin typeface="Courier New" pitchFamily="34" charset="0"/>
                <a:ea typeface="Courier New" pitchFamily="34" charset="-122"/>
                <a:cs typeface="Courier New" pitchFamily="34" charset="-120"/>
              </a:rPr>
              <a:t>let</a:t>
            </a:r>
            <a:endParaRPr lang="en-US" sz="1500" dirty="0"/>
          </a:p>
        </p:txBody>
      </p:sp>
      <p:sp>
        <p:nvSpPr>
          <p:cNvPr id="14" name="Text 12"/>
          <p:cNvSpPr/>
          <p:nvPr/>
        </p:nvSpPr>
        <p:spPr>
          <a:xfrm>
            <a:off x="2194560" y="3154680"/>
            <a:ext cx="2103120" cy="713232"/>
          </a:xfrm>
          <a:prstGeom prst="rect">
            <a:avLst/>
          </a:prstGeom>
          <a:noFill/>
          <a:ln/>
        </p:spPr>
        <p:txBody>
          <a:bodyPr wrap="square" lIns="0" tIns="0" rIns="0" bIns="0" rtlCol="0" anchor="ctr"/>
          <a:lstStyle/>
          <a:p>
            <a:pPr algn="l" indent="0" marL="0">
              <a:buNone/>
            </a:pPr>
            <a:r>
              <a:rPr lang="en-US" sz="1400" b="1" dirty="0">
                <a:solidFill>
                  <a:srgbClr val="22C55E"/>
                </a:solidFill>
                <a:latin typeface="Calibri" pitchFamily="34" charset="0"/>
                <a:ea typeface="Calibri" pitchFamily="34" charset="-122"/>
                <a:cs typeface="Calibri" pitchFamily="34" charset="-120"/>
              </a:rPr>
              <a:t>No</a:t>
            </a:r>
            <a:endParaRPr lang="en-US" sz="1400" dirty="0"/>
          </a:p>
        </p:txBody>
      </p:sp>
      <p:sp>
        <p:nvSpPr>
          <p:cNvPr id="15" name="Text 13"/>
          <p:cNvSpPr/>
          <p:nvPr/>
        </p:nvSpPr>
        <p:spPr>
          <a:xfrm>
            <a:off x="4343400" y="3154680"/>
            <a:ext cx="2011680" cy="713232"/>
          </a:xfrm>
          <a:prstGeom prst="rect">
            <a:avLst/>
          </a:prstGeom>
          <a:noFill/>
          <a:ln/>
        </p:spPr>
        <p:txBody>
          <a:bodyPr wrap="square" lIns="0" tIns="0" rIns="0" bIns="0" rtlCol="0" anchor="ctr"/>
          <a:lstStyle/>
          <a:p>
            <a:pPr algn="l" indent="0" marL="0">
              <a:buNone/>
            </a:pPr>
            <a:r>
              <a:rPr lang="en-US" sz="1400" b="1" dirty="0">
                <a:solidFill>
                  <a:srgbClr val="FB7185"/>
                </a:solidFill>
                <a:latin typeface="Calibri" pitchFamily="34" charset="0"/>
                <a:ea typeface="Calibri" pitchFamily="34" charset="-122"/>
                <a:cs typeface="Calibri" pitchFamily="34" charset="-120"/>
              </a:rPr>
              <a:t>Yes</a:t>
            </a:r>
            <a:endParaRPr lang="en-US" sz="1400" dirty="0"/>
          </a:p>
        </p:txBody>
      </p:sp>
      <p:sp>
        <p:nvSpPr>
          <p:cNvPr id="16" name="Shape 14"/>
          <p:cNvSpPr/>
          <p:nvPr/>
        </p:nvSpPr>
        <p:spPr>
          <a:xfrm>
            <a:off x="548640" y="3977640"/>
            <a:ext cx="5943600" cy="713232"/>
          </a:xfrm>
          <a:prstGeom prst="roundRect">
            <a:avLst>
              <a:gd name="adj" fmla="val 15385"/>
            </a:avLst>
          </a:prstGeom>
          <a:solidFill>
            <a:srgbClr val="E7FBEF"/>
          </a:solidFill>
          <a:ln/>
          <a:effectLst>
            <a:outerShdw sx="100000" sy="100000" kx="0" ky="0" algn="bl" rotWithShape="0" blurRad="101600" dist="38100" dir="5400000">
              <a:srgbClr val="0B1220">
                <a:alpha val="18000"/>
              </a:srgbClr>
            </a:outerShdw>
          </a:effectLst>
        </p:spPr>
      </p:sp>
      <p:sp>
        <p:nvSpPr>
          <p:cNvPr id="17" name="Text 15"/>
          <p:cNvSpPr/>
          <p:nvPr/>
        </p:nvSpPr>
        <p:spPr>
          <a:xfrm>
            <a:off x="777240" y="3977640"/>
            <a:ext cx="1371600" cy="713232"/>
          </a:xfrm>
          <a:prstGeom prst="rect">
            <a:avLst/>
          </a:prstGeom>
          <a:noFill/>
          <a:ln/>
        </p:spPr>
        <p:txBody>
          <a:bodyPr wrap="square" lIns="0" tIns="0" rIns="0" bIns="0" rtlCol="0" anchor="ctr"/>
          <a:lstStyle/>
          <a:p>
            <a:pPr algn="l" indent="0" marL="0">
              <a:buNone/>
            </a:pPr>
            <a:r>
              <a:rPr lang="en-US" sz="1500" b="1" dirty="0">
                <a:solidFill>
                  <a:srgbClr val="0F172A"/>
                </a:solidFill>
                <a:latin typeface="Courier New" pitchFamily="34" charset="0"/>
                <a:ea typeface="Courier New" pitchFamily="34" charset="-122"/>
                <a:cs typeface="Courier New" pitchFamily="34" charset="-120"/>
              </a:rPr>
              <a:t>const</a:t>
            </a:r>
            <a:endParaRPr lang="en-US" sz="1500" dirty="0"/>
          </a:p>
        </p:txBody>
      </p:sp>
      <p:sp>
        <p:nvSpPr>
          <p:cNvPr id="18" name="Text 16"/>
          <p:cNvSpPr/>
          <p:nvPr/>
        </p:nvSpPr>
        <p:spPr>
          <a:xfrm>
            <a:off x="2194560" y="3977640"/>
            <a:ext cx="2103120" cy="713232"/>
          </a:xfrm>
          <a:prstGeom prst="rect">
            <a:avLst/>
          </a:prstGeom>
          <a:noFill/>
          <a:ln/>
        </p:spPr>
        <p:txBody>
          <a:bodyPr wrap="square" lIns="0" tIns="0" rIns="0" bIns="0" rtlCol="0" anchor="ctr"/>
          <a:lstStyle/>
          <a:p>
            <a:pPr algn="l" indent="0" marL="0">
              <a:buNone/>
            </a:pPr>
            <a:r>
              <a:rPr lang="en-US" sz="1400" b="1" dirty="0">
                <a:solidFill>
                  <a:srgbClr val="22C55E"/>
                </a:solidFill>
                <a:latin typeface="Calibri" pitchFamily="34" charset="0"/>
                <a:ea typeface="Calibri" pitchFamily="34" charset="-122"/>
                <a:cs typeface="Calibri" pitchFamily="34" charset="-120"/>
              </a:rPr>
              <a:t>No</a:t>
            </a:r>
            <a:endParaRPr lang="en-US" sz="1400" dirty="0"/>
          </a:p>
        </p:txBody>
      </p:sp>
      <p:sp>
        <p:nvSpPr>
          <p:cNvPr id="19" name="Text 17"/>
          <p:cNvSpPr/>
          <p:nvPr/>
        </p:nvSpPr>
        <p:spPr>
          <a:xfrm>
            <a:off x="4343400" y="3977640"/>
            <a:ext cx="2011680" cy="713232"/>
          </a:xfrm>
          <a:prstGeom prst="rect">
            <a:avLst/>
          </a:prstGeom>
          <a:noFill/>
          <a:ln/>
        </p:spPr>
        <p:txBody>
          <a:bodyPr wrap="square" lIns="0" tIns="0" rIns="0" bIns="0" rtlCol="0" anchor="ctr"/>
          <a:lstStyle/>
          <a:p>
            <a:pPr algn="l" indent="0" marL="0">
              <a:buNone/>
            </a:pPr>
            <a:r>
              <a:rPr lang="en-US" sz="1400" b="1" dirty="0">
                <a:solidFill>
                  <a:srgbClr val="22C55E"/>
                </a:solidFill>
                <a:latin typeface="Calibri" pitchFamily="34" charset="0"/>
                <a:ea typeface="Calibri" pitchFamily="34" charset="-122"/>
                <a:cs typeface="Calibri" pitchFamily="34" charset="-120"/>
              </a:rPr>
              <a:t>No</a:t>
            </a:r>
            <a:endParaRPr lang="en-US" sz="1400" dirty="0"/>
          </a:p>
        </p:txBody>
      </p:sp>
      <p:sp>
        <p:nvSpPr>
          <p:cNvPr id="20" name="Shape 18"/>
          <p:cNvSpPr/>
          <p:nvPr/>
        </p:nvSpPr>
        <p:spPr>
          <a:xfrm>
            <a:off x="548640" y="4937760"/>
            <a:ext cx="5943600" cy="1188720"/>
          </a:xfrm>
          <a:prstGeom prst="roundRect">
            <a:avLst>
              <a:gd name="adj" fmla="val 9231"/>
            </a:avLst>
          </a:prstGeom>
          <a:solidFill>
            <a:srgbClr val="E5EEFF"/>
          </a:solidFill>
          <a:ln/>
        </p:spPr>
      </p:sp>
      <p:sp>
        <p:nvSpPr>
          <p:cNvPr id="21" name="Shape 19"/>
          <p:cNvSpPr/>
          <p:nvPr/>
        </p:nvSpPr>
        <p:spPr>
          <a:xfrm>
            <a:off x="749808" y="5404104"/>
            <a:ext cx="256032" cy="256032"/>
          </a:xfrm>
          <a:prstGeom prst="ellipse">
            <a:avLst/>
          </a:prstGeom>
          <a:solidFill>
            <a:srgbClr val="2563EB"/>
          </a:solidFill>
          <a:ln/>
        </p:spPr>
      </p:sp>
      <p:sp>
        <p:nvSpPr>
          <p:cNvPr id="22" name="Text 20"/>
          <p:cNvSpPr/>
          <p:nvPr/>
        </p:nvSpPr>
        <p:spPr>
          <a:xfrm>
            <a:off x="1207008" y="4937760"/>
            <a:ext cx="5074920" cy="1188720"/>
          </a:xfrm>
          <a:prstGeom prst="rect">
            <a:avLst/>
          </a:prstGeom>
          <a:noFill/>
          <a:ln/>
        </p:spPr>
        <p:txBody>
          <a:bodyPr wrap="square" lIns="0" tIns="0" rIns="0" bIns="0" rtlCol="0" anchor="ctr"/>
          <a:lstStyle/>
          <a:p>
            <a:pPr algn="l" indent="0" marL="0">
              <a:buNone/>
            </a:pPr>
            <a:r>
              <a:rPr lang="en-US" sz="1400" dirty="0">
                <a:solidFill>
                  <a:srgbClr val="0F172A"/>
                </a:solidFill>
                <a:latin typeface="Calibri" pitchFamily="34" charset="0"/>
                <a:ea typeface="Calibri" pitchFamily="34" charset="-122"/>
                <a:cs typeface="Calibri" pitchFamily="34" charset="-120"/>
              </a:rPr>
              <a:t>Re-declaration means writing the keyword again for the same name. Re-assignment means giving it a new value.</a:t>
            </a:r>
            <a:endParaRPr lang="en-US" sz="1400" dirty="0"/>
          </a:p>
        </p:txBody>
      </p:sp>
      <p:sp>
        <p:nvSpPr>
          <p:cNvPr id="23" name="Shape 21"/>
          <p:cNvSpPr/>
          <p:nvPr/>
        </p:nvSpPr>
        <p:spPr>
          <a:xfrm>
            <a:off x="6720840" y="1965960"/>
            <a:ext cx="4937760" cy="1691640"/>
          </a:xfrm>
          <a:prstGeom prst="roundRect">
            <a:avLst>
              <a:gd name="adj" fmla="val 6486"/>
            </a:avLst>
          </a:prstGeom>
          <a:solidFill>
            <a:srgbClr val="0C1526"/>
          </a:solidFill>
          <a:ln/>
          <a:effectLst>
            <a:outerShdw sx="100000" sy="100000" kx="0" ky="0" algn="bl" rotWithShape="0" blurRad="101600" dist="38100" dir="5400000">
              <a:srgbClr val="0B1220">
                <a:alpha val="18000"/>
              </a:srgbClr>
            </a:outerShdw>
          </a:effectLst>
        </p:spPr>
      </p:sp>
      <p:sp>
        <p:nvSpPr>
          <p:cNvPr id="24" name="Shape 22"/>
          <p:cNvSpPr/>
          <p:nvPr/>
        </p:nvSpPr>
        <p:spPr>
          <a:xfrm>
            <a:off x="6976872" y="2185416"/>
            <a:ext cx="128016" cy="128016"/>
          </a:xfrm>
          <a:prstGeom prst="ellipse">
            <a:avLst/>
          </a:prstGeom>
          <a:solidFill>
            <a:srgbClr val="FF5F56"/>
          </a:solidFill>
          <a:ln/>
        </p:spPr>
      </p:sp>
      <p:sp>
        <p:nvSpPr>
          <p:cNvPr id="25" name="Shape 23"/>
          <p:cNvSpPr/>
          <p:nvPr/>
        </p:nvSpPr>
        <p:spPr>
          <a:xfrm>
            <a:off x="7214616" y="2185416"/>
            <a:ext cx="128016" cy="128016"/>
          </a:xfrm>
          <a:prstGeom prst="ellipse">
            <a:avLst/>
          </a:prstGeom>
          <a:solidFill>
            <a:srgbClr val="FFBD2E"/>
          </a:solidFill>
          <a:ln/>
        </p:spPr>
      </p:sp>
      <p:sp>
        <p:nvSpPr>
          <p:cNvPr id="26" name="Shape 24"/>
          <p:cNvSpPr/>
          <p:nvPr/>
        </p:nvSpPr>
        <p:spPr>
          <a:xfrm>
            <a:off x="7452360" y="2185416"/>
            <a:ext cx="128016" cy="128016"/>
          </a:xfrm>
          <a:prstGeom prst="ellipse">
            <a:avLst/>
          </a:prstGeom>
          <a:solidFill>
            <a:srgbClr val="27C93F"/>
          </a:solidFill>
          <a:ln/>
        </p:spPr>
      </p:sp>
      <p:sp>
        <p:nvSpPr>
          <p:cNvPr id="27" name="Text 25"/>
          <p:cNvSpPr/>
          <p:nvPr/>
        </p:nvSpPr>
        <p:spPr>
          <a:xfrm>
            <a:off x="7818120" y="2075688"/>
            <a:ext cx="36576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let cannot be re-declared</a:t>
            </a:r>
            <a:endParaRPr lang="en-US" sz="1100" dirty="0"/>
          </a:p>
        </p:txBody>
      </p:sp>
      <p:sp>
        <p:nvSpPr>
          <p:cNvPr id="28" name="Text 26"/>
          <p:cNvSpPr/>
          <p:nvPr/>
        </p:nvSpPr>
        <p:spPr>
          <a:xfrm>
            <a:off x="6976872" y="2496312"/>
            <a:ext cx="4425696" cy="978408"/>
          </a:xfrm>
          <a:prstGeom prst="rect">
            <a:avLst/>
          </a:prstGeom>
          <a:noFill/>
          <a:ln/>
        </p:spPr>
        <p:txBody>
          <a:bodyPr wrap="square" lIns="0" tIns="0" rIns="0" bIns="0" rtlCol="0" anchor="t"/>
          <a:lstStyle/>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DBA74"/>
                </a:solidFill>
                <a:latin typeface="Courier New" pitchFamily="34" charset="0"/>
                <a:ea typeface="Courier New" pitchFamily="34" charset="-122"/>
                <a:cs typeface="Courier New" pitchFamily="34" charset="-120"/>
              </a:rPr>
              <a:t>'Delhi'</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DBA74"/>
                </a:solidFill>
                <a:latin typeface="Courier New" pitchFamily="34" charset="0"/>
                <a:ea typeface="Courier New" pitchFamily="34" charset="-122"/>
                <a:cs typeface="Courier New" pitchFamily="34" charset="-120"/>
              </a:rPr>
              <a:t>'Mumbai'</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6B8299"/>
                </a:solidFill>
                <a:latin typeface="Courier New" pitchFamily="34" charset="0"/>
                <a:ea typeface="Courier New" pitchFamily="34" charset="-122"/>
                <a:cs typeface="Courier New" pitchFamily="34" charset="-120"/>
              </a:rPr>
              <a:t>// Identifier 'a' has already</a:t>
            </a:r>
            <a:endParaRPr lang="en-US" sz="1100" dirty="0"/>
          </a:p>
          <a:p>
            <a:pPr algn="l" indent="0" marL="0">
              <a:lnSpc>
                <a:spcPct val="108000"/>
              </a:lnSpc>
              <a:buNone/>
            </a:pPr>
            <a:r>
              <a:rPr lang="en-US" sz="1100" dirty="0">
                <a:solidFill>
                  <a:srgbClr val="6B8299"/>
                </a:solidFill>
                <a:latin typeface="Courier New" pitchFamily="34" charset="0"/>
                <a:ea typeface="Courier New" pitchFamily="34" charset="-122"/>
                <a:cs typeface="Courier New" pitchFamily="34" charset="-120"/>
              </a:rPr>
              <a:t>// been declared</a:t>
            </a:r>
            <a:endParaRPr lang="en-US" sz="1100" dirty="0"/>
          </a:p>
        </p:txBody>
      </p:sp>
      <p:sp>
        <p:nvSpPr>
          <p:cNvPr id="29" name="Shape 27"/>
          <p:cNvSpPr/>
          <p:nvPr/>
        </p:nvSpPr>
        <p:spPr>
          <a:xfrm>
            <a:off x="6720840" y="3794760"/>
            <a:ext cx="4937760" cy="1234440"/>
          </a:xfrm>
          <a:prstGeom prst="roundRect">
            <a:avLst>
              <a:gd name="adj" fmla="val 8889"/>
            </a:avLst>
          </a:prstGeom>
          <a:solidFill>
            <a:srgbClr val="0C1526"/>
          </a:solidFill>
          <a:ln/>
          <a:effectLst>
            <a:outerShdw sx="100000" sy="100000" kx="0" ky="0" algn="bl" rotWithShape="0" blurRad="101600" dist="38100" dir="5400000">
              <a:srgbClr val="0B1220">
                <a:alpha val="18000"/>
              </a:srgbClr>
            </a:outerShdw>
          </a:effectLst>
        </p:spPr>
      </p:sp>
      <p:sp>
        <p:nvSpPr>
          <p:cNvPr id="30" name="Shape 28"/>
          <p:cNvSpPr/>
          <p:nvPr/>
        </p:nvSpPr>
        <p:spPr>
          <a:xfrm>
            <a:off x="6976872" y="4014216"/>
            <a:ext cx="128016" cy="128016"/>
          </a:xfrm>
          <a:prstGeom prst="ellipse">
            <a:avLst/>
          </a:prstGeom>
          <a:solidFill>
            <a:srgbClr val="FF5F56"/>
          </a:solidFill>
          <a:ln/>
        </p:spPr>
      </p:sp>
      <p:sp>
        <p:nvSpPr>
          <p:cNvPr id="31" name="Shape 29"/>
          <p:cNvSpPr/>
          <p:nvPr/>
        </p:nvSpPr>
        <p:spPr>
          <a:xfrm>
            <a:off x="7214616" y="4014216"/>
            <a:ext cx="128016" cy="128016"/>
          </a:xfrm>
          <a:prstGeom prst="ellipse">
            <a:avLst/>
          </a:prstGeom>
          <a:solidFill>
            <a:srgbClr val="FFBD2E"/>
          </a:solidFill>
          <a:ln/>
        </p:spPr>
      </p:sp>
      <p:sp>
        <p:nvSpPr>
          <p:cNvPr id="32" name="Shape 30"/>
          <p:cNvSpPr/>
          <p:nvPr/>
        </p:nvSpPr>
        <p:spPr>
          <a:xfrm>
            <a:off x="7452360" y="4014216"/>
            <a:ext cx="128016" cy="128016"/>
          </a:xfrm>
          <a:prstGeom prst="ellipse">
            <a:avLst/>
          </a:prstGeom>
          <a:solidFill>
            <a:srgbClr val="27C93F"/>
          </a:solidFill>
          <a:ln/>
        </p:spPr>
      </p:sp>
      <p:sp>
        <p:nvSpPr>
          <p:cNvPr id="33" name="Text 31"/>
          <p:cNvSpPr/>
          <p:nvPr/>
        </p:nvSpPr>
        <p:spPr>
          <a:xfrm>
            <a:off x="7818120" y="3904488"/>
            <a:ext cx="36576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but it can be re-assigned</a:t>
            </a:r>
            <a:endParaRPr lang="en-US" sz="1100" dirty="0"/>
          </a:p>
        </p:txBody>
      </p:sp>
      <p:sp>
        <p:nvSpPr>
          <p:cNvPr id="34" name="Text 32"/>
          <p:cNvSpPr/>
          <p:nvPr/>
        </p:nvSpPr>
        <p:spPr>
          <a:xfrm>
            <a:off x="6976872" y="4325112"/>
            <a:ext cx="4425696" cy="521208"/>
          </a:xfrm>
          <a:prstGeom prst="rect">
            <a:avLst/>
          </a:prstGeom>
          <a:noFill/>
          <a:ln/>
        </p:spPr>
        <p:txBody>
          <a:bodyPr wrap="square" lIns="0" tIns="0" rIns="0" bIns="0" rtlCol="0" anchor="t"/>
          <a:lstStyle/>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r</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BD34D"/>
                </a:solidFill>
                <a:latin typeface="Courier New" pitchFamily="34" charset="0"/>
                <a:ea typeface="Courier New" pitchFamily="34" charset="-122"/>
                <a:cs typeface="Courier New" pitchFamily="34" charset="-120"/>
              </a:rPr>
              <a:t>10</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r</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BD34D"/>
                </a:solidFill>
                <a:latin typeface="Courier New" pitchFamily="34" charset="0"/>
                <a:ea typeface="Courier New" pitchFamily="34" charset="-122"/>
                <a:cs typeface="Courier New" pitchFamily="34" charset="-120"/>
              </a:rPr>
              <a:t>30</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6B8299"/>
                </a:solidFill>
                <a:latin typeface="Courier New" pitchFamily="34" charset="0"/>
                <a:ea typeface="Courier New" pitchFamily="34" charset="-122"/>
                <a:cs typeface="Courier New" pitchFamily="34" charset="-120"/>
              </a:rPr>
              <a:t>// fine</a:t>
            </a:r>
            <a:endParaRPr lang="en-US" sz="1100" dirty="0"/>
          </a:p>
        </p:txBody>
      </p:sp>
      <p:sp>
        <p:nvSpPr>
          <p:cNvPr id="35" name="Shape 33"/>
          <p:cNvSpPr/>
          <p:nvPr/>
        </p:nvSpPr>
        <p:spPr>
          <a:xfrm>
            <a:off x="6720840" y="5166360"/>
            <a:ext cx="4937760" cy="1234440"/>
          </a:xfrm>
          <a:prstGeom prst="roundRect">
            <a:avLst>
              <a:gd name="adj" fmla="val 8889"/>
            </a:avLst>
          </a:prstGeom>
          <a:solidFill>
            <a:srgbClr val="0C1526"/>
          </a:solidFill>
          <a:ln/>
          <a:effectLst>
            <a:outerShdw sx="100000" sy="100000" kx="0" ky="0" algn="bl" rotWithShape="0" blurRad="101600" dist="38100" dir="5400000">
              <a:srgbClr val="0B1220">
                <a:alpha val="18000"/>
              </a:srgbClr>
            </a:outerShdw>
          </a:effectLst>
        </p:spPr>
      </p:sp>
      <p:sp>
        <p:nvSpPr>
          <p:cNvPr id="36" name="Shape 34"/>
          <p:cNvSpPr/>
          <p:nvPr/>
        </p:nvSpPr>
        <p:spPr>
          <a:xfrm>
            <a:off x="6976872" y="5385816"/>
            <a:ext cx="128016" cy="128016"/>
          </a:xfrm>
          <a:prstGeom prst="ellipse">
            <a:avLst/>
          </a:prstGeom>
          <a:solidFill>
            <a:srgbClr val="FF5F56"/>
          </a:solidFill>
          <a:ln/>
        </p:spPr>
      </p:sp>
      <p:sp>
        <p:nvSpPr>
          <p:cNvPr id="37" name="Shape 35"/>
          <p:cNvSpPr/>
          <p:nvPr/>
        </p:nvSpPr>
        <p:spPr>
          <a:xfrm>
            <a:off x="7214616" y="5385816"/>
            <a:ext cx="128016" cy="128016"/>
          </a:xfrm>
          <a:prstGeom prst="ellipse">
            <a:avLst/>
          </a:prstGeom>
          <a:solidFill>
            <a:srgbClr val="FFBD2E"/>
          </a:solidFill>
          <a:ln/>
        </p:spPr>
      </p:sp>
      <p:sp>
        <p:nvSpPr>
          <p:cNvPr id="38" name="Shape 36"/>
          <p:cNvSpPr/>
          <p:nvPr/>
        </p:nvSpPr>
        <p:spPr>
          <a:xfrm>
            <a:off x="7452360" y="5385816"/>
            <a:ext cx="128016" cy="128016"/>
          </a:xfrm>
          <a:prstGeom prst="ellipse">
            <a:avLst/>
          </a:prstGeom>
          <a:solidFill>
            <a:srgbClr val="27C93F"/>
          </a:solidFill>
          <a:ln/>
        </p:spPr>
      </p:sp>
      <p:sp>
        <p:nvSpPr>
          <p:cNvPr id="39" name="Text 37"/>
          <p:cNvSpPr/>
          <p:nvPr/>
        </p:nvSpPr>
        <p:spPr>
          <a:xfrm>
            <a:off x="7818120" y="5276088"/>
            <a:ext cx="36576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const is locked</a:t>
            </a:r>
            <a:endParaRPr lang="en-US" sz="1100" dirty="0"/>
          </a:p>
        </p:txBody>
      </p:sp>
      <p:sp>
        <p:nvSpPr>
          <p:cNvPr id="40" name="Text 38"/>
          <p:cNvSpPr/>
          <p:nvPr/>
        </p:nvSpPr>
        <p:spPr>
          <a:xfrm>
            <a:off x="6976872" y="5696712"/>
            <a:ext cx="4425696" cy="521208"/>
          </a:xfrm>
          <a:prstGeom prst="rect">
            <a:avLst/>
          </a:prstGeom>
          <a:noFill/>
          <a:ln/>
        </p:spPr>
        <p:txBody>
          <a:bodyPr wrap="square" lIns="0" tIns="0" rIns="0" bIns="0" rtlCol="0" anchor="t"/>
          <a:lstStyle/>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const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pi</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BD34D"/>
                </a:solidFill>
                <a:latin typeface="Courier New" pitchFamily="34" charset="0"/>
                <a:ea typeface="Courier New" pitchFamily="34" charset="-122"/>
                <a:cs typeface="Courier New" pitchFamily="34" charset="-120"/>
              </a:rPr>
              <a:t>3.14</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pi</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BD34D"/>
                </a:solidFill>
                <a:latin typeface="Courier New" pitchFamily="34" charset="0"/>
                <a:ea typeface="Courier New" pitchFamily="34" charset="-122"/>
                <a:cs typeface="Courier New" pitchFamily="34" charset="-120"/>
              </a:rPr>
              <a:t>3.15</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6B8299"/>
                </a:solidFill>
                <a:latin typeface="Courier New" pitchFamily="34" charset="0"/>
                <a:ea typeface="Courier New" pitchFamily="34" charset="-122"/>
                <a:cs typeface="Courier New" pitchFamily="34" charset="-120"/>
              </a:rPr>
              <a:t>// TypeError</a:t>
            </a:r>
            <a:endParaRPr lang="en-US" sz="1100" dirty="0"/>
          </a:p>
        </p:txBody>
      </p:sp>
      <p:sp>
        <p:nvSpPr>
          <p:cNvPr id="41" name="Text 39"/>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502920"/>
            <a:ext cx="1371600" cy="310896"/>
          </a:xfrm>
          <a:prstGeom prst="roundRect">
            <a:avLst>
              <a:gd name="adj" fmla="val 50000"/>
            </a:avLst>
          </a:prstGeom>
          <a:solidFill>
            <a:srgbClr val="8B5CF6"/>
          </a:solidFill>
          <a:ln/>
        </p:spPr>
      </p:sp>
      <p:sp>
        <p:nvSpPr>
          <p:cNvPr id="3" name="Text 1"/>
          <p:cNvSpPr/>
          <p:nvPr/>
        </p:nvSpPr>
        <p:spPr>
          <a:xfrm>
            <a:off x="548640" y="50292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QUIZ 2</a:t>
            </a:r>
            <a:endParaRPr lang="en-US" sz="1100" dirty="0"/>
          </a:p>
        </p:txBody>
      </p:sp>
      <p:sp>
        <p:nvSpPr>
          <p:cNvPr id="4" name="Text 2"/>
          <p:cNvSpPr/>
          <p:nvPr/>
        </p:nvSpPr>
        <p:spPr>
          <a:xfrm>
            <a:off x="548640" y="1005840"/>
            <a:ext cx="11064240" cy="1005840"/>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Which keyword allows re-assignment but NOT re-declaration?</a:t>
            </a:r>
            <a:endParaRPr lang="en-US" sz="3000" dirty="0"/>
          </a:p>
        </p:txBody>
      </p:sp>
      <p:sp>
        <p:nvSpPr>
          <p:cNvPr id="5" name="Shape 3"/>
          <p:cNvSpPr/>
          <p:nvPr/>
        </p:nvSpPr>
        <p:spPr>
          <a:xfrm>
            <a:off x="54864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22960" y="2715768"/>
            <a:ext cx="457200" cy="457200"/>
          </a:xfrm>
          <a:prstGeom prst="roundRect">
            <a:avLst>
              <a:gd name="adj" fmla="val 20000"/>
            </a:avLst>
          </a:prstGeom>
          <a:solidFill>
            <a:srgbClr val="2563EB"/>
          </a:solidFill>
          <a:ln/>
        </p:spPr>
      </p:sp>
      <p:sp>
        <p:nvSpPr>
          <p:cNvPr id="7" name="Text 5"/>
          <p:cNvSpPr/>
          <p:nvPr/>
        </p:nvSpPr>
        <p:spPr>
          <a:xfrm>
            <a:off x="82296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150876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var</a:t>
            </a:r>
            <a:endParaRPr lang="en-US" sz="1500" dirty="0"/>
          </a:p>
        </p:txBody>
      </p:sp>
      <p:sp>
        <p:nvSpPr>
          <p:cNvPr id="9" name="Shape 7"/>
          <p:cNvSpPr/>
          <p:nvPr/>
        </p:nvSpPr>
        <p:spPr>
          <a:xfrm>
            <a:off x="628650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0" name="Shape 8"/>
          <p:cNvSpPr/>
          <p:nvPr/>
        </p:nvSpPr>
        <p:spPr>
          <a:xfrm>
            <a:off x="6560820" y="2715768"/>
            <a:ext cx="457200" cy="457200"/>
          </a:xfrm>
          <a:prstGeom prst="roundRect">
            <a:avLst>
              <a:gd name="adj" fmla="val 20000"/>
            </a:avLst>
          </a:prstGeom>
          <a:solidFill>
            <a:srgbClr val="2563EB"/>
          </a:solidFill>
          <a:ln/>
        </p:spPr>
      </p:sp>
      <p:sp>
        <p:nvSpPr>
          <p:cNvPr id="11" name="Text 9"/>
          <p:cNvSpPr/>
          <p:nvPr/>
        </p:nvSpPr>
        <p:spPr>
          <a:xfrm>
            <a:off x="656082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724662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let</a:t>
            </a:r>
            <a:endParaRPr lang="en-US" sz="1500" dirty="0"/>
          </a:p>
        </p:txBody>
      </p:sp>
      <p:sp>
        <p:nvSpPr>
          <p:cNvPr id="13" name="Shape 11"/>
          <p:cNvSpPr/>
          <p:nvPr/>
        </p:nvSpPr>
        <p:spPr>
          <a:xfrm>
            <a:off x="54864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4" name="Shape 12"/>
          <p:cNvSpPr/>
          <p:nvPr/>
        </p:nvSpPr>
        <p:spPr>
          <a:xfrm>
            <a:off x="822960" y="4315968"/>
            <a:ext cx="457200" cy="457200"/>
          </a:xfrm>
          <a:prstGeom prst="roundRect">
            <a:avLst>
              <a:gd name="adj" fmla="val 20000"/>
            </a:avLst>
          </a:prstGeom>
          <a:solidFill>
            <a:srgbClr val="2563EB"/>
          </a:solidFill>
          <a:ln/>
        </p:spPr>
      </p:sp>
      <p:sp>
        <p:nvSpPr>
          <p:cNvPr id="15" name="Text 13"/>
          <p:cNvSpPr/>
          <p:nvPr/>
        </p:nvSpPr>
        <p:spPr>
          <a:xfrm>
            <a:off x="82296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6" name="Text 14"/>
          <p:cNvSpPr/>
          <p:nvPr/>
        </p:nvSpPr>
        <p:spPr>
          <a:xfrm>
            <a:off x="150876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const</a:t>
            </a:r>
            <a:endParaRPr lang="en-US" sz="1500" dirty="0"/>
          </a:p>
        </p:txBody>
      </p:sp>
      <p:sp>
        <p:nvSpPr>
          <p:cNvPr id="17" name="Shape 15"/>
          <p:cNvSpPr/>
          <p:nvPr/>
        </p:nvSpPr>
        <p:spPr>
          <a:xfrm>
            <a:off x="628650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8" name="Shape 16"/>
          <p:cNvSpPr/>
          <p:nvPr/>
        </p:nvSpPr>
        <p:spPr>
          <a:xfrm>
            <a:off x="6560820" y="4315968"/>
            <a:ext cx="457200" cy="457200"/>
          </a:xfrm>
          <a:prstGeom prst="roundRect">
            <a:avLst>
              <a:gd name="adj" fmla="val 20000"/>
            </a:avLst>
          </a:prstGeom>
          <a:solidFill>
            <a:srgbClr val="2563EB"/>
          </a:solidFill>
          <a:ln/>
        </p:spPr>
      </p:sp>
      <p:sp>
        <p:nvSpPr>
          <p:cNvPr id="19" name="Text 17"/>
          <p:cNvSpPr/>
          <p:nvPr/>
        </p:nvSpPr>
        <p:spPr>
          <a:xfrm>
            <a:off x="656082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0" name="Text 18"/>
          <p:cNvSpPr/>
          <p:nvPr/>
        </p:nvSpPr>
        <p:spPr>
          <a:xfrm>
            <a:off x="724662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none of them</a:t>
            </a:r>
            <a:endParaRPr lang="en-US" sz="1500" dirty="0"/>
          </a:p>
        </p:txBody>
      </p:sp>
      <p:sp>
        <p:nvSpPr>
          <p:cNvPr id="21" name="Shape 19"/>
          <p:cNvSpPr/>
          <p:nvPr/>
        </p:nvSpPr>
        <p:spPr>
          <a:xfrm>
            <a:off x="548640" y="5532120"/>
            <a:ext cx="11109960" cy="777240"/>
          </a:xfrm>
          <a:prstGeom prst="roundRect">
            <a:avLst>
              <a:gd name="adj" fmla="val 14118"/>
            </a:avLst>
          </a:prstGeom>
          <a:solidFill>
            <a:srgbClr val="E7FBEF"/>
          </a:solidFill>
          <a:ln/>
        </p:spPr>
      </p:sp>
      <p:sp>
        <p:nvSpPr>
          <p:cNvPr id="22" name="Shape 20"/>
          <p:cNvSpPr/>
          <p:nvPr/>
        </p:nvSpPr>
        <p:spPr>
          <a:xfrm>
            <a:off x="749808" y="5792724"/>
            <a:ext cx="256032" cy="256032"/>
          </a:xfrm>
          <a:prstGeom prst="ellipse">
            <a:avLst/>
          </a:prstGeom>
          <a:solidFill>
            <a:srgbClr val="22C55E"/>
          </a:solidFill>
          <a:ln/>
        </p:spPr>
      </p:sp>
      <p:sp>
        <p:nvSpPr>
          <p:cNvPr id="23" name="Text 21"/>
          <p:cNvSpPr/>
          <p:nvPr/>
        </p:nvSpPr>
        <p:spPr>
          <a:xfrm>
            <a:off x="1207008" y="5532120"/>
            <a:ext cx="10241280" cy="77724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Vote, then explain the difference between re-declaring and re-assigning in your own words.</a:t>
            </a:r>
            <a:endParaRPr lang="en-US" sz="1400" dirty="0"/>
          </a:p>
        </p:txBody>
      </p:sp>
      <p:sp>
        <p:nvSpPr>
          <p:cNvPr id="24"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Introduction to JavaScript</a:t>
            </a:r>
            <a:endParaRPr lang="en-US" sz="1000" dirty="0"/>
          </a:p>
        </p:txBody>
      </p:sp>
      <p:sp>
        <p:nvSpPr>
          <p:cNvPr id="25"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04</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4</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Data types</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Primitive values, and references to bigger things.</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024128" cy="310896"/>
          </a:xfrm>
          <a:prstGeom prst="roundRect">
            <a:avLst>
              <a:gd name="adj" fmla="val 50000"/>
            </a:avLst>
          </a:prstGeom>
          <a:solidFill>
            <a:srgbClr val="2563EB"/>
          </a:solidFill>
          <a:ln/>
        </p:spPr>
      </p:sp>
      <p:sp>
        <p:nvSpPr>
          <p:cNvPr id="3" name="Text 1"/>
          <p:cNvSpPr/>
          <p:nvPr/>
        </p:nvSpPr>
        <p:spPr>
          <a:xfrm>
            <a:off x="548640" y="457200"/>
            <a:ext cx="1024128"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OVERVIEW</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Two families of data</a:t>
            </a:r>
            <a:endParaRPr lang="en-US" sz="3400" dirty="0"/>
          </a:p>
        </p:txBody>
      </p:sp>
      <p:sp>
        <p:nvSpPr>
          <p:cNvPr id="5" name="Shape 3"/>
          <p:cNvSpPr/>
          <p:nvPr/>
        </p:nvSpPr>
        <p:spPr>
          <a:xfrm>
            <a:off x="548640" y="1965960"/>
            <a:ext cx="5440680" cy="3977640"/>
          </a:xfrm>
          <a:prstGeom prst="roundRect">
            <a:avLst>
              <a:gd name="adj" fmla="val 2759"/>
            </a:avLst>
          </a:prstGeom>
          <a:solidFill>
            <a:srgbClr val="E5EEFF"/>
          </a:solidFill>
          <a:ln/>
          <a:effectLst>
            <a:outerShdw sx="100000" sy="100000" kx="0" ky="0" algn="bl" rotWithShape="0" blurRad="101600" dist="38100" dir="5400000">
              <a:srgbClr val="0B1220">
                <a:alpha val="18000"/>
              </a:srgbClr>
            </a:outerShdw>
          </a:effectLst>
        </p:spPr>
      </p:sp>
      <p:sp>
        <p:nvSpPr>
          <p:cNvPr id="6" name="Text 4"/>
          <p:cNvSpPr/>
          <p:nvPr/>
        </p:nvSpPr>
        <p:spPr>
          <a:xfrm>
            <a:off x="822960" y="2194560"/>
            <a:ext cx="4892040" cy="292608"/>
          </a:xfrm>
          <a:prstGeom prst="rect">
            <a:avLst/>
          </a:prstGeom>
          <a:noFill/>
          <a:ln/>
        </p:spPr>
        <p:txBody>
          <a:bodyPr wrap="square" lIns="0" tIns="0" rIns="0" bIns="0" rtlCol="0" anchor="ctr"/>
          <a:lstStyle/>
          <a:p>
            <a:pPr algn="l" indent="0" marL="0">
              <a:buNone/>
            </a:pPr>
            <a:r>
              <a:rPr lang="en-US" sz="1200" b="1" spc="130" kern="0" dirty="0">
                <a:solidFill>
                  <a:srgbClr val="2563EB"/>
                </a:solidFill>
                <a:latin typeface="Calibri" pitchFamily="34" charset="0"/>
                <a:ea typeface="Calibri" pitchFamily="34" charset="-122"/>
                <a:cs typeface="Calibri" pitchFamily="34" charset="-120"/>
              </a:rPr>
              <a:t>PRIMITIVE</a:t>
            </a:r>
            <a:endParaRPr lang="en-US" sz="1200" dirty="0"/>
          </a:p>
        </p:txBody>
      </p:sp>
      <p:sp>
        <p:nvSpPr>
          <p:cNvPr id="7" name="Text 5"/>
          <p:cNvSpPr/>
          <p:nvPr/>
        </p:nvSpPr>
        <p:spPr>
          <a:xfrm>
            <a:off x="822960" y="2542032"/>
            <a:ext cx="4892040" cy="36576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A single, simple value</a:t>
            </a:r>
            <a:endParaRPr lang="en-US" sz="1600" dirty="0"/>
          </a:p>
        </p:txBody>
      </p:sp>
      <p:sp>
        <p:nvSpPr>
          <p:cNvPr id="8" name="Shape 6"/>
          <p:cNvSpPr/>
          <p:nvPr/>
        </p:nvSpPr>
        <p:spPr>
          <a:xfrm>
            <a:off x="868680" y="3017520"/>
            <a:ext cx="4800600" cy="475488"/>
          </a:xfrm>
          <a:prstGeom prst="roundRect">
            <a:avLst>
              <a:gd name="adj" fmla="val 23077"/>
            </a:avLst>
          </a:prstGeom>
          <a:solidFill>
            <a:srgbClr val="FFFFFF"/>
          </a:solidFill>
          <a:ln/>
          <a:effectLst>
            <a:outerShdw sx="100000" sy="100000" kx="0" ky="0" algn="bl" rotWithShape="0" blurRad="101600" dist="38100" dir="5400000">
              <a:srgbClr val="0B1220">
                <a:alpha val="18000"/>
              </a:srgbClr>
            </a:outerShdw>
          </a:effectLst>
        </p:spPr>
      </p:sp>
      <p:sp>
        <p:nvSpPr>
          <p:cNvPr id="9" name="Text 7"/>
          <p:cNvSpPr/>
          <p:nvPr/>
        </p:nvSpPr>
        <p:spPr>
          <a:xfrm>
            <a:off x="1051560" y="3017520"/>
            <a:ext cx="1554480" cy="475488"/>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number</a:t>
            </a:r>
            <a:endParaRPr lang="en-US" sz="1300" dirty="0"/>
          </a:p>
        </p:txBody>
      </p:sp>
      <p:sp>
        <p:nvSpPr>
          <p:cNvPr id="10" name="Text 8"/>
          <p:cNvSpPr/>
          <p:nvPr/>
        </p:nvSpPr>
        <p:spPr>
          <a:xfrm>
            <a:off x="2651760" y="3017520"/>
            <a:ext cx="2880360" cy="475488"/>
          </a:xfrm>
          <a:prstGeom prst="rect">
            <a:avLst/>
          </a:prstGeom>
          <a:noFill/>
          <a:ln/>
        </p:spPr>
        <p:txBody>
          <a:bodyPr wrap="square" lIns="0" tIns="0" rIns="0" bIns="0" rtlCol="0" anchor="ctr"/>
          <a:lstStyle/>
          <a:p>
            <a:pPr algn="l" indent="0" marL="0">
              <a:buNone/>
            </a:pPr>
            <a:r>
              <a:rPr lang="en-US" sz="1100" dirty="0">
                <a:solidFill>
                  <a:srgbClr val="64748B"/>
                </a:solidFill>
                <a:latin typeface="Courier New" pitchFamily="34" charset="0"/>
                <a:ea typeface="Courier New" pitchFamily="34" charset="-122"/>
                <a:cs typeface="Courier New" pitchFamily="34" charset="-120"/>
              </a:rPr>
              <a:t>20, 12.57, -10.12</a:t>
            </a:r>
            <a:endParaRPr lang="en-US" sz="1100" dirty="0"/>
          </a:p>
        </p:txBody>
      </p:sp>
      <p:sp>
        <p:nvSpPr>
          <p:cNvPr id="11" name="Shape 9"/>
          <p:cNvSpPr/>
          <p:nvPr/>
        </p:nvSpPr>
        <p:spPr>
          <a:xfrm>
            <a:off x="868680" y="3584448"/>
            <a:ext cx="4800600" cy="475488"/>
          </a:xfrm>
          <a:prstGeom prst="roundRect">
            <a:avLst>
              <a:gd name="adj" fmla="val 23077"/>
            </a:avLst>
          </a:prstGeom>
          <a:solidFill>
            <a:srgbClr val="FFFFFF"/>
          </a:solidFill>
          <a:ln/>
          <a:effectLst>
            <a:outerShdw sx="100000" sy="100000" kx="0" ky="0" algn="bl" rotWithShape="0" blurRad="101600" dist="38100" dir="5400000">
              <a:srgbClr val="0B1220">
                <a:alpha val="18000"/>
              </a:srgbClr>
            </a:outerShdw>
          </a:effectLst>
        </p:spPr>
      </p:sp>
      <p:sp>
        <p:nvSpPr>
          <p:cNvPr id="12" name="Text 10"/>
          <p:cNvSpPr/>
          <p:nvPr/>
        </p:nvSpPr>
        <p:spPr>
          <a:xfrm>
            <a:off x="1051560" y="3584448"/>
            <a:ext cx="1554480" cy="475488"/>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string</a:t>
            </a:r>
            <a:endParaRPr lang="en-US" sz="1300" dirty="0"/>
          </a:p>
        </p:txBody>
      </p:sp>
      <p:sp>
        <p:nvSpPr>
          <p:cNvPr id="13" name="Text 11"/>
          <p:cNvSpPr/>
          <p:nvPr/>
        </p:nvSpPr>
        <p:spPr>
          <a:xfrm>
            <a:off x="2651760" y="3584448"/>
            <a:ext cx="2880360" cy="475488"/>
          </a:xfrm>
          <a:prstGeom prst="rect">
            <a:avLst/>
          </a:prstGeom>
          <a:noFill/>
          <a:ln/>
        </p:spPr>
        <p:txBody>
          <a:bodyPr wrap="square" lIns="0" tIns="0" rIns="0" bIns="0" rtlCol="0" anchor="ctr"/>
          <a:lstStyle/>
          <a:p>
            <a:pPr algn="l" indent="0" marL="0">
              <a:buNone/>
            </a:pPr>
            <a:r>
              <a:rPr lang="en-US" sz="1100" dirty="0">
                <a:solidFill>
                  <a:srgbClr val="64748B"/>
                </a:solidFill>
                <a:latin typeface="Courier New" pitchFamily="34" charset="0"/>
                <a:ea typeface="Courier New" pitchFamily="34" charset="-122"/>
                <a:cs typeface="Courier New" pitchFamily="34" charset="-120"/>
              </a:rPr>
              <a:t>'JavaScript'</a:t>
            </a:r>
            <a:endParaRPr lang="en-US" sz="1100" dirty="0"/>
          </a:p>
        </p:txBody>
      </p:sp>
      <p:sp>
        <p:nvSpPr>
          <p:cNvPr id="14" name="Shape 12"/>
          <p:cNvSpPr/>
          <p:nvPr/>
        </p:nvSpPr>
        <p:spPr>
          <a:xfrm>
            <a:off x="868680" y="4151376"/>
            <a:ext cx="4800600" cy="475488"/>
          </a:xfrm>
          <a:prstGeom prst="roundRect">
            <a:avLst>
              <a:gd name="adj" fmla="val 23077"/>
            </a:avLst>
          </a:prstGeom>
          <a:solidFill>
            <a:srgbClr val="FFFFFF"/>
          </a:solidFill>
          <a:ln/>
          <a:effectLst>
            <a:outerShdw sx="100000" sy="100000" kx="0" ky="0" algn="bl" rotWithShape="0" blurRad="101600" dist="38100" dir="5400000">
              <a:srgbClr val="0B1220">
                <a:alpha val="18000"/>
              </a:srgbClr>
            </a:outerShdw>
          </a:effectLst>
        </p:spPr>
      </p:sp>
      <p:sp>
        <p:nvSpPr>
          <p:cNvPr id="15" name="Text 13"/>
          <p:cNvSpPr/>
          <p:nvPr/>
        </p:nvSpPr>
        <p:spPr>
          <a:xfrm>
            <a:off x="1051560" y="4151376"/>
            <a:ext cx="1554480" cy="475488"/>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boolean</a:t>
            </a:r>
            <a:endParaRPr lang="en-US" sz="1300" dirty="0"/>
          </a:p>
        </p:txBody>
      </p:sp>
      <p:sp>
        <p:nvSpPr>
          <p:cNvPr id="16" name="Text 14"/>
          <p:cNvSpPr/>
          <p:nvPr/>
        </p:nvSpPr>
        <p:spPr>
          <a:xfrm>
            <a:off x="2651760" y="4151376"/>
            <a:ext cx="2880360" cy="475488"/>
          </a:xfrm>
          <a:prstGeom prst="rect">
            <a:avLst/>
          </a:prstGeom>
          <a:noFill/>
          <a:ln/>
        </p:spPr>
        <p:txBody>
          <a:bodyPr wrap="square" lIns="0" tIns="0" rIns="0" bIns="0" rtlCol="0" anchor="ctr"/>
          <a:lstStyle/>
          <a:p>
            <a:pPr algn="l" indent="0" marL="0">
              <a:buNone/>
            </a:pPr>
            <a:r>
              <a:rPr lang="en-US" sz="1100" dirty="0">
                <a:solidFill>
                  <a:srgbClr val="64748B"/>
                </a:solidFill>
                <a:latin typeface="Courier New" pitchFamily="34" charset="0"/>
                <a:ea typeface="Courier New" pitchFamily="34" charset="-122"/>
                <a:cs typeface="Courier New" pitchFamily="34" charset="-120"/>
              </a:rPr>
              <a:t>true, false</a:t>
            </a:r>
            <a:endParaRPr lang="en-US" sz="1100" dirty="0"/>
          </a:p>
        </p:txBody>
      </p:sp>
      <p:sp>
        <p:nvSpPr>
          <p:cNvPr id="17" name="Shape 15"/>
          <p:cNvSpPr/>
          <p:nvPr/>
        </p:nvSpPr>
        <p:spPr>
          <a:xfrm>
            <a:off x="868680" y="4718304"/>
            <a:ext cx="4800600" cy="475488"/>
          </a:xfrm>
          <a:prstGeom prst="roundRect">
            <a:avLst>
              <a:gd name="adj" fmla="val 23077"/>
            </a:avLst>
          </a:prstGeom>
          <a:solidFill>
            <a:srgbClr val="FFFFFF"/>
          </a:solidFill>
          <a:ln/>
          <a:effectLst>
            <a:outerShdw sx="100000" sy="100000" kx="0" ky="0" algn="bl" rotWithShape="0" blurRad="101600" dist="38100" dir="5400000">
              <a:srgbClr val="0B1220">
                <a:alpha val="18000"/>
              </a:srgbClr>
            </a:outerShdw>
          </a:effectLst>
        </p:spPr>
      </p:sp>
      <p:sp>
        <p:nvSpPr>
          <p:cNvPr id="18" name="Text 16"/>
          <p:cNvSpPr/>
          <p:nvPr/>
        </p:nvSpPr>
        <p:spPr>
          <a:xfrm>
            <a:off x="1051560" y="4718304"/>
            <a:ext cx="1554480" cy="475488"/>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undefined</a:t>
            </a:r>
            <a:endParaRPr lang="en-US" sz="1300" dirty="0"/>
          </a:p>
        </p:txBody>
      </p:sp>
      <p:sp>
        <p:nvSpPr>
          <p:cNvPr id="19" name="Text 17"/>
          <p:cNvSpPr/>
          <p:nvPr/>
        </p:nvSpPr>
        <p:spPr>
          <a:xfrm>
            <a:off x="2651760" y="4718304"/>
            <a:ext cx="2880360" cy="475488"/>
          </a:xfrm>
          <a:prstGeom prst="rect">
            <a:avLst/>
          </a:prstGeom>
          <a:noFill/>
          <a:ln/>
        </p:spPr>
        <p:txBody>
          <a:bodyPr wrap="square" lIns="0" tIns="0" rIns="0" bIns="0" rtlCol="0" anchor="ctr"/>
          <a:lstStyle/>
          <a:p>
            <a:pPr algn="l" indent="0" marL="0">
              <a:buNone/>
            </a:pPr>
            <a:r>
              <a:rPr lang="en-US" sz="1100" dirty="0">
                <a:solidFill>
                  <a:srgbClr val="64748B"/>
                </a:solidFill>
                <a:latin typeface="Courier New" pitchFamily="34" charset="0"/>
                <a:ea typeface="Courier New" pitchFamily="34" charset="-122"/>
                <a:cs typeface="Courier New" pitchFamily="34" charset="-120"/>
              </a:rPr>
              <a:t>declared, no value yet</a:t>
            </a:r>
            <a:endParaRPr lang="en-US" sz="1100" dirty="0"/>
          </a:p>
        </p:txBody>
      </p:sp>
      <p:sp>
        <p:nvSpPr>
          <p:cNvPr id="20" name="Shape 18"/>
          <p:cNvSpPr/>
          <p:nvPr/>
        </p:nvSpPr>
        <p:spPr>
          <a:xfrm>
            <a:off x="868680" y="5285232"/>
            <a:ext cx="4800600" cy="475488"/>
          </a:xfrm>
          <a:prstGeom prst="roundRect">
            <a:avLst>
              <a:gd name="adj" fmla="val 23077"/>
            </a:avLst>
          </a:prstGeom>
          <a:solidFill>
            <a:srgbClr val="FFFFFF"/>
          </a:solidFill>
          <a:ln/>
          <a:effectLst>
            <a:outerShdw sx="100000" sy="100000" kx="0" ky="0" algn="bl" rotWithShape="0" blurRad="101600" dist="38100" dir="5400000">
              <a:srgbClr val="0B1220">
                <a:alpha val="18000"/>
              </a:srgbClr>
            </a:outerShdw>
          </a:effectLst>
        </p:spPr>
      </p:sp>
      <p:sp>
        <p:nvSpPr>
          <p:cNvPr id="21" name="Text 19"/>
          <p:cNvSpPr/>
          <p:nvPr/>
        </p:nvSpPr>
        <p:spPr>
          <a:xfrm>
            <a:off x="1051560" y="5285232"/>
            <a:ext cx="1554480" cy="475488"/>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null</a:t>
            </a:r>
            <a:endParaRPr lang="en-US" sz="1300" dirty="0"/>
          </a:p>
        </p:txBody>
      </p:sp>
      <p:sp>
        <p:nvSpPr>
          <p:cNvPr id="22" name="Text 20"/>
          <p:cNvSpPr/>
          <p:nvPr/>
        </p:nvSpPr>
        <p:spPr>
          <a:xfrm>
            <a:off x="2651760" y="5285232"/>
            <a:ext cx="2880360" cy="475488"/>
          </a:xfrm>
          <a:prstGeom prst="rect">
            <a:avLst/>
          </a:prstGeom>
          <a:noFill/>
          <a:ln/>
        </p:spPr>
        <p:txBody>
          <a:bodyPr wrap="square" lIns="0" tIns="0" rIns="0" bIns="0" rtlCol="0" anchor="ctr"/>
          <a:lstStyle/>
          <a:p>
            <a:pPr algn="l" indent="0" marL="0">
              <a:buNone/>
            </a:pPr>
            <a:r>
              <a:rPr lang="en-US" sz="1100" dirty="0">
                <a:solidFill>
                  <a:srgbClr val="64748B"/>
                </a:solidFill>
                <a:latin typeface="Courier New" pitchFamily="34" charset="0"/>
                <a:ea typeface="Courier New" pitchFamily="34" charset="-122"/>
                <a:cs typeface="Courier New" pitchFamily="34" charset="-120"/>
              </a:rPr>
              <a:t>deliberately empty</a:t>
            </a:r>
            <a:endParaRPr lang="en-US" sz="1100" dirty="0"/>
          </a:p>
        </p:txBody>
      </p:sp>
      <p:sp>
        <p:nvSpPr>
          <p:cNvPr id="23" name="Shape 21"/>
          <p:cNvSpPr/>
          <p:nvPr/>
        </p:nvSpPr>
        <p:spPr>
          <a:xfrm>
            <a:off x="6217920" y="1965960"/>
            <a:ext cx="5440680" cy="3977640"/>
          </a:xfrm>
          <a:prstGeom prst="roundRect">
            <a:avLst>
              <a:gd name="adj" fmla="val 2759"/>
            </a:avLst>
          </a:prstGeom>
          <a:solidFill>
            <a:srgbClr val="EEF2FF"/>
          </a:solidFill>
          <a:ln/>
          <a:effectLst>
            <a:outerShdw sx="100000" sy="100000" kx="0" ky="0" algn="bl" rotWithShape="0" blurRad="101600" dist="38100" dir="5400000">
              <a:srgbClr val="0B1220">
                <a:alpha val="18000"/>
              </a:srgbClr>
            </a:outerShdw>
          </a:effectLst>
        </p:spPr>
      </p:sp>
      <p:sp>
        <p:nvSpPr>
          <p:cNvPr id="24" name="Text 22"/>
          <p:cNvSpPr/>
          <p:nvPr/>
        </p:nvSpPr>
        <p:spPr>
          <a:xfrm>
            <a:off x="6492240" y="2194560"/>
            <a:ext cx="4892040" cy="292608"/>
          </a:xfrm>
          <a:prstGeom prst="rect">
            <a:avLst/>
          </a:prstGeom>
          <a:noFill/>
          <a:ln/>
        </p:spPr>
        <p:txBody>
          <a:bodyPr wrap="square" lIns="0" tIns="0" rIns="0" bIns="0" rtlCol="0" anchor="ctr"/>
          <a:lstStyle/>
          <a:p>
            <a:pPr algn="l" indent="0" marL="0">
              <a:buNone/>
            </a:pPr>
            <a:r>
              <a:rPr lang="en-US" sz="1200" b="1" spc="130" kern="0" dirty="0">
                <a:solidFill>
                  <a:srgbClr val="8B5CF6"/>
                </a:solidFill>
                <a:latin typeface="Calibri" pitchFamily="34" charset="0"/>
                <a:ea typeface="Calibri" pitchFamily="34" charset="-122"/>
                <a:cs typeface="Calibri" pitchFamily="34" charset="-120"/>
              </a:rPr>
              <a:t>REFERENCE</a:t>
            </a:r>
            <a:endParaRPr lang="en-US" sz="1200" dirty="0"/>
          </a:p>
        </p:txBody>
      </p:sp>
      <p:sp>
        <p:nvSpPr>
          <p:cNvPr id="25" name="Text 23"/>
          <p:cNvSpPr/>
          <p:nvPr/>
        </p:nvSpPr>
        <p:spPr>
          <a:xfrm>
            <a:off x="6492240" y="2542032"/>
            <a:ext cx="4892040" cy="365760"/>
          </a:xfrm>
          <a:prstGeom prst="rect">
            <a:avLst/>
          </a:prstGeom>
          <a:noFill/>
          <a:ln/>
        </p:spPr>
        <p:txBody>
          <a:bodyPr wrap="square" lIns="0" tIns="0" rIns="0" bIns="0" rtlCol="0" anchor="ctr"/>
          <a:lstStyle/>
          <a:p>
            <a:pPr algn="l" indent="0" marL="0">
              <a:buNone/>
            </a:pPr>
            <a:r>
              <a:rPr lang="en-US" sz="1600" b="1" dirty="0">
                <a:solidFill>
                  <a:srgbClr val="3B2E7A"/>
                </a:solidFill>
                <a:latin typeface="Calibri" pitchFamily="34" charset="0"/>
                <a:ea typeface="Calibri" pitchFamily="34" charset="-122"/>
                <a:cs typeface="Calibri" pitchFamily="34" charset="-120"/>
              </a:rPr>
              <a:t>A container holding many values</a:t>
            </a:r>
            <a:endParaRPr lang="en-US" sz="1600" dirty="0"/>
          </a:p>
        </p:txBody>
      </p:sp>
      <p:sp>
        <p:nvSpPr>
          <p:cNvPr id="26" name="Shape 24"/>
          <p:cNvSpPr/>
          <p:nvPr/>
        </p:nvSpPr>
        <p:spPr>
          <a:xfrm>
            <a:off x="6537960" y="3017520"/>
            <a:ext cx="4800600" cy="658368"/>
          </a:xfrm>
          <a:prstGeom prst="roundRect">
            <a:avLst>
              <a:gd name="adj" fmla="val 16667"/>
            </a:avLst>
          </a:prstGeom>
          <a:solidFill>
            <a:srgbClr val="FFFFFF"/>
          </a:solidFill>
          <a:ln/>
          <a:effectLst>
            <a:outerShdw sx="100000" sy="100000" kx="0" ky="0" algn="bl" rotWithShape="0" blurRad="101600" dist="38100" dir="5400000">
              <a:srgbClr val="0B1220">
                <a:alpha val="18000"/>
              </a:srgbClr>
            </a:outerShdw>
          </a:effectLst>
        </p:spPr>
      </p:sp>
      <p:sp>
        <p:nvSpPr>
          <p:cNvPr id="27" name="Text 25"/>
          <p:cNvSpPr/>
          <p:nvPr/>
        </p:nvSpPr>
        <p:spPr>
          <a:xfrm>
            <a:off x="6720840" y="3017520"/>
            <a:ext cx="1691640" cy="658368"/>
          </a:xfrm>
          <a:prstGeom prst="rect">
            <a:avLst/>
          </a:prstGeom>
          <a:noFill/>
          <a:ln/>
        </p:spPr>
        <p:txBody>
          <a:bodyPr wrap="square" lIns="0" tIns="0" rIns="0" bIns="0" rtlCol="0" anchor="ctr"/>
          <a:lstStyle/>
          <a:p>
            <a:pPr algn="l" indent="0" marL="0">
              <a:buNone/>
            </a:pPr>
            <a:r>
              <a:rPr lang="en-US" sz="1350" b="1" dirty="0">
                <a:solidFill>
                  <a:srgbClr val="8B5CF6"/>
                </a:solidFill>
                <a:latin typeface="Courier New" pitchFamily="34" charset="0"/>
                <a:ea typeface="Courier New" pitchFamily="34" charset="-122"/>
                <a:cs typeface="Courier New" pitchFamily="34" charset="-120"/>
              </a:rPr>
              <a:t>function</a:t>
            </a:r>
            <a:endParaRPr lang="en-US" sz="1350" dirty="0"/>
          </a:p>
        </p:txBody>
      </p:sp>
      <p:sp>
        <p:nvSpPr>
          <p:cNvPr id="28" name="Text 26"/>
          <p:cNvSpPr/>
          <p:nvPr/>
        </p:nvSpPr>
        <p:spPr>
          <a:xfrm>
            <a:off x="8458200" y="3017520"/>
            <a:ext cx="2743200" cy="658368"/>
          </a:xfrm>
          <a:prstGeom prst="rect">
            <a:avLst/>
          </a:prstGeom>
          <a:noFill/>
          <a:ln/>
        </p:spPr>
        <p:txBody>
          <a:bodyPr wrap="square" lIns="0" tIns="0" rIns="0" bIns="0" rtlCol="0" anchor="ctr"/>
          <a:lstStyle/>
          <a:p>
            <a:pPr algn="l" indent="0" marL="0">
              <a:buNone/>
            </a:pPr>
            <a:r>
              <a:rPr lang="en-US" sz="1200" dirty="0">
                <a:solidFill>
                  <a:srgbClr val="3B2E7A"/>
                </a:solidFill>
                <a:latin typeface="Calibri" pitchFamily="34" charset="0"/>
                <a:ea typeface="Calibri" pitchFamily="34" charset="-122"/>
                <a:cs typeface="Calibri" pitchFamily="34" charset="-120"/>
              </a:rPr>
              <a:t>a reusable block of work</a:t>
            </a:r>
            <a:endParaRPr lang="en-US" sz="1200" dirty="0"/>
          </a:p>
        </p:txBody>
      </p:sp>
      <p:sp>
        <p:nvSpPr>
          <p:cNvPr id="29" name="Shape 27"/>
          <p:cNvSpPr/>
          <p:nvPr/>
        </p:nvSpPr>
        <p:spPr>
          <a:xfrm>
            <a:off x="6537960" y="3794760"/>
            <a:ext cx="4800600" cy="658368"/>
          </a:xfrm>
          <a:prstGeom prst="roundRect">
            <a:avLst>
              <a:gd name="adj" fmla="val 16667"/>
            </a:avLst>
          </a:prstGeom>
          <a:solidFill>
            <a:srgbClr val="FFFFFF"/>
          </a:solidFill>
          <a:ln/>
          <a:effectLst>
            <a:outerShdw sx="100000" sy="100000" kx="0" ky="0" algn="bl" rotWithShape="0" blurRad="101600" dist="38100" dir="5400000">
              <a:srgbClr val="0B1220">
                <a:alpha val="18000"/>
              </a:srgbClr>
            </a:outerShdw>
          </a:effectLst>
        </p:spPr>
      </p:sp>
      <p:sp>
        <p:nvSpPr>
          <p:cNvPr id="30" name="Text 28"/>
          <p:cNvSpPr/>
          <p:nvPr/>
        </p:nvSpPr>
        <p:spPr>
          <a:xfrm>
            <a:off x="6720840" y="3794760"/>
            <a:ext cx="1691640" cy="658368"/>
          </a:xfrm>
          <a:prstGeom prst="rect">
            <a:avLst/>
          </a:prstGeom>
          <a:noFill/>
          <a:ln/>
        </p:spPr>
        <p:txBody>
          <a:bodyPr wrap="square" lIns="0" tIns="0" rIns="0" bIns="0" rtlCol="0" anchor="ctr"/>
          <a:lstStyle/>
          <a:p>
            <a:pPr algn="l" indent="0" marL="0">
              <a:buNone/>
            </a:pPr>
            <a:r>
              <a:rPr lang="en-US" sz="1350" b="1" dirty="0">
                <a:solidFill>
                  <a:srgbClr val="8B5CF6"/>
                </a:solidFill>
                <a:latin typeface="Courier New" pitchFamily="34" charset="0"/>
                <a:ea typeface="Courier New" pitchFamily="34" charset="-122"/>
                <a:cs typeface="Courier New" pitchFamily="34" charset="-120"/>
              </a:rPr>
              <a:t>array</a:t>
            </a:r>
            <a:endParaRPr lang="en-US" sz="1350" dirty="0"/>
          </a:p>
        </p:txBody>
      </p:sp>
      <p:sp>
        <p:nvSpPr>
          <p:cNvPr id="31" name="Text 29"/>
          <p:cNvSpPr/>
          <p:nvPr/>
        </p:nvSpPr>
        <p:spPr>
          <a:xfrm>
            <a:off x="8458200" y="3794760"/>
            <a:ext cx="2743200" cy="658368"/>
          </a:xfrm>
          <a:prstGeom prst="rect">
            <a:avLst/>
          </a:prstGeom>
          <a:noFill/>
          <a:ln/>
        </p:spPr>
        <p:txBody>
          <a:bodyPr wrap="square" lIns="0" tIns="0" rIns="0" bIns="0" rtlCol="0" anchor="ctr"/>
          <a:lstStyle/>
          <a:p>
            <a:pPr algn="l" indent="0" marL="0">
              <a:buNone/>
            </a:pPr>
            <a:r>
              <a:rPr lang="en-US" sz="1200" dirty="0">
                <a:solidFill>
                  <a:srgbClr val="3B2E7A"/>
                </a:solidFill>
                <a:latin typeface="Calibri" pitchFamily="34" charset="0"/>
                <a:ea typeface="Calibri" pitchFamily="34" charset="-122"/>
                <a:cs typeface="Calibri" pitchFamily="34" charset="-120"/>
              </a:rPr>
              <a:t>an ordered list of values</a:t>
            </a:r>
            <a:endParaRPr lang="en-US" sz="1200" dirty="0"/>
          </a:p>
        </p:txBody>
      </p:sp>
      <p:sp>
        <p:nvSpPr>
          <p:cNvPr id="32" name="Shape 30"/>
          <p:cNvSpPr/>
          <p:nvPr/>
        </p:nvSpPr>
        <p:spPr>
          <a:xfrm>
            <a:off x="6537960" y="4572000"/>
            <a:ext cx="4800600" cy="658368"/>
          </a:xfrm>
          <a:prstGeom prst="roundRect">
            <a:avLst>
              <a:gd name="adj" fmla="val 16667"/>
            </a:avLst>
          </a:prstGeom>
          <a:solidFill>
            <a:srgbClr val="FFFFFF"/>
          </a:solidFill>
          <a:ln/>
          <a:effectLst>
            <a:outerShdw sx="100000" sy="100000" kx="0" ky="0" algn="bl" rotWithShape="0" blurRad="101600" dist="38100" dir="5400000">
              <a:srgbClr val="0B1220">
                <a:alpha val="18000"/>
              </a:srgbClr>
            </a:outerShdw>
          </a:effectLst>
        </p:spPr>
      </p:sp>
      <p:sp>
        <p:nvSpPr>
          <p:cNvPr id="33" name="Text 31"/>
          <p:cNvSpPr/>
          <p:nvPr/>
        </p:nvSpPr>
        <p:spPr>
          <a:xfrm>
            <a:off x="6720840" y="4572000"/>
            <a:ext cx="1691640" cy="658368"/>
          </a:xfrm>
          <a:prstGeom prst="rect">
            <a:avLst/>
          </a:prstGeom>
          <a:noFill/>
          <a:ln/>
        </p:spPr>
        <p:txBody>
          <a:bodyPr wrap="square" lIns="0" tIns="0" rIns="0" bIns="0" rtlCol="0" anchor="ctr"/>
          <a:lstStyle/>
          <a:p>
            <a:pPr algn="l" indent="0" marL="0">
              <a:buNone/>
            </a:pPr>
            <a:r>
              <a:rPr lang="en-US" sz="1350" b="1" dirty="0">
                <a:solidFill>
                  <a:srgbClr val="8B5CF6"/>
                </a:solidFill>
                <a:latin typeface="Courier New" pitchFamily="34" charset="0"/>
                <a:ea typeface="Courier New" pitchFamily="34" charset="-122"/>
                <a:cs typeface="Courier New" pitchFamily="34" charset="-120"/>
              </a:rPr>
              <a:t>object</a:t>
            </a:r>
            <a:endParaRPr lang="en-US" sz="1350" dirty="0"/>
          </a:p>
        </p:txBody>
      </p:sp>
      <p:sp>
        <p:nvSpPr>
          <p:cNvPr id="34" name="Text 32"/>
          <p:cNvSpPr/>
          <p:nvPr/>
        </p:nvSpPr>
        <p:spPr>
          <a:xfrm>
            <a:off x="8458200" y="4572000"/>
            <a:ext cx="2743200" cy="658368"/>
          </a:xfrm>
          <a:prstGeom prst="rect">
            <a:avLst/>
          </a:prstGeom>
          <a:noFill/>
          <a:ln/>
        </p:spPr>
        <p:txBody>
          <a:bodyPr wrap="square" lIns="0" tIns="0" rIns="0" bIns="0" rtlCol="0" anchor="ctr"/>
          <a:lstStyle/>
          <a:p>
            <a:pPr algn="l" indent="0" marL="0">
              <a:buNone/>
            </a:pPr>
            <a:r>
              <a:rPr lang="en-US" sz="1200" dirty="0">
                <a:solidFill>
                  <a:srgbClr val="3B2E7A"/>
                </a:solidFill>
                <a:latin typeface="Calibri" pitchFamily="34" charset="0"/>
                <a:ea typeface="Calibri" pitchFamily="34" charset="-122"/>
                <a:cs typeface="Calibri" pitchFamily="34" charset="-120"/>
              </a:rPr>
              <a:t>key and value pairs</a:t>
            </a:r>
            <a:endParaRPr lang="en-US" sz="1200" dirty="0"/>
          </a:p>
        </p:txBody>
      </p:sp>
      <p:sp>
        <p:nvSpPr>
          <p:cNvPr id="35" name="Text 33"/>
          <p:cNvSpPr/>
          <p:nvPr/>
        </p:nvSpPr>
        <p:spPr>
          <a:xfrm>
            <a:off x="6537960" y="5486400"/>
            <a:ext cx="4800600" cy="320040"/>
          </a:xfrm>
          <a:prstGeom prst="rect">
            <a:avLst/>
          </a:prstGeom>
          <a:noFill/>
          <a:ln/>
        </p:spPr>
        <p:txBody>
          <a:bodyPr wrap="square" lIns="0" tIns="0" rIns="0" bIns="0" rtlCol="0" anchor="ctr"/>
          <a:lstStyle/>
          <a:p>
            <a:pPr algn="l" indent="0" marL="0">
              <a:buNone/>
            </a:pPr>
            <a:r>
              <a:rPr lang="en-US" sz="1200" i="1" dirty="0">
                <a:solidFill>
                  <a:srgbClr val="8B5CF6"/>
                </a:solidFill>
                <a:latin typeface="Calibri" pitchFamily="34" charset="0"/>
                <a:ea typeface="Calibri" pitchFamily="34" charset="-122"/>
                <a:cs typeface="Calibri" pitchFamily="34" charset="-120"/>
              </a:rPr>
              <a:t>These three are the rest of today's class.</a:t>
            </a:r>
            <a:endParaRPr lang="en-US" sz="1200" dirty="0"/>
          </a:p>
        </p:txBody>
      </p:sp>
      <p:sp>
        <p:nvSpPr>
          <p:cNvPr id="36" name="Text 34"/>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216152" cy="310896"/>
          </a:xfrm>
          <a:prstGeom prst="roundRect">
            <a:avLst>
              <a:gd name="adj" fmla="val 50000"/>
            </a:avLst>
          </a:prstGeom>
          <a:solidFill>
            <a:srgbClr val="2563EB"/>
          </a:solidFill>
          <a:ln/>
        </p:spPr>
      </p:sp>
      <p:sp>
        <p:nvSpPr>
          <p:cNvPr id="3" name="Text 1"/>
          <p:cNvSpPr/>
          <p:nvPr/>
        </p:nvSpPr>
        <p:spPr>
          <a:xfrm>
            <a:off x="548640" y="457200"/>
            <a:ext cx="1216152"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PRIMITIVES</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Numbers and strings</a:t>
            </a:r>
            <a:endParaRPr lang="en-US" sz="3400" dirty="0"/>
          </a:p>
        </p:txBody>
      </p:sp>
      <p:sp>
        <p:nvSpPr>
          <p:cNvPr id="5" name="Shape 3"/>
          <p:cNvSpPr/>
          <p:nvPr/>
        </p:nvSpPr>
        <p:spPr>
          <a:xfrm>
            <a:off x="548640" y="1965960"/>
            <a:ext cx="5440680" cy="2286000"/>
          </a:xfrm>
          <a:prstGeom prst="roundRect">
            <a:avLst>
              <a:gd name="adj" fmla="val 4800"/>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2185416"/>
            <a:ext cx="128016" cy="128016"/>
          </a:xfrm>
          <a:prstGeom prst="ellipse">
            <a:avLst/>
          </a:prstGeom>
          <a:solidFill>
            <a:srgbClr val="FF5F56"/>
          </a:solidFill>
          <a:ln/>
        </p:spPr>
      </p:sp>
      <p:sp>
        <p:nvSpPr>
          <p:cNvPr id="7" name="Shape 5"/>
          <p:cNvSpPr/>
          <p:nvPr/>
        </p:nvSpPr>
        <p:spPr>
          <a:xfrm>
            <a:off x="1042416" y="2185416"/>
            <a:ext cx="128016" cy="128016"/>
          </a:xfrm>
          <a:prstGeom prst="ellipse">
            <a:avLst/>
          </a:prstGeom>
          <a:solidFill>
            <a:srgbClr val="FFBD2E"/>
          </a:solidFill>
          <a:ln/>
        </p:spPr>
      </p:sp>
      <p:sp>
        <p:nvSpPr>
          <p:cNvPr id="8" name="Shape 6"/>
          <p:cNvSpPr/>
          <p:nvPr/>
        </p:nvSpPr>
        <p:spPr>
          <a:xfrm>
            <a:off x="1280160" y="2185416"/>
            <a:ext cx="128016" cy="128016"/>
          </a:xfrm>
          <a:prstGeom prst="ellipse">
            <a:avLst/>
          </a:prstGeom>
          <a:solidFill>
            <a:srgbClr val="27C93F"/>
          </a:solidFill>
          <a:ln/>
        </p:spPr>
      </p:sp>
      <p:sp>
        <p:nvSpPr>
          <p:cNvPr id="9" name="Text 7"/>
          <p:cNvSpPr/>
          <p:nvPr/>
        </p:nvSpPr>
        <p:spPr>
          <a:xfrm>
            <a:off x="1645920" y="2075688"/>
            <a:ext cx="416052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numbers</a:t>
            </a:r>
            <a:endParaRPr lang="en-US" sz="1100" dirty="0"/>
          </a:p>
        </p:txBody>
      </p:sp>
      <p:sp>
        <p:nvSpPr>
          <p:cNvPr id="10" name="Text 8"/>
          <p:cNvSpPr/>
          <p:nvPr/>
        </p:nvSpPr>
        <p:spPr>
          <a:xfrm>
            <a:off x="804672" y="2496312"/>
            <a:ext cx="4928616" cy="1572768"/>
          </a:xfrm>
          <a:prstGeom prst="rect">
            <a:avLst/>
          </a:prstGeom>
          <a:noFill/>
          <a:ln/>
        </p:spPr>
        <p:txBody>
          <a:bodyPr wrap="square" lIns="0" tIns="0" rIns="0" bIns="0" rtlCol="0" anchor="t"/>
          <a:lstStyle/>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20</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c</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12.57</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f</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2</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0</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 Infinity</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s</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DBA74"/>
                </a:solidFill>
                <a:latin typeface="Courier New" pitchFamily="34" charset="0"/>
                <a:ea typeface="Courier New" pitchFamily="34" charset="-122"/>
                <a:cs typeface="Courier New" pitchFamily="34" charset="-120"/>
              </a:rPr>
              <a:t>'hello'</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0</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 NaN</a:t>
            </a:r>
            <a:endParaRPr lang="en-US" sz="1200" dirty="0"/>
          </a:p>
        </p:txBody>
      </p:sp>
      <p:sp>
        <p:nvSpPr>
          <p:cNvPr id="11" name="Shape 9"/>
          <p:cNvSpPr/>
          <p:nvPr/>
        </p:nvSpPr>
        <p:spPr>
          <a:xfrm>
            <a:off x="548640" y="4389120"/>
            <a:ext cx="5440680" cy="960120"/>
          </a:xfrm>
          <a:prstGeom prst="roundRect">
            <a:avLst>
              <a:gd name="adj" fmla="val 11429"/>
            </a:avLst>
          </a:prstGeom>
          <a:solidFill>
            <a:srgbClr val="FFF3E0"/>
          </a:solidFill>
          <a:ln/>
        </p:spPr>
      </p:sp>
      <p:sp>
        <p:nvSpPr>
          <p:cNvPr id="12" name="Shape 10"/>
          <p:cNvSpPr/>
          <p:nvPr/>
        </p:nvSpPr>
        <p:spPr>
          <a:xfrm>
            <a:off x="749808" y="4741164"/>
            <a:ext cx="256032" cy="256032"/>
          </a:xfrm>
          <a:prstGeom prst="ellipse">
            <a:avLst/>
          </a:prstGeom>
          <a:solidFill>
            <a:srgbClr val="F59E0B"/>
          </a:solidFill>
          <a:ln/>
        </p:spPr>
      </p:sp>
      <p:sp>
        <p:nvSpPr>
          <p:cNvPr id="13" name="Text 11"/>
          <p:cNvSpPr/>
          <p:nvPr/>
        </p:nvSpPr>
        <p:spPr>
          <a:xfrm>
            <a:off x="1207008" y="4389120"/>
            <a:ext cx="4572000" cy="960120"/>
          </a:xfrm>
          <a:prstGeom prst="rect">
            <a:avLst/>
          </a:prstGeom>
          <a:noFill/>
          <a:ln/>
        </p:spPr>
        <p:txBody>
          <a:bodyPr wrap="square" lIns="0" tIns="0" rIns="0" bIns="0" rtlCol="0" anchor="ctr"/>
          <a:lstStyle/>
          <a:p>
            <a:pPr algn="l" indent="0" marL="0">
              <a:buNone/>
            </a:pPr>
            <a:r>
              <a:rPr lang="en-US" sz="1400" dirty="0">
                <a:solidFill>
                  <a:srgbClr val="7A4A05"/>
                </a:solidFill>
                <a:latin typeface="Calibri" pitchFamily="34" charset="0"/>
                <a:ea typeface="Calibri" pitchFamily="34" charset="-122"/>
                <a:cs typeface="Calibri" pitchFamily="34" charset="-120"/>
              </a:rPr>
              <a:t>NaN means Not a Number. You get it when a calculation makes no sense, like dividing text.</a:t>
            </a:r>
            <a:endParaRPr lang="en-US" sz="1400" dirty="0"/>
          </a:p>
        </p:txBody>
      </p:sp>
      <p:sp>
        <p:nvSpPr>
          <p:cNvPr id="14" name="Shape 12"/>
          <p:cNvSpPr/>
          <p:nvPr/>
        </p:nvSpPr>
        <p:spPr>
          <a:xfrm>
            <a:off x="6217920" y="1965960"/>
            <a:ext cx="5440680" cy="2286000"/>
          </a:xfrm>
          <a:prstGeom prst="roundRect">
            <a:avLst>
              <a:gd name="adj" fmla="val 4800"/>
            </a:avLst>
          </a:prstGeom>
          <a:solidFill>
            <a:srgbClr val="0C1526"/>
          </a:solidFill>
          <a:ln/>
          <a:effectLst>
            <a:outerShdw sx="100000" sy="100000" kx="0" ky="0" algn="bl" rotWithShape="0" blurRad="101600" dist="38100" dir="5400000">
              <a:srgbClr val="0B1220">
                <a:alpha val="18000"/>
              </a:srgbClr>
            </a:outerShdw>
          </a:effectLst>
        </p:spPr>
      </p:sp>
      <p:sp>
        <p:nvSpPr>
          <p:cNvPr id="15" name="Shape 13"/>
          <p:cNvSpPr/>
          <p:nvPr/>
        </p:nvSpPr>
        <p:spPr>
          <a:xfrm>
            <a:off x="6473952" y="2185416"/>
            <a:ext cx="128016" cy="128016"/>
          </a:xfrm>
          <a:prstGeom prst="ellipse">
            <a:avLst/>
          </a:prstGeom>
          <a:solidFill>
            <a:srgbClr val="FF5F56"/>
          </a:solidFill>
          <a:ln/>
        </p:spPr>
      </p:sp>
      <p:sp>
        <p:nvSpPr>
          <p:cNvPr id="16" name="Shape 14"/>
          <p:cNvSpPr/>
          <p:nvPr/>
        </p:nvSpPr>
        <p:spPr>
          <a:xfrm>
            <a:off x="6711696" y="2185416"/>
            <a:ext cx="128016" cy="128016"/>
          </a:xfrm>
          <a:prstGeom prst="ellipse">
            <a:avLst/>
          </a:prstGeom>
          <a:solidFill>
            <a:srgbClr val="FFBD2E"/>
          </a:solidFill>
          <a:ln/>
        </p:spPr>
      </p:sp>
      <p:sp>
        <p:nvSpPr>
          <p:cNvPr id="17" name="Shape 15"/>
          <p:cNvSpPr/>
          <p:nvPr/>
        </p:nvSpPr>
        <p:spPr>
          <a:xfrm>
            <a:off x="6949440" y="2185416"/>
            <a:ext cx="128016" cy="128016"/>
          </a:xfrm>
          <a:prstGeom prst="ellipse">
            <a:avLst/>
          </a:prstGeom>
          <a:solidFill>
            <a:srgbClr val="27C93F"/>
          </a:solidFill>
          <a:ln/>
        </p:spPr>
      </p:sp>
      <p:sp>
        <p:nvSpPr>
          <p:cNvPr id="18" name="Text 16"/>
          <p:cNvSpPr/>
          <p:nvPr/>
        </p:nvSpPr>
        <p:spPr>
          <a:xfrm>
            <a:off x="7315200" y="2075688"/>
            <a:ext cx="416052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strings</a:t>
            </a:r>
            <a:endParaRPr lang="en-US" sz="1100" dirty="0"/>
          </a:p>
        </p:txBody>
      </p:sp>
      <p:sp>
        <p:nvSpPr>
          <p:cNvPr id="19" name="Text 17"/>
          <p:cNvSpPr/>
          <p:nvPr/>
        </p:nvSpPr>
        <p:spPr>
          <a:xfrm>
            <a:off x="6473952" y="2496312"/>
            <a:ext cx="4928616" cy="1572768"/>
          </a:xfrm>
          <a:prstGeom prst="rect">
            <a:avLst/>
          </a:prstGeom>
          <a:noFill/>
          <a:ln/>
        </p:spPr>
        <p:txBody>
          <a:bodyPr wrap="square" lIns="0" tIns="0" rIns="0" bIns="0" rtlCol="0" anchor="t"/>
          <a:lstStyle/>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str</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DBA74"/>
                </a:solidFill>
                <a:latin typeface="Courier New" pitchFamily="34" charset="0"/>
                <a:ea typeface="Courier New" pitchFamily="34" charset="-122"/>
                <a:cs typeface="Courier New" pitchFamily="34" charset="-120"/>
              </a:rPr>
              <a:t>'JavaScript'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str2</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DBA74"/>
                </a:solidFill>
                <a:latin typeface="Courier New" pitchFamily="34" charset="0"/>
                <a:ea typeface="Courier New" pitchFamily="34" charset="-122"/>
                <a:cs typeface="Courier New" pitchFamily="34" charset="-120"/>
              </a:rPr>
              <a:t>"Hello"</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str3</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template</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literal</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20" name="Shape 18"/>
          <p:cNvSpPr/>
          <p:nvPr/>
        </p:nvSpPr>
        <p:spPr>
          <a:xfrm>
            <a:off x="6217920" y="4389120"/>
            <a:ext cx="5440680" cy="1737360"/>
          </a:xfrm>
          <a:prstGeom prst="roundRect">
            <a:avLst>
              <a:gd name="adj" fmla="val 6316"/>
            </a:avLst>
          </a:prstGeom>
          <a:solidFill>
            <a:srgbClr val="111B34"/>
          </a:solidFill>
          <a:ln/>
          <a:effectLst>
            <a:outerShdw sx="100000" sy="100000" kx="0" ky="0" algn="bl" rotWithShape="0" blurRad="101600" dist="38100" dir="5400000">
              <a:srgbClr val="0B1220">
                <a:alpha val="18000"/>
              </a:srgbClr>
            </a:outerShdw>
          </a:effectLst>
        </p:spPr>
      </p:sp>
      <p:sp>
        <p:nvSpPr>
          <p:cNvPr id="21" name="Text 19"/>
          <p:cNvSpPr/>
          <p:nvPr/>
        </p:nvSpPr>
        <p:spPr>
          <a:xfrm>
            <a:off x="6492240" y="4526280"/>
            <a:ext cx="4892040"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Backticks let you drop values inside text</a:t>
            </a:r>
            <a:endParaRPr lang="en-US" sz="1350" dirty="0"/>
          </a:p>
        </p:txBody>
      </p:sp>
      <p:sp>
        <p:nvSpPr>
          <p:cNvPr id="22" name="Text 20"/>
          <p:cNvSpPr/>
          <p:nvPr/>
        </p:nvSpPr>
        <p:spPr>
          <a:xfrm>
            <a:off x="6492240" y="4937760"/>
            <a:ext cx="4892040" cy="365760"/>
          </a:xfrm>
          <a:prstGeom prst="rect">
            <a:avLst/>
          </a:prstGeom>
          <a:noFill/>
          <a:ln/>
        </p:spPr>
        <p:txBody>
          <a:bodyPr wrap="square" lIns="0" tIns="0" rIns="0" bIns="0" rtlCol="0" anchor="ctr"/>
          <a:lstStyle/>
          <a:p>
            <a:pPr algn="l" indent="0" marL="0">
              <a:buNone/>
            </a:pPr>
            <a:r>
              <a:rPr lang="en-US" sz="1250" dirty="0">
                <a:solidFill>
                  <a:srgbClr val="FDBA74"/>
                </a:solidFill>
                <a:latin typeface="Courier New" pitchFamily="34" charset="0"/>
                <a:ea typeface="Courier New" pitchFamily="34" charset="-122"/>
                <a:cs typeface="Courier New" pitchFamily="34" charset="-120"/>
              </a:rPr>
              <a:t>`There are </a:t>
            </a:r>
            <a:pPr algn="l" indent="0" marL="0">
              <a:buNone/>
            </a:pPr>
            <a:r>
              <a:rPr lang="en-US" sz="1250" b="1" dirty="0">
                <a:solidFill>
                  <a:srgbClr val="F59E0B"/>
                </a:solidFill>
                <a:latin typeface="Courier New" pitchFamily="34" charset="0"/>
                <a:ea typeface="Courier New" pitchFamily="34" charset="-122"/>
                <a:cs typeface="Courier New" pitchFamily="34" charset="-120"/>
              </a:rPr>
              <a:t>${activeUsers}</a:t>
            </a:r>
            <a:pPr algn="l" indent="0" marL="0">
              <a:buNone/>
            </a:pPr>
            <a:r>
              <a:rPr lang="en-US" sz="1250" dirty="0">
                <a:solidFill>
                  <a:srgbClr val="FDBA74"/>
                </a:solidFill>
                <a:latin typeface="Courier New" pitchFamily="34" charset="0"/>
                <a:ea typeface="Courier New" pitchFamily="34" charset="-122"/>
                <a:cs typeface="Courier New" pitchFamily="34" charset="-120"/>
              </a:rPr>
              <a:t> users online`</a:t>
            </a:r>
            <a:endParaRPr lang="en-US" sz="1250" dirty="0"/>
          </a:p>
        </p:txBody>
      </p:sp>
      <p:sp>
        <p:nvSpPr>
          <p:cNvPr id="23" name="Shape 21"/>
          <p:cNvSpPr/>
          <p:nvPr/>
        </p:nvSpPr>
        <p:spPr>
          <a:xfrm>
            <a:off x="6675120" y="5349240"/>
            <a:ext cx="0" cy="228600"/>
          </a:xfrm>
          <a:prstGeom prst="line">
            <a:avLst/>
          </a:prstGeom>
          <a:noFill/>
          <a:ln w="19050">
            <a:solidFill>
              <a:srgbClr val="F59E0B"/>
            </a:solidFill>
            <a:prstDash val="solid"/>
            <a:tailEnd type="triangle"/>
          </a:ln>
        </p:spPr>
      </p:sp>
      <p:sp>
        <p:nvSpPr>
          <p:cNvPr id="24" name="Text 22"/>
          <p:cNvSpPr/>
          <p:nvPr/>
        </p:nvSpPr>
        <p:spPr>
          <a:xfrm>
            <a:off x="6492240" y="5532120"/>
            <a:ext cx="4892040" cy="548640"/>
          </a:xfrm>
          <a:prstGeom prst="rect">
            <a:avLst/>
          </a:prstGeom>
          <a:noFill/>
          <a:ln/>
        </p:spPr>
        <p:txBody>
          <a:bodyPr wrap="square" lIns="0" tIns="0" rIns="0" bIns="0" rtlCol="0" anchor="t"/>
          <a:lstStyle/>
          <a:p>
            <a:pPr algn="l" indent="0" marL="0">
              <a:buNone/>
            </a:pPr>
            <a:r>
              <a:rPr lang="en-US" sz="1150" i="1" dirty="0">
                <a:solidFill>
                  <a:srgbClr val="C7DBFF"/>
                </a:solidFill>
                <a:latin typeface="Calibri" pitchFamily="34" charset="0"/>
                <a:ea typeface="Calibri" pitchFamily="34" charset="-122"/>
                <a:cs typeface="Calibri" pitchFamily="34" charset="-120"/>
              </a:rPr>
              <a:t>Think of the live viewer count on a Hotstar cricket stream. The number changes, the sentence does not.</a:t>
            </a:r>
            <a:endParaRPr lang="en-US" sz="1150" dirty="0"/>
          </a:p>
        </p:txBody>
      </p:sp>
      <p:sp>
        <p:nvSpPr>
          <p:cNvPr id="25"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2272284" cy="310896"/>
          </a:xfrm>
          <a:prstGeom prst="roundRect">
            <a:avLst>
              <a:gd name="adj" fmla="val 50000"/>
            </a:avLst>
          </a:prstGeom>
          <a:solidFill>
            <a:srgbClr val="2563EB"/>
          </a:solidFill>
          <a:ln/>
        </p:spPr>
      </p:sp>
      <p:sp>
        <p:nvSpPr>
          <p:cNvPr id="3" name="Text 1"/>
          <p:cNvSpPr/>
          <p:nvPr/>
        </p:nvSpPr>
        <p:spPr>
          <a:xfrm>
            <a:off x="548640" y="457200"/>
            <a:ext cx="2272284"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THE CLASSIC CONFUSION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undefined vs null</a:t>
            </a:r>
            <a:endParaRPr lang="en-US" sz="3400" dirty="0"/>
          </a:p>
        </p:txBody>
      </p:sp>
      <p:sp>
        <p:nvSpPr>
          <p:cNvPr id="5" name="Text 3"/>
          <p:cNvSpPr/>
          <p:nvPr/>
        </p:nvSpPr>
        <p:spPr>
          <a:xfrm>
            <a:off x="548640" y="1828800"/>
            <a:ext cx="11064240" cy="457200"/>
          </a:xfrm>
          <a:prstGeom prst="rect">
            <a:avLst/>
          </a:prstGeom>
          <a:noFill/>
          <a:ln/>
        </p:spPr>
        <p:txBody>
          <a:bodyPr wrap="square" lIns="0" tIns="0" rIns="0" bIns="0" rtlCol="0" anchor="ctr"/>
          <a:lstStyle/>
          <a:p>
            <a:pPr algn="l" indent="0" marL="0">
              <a:buNone/>
            </a:pPr>
            <a:r>
              <a:rPr lang="en-US" sz="1500" dirty="0">
                <a:solidFill>
                  <a:srgbClr val="64748B"/>
                </a:solidFill>
                <a:latin typeface="Calibri" pitchFamily="34" charset="0"/>
                <a:ea typeface="Calibri" pitchFamily="34" charset="-122"/>
                <a:cs typeface="Calibri" pitchFamily="34" charset="-120"/>
              </a:rPr>
              <a:t>Both mean no value. The difference is who decided that, you or JavaScript.</a:t>
            </a:r>
            <a:endParaRPr lang="en-US" sz="1500" dirty="0"/>
          </a:p>
        </p:txBody>
      </p:sp>
      <p:sp>
        <p:nvSpPr>
          <p:cNvPr id="6" name="Shape 4"/>
          <p:cNvSpPr/>
          <p:nvPr/>
        </p:nvSpPr>
        <p:spPr>
          <a:xfrm>
            <a:off x="548640" y="2377440"/>
            <a:ext cx="5440680" cy="3200400"/>
          </a:xfrm>
          <a:prstGeom prst="roundRect">
            <a:avLst>
              <a:gd name="adj" fmla="val 3429"/>
            </a:avLst>
          </a:prstGeom>
          <a:solidFill>
            <a:srgbClr val="FFF3E0"/>
          </a:solidFill>
          <a:ln/>
          <a:effectLst>
            <a:outerShdw sx="100000" sy="100000" kx="0" ky="0" algn="bl" rotWithShape="0" blurRad="101600" dist="38100" dir="5400000">
              <a:srgbClr val="0B1220">
                <a:alpha val="18000"/>
              </a:srgbClr>
            </a:outerShdw>
          </a:effectLst>
        </p:spPr>
      </p:sp>
      <p:sp>
        <p:nvSpPr>
          <p:cNvPr id="7" name="Text 5"/>
          <p:cNvSpPr/>
          <p:nvPr/>
        </p:nvSpPr>
        <p:spPr>
          <a:xfrm>
            <a:off x="822960" y="2560320"/>
            <a:ext cx="4892040" cy="384048"/>
          </a:xfrm>
          <a:prstGeom prst="rect">
            <a:avLst/>
          </a:prstGeom>
          <a:noFill/>
          <a:ln/>
        </p:spPr>
        <p:txBody>
          <a:bodyPr wrap="square" lIns="0" tIns="0" rIns="0" bIns="0" rtlCol="0" anchor="ctr"/>
          <a:lstStyle/>
          <a:p>
            <a:pPr algn="l" indent="0" marL="0">
              <a:buNone/>
            </a:pPr>
            <a:r>
              <a:rPr lang="en-US" sz="1800" b="1" dirty="0">
                <a:solidFill>
                  <a:srgbClr val="F59E0B"/>
                </a:solidFill>
                <a:latin typeface="Courier New" pitchFamily="34" charset="0"/>
                <a:ea typeface="Courier New" pitchFamily="34" charset="-122"/>
                <a:cs typeface="Courier New" pitchFamily="34" charset="-120"/>
              </a:rPr>
              <a:t>undefined</a:t>
            </a:r>
            <a:endParaRPr lang="en-US" sz="1800" dirty="0"/>
          </a:p>
        </p:txBody>
      </p:sp>
      <p:sp>
        <p:nvSpPr>
          <p:cNvPr id="8" name="Text 6"/>
          <p:cNvSpPr/>
          <p:nvPr/>
        </p:nvSpPr>
        <p:spPr>
          <a:xfrm>
            <a:off x="822960" y="2971800"/>
            <a:ext cx="4892040" cy="320040"/>
          </a:xfrm>
          <a:prstGeom prst="rect">
            <a:avLst/>
          </a:prstGeom>
          <a:noFill/>
          <a:ln/>
        </p:spPr>
        <p:txBody>
          <a:bodyPr wrap="square" lIns="0" tIns="0" rIns="0" bIns="0" rtlCol="0" anchor="ctr"/>
          <a:lstStyle/>
          <a:p>
            <a:pPr algn="l" indent="0" marL="0">
              <a:buNone/>
            </a:pPr>
            <a:r>
              <a:rPr lang="en-US" sz="1400" b="1" dirty="0">
                <a:solidFill>
                  <a:srgbClr val="7A4A05"/>
                </a:solidFill>
                <a:latin typeface="Calibri" pitchFamily="34" charset="0"/>
                <a:ea typeface="Calibri" pitchFamily="34" charset="-122"/>
                <a:cs typeface="Calibri" pitchFamily="34" charset="-120"/>
              </a:rPr>
              <a:t>JavaScript decided</a:t>
            </a:r>
            <a:endParaRPr lang="en-US" sz="1400" dirty="0"/>
          </a:p>
        </p:txBody>
      </p:sp>
      <p:sp>
        <p:nvSpPr>
          <p:cNvPr id="9" name="Shape 7"/>
          <p:cNvSpPr/>
          <p:nvPr/>
        </p:nvSpPr>
        <p:spPr>
          <a:xfrm>
            <a:off x="868680" y="3429000"/>
            <a:ext cx="4800600" cy="1051560"/>
          </a:xfrm>
          <a:prstGeom prst="roundRect">
            <a:avLst>
              <a:gd name="adj" fmla="val 10435"/>
            </a:avLst>
          </a:prstGeom>
          <a:solidFill>
            <a:srgbClr val="0C1526"/>
          </a:solidFill>
          <a:ln/>
          <a:effectLst>
            <a:outerShdw sx="100000" sy="100000" kx="0" ky="0" algn="bl" rotWithShape="0" blurRad="101600" dist="38100" dir="5400000">
              <a:srgbClr val="0B1220">
                <a:alpha val="18000"/>
              </a:srgbClr>
            </a:outerShdw>
          </a:effectLst>
        </p:spPr>
      </p:sp>
      <p:sp>
        <p:nvSpPr>
          <p:cNvPr id="10" name="Shape 8"/>
          <p:cNvSpPr/>
          <p:nvPr/>
        </p:nvSpPr>
        <p:spPr>
          <a:xfrm>
            <a:off x="1124712" y="3648456"/>
            <a:ext cx="128016" cy="128016"/>
          </a:xfrm>
          <a:prstGeom prst="ellipse">
            <a:avLst/>
          </a:prstGeom>
          <a:solidFill>
            <a:srgbClr val="FF5F56"/>
          </a:solidFill>
          <a:ln/>
        </p:spPr>
      </p:sp>
      <p:sp>
        <p:nvSpPr>
          <p:cNvPr id="11" name="Shape 9"/>
          <p:cNvSpPr/>
          <p:nvPr/>
        </p:nvSpPr>
        <p:spPr>
          <a:xfrm>
            <a:off x="1362456" y="3648456"/>
            <a:ext cx="128016" cy="128016"/>
          </a:xfrm>
          <a:prstGeom prst="ellipse">
            <a:avLst/>
          </a:prstGeom>
          <a:solidFill>
            <a:srgbClr val="FFBD2E"/>
          </a:solidFill>
          <a:ln/>
        </p:spPr>
      </p:sp>
      <p:sp>
        <p:nvSpPr>
          <p:cNvPr id="12" name="Shape 10"/>
          <p:cNvSpPr/>
          <p:nvPr/>
        </p:nvSpPr>
        <p:spPr>
          <a:xfrm>
            <a:off x="1600200" y="3648456"/>
            <a:ext cx="128016" cy="128016"/>
          </a:xfrm>
          <a:prstGeom prst="ellipse">
            <a:avLst/>
          </a:prstGeom>
          <a:solidFill>
            <a:srgbClr val="27C93F"/>
          </a:solidFill>
          <a:ln/>
        </p:spPr>
      </p:sp>
      <p:sp>
        <p:nvSpPr>
          <p:cNvPr id="13" name="Text 11"/>
          <p:cNvSpPr/>
          <p:nvPr/>
        </p:nvSpPr>
        <p:spPr>
          <a:xfrm>
            <a:off x="1124712" y="3959352"/>
            <a:ext cx="4288536" cy="338328"/>
          </a:xfrm>
          <a:prstGeom prst="rect">
            <a:avLst/>
          </a:prstGeom>
          <a:noFill/>
          <a:ln/>
        </p:spPr>
        <p:txBody>
          <a:bodyPr wrap="square" lIns="0" tIns="0" rIns="0" bIns="0" rtlCol="0" anchor="t"/>
          <a:lstStyle/>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6B8299"/>
                </a:solidFill>
                <a:latin typeface="Courier New" pitchFamily="34" charset="0"/>
                <a:ea typeface="Courier New" pitchFamily="34" charset="-122"/>
                <a:cs typeface="Courier New" pitchFamily="34" charset="-120"/>
              </a:rPr>
              <a:t>// a is undefined</a:t>
            </a:r>
            <a:endParaRPr lang="en-US" sz="1150" dirty="0"/>
          </a:p>
        </p:txBody>
      </p:sp>
      <p:sp>
        <p:nvSpPr>
          <p:cNvPr id="14" name="Text 12"/>
          <p:cNvSpPr/>
          <p:nvPr/>
        </p:nvSpPr>
        <p:spPr>
          <a:xfrm>
            <a:off x="868680" y="4617720"/>
            <a:ext cx="4800600" cy="777240"/>
          </a:xfrm>
          <a:prstGeom prst="rect">
            <a:avLst/>
          </a:prstGeom>
          <a:noFill/>
          <a:ln/>
        </p:spPr>
        <p:txBody>
          <a:bodyPr wrap="square" lIns="0" tIns="0" rIns="0" bIns="0" rtlCol="0" anchor="t"/>
          <a:lstStyle/>
          <a:p>
            <a:pPr algn="l" indent="0" marL="0">
              <a:buNone/>
            </a:pPr>
            <a:r>
              <a:rPr lang="en-US" sz="1300" dirty="0">
                <a:solidFill>
                  <a:srgbClr val="7A4A05"/>
                </a:solidFill>
                <a:latin typeface="Calibri" pitchFamily="34" charset="0"/>
                <a:ea typeface="Calibri" pitchFamily="34" charset="-122"/>
                <a:cs typeface="Calibri" pitchFamily="34" charset="-120"/>
              </a:rPr>
              <a:t>You declared a box but never put anything in it. This is the default state.</a:t>
            </a:r>
            <a:endParaRPr lang="en-US" sz="1300" dirty="0"/>
          </a:p>
        </p:txBody>
      </p:sp>
      <p:sp>
        <p:nvSpPr>
          <p:cNvPr id="15" name="Shape 13"/>
          <p:cNvSpPr/>
          <p:nvPr/>
        </p:nvSpPr>
        <p:spPr>
          <a:xfrm>
            <a:off x="6217920" y="2377440"/>
            <a:ext cx="5440680" cy="3200400"/>
          </a:xfrm>
          <a:prstGeom prst="roundRect">
            <a:avLst>
              <a:gd name="adj" fmla="val 3429"/>
            </a:avLst>
          </a:prstGeom>
          <a:solidFill>
            <a:srgbClr val="EEF2FF"/>
          </a:solidFill>
          <a:ln/>
          <a:effectLst>
            <a:outerShdw sx="100000" sy="100000" kx="0" ky="0" algn="bl" rotWithShape="0" blurRad="101600" dist="38100" dir="5400000">
              <a:srgbClr val="0B1220">
                <a:alpha val="18000"/>
              </a:srgbClr>
            </a:outerShdw>
          </a:effectLst>
        </p:spPr>
      </p:sp>
      <p:sp>
        <p:nvSpPr>
          <p:cNvPr id="16" name="Text 14"/>
          <p:cNvSpPr/>
          <p:nvPr/>
        </p:nvSpPr>
        <p:spPr>
          <a:xfrm>
            <a:off x="6492240" y="2560320"/>
            <a:ext cx="4892040" cy="384048"/>
          </a:xfrm>
          <a:prstGeom prst="rect">
            <a:avLst/>
          </a:prstGeom>
          <a:noFill/>
          <a:ln/>
        </p:spPr>
        <p:txBody>
          <a:bodyPr wrap="square" lIns="0" tIns="0" rIns="0" bIns="0" rtlCol="0" anchor="ctr"/>
          <a:lstStyle/>
          <a:p>
            <a:pPr algn="l" indent="0" marL="0">
              <a:buNone/>
            </a:pPr>
            <a:r>
              <a:rPr lang="en-US" sz="1800" b="1" dirty="0">
                <a:solidFill>
                  <a:srgbClr val="8B5CF6"/>
                </a:solidFill>
                <a:latin typeface="Courier New" pitchFamily="34" charset="0"/>
                <a:ea typeface="Courier New" pitchFamily="34" charset="-122"/>
                <a:cs typeface="Courier New" pitchFamily="34" charset="-120"/>
              </a:rPr>
              <a:t>null</a:t>
            </a:r>
            <a:endParaRPr lang="en-US" sz="1800" dirty="0"/>
          </a:p>
        </p:txBody>
      </p:sp>
      <p:sp>
        <p:nvSpPr>
          <p:cNvPr id="17" name="Text 15"/>
          <p:cNvSpPr/>
          <p:nvPr/>
        </p:nvSpPr>
        <p:spPr>
          <a:xfrm>
            <a:off x="6492240" y="2971800"/>
            <a:ext cx="4892040" cy="320040"/>
          </a:xfrm>
          <a:prstGeom prst="rect">
            <a:avLst/>
          </a:prstGeom>
          <a:noFill/>
          <a:ln/>
        </p:spPr>
        <p:txBody>
          <a:bodyPr wrap="square" lIns="0" tIns="0" rIns="0" bIns="0" rtlCol="0" anchor="ctr"/>
          <a:lstStyle/>
          <a:p>
            <a:pPr algn="l" indent="0" marL="0">
              <a:buNone/>
            </a:pPr>
            <a:r>
              <a:rPr lang="en-US" sz="1400" b="1" dirty="0">
                <a:solidFill>
                  <a:srgbClr val="3B2E7A"/>
                </a:solidFill>
                <a:latin typeface="Calibri" pitchFamily="34" charset="0"/>
                <a:ea typeface="Calibri" pitchFamily="34" charset="-122"/>
                <a:cs typeface="Calibri" pitchFamily="34" charset="-120"/>
              </a:rPr>
              <a:t>You decided</a:t>
            </a:r>
            <a:endParaRPr lang="en-US" sz="1400" dirty="0"/>
          </a:p>
        </p:txBody>
      </p:sp>
      <p:sp>
        <p:nvSpPr>
          <p:cNvPr id="18" name="Shape 16"/>
          <p:cNvSpPr/>
          <p:nvPr/>
        </p:nvSpPr>
        <p:spPr>
          <a:xfrm>
            <a:off x="6537960" y="3429000"/>
            <a:ext cx="4800600" cy="1051560"/>
          </a:xfrm>
          <a:prstGeom prst="roundRect">
            <a:avLst>
              <a:gd name="adj" fmla="val 10435"/>
            </a:avLst>
          </a:prstGeom>
          <a:solidFill>
            <a:srgbClr val="0C1526"/>
          </a:solidFill>
          <a:ln/>
          <a:effectLst>
            <a:outerShdw sx="100000" sy="100000" kx="0" ky="0" algn="bl" rotWithShape="0" blurRad="101600" dist="38100" dir="5400000">
              <a:srgbClr val="0B1220">
                <a:alpha val="18000"/>
              </a:srgbClr>
            </a:outerShdw>
          </a:effectLst>
        </p:spPr>
      </p:sp>
      <p:sp>
        <p:nvSpPr>
          <p:cNvPr id="19" name="Shape 17"/>
          <p:cNvSpPr/>
          <p:nvPr/>
        </p:nvSpPr>
        <p:spPr>
          <a:xfrm>
            <a:off x="6793992" y="3648456"/>
            <a:ext cx="128016" cy="128016"/>
          </a:xfrm>
          <a:prstGeom prst="ellipse">
            <a:avLst/>
          </a:prstGeom>
          <a:solidFill>
            <a:srgbClr val="FF5F56"/>
          </a:solidFill>
          <a:ln/>
        </p:spPr>
      </p:sp>
      <p:sp>
        <p:nvSpPr>
          <p:cNvPr id="20" name="Shape 18"/>
          <p:cNvSpPr/>
          <p:nvPr/>
        </p:nvSpPr>
        <p:spPr>
          <a:xfrm>
            <a:off x="7031736" y="3648456"/>
            <a:ext cx="128016" cy="128016"/>
          </a:xfrm>
          <a:prstGeom prst="ellipse">
            <a:avLst/>
          </a:prstGeom>
          <a:solidFill>
            <a:srgbClr val="FFBD2E"/>
          </a:solidFill>
          <a:ln/>
        </p:spPr>
      </p:sp>
      <p:sp>
        <p:nvSpPr>
          <p:cNvPr id="21" name="Shape 19"/>
          <p:cNvSpPr/>
          <p:nvPr/>
        </p:nvSpPr>
        <p:spPr>
          <a:xfrm>
            <a:off x="7269480" y="3648456"/>
            <a:ext cx="128016" cy="128016"/>
          </a:xfrm>
          <a:prstGeom prst="ellipse">
            <a:avLst/>
          </a:prstGeom>
          <a:solidFill>
            <a:srgbClr val="27C93F"/>
          </a:solidFill>
          <a:ln/>
        </p:spPr>
      </p:sp>
      <p:sp>
        <p:nvSpPr>
          <p:cNvPr id="22" name="Text 20"/>
          <p:cNvSpPr/>
          <p:nvPr/>
        </p:nvSpPr>
        <p:spPr>
          <a:xfrm>
            <a:off x="6793992" y="3959352"/>
            <a:ext cx="4288536" cy="338328"/>
          </a:xfrm>
          <a:prstGeom prst="rect">
            <a:avLst/>
          </a:prstGeom>
          <a:noFill/>
          <a:ln/>
        </p:spPr>
        <p:txBody>
          <a:bodyPr wrap="square" lIns="0" tIns="0" rIns="0" bIns="0" rtlCol="0" anchor="t"/>
          <a:lstStyle/>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null</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6B8299"/>
                </a:solidFill>
                <a:latin typeface="Courier New" pitchFamily="34" charset="0"/>
                <a:ea typeface="Courier New" pitchFamily="34" charset="-122"/>
                <a:cs typeface="Courier New" pitchFamily="34" charset="-120"/>
              </a:rPr>
              <a:t>// on purpose</a:t>
            </a:r>
            <a:endParaRPr lang="en-US" sz="1150" dirty="0"/>
          </a:p>
        </p:txBody>
      </p:sp>
      <p:sp>
        <p:nvSpPr>
          <p:cNvPr id="23" name="Text 21"/>
          <p:cNvSpPr/>
          <p:nvPr/>
        </p:nvSpPr>
        <p:spPr>
          <a:xfrm>
            <a:off x="6537960" y="4617720"/>
            <a:ext cx="4800600" cy="777240"/>
          </a:xfrm>
          <a:prstGeom prst="rect">
            <a:avLst/>
          </a:prstGeom>
          <a:noFill/>
          <a:ln/>
        </p:spPr>
        <p:txBody>
          <a:bodyPr wrap="square" lIns="0" tIns="0" rIns="0" bIns="0" rtlCol="0" anchor="t"/>
          <a:lstStyle/>
          <a:p>
            <a:pPr algn="l" indent="0" marL="0">
              <a:buNone/>
            </a:pPr>
            <a:r>
              <a:rPr lang="en-US" sz="1300" dirty="0">
                <a:solidFill>
                  <a:srgbClr val="3B2E7A"/>
                </a:solidFill>
                <a:latin typeface="Calibri" pitchFamily="34" charset="0"/>
                <a:ea typeface="Calibri" pitchFamily="34" charset="-122"/>
                <a:cs typeface="Calibri" pitchFamily="34" charset="-120"/>
              </a:rPr>
              <a:t>You are stating that there is deliberately nothing here, perhaps to be filled in later.</a:t>
            </a:r>
            <a:endParaRPr lang="en-US" sz="1300" dirty="0"/>
          </a:p>
        </p:txBody>
      </p:sp>
      <p:sp>
        <p:nvSpPr>
          <p:cNvPr id="24" name="Shape 22"/>
          <p:cNvSpPr/>
          <p:nvPr/>
        </p:nvSpPr>
        <p:spPr>
          <a:xfrm>
            <a:off x="548640" y="5715000"/>
            <a:ext cx="11109960" cy="658368"/>
          </a:xfrm>
          <a:prstGeom prst="roundRect">
            <a:avLst>
              <a:gd name="adj" fmla="val 16667"/>
            </a:avLst>
          </a:prstGeom>
          <a:solidFill>
            <a:srgbClr val="EEF2FF"/>
          </a:solidFill>
          <a:ln/>
        </p:spPr>
      </p:sp>
      <p:sp>
        <p:nvSpPr>
          <p:cNvPr id="25" name="Shape 23"/>
          <p:cNvSpPr/>
          <p:nvPr/>
        </p:nvSpPr>
        <p:spPr>
          <a:xfrm>
            <a:off x="749808" y="5916168"/>
            <a:ext cx="256032" cy="256032"/>
          </a:xfrm>
          <a:prstGeom prst="ellipse">
            <a:avLst/>
          </a:prstGeom>
          <a:solidFill>
            <a:srgbClr val="8B5CF6"/>
          </a:solidFill>
          <a:ln/>
        </p:spPr>
      </p:sp>
      <p:sp>
        <p:nvSpPr>
          <p:cNvPr id="26" name="Text 24"/>
          <p:cNvSpPr/>
          <p:nvPr/>
        </p:nvSpPr>
        <p:spPr>
          <a:xfrm>
            <a:off x="1207008" y="5715000"/>
            <a:ext cx="10241280" cy="658368"/>
          </a:xfrm>
          <a:prstGeom prst="rect">
            <a:avLst/>
          </a:prstGeom>
          <a:noFill/>
          <a:ln/>
        </p:spPr>
        <p:txBody>
          <a:bodyPr wrap="square" lIns="0" tIns="0" rIns="0" bIns="0" rtlCol="0" anchor="ctr"/>
          <a:lstStyle/>
          <a:p>
            <a:pPr algn="l" indent="0" marL="0">
              <a:buNone/>
            </a:pPr>
            <a:r>
              <a:rPr lang="en-US" sz="1400" dirty="0">
                <a:solidFill>
                  <a:srgbClr val="3B2E7A"/>
                </a:solidFill>
                <a:latin typeface="Calibri" pitchFamily="34" charset="0"/>
                <a:ea typeface="Calibri" pitchFamily="34" charset="-122"/>
                <a:cs typeface="Calibri" pitchFamily="34" charset="-120"/>
              </a:rPr>
              <a:t>They are not interchangeable. undefined is an absence you did not choose. null is an absence you did.</a:t>
            </a:r>
            <a:endParaRPr lang="en-US" sz="1400" dirty="0"/>
          </a:p>
        </p:txBody>
      </p:sp>
      <p:sp>
        <p:nvSpPr>
          <p:cNvPr id="27" name="Text 25"/>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502920"/>
            <a:ext cx="1371600" cy="310896"/>
          </a:xfrm>
          <a:prstGeom prst="roundRect">
            <a:avLst>
              <a:gd name="adj" fmla="val 50000"/>
            </a:avLst>
          </a:prstGeom>
          <a:solidFill>
            <a:srgbClr val="8B5CF6"/>
          </a:solidFill>
          <a:ln/>
        </p:spPr>
      </p:sp>
      <p:sp>
        <p:nvSpPr>
          <p:cNvPr id="3" name="Text 1"/>
          <p:cNvSpPr/>
          <p:nvPr/>
        </p:nvSpPr>
        <p:spPr>
          <a:xfrm>
            <a:off x="548640" y="50292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QUIZ 3</a:t>
            </a:r>
            <a:endParaRPr lang="en-US" sz="1100" dirty="0"/>
          </a:p>
        </p:txBody>
      </p:sp>
      <p:sp>
        <p:nvSpPr>
          <p:cNvPr id="4" name="Text 2"/>
          <p:cNvSpPr/>
          <p:nvPr/>
        </p:nvSpPr>
        <p:spPr>
          <a:xfrm>
            <a:off x="548640" y="1005840"/>
            <a:ext cx="11064240" cy="1005840"/>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A variable is declared but never given a value. What is it?</a:t>
            </a:r>
            <a:endParaRPr lang="en-US" sz="3000" dirty="0"/>
          </a:p>
        </p:txBody>
      </p:sp>
      <p:sp>
        <p:nvSpPr>
          <p:cNvPr id="5" name="Shape 3"/>
          <p:cNvSpPr/>
          <p:nvPr/>
        </p:nvSpPr>
        <p:spPr>
          <a:xfrm>
            <a:off x="54864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22960" y="2715768"/>
            <a:ext cx="457200" cy="457200"/>
          </a:xfrm>
          <a:prstGeom prst="roundRect">
            <a:avLst>
              <a:gd name="adj" fmla="val 20000"/>
            </a:avLst>
          </a:prstGeom>
          <a:solidFill>
            <a:srgbClr val="2563EB"/>
          </a:solidFill>
          <a:ln/>
        </p:spPr>
      </p:sp>
      <p:sp>
        <p:nvSpPr>
          <p:cNvPr id="7" name="Text 5"/>
          <p:cNvSpPr/>
          <p:nvPr/>
        </p:nvSpPr>
        <p:spPr>
          <a:xfrm>
            <a:off x="82296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150876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null</a:t>
            </a:r>
            <a:endParaRPr lang="en-US" sz="1500" dirty="0"/>
          </a:p>
        </p:txBody>
      </p:sp>
      <p:sp>
        <p:nvSpPr>
          <p:cNvPr id="9" name="Shape 7"/>
          <p:cNvSpPr/>
          <p:nvPr/>
        </p:nvSpPr>
        <p:spPr>
          <a:xfrm>
            <a:off x="628650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0" name="Shape 8"/>
          <p:cNvSpPr/>
          <p:nvPr/>
        </p:nvSpPr>
        <p:spPr>
          <a:xfrm>
            <a:off x="6560820" y="2715768"/>
            <a:ext cx="457200" cy="457200"/>
          </a:xfrm>
          <a:prstGeom prst="roundRect">
            <a:avLst>
              <a:gd name="adj" fmla="val 20000"/>
            </a:avLst>
          </a:prstGeom>
          <a:solidFill>
            <a:srgbClr val="2563EB"/>
          </a:solidFill>
          <a:ln/>
        </p:spPr>
      </p:sp>
      <p:sp>
        <p:nvSpPr>
          <p:cNvPr id="11" name="Text 9"/>
          <p:cNvSpPr/>
          <p:nvPr/>
        </p:nvSpPr>
        <p:spPr>
          <a:xfrm>
            <a:off x="656082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724662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undefined</a:t>
            </a:r>
            <a:endParaRPr lang="en-US" sz="1500" dirty="0"/>
          </a:p>
        </p:txBody>
      </p:sp>
      <p:sp>
        <p:nvSpPr>
          <p:cNvPr id="13" name="Shape 11"/>
          <p:cNvSpPr/>
          <p:nvPr/>
        </p:nvSpPr>
        <p:spPr>
          <a:xfrm>
            <a:off x="54864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4" name="Shape 12"/>
          <p:cNvSpPr/>
          <p:nvPr/>
        </p:nvSpPr>
        <p:spPr>
          <a:xfrm>
            <a:off x="822960" y="4315968"/>
            <a:ext cx="457200" cy="457200"/>
          </a:xfrm>
          <a:prstGeom prst="roundRect">
            <a:avLst>
              <a:gd name="adj" fmla="val 20000"/>
            </a:avLst>
          </a:prstGeom>
          <a:solidFill>
            <a:srgbClr val="2563EB"/>
          </a:solidFill>
          <a:ln/>
        </p:spPr>
      </p:sp>
      <p:sp>
        <p:nvSpPr>
          <p:cNvPr id="15" name="Text 13"/>
          <p:cNvSpPr/>
          <p:nvPr/>
        </p:nvSpPr>
        <p:spPr>
          <a:xfrm>
            <a:off x="82296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6" name="Text 14"/>
          <p:cNvSpPr/>
          <p:nvPr/>
        </p:nvSpPr>
        <p:spPr>
          <a:xfrm>
            <a:off x="150876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NaN</a:t>
            </a:r>
            <a:endParaRPr lang="en-US" sz="1500" dirty="0"/>
          </a:p>
        </p:txBody>
      </p:sp>
      <p:sp>
        <p:nvSpPr>
          <p:cNvPr id="17" name="Shape 15"/>
          <p:cNvSpPr/>
          <p:nvPr/>
        </p:nvSpPr>
        <p:spPr>
          <a:xfrm>
            <a:off x="628650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8" name="Shape 16"/>
          <p:cNvSpPr/>
          <p:nvPr/>
        </p:nvSpPr>
        <p:spPr>
          <a:xfrm>
            <a:off x="6560820" y="4315968"/>
            <a:ext cx="457200" cy="457200"/>
          </a:xfrm>
          <a:prstGeom prst="roundRect">
            <a:avLst>
              <a:gd name="adj" fmla="val 20000"/>
            </a:avLst>
          </a:prstGeom>
          <a:solidFill>
            <a:srgbClr val="2563EB"/>
          </a:solidFill>
          <a:ln/>
        </p:spPr>
      </p:sp>
      <p:sp>
        <p:nvSpPr>
          <p:cNvPr id="19" name="Text 17"/>
          <p:cNvSpPr/>
          <p:nvPr/>
        </p:nvSpPr>
        <p:spPr>
          <a:xfrm>
            <a:off x="656082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0" name="Text 18"/>
          <p:cNvSpPr/>
          <p:nvPr/>
        </p:nvSpPr>
        <p:spPr>
          <a:xfrm>
            <a:off x="724662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an error</a:t>
            </a:r>
            <a:endParaRPr lang="en-US" sz="1500" dirty="0"/>
          </a:p>
        </p:txBody>
      </p:sp>
      <p:sp>
        <p:nvSpPr>
          <p:cNvPr id="21" name="Shape 19"/>
          <p:cNvSpPr/>
          <p:nvPr/>
        </p:nvSpPr>
        <p:spPr>
          <a:xfrm>
            <a:off x="548640" y="5532120"/>
            <a:ext cx="11109960" cy="777240"/>
          </a:xfrm>
          <a:prstGeom prst="roundRect">
            <a:avLst>
              <a:gd name="adj" fmla="val 14118"/>
            </a:avLst>
          </a:prstGeom>
          <a:solidFill>
            <a:srgbClr val="E7FBEF"/>
          </a:solidFill>
          <a:ln/>
        </p:spPr>
      </p:sp>
      <p:sp>
        <p:nvSpPr>
          <p:cNvPr id="22" name="Shape 20"/>
          <p:cNvSpPr/>
          <p:nvPr/>
        </p:nvSpPr>
        <p:spPr>
          <a:xfrm>
            <a:off x="749808" y="5792724"/>
            <a:ext cx="256032" cy="256032"/>
          </a:xfrm>
          <a:prstGeom prst="ellipse">
            <a:avLst/>
          </a:prstGeom>
          <a:solidFill>
            <a:srgbClr val="22C55E"/>
          </a:solidFill>
          <a:ln/>
        </p:spPr>
      </p:sp>
      <p:sp>
        <p:nvSpPr>
          <p:cNvPr id="23" name="Text 21"/>
          <p:cNvSpPr/>
          <p:nvPr/>
        </p:nvSpPr>
        <p:spPr>
          <a:xfrm>
            <a:off x="1207008" y="5532120"/>
            <a:ext cx="10241280" cy="77724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Chorus answer on three. Then: which of the four would you have to assign yourself?</a:t>
            </a:r>
            <a:endParaRPr lang="en-US" sz="1400" dirty="0"/>
          </a:p>
        </p:txBody>
      </p:sp>
      <p:sp>
        <p:nvSpPr>
          <p:cNvPr id="24"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Introduction to JavaScript</a:t>
            </a:r>
            <a:endParaRPr lang="en-US" sz="1000" dirty="0"/>
          </a:p>
        </p:txBody>
      </p:sp>
      <p:sp>
        <p:nvSpPr>
          <p:cNvPr id="25"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4480560" y="1371600"/>
            <a:ext cx="3200400" cy="3200400"/>
          </a:xfrm>
          <a:prstGeom prst="ellipse">
            <a:avLst/>
          </a:prstGeom>
          <a:solidFill>
            <a:srgbClr val="2563EB"/>
          </a:solidFill>
          <a:ln/>
          <a:effectLst>
            <a:outerShdw sx="100000" sy="100000" kx="0" ky="0" algn="bl" rotWithShape="0" blurRad="254000" dist="38100" dir="5400000">
              <a:srgbClr val="0B1220">
                <a:alpha val="40000"/>
              </a:srgbClr>
            </a:outerShdw>
          </a:effectLst>
        </p:spPr>
      </p:sp>
      <p:sp>
        <p:nvSpPr>
          <p:cNvPr id="3" name="Shape 1"/>
          <p:cNvSpPr/>
          <p:nvPr/>
        </p:nvSpPr>
        <p:spPr>
          <a:xfrm>
            <a:off x="5394960" y="2286000"/>
            <a:ext cx="1371600" cy="1371600"/>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5751576" y="2642616"/>
            <a:ext cx="658368" cy="658368"/>
          </a:xfrm>
          <a:prstGeom prst="rect">
            <a:avLst/>
          </a:prstGeom>
        </p:spPr>
      </p:pic>
      <p:sp>
        <p:nvSpPr>
          <p:cNvPr id="5" name="Text 2"/>
          <p:cNvSpPr/>
          <p:nvPr/>
        </p:nvSpPr>
        <p:spPr>
          <a:xfrm>
            <a:off x="914400" y="4709160"/>
            <a:ext cx="10360152"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5 minute break</a:t>
            </a:r>
            <a:endParaRPr lang="en-US" sz="4000" dirty="0"/>
          </a:p>
        </p:txBody>
      </p:sp>
      <p:sp>
        <p:nvSpPr>
          <p:cNvPr id="6" name="Text 3"/>
          <p:cNvSpPr/>
          <p:nvPr/>
        </p:nvSpPr>
        <p:spPr>
          <a:xfrm>
            <a:off x="914400" y="5440680"/>
            <a:ext cx="10360152" cy="457200"/>
          </a:xfrm>
          <a:prstGeom prst="rect">
            <a:avLst/>
          </a:prstGeom>
          <a:noFill/>
          <a:ln/>
        </p:spPr>
        <p:txBody>
          <a:bodyPr wrap="square" lIns="0" tIns="0" rIns="0" bIns="0" rtlCol="0" anchor="ctr"/>
          <a:lstStyle/>
          <a:p>
            <a:pPr algn="ctr" indent="0" marL="0">
              <a:buNone/>
            </a:pPr>
            <a:r>
              <a:rPr lang="en-US" sz="1600" dirty="0">
                <a:solidFill>
                  <a:srgbClr val="C7DBFF"/>
                </a:solidFill>
                <a:latin typeface="Calibri" pitchFamily="34" charset="0"/>
                <a:ea typeface="Calibri" pitchFamily="34" charset="-122"/>
                <a:cs typeface="Calibri" pitchFamily="34" charset="-120"/>
              </a:rPr>
              <a:t>Stand up. Water. Rest your eyes. We resume on the dot.</a:t>
            </a:r>
            <a:endParaRPr lang="en-US" sz="1600" dirty="0"/>
          </a:p>
        </p:txBody>
      </p:sp>
      <p:sp>
        <p:nvSpPr>
          <p:cNvPr id="7" name="Shape 4"/>
          <p:cNvSpPr/>
          <p:nvPr/>
        </p:nvSpPr>
        <p:spPr>
          <a:xfrm>
            <a:off x="822960" y="640080"/>
            <a:ext cx="2926080" cy="310896"/>
          </a:xfrm>
          <a:prstGeom prst="roundRect">
            <a:avLst>
              <a:gd name="adj" fmla="val 50000"/>
            </a:avLst>
          </a:prstGeom>
          <a:solidFill>
            <a:srgbClr val="1B2A4A"/>
          </a:solidFill>
          <a:ln/>
        </p:spPr>
      </p:sp>
      <p:sp>
        <p:nvSpPr>
          <p:cNvPr id="8" name="Text 5"/>
          <p:cNvSpPr/>
          <p:nvPr/>
        </p:nvSpPr>
        <p:spPr>
          <a:xfrm>
            <a:off x="822960" y="640080"/>
            <a:ext cx="292608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VARIABLES AND DATA TYPES DONE</a:t>
            </a:r>
            <a:endParaRPr lang="en-US" sz="1100" dirty="0"/>
          </a:p>
        </p:txBody>
      </p:sp>
      <p:sp>
        <p:nvSpPr>
          <p:cNvPr id="9" name="Text 6"/>
          <p:cNvSpPr/>
          <p:nvPr/>
        </p:nvSpPr>
        <p:spPr>
          <a:xfrm>
            <a:off x="914400" y="5943600"/>
            <a:ext cx="10360152" cy="365760"/>
          </a:xfrm>
          <a:prstGeom prst="rect">
            <a:avLst/>
          </a:prstGeom>
          <a:noFill/>
          <a:ln/>
        </p:spPr>
        <p:txBody>
          <a:bodyPr wrap="square" lIns="0" tIns="0" rIns="0" bIns="0"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Next up: functions, arrays and objects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05</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5</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Functions, arrays, objects</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The three reference types you will use every day.</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600200" cy="310896"/>
          </a:xfrm>
          <a:prstGeom prst="roundRect">
            <a:avLst>
              <a:gd name="adj" fmla="val 50000"/>
            </a:avLst>
          </a:prstGeom>
          <a:solidFill>
            <a:srgbClr val="2563EB"/>
          </a:solidFill>
          <a:ln/>
        </p:spPr>
      </p:sp>
      <p:sp>
        <p:nvSpPr>
          <p:cNvPr id="3" name="Text 1"/>
          <p:cNvSpPr/>
          <p:nvPr/>
        </p:nvSpPr>
        <p:spPr>
          <a:xfrm>
            <a:off x="548640" y="457200"/>
            <a:ext cx="16002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REFERENCE TYPE</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Functions</a:t>
            </a:r>
            <a:endParaRPr lang="en-US" sz="3400" dirty="0"/>
          </a:p>
        </p:txBody>
      </p:sp>
      <p:sp>
        <p:nvSpPr>
          <p:cNvPr id="5" name="Shape 3"/>
          <p:cNvSpPr/>
          <p:nvPr/>
        </p:nvSpPr>
        <p:spPr>
          <a:xfrm>
            <a:off x="548640" y="1965960"/>
            <a:ext cx="5669280" cy="2743200"/>
          </a:xfrm>
          <a:prstGeom prst="roundRect">
            <a:avLst>
              <a:gd name="adj" fmla="val 4000"/>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2185416"/>
            <a:ext cx="128016" cy="128016"/>
          </a:xfrm>
          <a:prstGeom prst="ellipse">
            <a:avLst/>
          </a:prstGeom>
          <a:solidFill>
            <a:srgbClr val="FF5F56"/>
          </a:solidFill>
          <a:ln/>
        </p:spPr>
      </p:sp>
      <p:sp>
        <p:nvSpPr>
          <p:cNvPr id="7" name="Shape 5"/>
          <p:cNvSpPr/>
          <p:nvPr/>
        </p:nvSpPr>
        <p:spPr>
          <a:xfrm>
            <a:off x="1042416" y="2185416"/>
            <a:ext cx="128016" cy="128016"/>
          </a:xfrm>
          <a:prstGeom prst="ellipse">
            <a:avLst/>
          </a:prstGeom>
          <a:solidFill>
            <a:srgbClr val="FFBD2E"/>
          </a:solidFill>
          <a:ln/>
        </p:spPr>
      </p:sp>
      <p:sp>
        <p:nvSpPr>
          <p:cNvPr id="8" name="Shape 6"/>
          <p:cNvSpPr/>
          <p:nvPr/>
        </p:nvSpPr>
        <p:spPr>
          <a:xfrm>
            <a:off x="1280160" y="2185416"/>
            <a:ext cx="128016" cy="128016"/>
          </a:xfrm>
          <a:prstGeom prst="ellipse">
            <a:avLst/>
          </a:prstGeom>
          <a:solidFill>
            <a:srgbClr val="27C93F"/>
          </a:solidFill>
          <a:ln/>
        </p:spPr>
      </p:sp>
      <p:sp>
        <p:nvSpPr>
          <p:cNvPr id="9" name="Text 7"/>
          <p:cNvSpPr/>
          <p:nvPr/>
        </p:nvSpPr>
        <p:spPr>
          <a:xfrm>
            <a:off x="1645920" y="2075688"/>
            <a:ext cx="438912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script.js</a:t>
            </a:r>
            <a:endParaRPr lang="en-US" sz="1100" dirty="0"/>
          </a:p>
        </p:txBody>
      </p:sp>
      <p:sp>
        <p:nvSpPr>
          <p:cNvPr id="10" name="Text 8"/>
          <p:cNvSpPr/>
          <p:nvPr/>
        </p:nvSpPr>
        <p:spPr>
          <a:xfrm>
            <a:off x="804672" y="2496312"/>
            <a:ext cx="5157216" cy="2029968"/>
          </a:xfrm>
          <a:prstGeom prst="rect">
            <a:avLst/>
          </a:prstGeom>
          <a:noFill/>
          <a:ln/>
        </p:spPr>
        <p:txBody>
          <a:bodyPr wrap="square" lIns="0" tIns="0" rIns="0" bIns="0" rtlCol="0" anchor="t"/>
          <a:lstStyle/>
          <a:p>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 declaration</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function</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serveBeverage</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drink</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drink</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 invocation</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serveBeverage</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FDBA74"/>
                </a:solidFill>
                <a:latin typeface="Courier New" pitchFamily="34" charset="0"/>
                <a:ea typeface="Courier New" pitchFamily="34" charset="-122"/>
                <a:cs typeface="Courier New" pitchFamily="34" charset="-120"/>
              </a:rPr>
              <a:t>'tea'</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Shape 9"/>
          <p:cNvSpPr/>
          <p:nvPr/>
        </p:nvSpPr>
        <p:spPr>
          <a:xfrm>
            <a:off x="548640" y="4846320"/>
            <a:ext cx="5669280" cy="1051560"/>
          </a:xfrm>
          <a:prstGeom prst="roundRect">
            <a:avLst>
              <a:gd name="adj" fmla="val 10435"/>
            </a:avLst>
          </a:prstGeom>
          <a:solidFill>
            <a:srgbClr val="E5EEFF"/>
          </a:solidFill>
          <a:ln/>
        </p:spPr>
      </p:sp>
      <p:sp>
        <p:nvSpPr>
          <p:cNvPr id="12" name="Shape 10"/>
          <p:cNvSpPr/>
          <p:nvPr/>
        </p:nvSpPr>
        <p:spPr>
          <a:xfrm>
            <a:off x="749808" y="5244084"/>
            <a:ext cx="256032" cy="256032"/>
          </a:xfrm>
          <a:prstGeom prst="ellipse">
            <a:avLst/>
          </a:prstGeom>
          <a:solidFill>
            <a:srgbClr val="2563EB"/>
          </a:solidFill>
          <a:ln/>
        </p:spPr>
      </p:sp>
      <p:sp>
        <p:nvSpPr>
          <p:cNvPr id="13" name="Text 11"/>
          <p:cNvSpPr/>
          <p:nvPr/>
        </p:nvSpPr>
        <p:spPr>
          <a:xfrm>
            <a:off x="1207008" y="4846320"/>
            <a:ext cx="4800600" cy="1051560"/>
          </a:xfrm>
          <a:prstGeom prst="rect">
            <a:avLst/>
          </a:prstGeom>
          <a:noFill/>
          <a:ln/>
        </p:spPr>
        <p:txBody>
          <a:bodyPr wrap="square" lIns="0" tIns="0" rIns="0" bIns="0" rtlCol="0" anchor="ctr"/>
          <a:lstStyle/>
          <a:p>
            <a:pPr algn="l" indent="0" marL="0">
              <a:buNone/>
            </a:pPr>
            <a:r>
              <a:rPr lang="en-US" sz="1400" dirty="0">
                <a:solidFill>
                  <a:srgbClr val="0F172A"/>
                </a:solidFill>
                <a:latin typeface="Calibri" pitchFamily="34" charset="0"/>
                <a:ea typeface="Calibri" pitchFamily="34" charset="-122"/>
                <a:cs typeface="Calibri" pitchFamily="34" charset="-120"/>
              </a:rPr>
              <a:t>Declaring a function does nothing on its own. It only runs when you call it, and you can call it as many times as you like.</a:t>
            </a:r>
            <a:endParaRPr lang="en-US" sz="1400" dirty="0"/>
          </a:p>
        </p:txBody>
      </p:sp>
      <p:sp>
        <p:nvSpPr>
          <p:cNvPr id="14" name="Shape 12"/>
          <p:cNvSpPr/>
          <p:nvPr/>
        </p:nvSpPr>
        <p:spPr>
          <a:xfrm>
            <a:off x="6492240" y="1965960"/>
            <a:ext cx="5166360" cy="3977640"/>
          </a:xfrm>
          <a:prstGeom prst="roundRect">
            <a:avLst>
              <a:gd name="adj" fmla="val 2759"/>
            </a:avLst>
          </a:prstGeom>
          <a:solidFill>
            <a:srgbClr val="111B34"/>
          </a:solidFill>
          <a:ln/>
          <a:effectLst>
            <a:outerShdw sx="100000" sy="100000" kx="0" ky="0" algn="bl" rotWithShape="0" blurRad="101600" dist="38100" dir="5400000">
              <a:srgbClr val="0B1220">
                <a:alpha val="18000"/>
              </a:srgbClr>
            </a:outerShdw>
          </a:effectLst>
        </p:spPr>
      </p:sp>
      <p:sp>
        <p:nvSpPr>
          <p:cNvPr id="15" name="Text 13"/>
          <p:cNvSpPr/>
          <p:nvPr/>
        </p:nvSpPr>
        <p:spPr>
          <a:xfrm>
            <a:off x="6766560" y="2176272"/>
            <a:ext cx="4617720" cy="274320"/>
          </a:xfrm>
          <a:prstGeom prst="rect">
            <a:avLst/>
          </a:prstGeom>
          <a:noFill/>
          <a:ln/>
        </p:spPr>
        <p:txBody>
          <a:bodyPr wrap="square" lIns="0" tIns="0" rIns="0" bIns="0" rtlCol="0" anchor="ctr"/>
          <a:lstStyle/>
          <a:p>
            <a:pPr algn="l" indent="0" marL="0">
              <a:buNone/>
            </a:pPr>
            <a:r>
              <a:rPr lang="en-US" sz="1150" b="1" spc="130" kern="0" dirty="0">
                <a:solidFill>
                  <a:srgbClr val="F59E0B"/>
                </a:solidFill>
                <a:latin typeface="Calibri" pitchFamily="34" charset="0"/>
                <a:ea typeface="Calibri" pitchFamily="34" charset="-122"/>
                <a:cs typeface="Calibri" pitchFamily="34" charset="-120"/>
              </a:rPr>
              <a:t>A VENDING MACHINE</a:t>
            </a:r>
            <a:endParaRPr lang="en-US" sz="1150" dirty="0"/>
          </a:p>
        </p:txBody>
      </p:sp>
      <p:sp>
        <p:nvSpPr>
          <p:cNvPr id="16" name="Shape 14"/>
          <p:cNvSpPr/>
          <p:nvPr/>
        </p:nvSpPr>
        <p:spPr>
          <a:xfrm>
            <a:off x="6766560" y="2606040"/>
            <a:ext cx="1417320" cy="777240"/>
          </a:xfrm>
          <a:prstGeom prst="roundRect">
            <a:avLst>
              <a:gd name="adj" fmla="val 14118"/>
            </a:avLst>
          </a:prstGeom>
          <a:solidFill>
            <a:srgbClr val="1B2A4A"/>
          </a:solidFill>
          <a:ln/>
          <a:effectLst>
            <a:outerShdw sx="100000" sy="100000" kx="0" ky="0" algn="bl" rotWithShape="0" blurRad="101600" dist="38100" dir="5400000">
              <a:srgbClr val="0B1220">
                <a:alpha val="18000"/>
              </a:srgbClr>
            </a:outerShdw>
          </a:effectLst>
        </p:spPr>
      </p:sp>
      <p:sp>
        <p:nvSpPr>
          <p:cNvPr id="17" name="Text 15"/>
          <p:cNvSpPr/>
          <p:nvPr/>
        </p:nvSpPr>
        <p:spPr>
          <a:xfrm>
            <a:off x="6766560" y="2606040"/>
            <a:ext cx="1417320" cy="777240"/>
          </a:xfrm>
          <a:prstGeom prst="rect">
            <a:avLst/>
          </a:prstGeom>
          <a:noFill/>
          <a:ln/>
        </p:spPr>
        <p:txBody>
          <a:bodyPr wrap="square" lIns="0" tIns="0" rIns="0" bIns="0" rtlCol="0" anchor="ctr"/>
          <a:lstStyle/>
          <a:p>
            <a:pPr algn="ctr" indent="0" marL="0">
              <a:buNone/>
            </a:pPr>
            <a:r>
              <a:rPr lang="en-US" sz="1250" b="1" dirty="0">
                <a:solidFill>
                  <a:srgbClr val="F59E0B"/>
                </a:solidFill>
                <a:latin typeface="Courier New" pitchFamily="34" charset="0"/>
                <a:ea typeface="Courier New" pitchFamily="34" charset="-122"/>
                <a:cs typeface="Courier New" pitchFamily="34" charset="-120"/>
              </a:rPr>
              <a:t>'tea'</a:t>
            </a:r>
            <a:endParaRPr lang="en-US" sz="1250" dirty="0"/>
          </a:p>
        </p:txBody>
      </p:sp>
      <p:sp>
        <p:nvSpPr>
          <p:cNvPr id="18" name="Shape 16"/>
          <p:cNvSpPr/>
          <p:nvPr/>
        </p:nvSpPr>
        <p:spPr>
          <a:xfrm>
            <a:off x="8275320" y="2999232"/>
            <a:ext cx="411480" cy="0"/>
          </a:xfrm>
          <a:prstGeom prst="line">
            <a:avLst/>
          </a:prstGeom>
          <a:noFill/>
          <a:ln w="25400">
            <a:solidFill>
              <a:srgbClr val="2563EB"/>
            </a:solidFill>
            <a:prstDash val="solid"/>
            <a:tailEnd type="triangle"/>
          </a:ln>
        </p:spPr>
      </p:sp>
      <p:sp>
        <p:nvSpPr>
          <p:cNvPr id="19" name="Shape 17"/>
          <p:cNvSpPr/>
          <p:nvPr/>
        </p:nvSpPr>
        <p:spPr>
          <a:xfrm>
            <a:off x="8778240" y="2606040"/>
            <a:ext cx="1417320" cy="777240"/>
          </a:xfrm>
          <a:prstGeom prst="roundRect">
            <a:avLst>
              <a:gd name="adj" fmla="val 14118"/>
            </a:avLst>
          </a:prstGeom>
          <a:solidFill>
            <a:srgbClr val="2563EB"/>
          </a:solidFill>
          <a:ln/>
          <a:effectLst>
            <a:outerShdw sx="100000" sy="100000" kx="0" ky="0" algn="bl" rotWithShape="0" blurRad="101600" dist="38100" dir="5400000">
              <a:srgbClr val="0B1220">
                <a:alpha val="18000"/>
              </a:srgbClr>
            </a:outerShdw>
          </a:effectLst>
        </p:spPr>
      </p:sp>
      <p:sp>
        <p:nvSpPr>
          <p:cNvPr id="20" name="Text 18"/>
          <p:cNvSpPr/>
          <p:nvPr/>
        </p:nvSpPr>
        <p:spPr>
          <a:xfrm>
            <a:off x="8778240" y="2606040"/>
            <a:ext cx="141732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machine</a:t>
            </a:r>
            <a:endParaRPr lang="en-US" sz="1150" dirty="0"/>
          </a:p>
        </p:txBody>
      </p:sp>
      <p:sp>
        <p:nvSpPr>
          <p:cNvPr id="21" name="Shape 19"/>
          <p:cNvSpPr/>
          <p:nvPr/>
        </p:nvSpPr>
        <p:spPr>
          <a:xfrm>
            <a:off x="10287000" y="2999232"/>
            <a:ext cx="411480" cy="0"/>
          </a:xfrm>
          <a:prstGeom prst="line">
            <a:avLst/>
          </a:prstGeom>
          <a:noFill/>
          <a:ln w="25400">
            <a:solidFill>
              <a:srgbClr val="2563EB"/>
            </a:solidFill>
            <a:prstDash val="solid"/>
            <a:tailEnd type="triangle"/>
          </a:ln>
        </p:spPr>
      </p:sp>
      <p:sp>
        <p:nvSpPr>
          <p:cNvPr id="22" name="Shape 20"/>
          <p:cNvSpPr/>
          <p:nvPr/>
        </p:nvSpPr>
        <p:spPr>
          <a:xfrm>
            <a:off x="10789920" y="2606040"/>
            <a:ext cx="594360" cy="777240"/>
          </a:xfrm>
          <a:prstGeom prst="roundRect">
            <a:avLst>
              <a:gd name="adj" fmla="val 18462"/>
            </a:avLst>
          </a:prstGeom>
          <a:solidFill>
            <a:srgbClr val="1B2A4A"/>
          </a:solidFill>
          <a:ln/>
          <a:effectLst>
            <a:outerShdw sx="100000" sy="100000" kx="0" ky="0" algn="bl" rotWithShape="0" blurRad="101600" dist="38100" dir="5400000">
              <a:srgbClr val="0B1220">
                <a:alpha val="18000"/>
              </a:srgbClr>
            </a:outerShdw>
          </a:effectLst>
        </p:spPr>
      </p:sp>
      <p:sp>
        <p:nvSpPr>
          <p:cNvPr id="23" name="Text 21"/>
          <p:cNvSpPr/>
          <p:nvPr/>
        </p:nvSpPr>
        <p:spPr>
          <a:xfrm>
            <a:off x="10789920" y="2606040"/>
            <a:ext cx="594360" cy="777240"/>
          </a:xfrm>
          <a:prstGeom prst="rect">
            <a:avLst/>
          </a:prstGeom>
          <a:noFill/>
          <a:ln/>
        </p:spPr>
        <p:txBody>
          <a:bodyPr wrap="square" lIns="0" tIns="0" rIns="0" bIns="0" rtlCol="0" anchor="ctr"/>
          <a:lstStyle/>
          <a:p>
            <a:pPr algn="ctr" indent="0" marL="0">
              <a:buNone/>
            </a:pPr>
            <a:r>
              <a:rPr lang="en-US" sz="1050" b="1" dirty="0">
                <a:solidFill>
                  <a:srgbClr val="22C55E"/>
                </a:solidFill>
                <a:latin typeface="Courier New" pitchFamily="34" charset="0"/>
                <a:ea typeface="Courier New" pitchFamily="34" charset="-122"/>
                <a:cs typeface="Courier New" pitchFamily="34" charset="-120"/>
              </a:rPr>
              <a:t>tea</a:t>
            </a:r>
            <a:endParaRPr lang="en-US" sz="1050" dirty="0"/>
          </a:p>
        </p:txBody>
      </p:sp>
      <p:sp>
        <p:nvSpPr>
          <p:cNvPr id="24" name="Text 22"/>
          <p:cNvSpPr/>
          <p:nvPr/>
        </p:nvSpPr>
        <p:spPr>
          <a:xfrm>
            <a:off x="6766560" y="3429000"/>
            <a:ext cx="1417320" cy="256032"/>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argument</a:t>
            </a:r>
            <a:endParaRPr lang="en-US" sz="950" dirty="0"/>
          </a:p>
        </p:txBody>
      </p:sp>
      <p:sp>
        <p:nvSpPr>
          <p:cNvPr id="25" name="Text 23"/>
          <p:cNvSpPr/>
          <p:nvPr/>
        </p:nvSpPr>
        <p:spPr>
          <a:xfrm>
            <a:off x="8778240" y="3429000"/>
            <a:ext cx="1417320" cy="256032"/>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the function</a:t>
            </a:r>
            <a:endParaRPr lang="en-US" sz="950" dirty="0"/>
          </a:p>
        </p:txBody>
      </p:sp>
      <p:sp>
        <p:nvSpPr>
          <p:cNvPr id="26" name="Text 24"/>
          <p:cNvSpPr/>
          <p:nvPr/>
        </p:nvSpPr>
        <p:spPr>
          <a:xfrm>
            <a:off x="10698480" y="3429000"/>
            <a:ext cx="777240" cy="256032"/>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output</a:t>
            </a:r>
            <a:endParaRPr lang="en-US" sz="950" dirty="0"/>
          </a:p>
        </p:txBody>
      </p:sp>
      <p:sp>
        <p:nvSpPr>
          <p:cNvPr id="27" name="Text 25"/>
          <p:cNvSpPr/>
          <p:nvPr/>
        </p:nvSpPr>
        <p:spPr>
          <a:xfrm>
            <a:off x="6766560" y="3977640"/>
            <a:ext cx="4617720" cy="914400"/>
          </a:xfrm>
          <a:prstGeom prst="rect">
            <a:avLst/>
          </a:prstGeom>
          <a:noFill/>
          <a:ln/>
        </p:spPr>
        <p:txBody>
          <a:bodyPr wrap="square" lIns="0" tIns="0" rIns="0" bIns="0" rtlCol="0" anchor="t"/>
          <a:lstStyle/>
          <a:p>
            <a:pPr algn="l" indent="0" marL="0">
              <a:buNone/>
            </a:pPr>
            <a:r>
              <a:rPr lang="en-US" sz="1350" dirty="0">
                <a:solidFill>
                  <a:srgbClr val="C7DBFF"/>
                </a:solidFill>
                <a:latin typeface="Calibri" pitchFamily="34" charset="0"/>
                <a:ea typeface="Calibri" pitchFamily="34" charset="-122"/>
                <a:cs typeface="Calibri" pitchFamily="34" charset="-120"/>
              </a:rPr>
              <a:t>The machine does not care whether you asked for tea or coffee. It is built once and handles whatever you feed it.</a:t>
            </a:r>
            <a:endParaRPr lang="en-US" sz="1350" dirty="0"/>
          </a:p>
        </p:txBody>
      </p:sp>
      <p:sp>
        <p:nvSpPr>
          <p:cNvPr id="28" name="Shape 26"/>
          <p:cNvSpPr/>
          <p:nvPr/>
        </p:nvSpPr>
        <p:spPr>
          <a:xfrm>
            <a:off x="6766560" y="4983480"/>
            <a:ext cx="4617720" cy="777240"/>
          </a:xfrm>
          <a:prstGeom prst="roundRect">
            <a:avLst>
              <a:gd name="adj" fmla="val 14118"/>
            </a:avLst>
          </a:prstGeom>
          <a:solidFill>
            <a:srgbClr val="1B2A4A"/>
          </a:solidFill>
          <a:ln/>
          <a:effectLst>
            <a:outerShdw sx="100000" sy="100000" kx="0" ky="0" algn="bl" rotWithShape="0" blurRad="101600" dist="38100" dir="5400000">
              <a:srgbClr val="0B1220">
                <a:alpha val="18000"/>
              </a:srgbClr>
            </a:outerShdw>
          </a:effectLst>
        </p:spPr>
      </p:sp>
      <p:sp>
        <p:nvSpPr>
          <p:cNvPr id="29" name="Text 27"/>
          <p:cNvSpPr/>
          <p:nvPr/>
        </p:nvSpPr>
        <p:spPr>
          <a:xfrm>
            <a:off x="6949440" y="4983480"/>
            <a:ext cx="4251960" cy="777240"/>
          </a:xfrm>
          <a:prstGeom prst="rect">
            <a:avLst/>
          </a:prstGeom>
          <a:noFill/>
          <a:ln/>
        </p:spPr>
        <p:txBody>
          <a:bodyPr wrap="square" lIns="0" tIns="0" rIns="0" bIns="0" rtlCol="0" anchor="ctr"/>
          <a:lstStyle/>
          <a:p>
            <a:pPr algn="l" indent="0" marL="0">
              <a:buNone/>
            </a:pPr>
            <a:r>
              <a:rPr lang="en-US" sz="1200" b="1" dirty="0">
                <a:solidFill>
                  <a:srgbClr val="F59E0B"/>
                </a:solidFill>
                <a:latin typeface="Courier New" pitchFamily="34" charset="0"/>
                <a:ea typeface="Courier New" pitchFamily="34" charset="-122"/>
                <a:cs typeface="Courier New" pitchFamily="34" charset="-120"/>
              </a:rPr>
              <a:t>drink</a:t>
            </a:r>
            <a:pPr algn="l" indent="0" marL="0">
              <a:buNone/>
            </a:pPr>
            <a:r>
              <a:rPr lang="en-US" sz="1200" dirty="0">
                <a:solidFill>
                  <a:srgbClr val="C7DBFF"/>
                </a:solidFill>
                <a:latin typeface="Calibri" pitchFamily="34" charset="0"/>
                <a:ea typeface="Calibri" pitchFamily="34" charset="-122"/>
                <a:cs typeface="Calibri" pitchFamily="34" charset="-120"/>
              </a:rPr>
              <a:t> is the parameter.   </a:t>
            </a:r>
            <a:pPr algn="l" indent="0" marL="0">
              <a:buNone/>
            </a:pPr>
            <a:r>
              <a:rPr lang="en-US" sz="1200" b="1" dirty="0">
                <a:solidFill>
                  <a:srgbClr val="22C55E"/>
                </a:solidFill>
                <a:latin typeface="Courier New" pitchFamily="34" charset="0"/>
                <a:ea typeface="Courier New" pitchFamily="34" charset="-122"/>
                <a:cs typeface="Courier New" pitchFamily="34" charset="-120"/>
              </a:rPr>
              <a:t>'tea'</a:t>
            </a:r>
            <a:pPr algn="l" indent="0" marL="0">
              <a:buNone/>
            </a:pPr>
            <a:r>
              <a:rPr lang="en-US" sz="1200" dirty="0">
                <a:solidFill>
                  <a:srgbClr val="C7DBFF"/>
                </a:solidFill>
                <a:latin typeface="Calibri" pitchFamily="34" charset="0"/>
                <a:ea typeface="Calibri" pitchFamily="34" charset="-122"/>
                <a:cs typeface="Calibri" pitchFamily="34" charset="-120"/>
              </a:rPr>
              <a:t> is the argument.</a:t>
            </a:r>
            <a:endParaRPr lang="en-US" sz="1200" dirty="0"/>
          </a:p>
        </p:txBody>
      </p:sp>
      <p:sp>
        <p:nvSpPr>
          <p:cNvPr id="30" name="Text 28"/>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DRY RUN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Arrays are indexed from zero</a:t>
            </a:r>
            <a:endParaRPr lang="en-US" sz="3400" dirty="0"/>
          </a:p>
        </p:txBody>
      </p:sp>
      <p:sp>
        <p:nvSpPr>
          <p:cNvPr id="5" name="Shape 3"/>
          <p:cNvSpPr/>
          <p:nvPr/>
        </p:nvSpPr>
        <p:spPr>
          <a:xfrm>
            <a:off x="548640" y="1920240"/>
            <a:ext cx="11109960" cy="1188720"/>
          </a:xfrm>
          <a:prstGeom prst="roundRect">
            <a:avLst>
              <a:gd name="adj" fmla="val 9231"/>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2139696"/>
            <a:ext cx="128016" cy="128016"/>
          </a:xfrm>
          <a:prstGeom prst="ellipse">
            <a:avLst/>
          </a:prstGeom>
          <a:solidFill>
            <a:srgbClr val="FF5F56"/>
          </a:solidFill>
          <a:ln/>
        </p:spPr>
      </p:sp>
      <p:sp>
        <p:nvSpPr>
          <p:cNvPr id="7" name="Shape 5"/>
          <p:cNvSpPr/>
          <p:nvPr/>
        </p:nvSpPr>
        <p:spPr>
          <a:xfrm>
            <a:off x="1042416" y="2139696"/>
            <a:ext cx="128016" cy="128016"/>
          </a:xfrm>
          <a:prstGeom prst="ellipse">
            <a:avLst/>
          </a:prstGeom>
          <a:solidFill>
            <a:srgbClr val="FFBD2E"/>
          </a:solidFill>
          <a:ln/>
        </p:spPr>
      </p:sp>
      <p:sp>
        <p:nvSpPr>
          <p:cNvPr id="8" name="Shape 6"/>
          <p:cNvSpPr/>
          <p:nvPr/>
        </p:nvSpPr>
        <p:spPr>
          <a:xfrm>
            <a:off x="1280160" y="2139696"/>
            <a:ext cx="128016" cy="128016"/>
          </a:xfrm>
          <a:prstGeom prst="ellipse">
            <a:avLst/>
          </a:prstGeom>
          <a:solidFill>
            <a:srgbClr val="27C93F"/>
          </a:solidFill>
          <a:ln/>
        </p:spPr>
      </p:sp>
      <p:sp>
        <p:nvSpPr>
          <p:cNvPr id="9" name="Text 7"/>
          <p:cNvSpPr/>
          <p:nvPr/>
        </p:nvSpPr>
        <p:spPr>
          <a:xfrm>
            <a:off x="1645920" y="2029968"/>
            <a:ext cx="98298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script.js</a:t>
            </a:r>
            <a:endParaRPr lang="en-US" sz="1100" dirty="0"/>
          </a:p>
        </p:txBody>
      </p:sp>
      <p:sp>
        <p:nvSpPr>
          <p:cNvPr id="10" name="Text 8"/>
          <p:cNvSpPr/>
          <p:nvPr/>
        </p:nvSpPr>
        <p:spPr>
          <a:xfrm>
            <a:off x="804672" y="2450592"/>
            <a:ext cx="10597896" cy="475488"/>
          </a:xfrm>
          <a:prstGeom prst="rect">
            <a:avLst/>
          </a:prstGeom>
          <a:noFill/>
          <a:ln/>
        </p:spPr>
        <p:txBody>
          <a:bodyPr wrap="square" lIns="0" tIns="0" rIns="0" bIns="0" rtlCol="0" anchor="t"/>
          <a:lstStyle/>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arr</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DBA74"/>
                </a:solidFill>
                <a:latin typeface="Courier New" pitchFamily="34" charset="0"/>
                <a:ea typeface="Courier New" pitchFamily="34" charset="-122"/>
                <a:cs typeface="Courier New" pitchFamily="34" charset="-120"/>
              </a:rPr>
              <a:t>'Scaler'</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true</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undefined</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null</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2</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3</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Shape 9"/>
          <p:cNvSpPr/>
          <p:nvPr/>
        </p:nvSpPr>
        <p:spPr>
          <a:xfrm>
            <a:off x="822960" y="3383280"/>
            <a:ext cx="1760220" cy="731520"/>
          </a:xfrm>
          <a:prstGeom prst="rect">
            <a:avLst/>
          </a:prstGeom>
          <a:solidFill>
            <a:srgbClr val="2563EB"/>
          </a:solidFill>
          <a:ln w="15875">
            <a:solidFill>
              <a:srgbClr val="FFFFFF"/>
            </a:solidFill>
            <a:prstDash val="solid"/>
          </a:ln>
        </p:spPr>
      </p:sp>
      <p:sp>
        <p:nvSpPr>
          <p:cNvPr id="12" name="Text 10"/>
          <p:cNvSpPr/>
          <p:nvPr/>
        </p:nvSpPr>
        <p:spPr>
          <a:xfrm>
            <a:off x="822960" y="3383280"/>
            <a:ext cx="1760220"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1</a:t>
            </a:r>
            <a:endParaRPr lang="en-US" sz="1150" dirty="0"/>
          </a:p>
        </p:txBody>
      </p:sp>
      <p:sp>
        <p:nvSpPr>
          <p:cNvPr id="13" name="Text 11"/>
          <p:cNvSpPr/>
          <p:nvPr/>
        </p:nvSpPr>
        <p:spPr>
          <a:xfrm>
            <a:off x="822960" y="4151376"/>
            <a:ext cx="1760220" cy="237744"/>
          </a:xfrm>
          <a:prstGeom prst="rect">
            <a:avLst/>
          </a:prstGeom>
          <a:noFill/>
          <a:ln/>
        </p:spPr>
        <p:txBody>
          <a:bodyPr wrap="square" lIns="0" tIns="0" rIns="0" bIns="0" rtlCol="0" anchor="ctr"/>
          <a:lstStyle/>
          <a:p>
            <a:pPr algn="ctr" indent="0" marL="0">
              <a:buNone/>
            </a:pPr>
            <a:r>
              <a:rPr lang="en-US" sz="950" b="1" dirty="0">
                <a:solidFill>
                  <a:srgbClr val="64748B"/>
                </a:solidFill>
                <a:latin typeface="Courier New" pitchFamily="34" charset="0"/>
                <a:ea typeface="Courier New" pitchFamily="34" charset="-122"/>
                <a:cs typeface="Courier New" pitchFamily="34" charset="-120"/>
              </a:rPr>
              <a:t>0</a:t>
            </a:r>
            <a:endParaRPr lang="en-US" sz="950" dirty="0"/>
          </a:p>
        </p:txBody>
      </p:sp>
      <p:sp>
        <p:nvSpPr>
          <p:cNvPr id="14" name="Shape 12"/>
          <p:cNvSpPr/>
          <p:nvPr/>
        </p:nvSpPr>
        <p:spPr>
          <a:xfrm>
            <a:off x="2583180" y="3383280"/>
            <a:ext cx="1760220" cy="731520"/>
          </a:xfrm>
          <a:prstGeom prst="rect">
            <a:avLst/>
          </a:prstGeom>
          <a:solidFill>
            <a:srgbClr val="2563EB"/>
          </a:solidFill>
          <a:ln w="15875">
            <a:solidFill>
              <a:srgbClr val="FFFFFF"/>
            </a:solidFill>
            <a:prstDash val="solid"/>
          </a:ln>
        </p:spPr>
      </p:sp>
      <p:sp>
        <p:nvSpPr>
          <p:cNvPr id="15" name="Text 13"/>
          <p:cNvSpPr/>
          <p:nvPr/>
        </p:nvSpPr>
        <p:spPr>
          <a:xfrm>
            <a:off x="2583180" y="3383280"/>
            <a:ext cx="1760220"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'Scaler'</a:t>
            </a:r>
            <a:endParaRPr lang="en-US" sz="1150" dirty="0"/>
          </a:p>
        </p:txBody>
      </p:sp>
      <p:sp>
        <p:nvSpPr>
          <p:cNvPr id="16" name="Text 14"/>
          <p:cNvSpPr/>
          <p:nvPr/>
        </p:nvSpPr>
        <p:spPr>
          <a:xfrm>
            <a:off x="2583180" y="4151376"/>
            <a:ext cx="1760220" cy="237744"/>
          </a:xfrm>
          <a:prstGeom prst="rect">
            <a:avLst/>
          </a:prstGeom>
          <a:noFill/>
          <a:ln/>
        </p:spPr>
        <p:txBody>
          <a:bodyPr wrap="square" lIns="0" tIns="0" rIns="0" bIns="0" rtlCol="0" anchor="ctr"/>
          <a:lstStyle/>
          <a:p>
            <a:pPr algn="ctr" indent="0" marL="0">
              <a:buNone/>
            </a:pPr>
            <a:r>
              <a:rPr lang="en-US" sz="950" b="1" dirty="0">
                <a:solidFill>
                  <a:srgbClr val="64748B"/>
                </a:solidFill>
                <a:latin typeface="Courier New" pitchFamily="34" charset="0"/>
                <a:ea typeface="Courier New" pitchFamily="34" charset="-122"/>
                <a:cs typeface="Courier New" pitchFamily="34" charset="-120"/>
              </a:rPr>
              <a:t>1</a:t>
            </a:r>
            <a:endParaRPr lang="en-US" sz="950" dirty="0"/>
          </a:p>
        </p:txBody>
      </p:sp>
      <p:sp>
        <p:nvSpPr>
          <p:cNvPr id="17" name="Shape 15"/>
          <p:cNvSpPr/>
          <p:nvPr/>
        </p:nvSpPr>
        <p:spPr>
          <a:xfrm>
            <a:off x="4343400" y="3383280"/>
            <a:ext cx="1760220" cy="731520"/>
          </a:xfrm>
          <a:prstGeom prst="rect">
            <a:avLst/>
          </a:prstGeom>
          <a:solidFill>
            <a:srgbClr val="2563EB"/>
          </a:solidFill>
          <a:ln w="15875">
            <a:solidFill>
              <a:srgbClr val="FFFFFF"/>
            </a:solidFill>
            <a:prstDash val="solid"/>
          </a:ln>
        </p:spPr>
      </p:sp>
      <p:sp>
        <p:nvSpPr>
          <p:cNvPr id="18" name="Text 16"/>
          <p:cNvSpPr/>
          <p:nvPr/>
        </p:nvSpPr>
        <p:spPr>
          <a:xfrm>
            <a:off x="4343400" y="3383280"/>
            <a:ext cx="1760220"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true</a:t>
            </a:r>
            <a:endParaRPr lang="en-US" sz="1150" dirty="0"/>
          </a:p>
        </p:txBody>
      </p:sp>
      <p:sp>
        <p:nvSpPr>
          <p:cNvPr id="19" name="Text 17"/>
          <p:cNvSpPr/>
          <p:nvPr/>
        </p:nvSpPr>
        <p:spPr>
          <a:xfrm>
            <a:off x="4343400" y="4151376"/>
            <a:ext cx="1760220" cy="237744"/>
          </a:xfrm>
          <a:prstGeom prst="rect">
            <a:avLst/>
          </a:prstGeom>
          <a:noFill/>
          <a:ln/>
        </p:spPr>
        <p:txBody>
          <a:bodyPr wrap="square" lIns="0" tIns="0" rIns="0" bIns="0" rtlCol="0" anchor="ctr"/>
          <a:lstStyle/>
          <a:p>
            <a:pPr algn="ctr" indent="0" marL="0">
              <a:buNone/>
            </a:pPr>
            <a:r>
              <a:rPr lang="en-US" sz="950" b="1" dirty="0">
                <a:solidFill>
                  <a:srgbClr val="64748B"/>
                </a:solidFill>
                <a:latin typeface="Courier New" pitchFamily="34" charset="0"/>
                <a:ea typeface="Courier New" pitchFamily="34" charset="-122"/>
                <a:cs typeface="Courier New" pitchFamily="34" charset="-120"/>
              </a:rPr>
              <a:t>2</a:t>
            </a:r>
            <a:endParaRPr lang="en-US" sz="950" dirty="0"/>
          </a:p>
        </p:txBody>
      </p:sp>
      <p:sp>
        <p:nvSpPr>
          <p:cNvPr id="20" name="Shape 18"/>
          <p:cNvSpPr/>
          <p:nvPr/>
        </p:nvSpPr>
        <p:spPr>
          <a:xfrm>
            <a:off x="6103620" y="3383280"/>
            <a:ext cx="1760220" cy="731520"/>
          </a:xfrm>
          <a:prstGeom prst="rect">
            <a:avLst/>
          </a:prstGeom>
          <a:solidFill>
            <a:srgbClr val="2563EB"/>
          </a:solidFill>
          <a:ln w="15875">
            <a:solidFill>
              <a:srgbClr val="FFFFFF"/>
            </a:solidFill>
            <a:prstDash val="solid"/>
          </a:ln>
        </p:spPr>
      </p:sp>
      <p:sp>
        <p:nvSpPr>
          <p:cNvPr id="21" name="Text 19"/>
          <p:cNvSpPr/>
          <p:nvPr/>
        </p:nvSpPr>
        <p:spPr>
          <a:xfrm>
            <a:off x="6103620" y="3383280"/>
            <a:ext cx="1760220"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undefined</a:t>
            </a:r>
            <a:endParaRPr lang="en-US" sz="1150" dirty="0"/>
          </a:p>
        </p:txBody>
      </p:sp>
      <p:sp>
        <p:nvSpPr>
          <p:cNvPr id="22" name="Text 20"/>
          <p:cNvSpPr/>
          <p:nvPr/>
        </p:nvSpPr>
        <p:spPr>
          <a:xfrm>
            <a:off x="6103620" y="4151376"/>
            <a:ext cx="1760220" cy="237744"/>
          </a:xfrm>
          <a:prstGeom prst="rect">
            <a:avLst/>
          </a:prstGeom>
          <a:noFill/>
          <a:ln/>
        </p:spPr>
        <p:txBody>
          <a:bodyPr wrap="square" lIns="0" tIns="0" rIns="0" bIns="0" rtlCol="0" anchor="ctr"/>
          <a:lstStyle/>
          <a:p>
            <a:pPr algn="ctr" indent="0" marL="0">
              <a:buNone/>
            </a:pPr>
            <a:r>
              <a:rPr lang="en-US" sz="950" b="1" dirty="0">
                <a:solidFill>
                  <a:srgbClr val="64748B"/>
                </a:solidFill>
                <a:latin typeface="Courier New" pitchFamily="34" charset="0"/>
                <a:ea typeface="Courier New" pitchFamily="34" charset="-122"/>
                <a:cs typeface="Courier New" pitchFamily="34" charset="-120"/>
              </a:rPr>
              <a:t>3</a:t>
            </a:r>
            <a:endParaRPr lang="en-US" sz="950" dirty="0"/>
          </a:p>
        </p:txBody>
      </p:sp>
      <p:sp>
        <p:nvSpPr>
          <p:cNvPr id="23" name="Shape 21"/>
          <p:cNvSpPr/>
          <p:nvPr/>
        </p:nvSpPr>
        <p:spPr>
          <a:xfrm>
            <a:off x="7863840" y="3383280"/>
            <a:ext cx="1760220" cy="731520"/>
          </a:xfrm>
          <a:prstGeom prst="rect">
            <a:avLst/>
          </a:prstGeom>
          <a:solidFill>
            <a:srgbClr val="2563EB"/>
          </a:solidFill>
          <a:ln w="15875">
            <a:solidFill>
              <a:srgbClr val="FFFFFF"/>
            </a:solidFill>
            <a:prstDash val="solid"/>
          </a:ln>
        </p:spPr>
      </p:sp>
      <p:sp>
        <p:nvSpPr>
          <p:cNvPr id="24" name="Text 22"/>
          <p:cNvSpPr/>
          <p:nvPr/>
        </p:nvSpPr>
        <p:spPr>
          <a:xfrm>
            <a:off x="7863840" y="3383280"/>
            <a:ext cx="1760220"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null</a:t>
            </a:r>
            <a:endParaRPr lang="en-US" sz="1150" dirty="0"/>
          </a:p>
        </p:txBody>
      </p:sp>
      <p:sp>
        <p:nvSpPr>
          <p:cNvPr id="25" name="Text 23"/>
          <p:cNvSpPr/>
          <p:nvPr/>
        </p:nvSpPr>
        <p:spPr>
          <a:xfrm>
            <a:off x="7863840" y="4151376"/>
            <a:ext cx="1760220" cy="237744"/>
          </a:xfrm>
          <a:prstGeom prst="rect">
            <a:avLst/>
          </a:prstGeom>
          <a:noFill/>
          <a:ln/>
        </p:spPr>
        <p:txBody>
          <a:bodyPr wrap="square" lIns="0" tIns="0" rIns="0" bIns="0" rtlCol="0" anchor="ctr"/>
          <a:lstStyle/>
          <a:p>
            <a:pPr algn="ctr" indent="0" marL="0">
              <a:buNone/>
            </a:pPr>
            <a:r>
              <a:rPr lang="en-US" sz="950" b="1" dirty="0">
                <a:solidFill>
                  <a:srgbClr val="64748B"/>
                </a:solidFill>
                <a:latin typeface="Courier New" pitchFamily="34" charset="0"/>
                <a:ea typeface="Courier New" pitchFamily="34" charset="-122"/>
                <a:cs typeface="Courier New" pitchFamily="34" charset="-120"/>
              </a:rPr>
              <a:t>4</a:t>
            </a:r>
            <a:endParaRPr lang="en-US" sz="950" dirty="0"/>
          </a:p>
        </p:txBody>
      </p:sp>
      <p:sp>
        <p:nvSpPr>
          <p:cNvPr id="26" name="Shape 24"/>
          <p:cNvSpPr/>
          <p:nvPr/>
        </p:nvSpPr>
        <p:spPr>
          <a:xfrm>
            <a:off x="9624060" y="3383280"/>
            <a:ext cx="1760220" cy="731520"/>
          </a:xfrm>
          <a:prstGeom prst="rect">
            <a:avLst/>
          </a:prstGeom>
          <a:solidFill>
            <a:srgbClr val="2563EB"/>
          </a:solidFill>
          <a:ln w="15875">
            <a:solidFill>
              <a:srgbClr val="FFFFFF"/>
            </a:solidFill>
            <a:prstDash val="solid"/>
          </a:ln>
        </p:spPr>
      </p:sp>
      <p:sp>
        <p:nvSpPr>
          <p:cNvPr id="27" name="Text 25"/>
          <p:cNvSpPr/>
          <p:nvPr/>
        </p:nvSpPr>
        <p:spPr>
          <a:xfrm>
            <a:off x="9624060" y="3383280"/>
            <a:ext cx="1760220"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[1,2,3]</a:t>
            </a:r>
            <a:endParaRPr lang="en-US" sz="1150" dirty="0"/>
          </a:p>
        </p:txBody>
      </p:sp>
      <p:sp>
        <p:nvSpPr>
          <p:cNvPr id="28" name="Text 26"/>
          <p:cNvSpPr/>
          <p:nvPr/>
        </p:nvSpPr>
        <p:spPr>
          <a:xfrm>
            <a:off x="9624060" y="4151376"/>
            <a:ext cx="1760220" cy="237744"/>
          </a:xfrm>
          <a:prstGeom prst="rect">
            <a:avLst/>
          </a:prstGeom>
          <a:noFill/>
          <a:ln/>
        </p:spPr>
        <p:txBody>
          <a:bodyPr wrap="square" lIns="0" tIns="0" rIns="0" bIns="0" rtlCol="0" anchor="ctr"/>
          <a:lstStyle/>
          <a:p>
            <a:pPr algn="ctr" indent="0" marL="0">
              <a:buNone/>
            </a:pPr>
            <a:r>
              <a:rPr lang="en-US" sz="950" b="1" dirty="0">
                <a:solidFill>
                  <a:srgbClr val="64748B"/>
                </a:solidFill>
                <a:latin typeface="Courier New" pitchFamily="34" charset="0"/>
                <a:ea typeface="Courier New" pitchFamily="34" charset="-122"/>
                <a:cs typeface="Courier New" pitchFamily="34" charset="-120"/>
              </a:rPr>
              <a:t>5</a:t>
            </a:r>
            <a:endParaRPr lang="en-US" sz="950" dirty="0"/>
          </a:p>
        </p:txBody>
      </p:sp>
      <p:sp>
        <p:nvSpPr>
          <p:cNvPr id="29" name="Text 27"/>
          <p:cNvSpPr/>
          <p:nvPr/>
        </p:nvSpPr>
        <p:spPr>
          <a:xfrm>
            <a:off x="274320" y="4114800"/>
            <a:ext cx="548640" cy="256032"/>
          </a:xfrm>
          <a:prstGeom prst="rect">
            <a:avLst/>
          </a:prstGeom>
          <a:noFill/>
          <a:ln/>
        </p:spPr>
        <p:txBody>
          <a:bodyPr wrap="square" lIns="0" tIns="0" rIns="0" bIns="0" rtlCol="0" anchor="ctr"/>
          <a:lstStyle/>
          <a:p>
            <a:pPr algn="r" indent="0" marL="0">
              <a:buNone/>
            </a:pPr>
            <a:r>
              <a:rPr lang="en-US" sz="950" b="1" dirty="0">
                <a:solidFill>
                  <a:srgbClr val="64748B"/>
                </a:solidFill>
                <a:latin typeface="Calibri" pitchFamily="34" charset="0"/>
                <a:ea typeface="Calibri" pitchFamily="34" charset="-122"/>
                <a:cs typeface="Calibri" pitchFamily="34" charset="-120"/>
              </a:rPr>
              <a:t>index</a:t>
            </a:r>
            <a:endParaRPr lang="en-US" sz="950" dirty="0"/>
          </a:p>
        </p:txBody>
      </p:sp>
      <p:sp>
        <p:nvSpPr>
          <p:cNvPr id="30" name="Shape 28"/>
          <p:cNvSpPr/>
          <p:nvPr/>
        </p:nvSpPr>
        <p:spPr>
          <a:xfrm>
            <a:off x="548640" y="4617720"/>
            <a:ext cx="3520440" cy="1508760"/>
          </a:xfrm>
          <a:prstGeom prst="roundRect">
            <a:avLst>
              <a:gd name="adj" fmla="val 7273"/>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31" name="Text 29"/>
          <p:cNvSpPr/>
          <p:nvPr/>
        </p:nvSpPr>
        <p:spPr>
          <a:xfrm>
            <a:off x="749808" y="4754880"/>
            <a:ext cx="3108960" cy="347472"/>
          </a:xfrm>
          <a:prstGeom prst="rect">
            <a:avLst/>
          </a:prstGeom>
          <a:noFill/>
          <a:ln/>
        </p:spPr>
        <p:txBody>
          <a:bodyPr wrap="square" lIns="0" tIns="0" rIns="0" bIns="0" rtlCol="0" anchor="ctr"/>
          <a:lstStyle/>
          <a:p>
            <a:pPr algn="l" indent="0" marL="0">
              <a:buNone/>
            </a:pPr>
            <a:r>
              <a:rPr lang="en-US" sz="1350" b="1" dirty="0">
                <a:solidFill>
                  <a:srgbClr val="2563EB"/>
                </a:solidFill>
                <a:latin typeface="Courier New" pitchFamily="34" charset="0"/>
                <a:ea typeface="Courier New" pitchFamily="34" charset="-122"/>
                <a:cs typeface="Courier New" pitchFamily="34" charset="-120"/>
              </a:rPr>
              <a:t>arr[4]</a:t>
            </a:r>
            <a:endParaRPr lang="en-US" sz="1350" dirty="0"/>
          </a:p>
        </p:txBody>
      </p:sp>
      <p:sp>
        <p:nvSpPr>
          <p:cNvPr id="32" name="Text 30"/>
          <p:cNvSpPr/>
          <p:nvPr/>
        </p:nvSpPr>
        <p:spPr>
          <a:xfrm>
            <a:off x="749808" y="5120640"/>
            <a:ext cx="3108960" cy="320040"/>
          </a:xfrm>
          <a:prstGeom prst="rect">
            <a:avLst/>
          </a:prstGeom>
          <a:noFill/>
          <a:ln/>
        </p:spPr>
        <p:txBody>
          <a:bodyPr wrap="square" lIns="0" tIns="0" rIns="0" bIns="0" rtlCol="0" anchor="ctr"/>
          <a:lstStyle/>
          <a:p>
            <a:pPr algn="l" indent="0" marL="0">
              <a:buNone/>
            </a:pPr>
            <a:r>
              <a:rPr lang="en-US" sz="1200" b="1" dirty="0">
                <a:solidFill>
                  <a:srgbClr val="22C55E"/>
                </a:solidFill>
                <a:latin typeface="Courier New" pitchFamily="34" charset="0"/>
                <a:ea typeface="Courier New" pitchFamily="34" charset="-122"/>
                <a:cs typeface="Courier New" pitchFamily="34" charset="-120"/>
              </a:rPr>
              <a:t>prints  null</a:t>
            </a:r>
            <a:endParaRPr lang="en-US" sz="1200" dirty="0"/>
          </a:p>
        </p:txBody>
      </p:sp>
      <p:sp>
        <p:nvSpPr>
          <p:cNvPr id="33" name="Text 31"/>
          <p:cNvSpPr/>
          <p:nvPr/>
        </p:nvSpPr>
        <p:spPr>
          <a:xfrm>
            <a:off x="749808" y="5468112"/>
            <a:ext cx="3108960" cy="548640"/>
          </a:xfrm>
          <a:prstGeom prst="rect">
            <a:avLst/>
          </a:prstGeom>
          <a:noFill/>
          <a:ln/>
        </p:spPr>
        <p:txBody>
          <a:bodyPr wrap="square" lIns="0" tIns="0" rIns="0" bIns="0" rtlCol="0" anchor="t"/>
          <a:lstStyle/>
          <a:p>
            <a:pPr algn="l" indent="0" marL="0">
              <a:buNone/>
            </a:pPr>
            <a:r>
              <a:rPr lang="en-US" sz="1150" dirty="0">
                <a:solidFill>
                  <a:srgbClr val="64748B"/>
                </a:solidFill>
                <a:latin typeface="Calibri" pitchFamily="34" charset="0"/>
                <a:ea typeface="Calibri" pitchFamily="34" charset="-122"/>
                <a:cs typeface="Calibri" pitchFamily="34" charset="-120"/>
              </a:rPr>
              <a:t>the fifth item, because counting starts at 0</a:t>
            </a:r>
            <a:endParaRPr lang="en-US" sz="1150" dirty="0"/>
          </a:p>
        </p:txBody>
      </p:sp>
      <p:sp>
        <p:nvSpPr>
          <p:cNvPr id="34" name="Shape 32"/>
          <p:cNvSpPr/>
          <p:nvPr/>
        </p:nvSpPr>
        <p:spPr>
          <a:xfrm>
            <a:off x="4325112" y="4617720"/>
            <a:ext cx="3520440" cy="1508760"/>
          </a:xfrm>
          <a:prstGeom prst="roundRect">
            <a:avLst>
              <a:gd name="adj" fmla="val 7273"/>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35" name="Text 33"/>
          <p:cNvSpPr/>
          <p:nvPr/>
        </p:nvSpPr>
        <p:spPr>
          <a:xfrm>
            <a:off x="4526280" y="4754880"/>
            <a:ext cx="3108960" cy="347472"/>
          </a:xfrm>
          <a:prstGeom prst="rect">
            <a:avLst/>
          </a:prstGeom>
          <a:noFill/>
          <a:ln/>
        </p:spPr>
        <p:txBody>
          <a:bodyPr wrap="square" lIns="0" tIns="0" rIns="0" bIns="0" rtlCol="0" anchor="ctr"/>
          <a:lstStyle/>
          <a:p>
            <a:pPr algn="l" indent="0" marL="0">
              <a:buNone/>
            </a:pPr>
            <a:r>
              <a:rPr lang="en-US" sz="1350" b="1" dirty="0">
                <a:solidFill>
                  <a:srgbClr val="2563EB"/>
                </a:solidFill>
                <a:latin typeface="Courier New" pitchFamily="34" charset="0"/>
                <a:ea typeface="Courier New" pitchFamily="34" charset="-122"/>
                <a:cs typeface="Courier New" pitchFamily="34" charset="-120"/>
              </a:rPr>
              <a:t>arr[5][0]</a:t>
            </a:r>
            <a:endParaRPr lang="en-US" sz="1350" dirty="0"/>
          </a:p>
        </p:txBody>
      </p:sp>
      <p:sp>
        <p:nvSpPr>
          <p:cNvPr id="36" name="Text 34"/>
          <p:cNvSpPr/>
          <p:nvPr/>
        </p:nvSpPr>
        <p:spPr>
          <a:xfrm>
            <a:off x="4526280" y="5120640"/>
            <a:ext cx="3108960" cy="320040"/>
          </a:xfrm>
          <a:prstGeom prst="rect">
            <a:avLst/>
          </a:prstGeom>
          <a:noFill/>
          <a:ln/>
        </p:spPr>
        <p:txBody>
          <a:bodyPr wrap="square" lIns="0" tIns="0" rIns="0" bIns="0" rtlCol="0" anchor="ctr"/>
          <a:lstStyle/>
          <a:p>
            <a:pPr algn="l" indent="0" marL="0">
              <a:buNone/>
            </a:pPr>
            <a:r>
              <a:rPr lang="en-US" sz="1200" b="1" dirty="0">
                <a:solidFill>
                  <a:srgbClr val="22C55E"/>
                </a:solidFill>
                <a:latin typeface="Courier New" pitchFamily="34" charset="0"/>
                <a:ea typeface="Courier New" pitchFamily="34" charset="-122"/>
                <a:cs typeface="Courier New" pitchFamily="34" charset="-120"/>
              </a:rPr>
              <a:t>prints  1</a:t>
            </a:r>
            <a:endParaRPr lang="en-US" sz="1200" dirty="0"/>
          </a:p>
        </p:txBody>
      </p:sp>
      <p:sp>
        <p:nvSpPr>
          <p:cNvPr id="37" name="Text 35"/>
          <p:cNvSpPr/>
          <p:nvPr/>
        </p:nvSpPr>
        <p:spPr>
          <a:xfrm>
            <a:off x="4526280" y="5468112"/>
            <a:ext cx="3108960" cy="548640"/>
          </a:xfrm>
          <a:prstGeom prst="rect">
            <a:avLst/>
          </a:prstGeom>
          <a:noFill/>
          <a:ln/>
        </p:spPr>
        <p:txBody>
          <a:bodyPr wrap="square" lIns="0" tIns="0" rIns="0" bIns="0" rtlCol="0" anchor="t"/>
          <a:lstStyle/>
          <a:p>
            <a:pPr algn="l" indent="0" marL="0">
              <a:buNone/>
            </a:pPr>
            <a:r>
              <a:rPr lang="en-US" sz="1150" dirty="0">
                <a:solidFill>
                  <a:srgbClr val="64748B"/>
                </a:solidFill>
                <a:latin typeface="Calibri" pitchFamily="34" charset="0"/>
                <a:ea typeface="Calibri" pitchFamily="34" charset="-122"/>
                <a:cs typeface="Calibri" pitchFamily="34" charset="-120"/>
              </a:rPr>
              <a:t>an array inside an array, dug into twice</a:t>
            </a:r>
            <a:endParaRPr lang="en-US" sz="1150" dirty="0"/>
          </a:p>
        </p:txBody>
      </p:sp>
      <p:sp>
        <p:nvSpPr>
          <p:cNvPr id="38" name="Shape 36"/>
          <p:cNvSpPr/>
          <p:nvPr/>
        </p:nvSpPr>
        <p:spPr>
          <a:xfrm>
            <a:off x="8101584" y="4617720"/>
            <a:ext cx="3520440" cy="1508760"/>
          </a:xfrm>
          <a:prstGeom prst="roundRect">
            <a:avLst>
              <a:gd name="adj" fmla="val 7273"/>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39" name="Text 37"/>
          <p:cNvSpPr/>
          <p:nvPr/>
        </p:nvSpPr>
        <p:spPr>
          <a:xfrm>
            <a:off x="8302752" y="4754880"/>
            <a:ext cx="3108960" cy="347472"/>
          </a:xfrm>
          <a:prstGeom prst="rect">
            <a:avLst/>
          </a:prstGeom>
          <a:noFill/>
          <a:ln/>
        </p:spPr>
        <p:txBody>
          <a:bodyPr wrap="square" lIns="0" tIns="0" rIns="0" bIns="0" rtlCol="0" anchor="ctr"/>
          <a:lstStyle/>
          <a:p>
            <a:pPr algn="l" indent="0" marL="0">
              <a:buNone/>
            </a:pPr>
            <a:r>
              <a:rPr lang="en-US" sz="1350" b="1" dirty="0">
                <a:solidFill>
                  <a:srgbClr val="2563EB"/>
                </a:solidFill>
                <a:latin typeface="Courier New" pitchFamily="34" charset="0"/>
                <a:ea typeface="Courier New" pitchFamily="34" charset="-122"/>
                <a:cs typeface="Courier New" pitchFamily="34" charset="-120"/>
              </a:rPr>
              <a:t>arr.length</a:t>
            </a:r>
            <a:endParaRPr lang="en-US" sz="1350" dirty="0"/>
          </a:p>
        </p:txBody>
      </p:sp>
      <p:sp>
        <p:nvSpPr>
          <p:cNvPr id="40" name="Text 38"/>
          <p:cNvSpPr/>
          <p:nvPr/>
        </p:nvSpPr>
        <p:spPr>
          <a:xfrm>
            <a:off x="8302752" y="5120640"/>
            <a:ext cx="3108960" cy="320040"/>
          </a:xfrm>
          <a:prstGeom prst="rect">
            <a:avLst/>
          </a:prstGeom>
          <a:noFill/>
          <a:ln/>
        </p:spPr>
        <p:txBody>
          <a:bodyPr wrap="square" lIns="0" tIns="0" rIns="0" bIns="0" rtlCol="0" anchor="ctr"/>
          <a:lstStyle/>
          <a:p>
            <a:pPr algn="l" indent="0" marL="0">
              <a:buNone/>
            </a:pPr>
            <a:r>
              <a:rPr lang="en-US" sz="1200" b="1" dirty="0">
                <a:solidFill>
                  <a:srgbClr val="22C55E"/>
                </a:solidFill>
                <a:latin typeface="Courier New" pitchFamily="34" charset="0"/>
                <a:ea typeface="Courier New" pitchFamily="34" charset="-122"/>
                <a:cs typeface="Courier New" pitchFamily="34" charset="-120"/>
              </a:rPr>
              <a:t>prints  6</a:t>
            </a:r>
            <a:endParaRPr lang="en-US" sz="1200" dirty="0"/>
          </a:p>
        </p:txBody>
      </p:sp>
      <p:sp>
        <p:nvSpPr>
          <p:cNvPr id="41" name="Text 39"/>
          <p:cNvSpPr/>
          <p:nvPr/>
        </p:nvSpPr>
        <p:spPr>
          <a:xfrm>
            <a:off x="8302752" y="5468112"/>
            <a:ext cx="3108960" cy="548640"/>
          </a:xfrm>
          <a:prstGeom prst="rect">
            <a:avLst/>
          </a:prstGeom>
          <a:noFill/>
          <a:ln/>
        </p:spPr>
        <p:txBody>
          <a:bodyPr wrap="square" lIns="0" tIns="0" rIns="0" bIns="0" rtlCol="0" anchor="t"/>
          <a:lstStyle/>
          <a:p>
            <a:pPr algn="l" indent="0" marL="0">
              <a:buNone/>
            </a:pPr>
            <a:r>
              <a:rPr lang="en-US" sz="1150" dirty="0">
                <a:solidFill>
                  <a:srgbClr val="64748B"/>
                </a:solidFill>
                <a:latin typeface="Calibri" pitchFamily="34" charset="0"/>
                <a:ea typeface="Calibri" pitchFamily="34" charset="-122"/>
                <a:cs typeface="Calibri" pitchFamily="34" charset="-120"/>
              </a:rPr>
              <a:t>how many items, not the last index</a:t>
            </a:r>
            <a:endParaRPr lang="en-US" sz="1150" dirty="0"/>
          </a:p>
        </p:txBody>
      </p:sp>
      <p:sp>
        <p:nvSpPr>
          <p:cNvPr id="42" name="Text 40"/>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DRY RUN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Four methods to remember</a:t>
            </a:r>
            <a:endParaRPr lang="en-US" sz="3400" dirty="0"/>
          </a:p>
        </p:txBody>
      </p:sp>
      <p:sp>
        <p:nvSpPr>
          <p:cNvPr id="5" name="Text 3"/>
          <p:cNvSpPr/>
          <p:nvPr/>
        </p:nvSpPr>
        <p:spPr>
          <a:xfrm>
            <a:off x="548640" y="1828800"/>
            <a:ext cx="11064240" cy="411480"/>
          </a:xfrm>
          <a:prstGeom prst="rect">
            <a:avLst/>
          </a:prstGeom>
          <a:noFill/>
          <a:ln/>
        </p:spPr>
        <p:txBody>
          <a:bodyPr wrap="square" lIns="0" tIns="0" rIns="0" bIns="0" rtlCol="0" anchor="ctr"/>
          <a:lstStyle/>
          <a:p>
            <a:pPr algn="l" indent="0" marL="0">
              <a:buNone/>
            </a:pPr>
            <a:r>
              <a:rPr lang="en-US" sz="1500" dirty="0">
                <a:solidFill>
                  <a:srgbClr val="64748B"/>
                </a:solidFill>
                <a:latin typeface="Calibri" pitchFamily="34" charset="0"/>
                <a:ea typeface="Calibri" pitchFamily="34" charset="-122"/>
                <a:cs typeface="Calibri" pitchFamily="34" charset="-120"/>
              </a:rPr>
              <a:t>Two work at the end of the array, two at the start. That is the whole idea.</a:t>
            </a:r>
            <a:endParaRPr lang="en-US" sz="1500" dirty="0"/>
          </a:p>
        </p:txBody>
      </p:sp>
      <p:sp>
        <p:nvSpPr>
          <p:cNvPr id="6" name="Shape 4"/>
          <p:cNvSpPr/>
          <p:nvPr/>
        </p:nvSpPr>
        <p:spPr>
          <a:xfrm>
            <a:off x="548640" y="2331720"/>
            <a:ext cx="5623560" cy="1783080"/>
          </a:xfrm>
          <a:prstGeom prst="roundRect">
            <a:avLst>
              <a:gd name="adj" fmla="val 615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7" name="Text 5"/>
          <p:cNvSpPr/>
          <p:nvPr/>
        </p:nvSpPr>
        <p:spPr>
          <a:xfrm>
            <a:off x="777240" y="2441448"/>
            <a:ext cx="2926080" cy="310896"/>
          </a:xfrm>
          <a:prstGeom prst="rect">
            <a:avLst/>
          </a:prstGeom>
          <a:noFill/>
          <a:ln/>
        </p:spPr>
        <p:txBody>
          <a:bodyPr wrap="square" lIns="0" tIns="0" rIns="0" bIns="0" rtlCol="0" anchor="ctr"/>
          <a:lstStyle/>
          <a:p>
            <a:pPr algn="l" indent="0" marL="0">
              <a:buNone/>
            </a:pPr>
            <a:r>
              <a:rPr lang="en-US" sz="1250" b="1" dirty="0">
                <a:solidFill>
                  <a:srgbClr val="22C55E"/>
                </a:solidFill>
                <a:latin typeface="Courier New" pitchFamily="34" charset="0"/>
                <a:ea typeface="Courier New" pitchFamily="34" charset="-122"/>
                <a:cs typeface="Courier New" pitchFamily="34" charset="-120"/>
              </a:rPr>
              <a:t>push('Urus')</a:t>
            </a:r>
            <a:endParaRPr lang="en-US" sz="1250" dirty="0"/>
          </a:p>
        </p:txBody>
      </p:sp>
      <p:sp>
        <p:nvSpPr>
          <p:cNvPr id="8" name="Text 6"/>
          <p:cNvSpPr/>
          <p:nvPr/>
        </p:nvSpPr>
        <p:spPr>
          <a:xfrm>
            <a:off x="3657600" y="2441448"/>
            <a:ext cx="2377440" cy="310896"/>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add at the end</a:t>
            </a:r>
            <a:endParaRPr lang="en-US" sz="1150" dirty="0"/>
          </a:p>
        </p:txBody>
      </p:sp>
      <p:sp>
        <p:nvSpPr>
          <p:cNvPr id="9" name="Shape 7"/>
          <p:cNvSpPr/>
          <p:nvPr/>
        </p:nvSpPr>
        <p:spPr>
          <a:xfrm>
            <a:off x="777240" y="2880360"/>
            <a:ext cx="1236726" cy="384048"/>
          </a:xfrm>
          <a:prstGeom prst="rect">
            <a:avLst/>
          </a:prstGeom>
          <a:solidFill>
            <a:srgbClr val="C7DBFF"/>
          </a:solidFill>
          <a:ln/>
        </p:spPr>
      </p:sp>
      <p:sp>
        <p:nvSpPr>
          <p:cNvPr id="10" name="Text 8"/>
          <p:cNvSpPr/>
          <p:nvPr/>
        </p:nvSpPr>
        <p:spPr>
          <a:xfrm>
            <a:off x="777240" y="288036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swift</a:t>
            </a:r>
            <a:endParaRPr lang="en-US" sz="950" dirty="0"/>
          </a:p>
        </p:txBody>
      </p:sp>
      <p:sp>
        <p:nvSpPr>
          <p:cNvPr id="11" name="Shape 9"/>
          <p:cNvSpPr/>
          <p:nvPr/>
        </p:nvSpPr>
        <p:spPr>
          <a:xfrm>
            <a:off x="2068830" y="2880360"/>
            <a:ext cx="1236726" cy="384048"/>
          </a:xfrm>
          <a:prstGeom prst="rect">
            <a:avLst/>
          </a:prstGeom>
          <a:solidFill>
            <a:srgbClr val="C7DBFF"/>
          </a:solidFill>
          <a:ln/>
        </p:spPr>
      </p:sp>
      <p:sp>
        <p:nvSpPr>
          <p:cNvPr id="12" name="Text 10"/>
          <p:cNvSpPr/>
          <p:nvPr/>
        </p:nvSpPr>
        <p:spPr>
          <a:xfrm>
            <a:off x="2068830" y="288036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BMW</a:t>
            </a:r>
            <a:endParaRPr lang="en-US" sz="950" dirty="0"/>
          </a:p>
        </p:txBody>
      </p:sp>
      <p:sp>
        <p:nvSpPr>
          <p:cNvPr id="13" name="Shape 11"/>
          <p:cNvSpPr/>
          <p:nvPr/>
        </p:nvSpPr>
        <p:spPr>
          <a:xfrm>
            <a:off x="3360420" y="2880360"/>
            <a:ext cx="1236726" cy="384048"/>
          </a:xfrm>
          <a:prstGeom prst="rect">
            <a:avLst/>
          </a:prstGeom>
          <a:solidFill>
            <a:srgbClr val="C7DBFF"/>
          </a:solidFill>
          <a:ln/>
        </p:spPr>
      </p:sp>
      <p:sp>
        <p:nvSpPr>
          <p:cNvPr id="14" name="Text 12"/>
          <p:cNvSpPr/>
          <p:nvPr/>
        </p:nvSpPr>
        <p:spPr>
          <a:xfrm>
            <a:off x="3360420" y="288036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Audi</a:t>
            </a:r>
            <a:endParaRPr lang="en-US" sz="950" dirty="0"/>
          </a:p>
        </p:txBody>
      </p:sp>
      <p:sp>
        <p:nvSpPr>
          <p:cNvPr id="15" name="Shape 13"/>
          <p:cNvSpPr/>
          <p:nvPr/>
        </p:nvSpPr>
        <p:spPr>
          <a:xfrm>
            <a:off x="914400" y="3355848"/>
            <a:ext cx="0" cy="164592"/>
          </a:xfrm>
          <a:prstGeom prst="line">
            <a:avLst/>
          </a:prstGeom>
          <a:noFill/>
          <a:ln w="19050">
            <a:solidFill>
              <a:srgbClr val="22C55E"/>
            </a:solidFill>
            <a:prstDash val="solid"/>
            <a:tailEnd type="triangle"/>
          </a:ln>
        </p:spPr>
      </p:sp>
      <p:sp>
        <p:nvSpPr>
          <p:cNvPr id="16" name="Shape 14"/>
          <p:cNvSpPr/>
          <p:nvPr/>
        </p:nvSpPr>
        <p:spPr>
          <a:xfrm>
            <a:off x="777240" y="3566160"/>
            <a:ext cx="1236726" cy="384048"/>
          </a:xfrm>
          <a:prstGeom prst="rect">
            <a:avLst/>
          </a:prstGeom>
          <a:solidFill>
            <a:srgbClr val="2563EB"/>
          </a:solidFill>
          <a:ln/>
        </p:spPr>
      </p:sp>
      <p:sp>
        <p:nvSpPr>
          <p:cNvPr id="17" name="Text 15"/>
          <p:cNvSpPr/>
          <p:nvPr/>
        </p:nvSpPr>
        <p:spPr>
          <a:xfrm>
            <a:off x="777240" y="356616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swift</a:t>
            </a:r>
            <a:endParaRPr lang="en-US" sz="950" dirty="0"/>
          </a:p>
        </p:txBody>
      </p:sp>
      <p:sp>
        <p:nvSpPr>
          <p:cNvPr id="18" name="Shape 16"/>
          <p:cNvSpPr/>
          <p:nvPr/>
        </p:nvSpPr>
        <p:spPr>
          <a:xfrm>
            <a:off x="2068830" y="3566160"/>
            <a:ext cx="1236726" cy="384048"/>
          </a:xfrm>
          <a:prstGeom prst="rect">
            <a:avLst/>
          </a:prstGeom>
          <a:solidFill>
            <a:srgbClr val="2563EB"/>
          </a:solidFill>
          <a:ln/>
        </p:spPr>
      </p:sp>
      <p:sp>
        <p:nvSpPr>
          <p:cNvPr id="19" name="Text 17"/>
          <p:cNvSpPr/>
          <p:nvPr/>
        </p:nvSpPr>
        <p:spPr>
          <a:xfrm>
            <a:off x="2068830" y="356616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BMW</a:t>
            </a:r>
            <a:endParaRPr lang="en-US" sz="950" dirty="0"/>
          </a:p>
        </p:txBody>
      </p:sp>
      <p:sp>
        <p:nvSpPr>
          <p:cNvPr id="20" name="Shape 18"/>
          <p:cNvSpPr/>
          <p:nvPr/>
        </p:nvSpPr>
        <p:spPr>
          <a:xfrm>
            <a:off x="3360420" y="3566160"/>
            <a:ext cx="1236726" cy="384048"/>
          </a:xfrm>
          <a:prstGeom prst="rect">
            <a:avLst/>
          </a:prstGeom>
          <a:solidFill>
            <a:srgbClr val="2563EB"/>
          </a:solidFill>
          <a:ln/>
        </p:spPr>
      </p:sp>
      <p:sp>
        <p:nvSpPr>
          <p:cNvPr id="21" name="Text 19"/>
          <p:cNvSpPr/>
          <p:nvPr/>
        </p:nvSpPr>
        <p:spPr>
          <a:xfrm>
            <a:off x="3360420" y="356616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Audi</a:t>
            </a:r>
            <a:endParaRPr lang="en-US" sz="950" dirty="0"/>
          </a:p>
        </p:txBody>
      </p:sp>
      <p:sp>
        <p:nvSpPr>
          <p:cNvPr id="22" name="Shape 20"/>
          <p:cNvSpPr/>
          <p:nvPr/>
        </p:nvSpPr>
        <p:spPr>
          <a:xfrm>
            <a:off x="4652010" y="3566160"/>
            <a:ext cx="1236726" cy="384048"/>
          </a:xfrm>
          <a:prstGeom prst="rect">
            <a:avLst/>
          </a:prstGeom>
          <a:solidFill>
            <a:srgbClr val="22C55E"/>
          </a:solidFill>
          <a:ln/>
        </p:spPr>
      </p:sp>
      <p:sp>
        <p:nvSpPr>
          <p:cNvPr id="23" name="Text 21"/>
          <p:cNvSpPr/>
          <p:nvPr/>
        </p:nvSpPr>
        <p:spPr>
          <a:xfrm>
            <a:off x="4652010" y="3566160"/>
            <a:ext cx="1236726"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Urus</a:t>
            </a:r>
            <a:endParaRPr lang="en-US" sz="950" dirty="0"/>
          </a:p>
        </p:txBody>
      </p:sp>
      <p:sp>
        <p:nvSpPr>
          <p:cNvPr id="24" name="Shape 22"/>
          <p:cNvSpPr/>
          <p:nvPr/>
        </p:nvSpPr>
        <p:spPr>
          <a:xfrm>
            <a:off x="6446520" y="2331720"/>
            <a:ext cx="5623560" cy="1783080"/>
          </a:xfrm>
          <a:prstGeom prst="roundRect">
            <a:avLst>
              <a:gd name="adj" fmla="val 615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5" name="Text 23"/>
          <p:cNvSpPr/>
          <p:nvPr/>
        </p:nvSpPr>
        <p:spPr>
          <a:xfrm>
            <a:off x="6675120" y="2441448"/>
            <a:ext cx="2926080" cy="310896"/>
          </a:xfrm>
          <a:prstGeom prst="rect">
            <a:avLst/>
          </a:prstGeom>
          <a:noFill/>
          <a:ln/>
        </p:spPr>
        <p:txBody>
          <a:bodyPr wrap="square" lIns="0" tIns="0" rIns="0" bIns="0" rtlCol="0" anchor="ctr"/>
          <a:lstStyle/>
          <a:p>
            <a:pPr algn="l" indent="0" marL="0">
              <a:buNone/>
            </a:pPr>
            <a:r>
              <a:rPr lang="en-US" sz="1250" b="1" dirty="0">
                <a:solidFill>
                  <a:srgbClr val="FB7185"/>
                </a:solidFill>
                <a:latin typeface="Courier New" pitchFamily="34" charset="0"/>
                <a:ea typeface="Courier New" pitchFamily="34" charset="-122"/>
                <a:cs typeface="Courier New" pitchFamily="34" charset="-120"/>
              </a:rPr>
              <a:t>pop()</a:t>
            </a:r>
            <a:endParaRPr lang="en-US" sz="1250" dirty="0"/>
          </a:p>
        </p:txBody>
      </p:sp>
      <p:sp>
        <p:nvSpPr>
          <p:cNvPr id="26" name="Text 24"/>
          <p:cNvSpPr/>
          <p:nvPr/>
        </p:nvSpPr>
        <p:spPr>
          <a:xfrm>
            <a:off x="9555480" y="2441448"/>
            <a:ext cx="2377440" cy="310896"/>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remove from the end</a:t>
            </a:r>
            <a:endParaRPr lang="en-US" sz="1150" dirty="0"/>
          </a:p>
        </p:txBody>
      </p:sp>
      <p:sp>
        <p:nvSpPr>
          <p:cNvPr id="27" name="Shape 25"/>
          <p:cNvSpPr/>
          <p:nvPr/>
        </p:nvSpPr>
        <p:spPr>
          <a:xfrm>
            <a:off x="6675120" y="2880360"/>
            <a:ext cx="1236726" cy="384048"/>
          </a:xfrm>
          <a:prstGeom prst="rect">
            <a:avLst/>
          </a:prstGeom>
          <a:solidFill>
            <a:srgbClr val="C7DBFF"/>
          </a:solidFill>
          <a:ln/>
        </p:spPr>
      </p:sp>
      <p:sp>
        <p:nvSpPr>
          <p:cNvPr id="28" name="Text 26"/>
          <p:cNvSpPr/>
          <p:nvPr/>
        </p:nvSpPr>
        <p:spPr>
          <a:xfrm>
            <a:off x="6675120" y="288036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swift</a:t>
            </a:r>
            <a:endParaRPr lang="en-US" sz="950" dirty="0"/>
          </a:p>
        </p:txBody>
      </p:sp>
      <p:sp>
        <p:nvSpPr>
          <p:cNvPr id="29" name="Shape 27"/>
          <p:cNvSpPr/>
          <p:nvPr/>
        </p:nvSpPr>
        <p:spPr>
          <a:xfrm>
            <a:off x="7966710" y="2880360"/>
            <a:ext cx="1236726" cy="384048"/>
          </a:xfrm>
          <a:prstGeom prst="rect">
            <a:avLst/>
          </a:prstGeom>
          <a:solidFill>
            <a:srgbClr val="C7DBFF"/>
          </a:solidFill>
          <a:ln/>
        </p:spPr>
      </p:sp>
      <p:sp>
        <p:nvSpPr>
          <p:cNvPr id="30" name="Text 28"/>
          <p:cNvSpPr/>
          <p:nvPr/>
        </p:nvSpPr>
        <p:spPr>
          <a:xfrm>
            <a:off x="7966710" y="288036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BMW</a:t>
            </a:r>
            <a:endParaRPr lang="en-US" sz="950" dirty="0"/>
          </a:p>
        </p:txBody>
      </p:sp>
      <p:sp>
        <p:nvSpPr>
          <p:cNvPr id="31" name="Shape 29"/>
          <p:cNvSpPr/>
          <p:nvPr/>
        </p:nvSpPr>
        <p:spPr>
          <a:xfrm>
            <a:off x="9258300" y="2880360"/>
            <a:ext cx="1236726" cy="384048"/>
          </a:xfrm>
          <a:prstGeom prst="rect">
            <a:avLst/>
          </a:prstGeom>
          <a:solidFill>
            <a:srgbClr val="C7DBFF"/>
          </a:solidFill>
          <a:ln/>
        </p:spPr>
      </p:sp>
      <p:sp>
        <p:nvSpPr>
          <p:cNvPr id="32" name="Text 30"/>
          <p:cNvSpPr/>
          <p:nvPr/>
        </p:nvSpPr>
        <p:spPr>
          <a:xfrm>
            <a:off x="9258300" y="288036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Audi</a:t>
            </a:r>
            <a:endParaRPr lang="en-US" sz="950" dirty="0"/>
          </a:p>
        </p:txBody>
      </p:sp>
      <p:sp>
        <p:nvSpPr>
          <p:cNvPr id="33" name="Shape 31"/>
          <p:cNvSpPr/>
          <p:nvPr/>
        </p:nvSpPr>
        <p:spPr>
          <a:xfrm>
            <a:off x="10549890" y="2880360"/>
            <a:ext cx="1236726" cy="384048"/>
          </a:xfrm>
          <a:prstGeom prst="rect">
            <a:avLst/>
          </a:prstGeom>
          <a:solidFill>
            <a:srgbClr val="C7DBFF"/>
          </a:solidFill>
          <a:ln/>
        </p:spPr>
      </p:sp>
      <p:sp>
        <p:nvSpPr>
          <p:cNvPr id="34" name="Text 32"/>
          <p:cNvSpPr/>
          <p:nvPr/>
        </p:nvSpPr>
        <p:spPr>
          <a:xfrm>
            <a:off x="10549890" y="288036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Urus</a:t>
            </a:r>
            <a:endParaRPr lang="en-US" sz="950" dirty="0"/>
          </a:p>
        </p:txBody>
      </p:sp>
      <p:sp>
        <p:nvSpPr>
          <p:cNvPr id="35" name="Shape 33"/>
          <p:cNvSpPr/>
          <p:nvPr/>
        </p:nvSpPr>
        <p:spPr>
          <a:xfrm>
            <a:off x="6812280" y="3355848"/>
            <a:ext cx="0" cy="164592"/>
          </a:xfrm>
          <a:prstGeom prst="line">
            <a:avLst/>
          </a:prstGeom>
          <a:noFill/>
          <a:ln w="19050">
            <a:solidFill>
              <a:srgbClr val="FB7185"/>
            </a:solidFill>
            <a:prstDash val="solid"/>
            <a:tailEnd type="triangle"/>
          </a:ln>
        </p:spPr>
      </p:sp>
      <p:sp>
        <p:nvSpPr>
          <p:cNvPr id="36" name="Shape 34"/>
          <p:cNvSpPr/>
          <p:nvPr/>
        </p:nvSpPr>
        <p:spPr>
          <a:xfrm>
            <a:off x="6675120" y="3566160"/>
            <a:ext cx="1236726" cy="384048"/>
          </a:xfrm>
          <a:prstGeom prst="rect">
            <a:avLst/>
          </a:prstGeom>
          <a:solidFill>
            <a:srgbClr val="2563EB"/>
          </a:solidFill>
          <a:ln/>
        </p:spPr>
      </p:sp>
      <p:sp>
        <p:nvSpPr>
          <p:cNvPr id="37" name="Text 35"/>
          <p:cNvSpPr/>
          <p:nvPr/>
        </p:nvSpPr>
        <p:spPr>
          <a:xfrm>
            <a:off x="6675120" y="356616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swift</a:t>
            </a:r>
            <a:endParaRPr lang="en-US" sz="950" dirty="0"/>
          </a:p>
        </p:txBody>
      </p:sp>
      <p:sp>
        <p:nvSpPr>
          <p:cNvPr id="38" name="Shape 36"/>
          <p:cNvSpPr/>
          <p:nvPr/>
        </p:nvSpPr>
        <p:spPr>
          <a:xfrm>
            <a:off x="7966710" y="3566160"/>
            <a:ext cx="1236726" cy="384048"/>
          </a:xfrm>
          <a:prstGeom prst="rect">
            <a:avLst/>
          </a:prstGeom>
          <a:solidFill>
            <a:srgbClr val="2563EB"/>
          </a:solidFill>
          <a:ln/>
        </p:spPr>
      </p:sp>
      <p:sp>
        <p:nvSpPr>
          <p:cNvPr id="39" name="Text 37"/>
          <p:cNvSpPr/>
          <p:nvPr/>
        </p:nvSpPr>
        <p:spPr>
          <a:xfrm>
            <a:off x="7966710" y="356616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BMW</a:t>
            </a:r>
            <a:endParaRPr lang="en-US" sz="950" dirty="0"/>
          </a:p>
        </p:txBody>
      </p:sp>
      <p:sp>
        <p:nvSpPr>
          <p:cNvPr id="40" name="Shape 38"/>
          <p:cNvSpPr/>
          <p:nvPr/>
        </p:nvSpPr>
        <p:spPr>
          <a:xfrm>
            <a:off x="9258300" y="3566160"/>
            <a:ext cx="1236726" cy="384048"/>
          </a:xfrm>
          <a:prstGeom prst="rect">
            <a:avLst/>
          </a:prstGeom>
          <a:solidFill>
            <a:srgbClr val="2563EB"/>
          </a:solidFill>
          <a:ln/>
        </p:spPr>
      </p:sp>
      <p:sp>
        <p:nvSpPr>
          <p:cNvPr id="41" name="Text 39"/>
          <p:cNvSpPr/>
          <p:nvPr/>
        </p:nvSpPr>
        <p:spPr>
          <a:xfrm>
            <a:off x="9258300" y="356616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Audi</a:t>
            </a:r>
            <a:endParaRPr lang="en-US" sz="950" dirty="0"/>
          </a:p>
        </p:txBody>
      </p:sp>
      <p:sp>
        <p:nvSpPr>
          <p:cNvPr id="42" name="Shape 40"/>
          <p:cNvSpPr/>
          <p:nvPr/>
        </p:nvSpPr>
        <p:spPr>
          <a:xfrm>
            <a:off x="548640" y="4297680"/>
            <a:ext cx="5623560" cy="1783080"/>
          </a:xfrm>
          <a:prstGeom prst="roundRect">
            <a:avLst>
              <a:gd name="adj" fmla="val 615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43" name="Text 41"/>
          <p:cNvSpPr/>
          <p:nvPr/>
        </p:nvSpPr>
        <p:spPr>
          <a:xfrm>
            <a:off x="777240" y="4407408"/>
            <a:ext cx="2926080" cy="310896"/>
          </a:xfrm>
          <a:prstGeom prst="rect">
            <a:avLst/>
          </a:prstGeom>
          <a:noFill/>
          <a:ln/>
        </p:spPr>
        <p:txBody>
          <a:bodyPr wrap="square" lIns="0" tIns="0" rIns="0" bIns="0" rtlCol="0" anchor="ctr"/>
          <a:lstStyle/>
          <a:p>
            <a:pPr algn="l" indent="0" marL="0">
              <a:buNone/>
            </a:pPr>
            <a:r>
              <a:rPr lang="en-US" sz="1250" b="1" dirty="0">
                <a:solidFill>
                  <a:srgbClr val="22C55E"/>
                </a:solidFill>
                <a:latin typeface="Courier New" pitchFamily="34" charset="0"/>
                <a:ea typeface="Courier New" pitchFamily="34" charset="-122"/>
                <a:cs typeface="Courier New" pitchFamily="34" charset="-120"/>
              </a:rPr>
              <a:t>unshift('Urus')</a:t>
            </a:r>
            <a:endParaRPr lang="en-US" sz="1250" dirty="0"/>
          </a:p>
        </p:txBody>
      </p:sp>
      <p:sp>
        <p:nvSpPr>
          <p:cNvPr id="44" name="Text 42"/>
          <p:cNvSpPr/>
          <p:nvPr/>
        </p:nvSpPr>
        <p:spPr>
          <a:xfrm>
            <a:off x="3657600" y="4407408"/>
            <a:ext cx="2377440" cy="310896"/>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add at the start</a:t>
            </a:r>
            <a:endParaRPr lang="en-US" sz="1150" dirty="0"/>
          </a:p>
        </p:txBody>
      </p:sp>
      <p:sp>
        <p:nvSpPr>
          <p:cNvPr id="45" name="Shape 43"/>
          <p:cNvSpPr/>
          <p:nvPr/>
        </p:nvSpPr>
        <p:spPr>
          <a:xfrm>
            <a:off x="777240" y="4846320"/>
            <a:ext cx="1236726" cy="384048"/>
          </a:xfrm>
          <a:prstGeom prst="rect">
            <a:avLst/>
          </a:prstGeom>
          <a:solidFill>
            <a:srgbClr val="C7DBFF"/>
          </a:solidFill>
          <a:ln/>
        </p:spPr>
      </p:sp>
      <p:sp>
        <p:nvSpPr>
          <p:cNvPr id="46" name="Text 44"/>
          <p:cNvSpPr/>
          <p:nvPr/>
        </p:nvSpPr>
        <p:spPr>
          <a:xfrm>
            <a:off x="777240" y="484632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swift</a:t>
            </a:r>
            <a:endParaRPr lang="en-US" sz="950" dirty="0"/>
          </a:p>
        </p:txBody>
      </p:sp>
      <p:sp>
        <p:nvSpPr>
          <p:cNvPr id="47" name="Shape 45"/>
          <p:cNvSpPr/>
          <p:nvPr/>
        </p:nvSpPr>
        <p:spPr>
          <a:xfrm>
            <a:off x="2068830" y="4846320"/>
            <a:ext cx="1236726" cy="384048"/>
          </a:xfrm>
          <a:prstGeom prst="rect">
            <a:avLst/>
          </a:prstGeom>
          <a:solidFill>
            <a:srgbClr val="C7DBFF"/>
          </a:solidFill>
          <a:ln/>
        </p:spPr>
      </p:sp>
      <p:sp>
        <p:nvSpPr>
          <p:cNvPr id="48" name="Text 46"/>
          <p:cNvSpPr/>
          <p:nvPr/>
        </p:nvSpPr>
        <p:spPr>
          <a:xfrm>
            <a:off x="2068830" y="484632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BMW</a:t>
            </a:r>
            <a:endParaRPr lang="en-US" sz="950" dirty="0"/>
          </a:p>
        </p:txBody>
      </p:sp>
      <p:sp>
        <p:nvSpPr>
          <p:cNvPr id="49" name="Shape 47"/>
          <p:cNvSpPr/>
          <p:nvPr/>
        </p:nvSpPr>
        <p:spPr>
          <a:xfrm>
            <a:off x="3360420" y="4846320"/>
            <a:ext cx="1236726" cy="384048"/>
          </a:xfrm>
          <a:prstGeom prst="rect">
            <a:avLst/>
          </a:prstGeom>
          <a:solidFill>
            <a:srgbClr val="C7DBFF"/>
          </a:solidFill>
          <a:ln/>
        </p:spPr>
      </p:sp>
      <p:sp>
        <p:nvSpPr>
          <p:cNvPr id="50" name="Text 48"/>
          <p:cNvSpPr/>
          <p:nvPr/>
        </p:nvSpPr>
        <p:spPr>
          <a:xfrm>
            <a:off x="3360420" y="484632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Audi</a:t>
            </a:r>
            <a:endParaRPr lang="en-US" sz="950" dirty="0"/>
          </a:p>
        </p:txBody>
      </p:sp>
      <p:sp>
        <p:nvSpPr>
          <p:cNvPr id="51" name="Shape 49"/>
          <p:cNvSpPr/>
          <p:nvPr/>
        </p:nvSpPr>
        <p:spPr>
          <a:xfrm>
            <a:off x="914400" y="5321808"/>
            <a:ext cx="0" cy="164592"/>
          </a:xfrm>
          <a:prstGeom prst="line">
            <a:avLst/>
          </a:prstGeom>
          <a:noFill/>
          <a:ln w="19050">
            <a:solidFill>
              <a:srgbClr val="22C55E"/>
            </a:solidFill>
            <a:prstDash val="solid"/>
            <a:tailEnd type="triangle"/>
          </a:ln>
        </p:spPr>
      </p:sp>
      <p:sp>
        <p:nvSpPr>
          <p:cNvPr id="52" name="Shape 50"/>
          <p:cNvSpPr/>
          <p:nvPr/>
        </p:nvSpPr>
        <p:spPr>
          <a:xfrm>
            <a:off x="777240" y="5532120"/>
            <a:ext cx="1236726" cy="384048"/>
          </a:xfrm>
          <a:prstGeom prst="rect">
            <a:avLst/>
          </a:prstGeom>
          <a:solidFill>
            <a:srgbClr val="22C55E"/>
          </a:solidFill>
          <a:ln/>
        </p:spPr>
      </p:sp>
      <p:sp>
        <p:nvSpPr>
          <p:cNvPr id="53" name="Text 51"/>
          <p:cNvSpPr/>
          <p:nvPr/>
        </p:nvSpPr>
        <p:spPr>
          <a:xfrm>
            <a:off x="777240" y="5532120"/>
            <a:ext cx="1236726"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Urus</a:t>
            </a:r>
            <a:endParaRPr lang="en-US" sz="950" dirty="0"/>
          </a:p>
        </p:txBody>
      </p:sp>
      <p:sp>
        <p:nvSpPr>
          <p:cNvPr id="54" name="Shape 52"/>
          <p:cNvSpPr/>
          <p:nvPr/>
        </p:nvSpPr>
        <p:spPr>
          <a:xfrm>
            <a:off x="2068830" y="5532120"/>
            <a:ext cx="1236726" cy="384048"/>
          </a:xfrm>
          <a:prstGeom prst="rect">
            <a:avLst/>
          </a:prstGeom>
          <a:solidFill>
            <a:srgbClr val="2563EB"/>
          </a:solidFill>
          <a:ln/>
        </p:spPr>
      </p:sp>
      <p:sp>
        <p:nvSpPr>
          <p:cNvPr id="55" name="Text 53"/>
          <p:cNvSpPr/>
          <p:nvPr/>
        </p:nvSpPr>
        <p:spPr>
          <a:xfrm>
            <a:off x="2068830" y="553212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swift</a:t>
            </a:r>
            <a:endParaRPr lang="en-US" sz="950" dirty="0"/>
          </a:p>
        </p:txBody>
      </p:sp>
      <p:sp>
        <p:nvSpPr>
          <p:cNvPr id="56" name="Shape 54"/>
          <p:cNvSpPr/>
          <p:nvPr/>
        </p:nvSpPr>
        <p:spPr>
          <a:xfrm>
            <a:off x="3360420" y="5532120"/>
            <a:ext cx="1236726" cy="384048"/>
          </a:xfrm>
          <a:prstGeom prst="rect">
            <a:avLst/>
          </a:prstGeom>
          <a:solidFill>
            <a:srgbClr val="2563EB"/>
          </a:solidFill>
          <a:ln/>
        </p:spPr>
      </p:sp>
      <p:sp>
        <p:nvSpPr>
          <p:cNvPr id="57" name="Text 55"/>
          <p:cNvSpPr/>
          <p:nvPr/>
        </p:nvSpPr>
        <p:spPr>
          <a:xfrm>
            <a:off x="3360420" y="553212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BMW</a:t>
            </a:r>
            <a:endParaRPr lang="en-US" sz="950" dirty="0"/>
          </a:p>
        </p:txBody>
      </p:sp>
      <p:sp>
        <p:nvSpPr>
          <p:cNvPr id="58" name="Shape 56"/>
          <p:cNvSpPr/>
          <p:nvPr/>
        </p:nvSpPr>
        <p:spPr>
          <a:xfrm>
            <a:off x="4652010" y="5532120"/>
            <a:ext cx="1236726" cy="384048"/>
          </a:xfrm>
          <a:prstGeom prst="rect">
            <a:avLst/>
          </a:prstGeom>
          <a:solidFill>
            <a:srgbClr val="2563EB"/>
          </a:solidFill>
          <a:ln/>
        </p:spPr>
      </p:sp>
      <p:sp>
        <p:nvSpPr>
          <p:cNvPr id="59" name="Text 57"/>
          <p:cNvSpPr/>
          <p:nvPr/>
        </p:nvSpPr>
        <p:spPr>
          <a:xfrm>
            <a:off x="4652010" y="553212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Audi</a:t>
            </a:r>
            <a:endParaRPr lang="en-US" sz="950" dirty="0"/>
          </a:p>
        </p:txBody>
      </p:sp>
      <p:sp>
        <p:nvSpPr>
          <p:cNvPr id="60" name="Shape 58"/>
          <p:cNvSpPr/>
          <p:nvPr/>
        </p:nvSpPr>
        <p:spPr>
          <a:xfrm>
            <a:off x="6446520" y="4297680"/>
            <a:ext cx="5623560" cy="1783080"/>
          </a:xfrm>
          <a:prstGeom prst="roundRect">
            <a:avLst>
              <a:gd name="adj" fmla="val 615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1" name="Text 59"/>
          <p:cNvSpPr/>
          <p:nvPr/>
        </p:nvSpPr>
        <p:spPr>
          <a:xfrm>
            <a:off x="6675120" y="4407408"/>
            <a:ext cx="2926080" cy="310896"/>
          </a:xfrm>
          <a:prstGeom prst="rect">
            <a:avLst/>
          </a:prstGeom>
          <a:noFill/>
          <a:ln/>
        </p:spPr>
        <p:txBody>
          <a:bodyPr wrap="square" lIns="0" tIns="0" rIns="0" bIns="0" rtlCol="0" anchor="ctr"/>
          <a:lstStyle/>
          <a:p>
            <a:pPr algn="l" indent="0" marL="0">
              <a:buNone/>
            </a:pPr>
            <a:r>
              <a:rPr lang="en-US" sz="1250" b="1" dirty="0">
                <a:solidFill>
                  <a:srgbClr val="FB7185"/>
                </a:solidFill>
                <a:latin typeface="Courier New" pitchFamily="34" charset="0"/>
                <a:ea typeface="Courier New" pitchFamily="34" charset="-122"/>
                <a:cs typeface="Courier New" pitchFamily="34" charset="-120"/>
              </a:rPr>
              <a:t>shift()</a:t>
            </a:r>
            <a:endParaRPr lang="en-US" sz="1250" dirty="0"/>
          </a:p>
        </p:txBody>
      </p:sp>
      <p:sp>
        <p:nvSpPr>
          <p:cNvPr id="62" name="Text 60"/>
          <p:cNvSpPr/>
          <p:nvPr/>
        </p:nvSpPr>
        <p:spPr>
          <a:xfrm>
            <a:off x="9555480" y="4407408"/>
            <a:ext cx="2377440" cy="310896"/>
          </a:xfrm>
          <a:prstGeom prst="rect">
            <a:avLst/>
          </a:prstGeom>
          <a:noFill/>
          <a:ln/>
        </p:spPr>
        <p:txBody>
          <a:bodyPr wrap="square" lIns="0" tIns="0" rIns="0" bIns="0"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remove from the start</a:t>
            </a:r>
            <a:endParaRPr lang="en-US" sz="1150" dirty="0"/>
          </a:p>
        </p:txBody>
      </p:sp>
      <p:sp>
        <p:nvSpPr>
          <p:cNvPr id="63" name="Shape 61"/>
          <p:cNvSpPr/>
          <p:nvPr/>
        </p:nvSpPr>
        <p:spPr>
          <a:xfrm>
            <a:off x="6675120" y="4846320"/>
            <a:ext cx="1236726" cy="384048"/>
          </a:xfrm>
          <a:prstGeom prst="rect">
            <a:avLst/>
          </a:prstGeom>
          <a:solidFill>
            <a:srgbClr val="C7DBFF"/>
          </a:solidFill>
          <a:ln/>
        </p:spPr>
      </p:sp>
      <p:sp>
        <p:nvSpPr>
          <p:cNvPr id="64" name="Text 62"/>
          <p:cNvSpPr/>
          <p:nvPr/>
        </p:nvSpPr>
        <p:spPr>
          <a:xfrm>
            <a:off x="6675120" y="484632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swift</a:t>
            </a:r>
            <a:endParaRPr lang="en-US" sz="950" dirty="0"/>
          </a:p>
        </p:txBody>
      </p:sp>
      <p:sp>
        <p:nvSpPr>
          <p:cNvPr id="65" name="Shape 63"/>
          <p:cNvSpPr/>
          <p:nvPr/>
        </p:nvSpPr>
        <p:spPr>
          <a:xfrm>
            <a:off x="7966710" y="4846320"/>
            <a:ext cx="1236726" cy="384048"/>
          </a:xfrm>
          <a:prstGeom prst="rect">
            <a:avLst/>
          </a:prstGeom>
          <a:solidFill>
            <a:srgbClr val="C7DBFF"/>
          </a:solidFill>
          <a:ln/>
        </p:spPr>
      </p:sp>
      <p:sp>
        <p:nvSpPr>
          <p:cNvPr id="66" name="Text 64"/>
          <p:cNvSpPr/>
          <p:nvPr/>
        </p:nvSpPr>
        <p:spPr>
          <a:xfrm>
            <a:off x="7966710" y="484632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BMW</a:t>
            </a:r>
            <a:endParaRPr lang="en-US" sz="950" dirty="0"/>
          </a:p>
        </p:txBody>
      </p:sp>
      <p:sp>
        <p:nvSpPr>
          <p:cNvPr id="67" name="Shape 65"/>
          <p:cNvSpPr/>
          <p:nvPr/>
        </p:nvSpPr>
        <p:spPr>
          <a:xfrm>
            <a:off x="9258300" y="4846320"/>
            <a:ext cx="1236726" cy="384048"/>
          </a:xfrm>
          <a:prstGeom prst="rect">
            <a:avLst/>
          </a:prstGeom>
          <a:solidFill>
            <a:srgbClr val="C7DBFF"/>
          </a:solidFill>
          <a:ln/>
        </p:spPr>
      </p:sp>
      <p:sp>
        <p:nvSpPr>
          <p:cNvPr id="68" name="Text 66"/>
          <p:cNvSpPr/>
          <p:nvPr/>
        </p:nvSpPr>
        <p:spPr>
          <a:xfrm>
            <a:off x="9258300" y="484632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Audi</a:t>
            </a:r>
            <a:endParaRPr lang="en-US" sz="950" dirty="0"/>
          </a:p>
        </p:txBody>
      </p:sp>
      <p:sp>
        <p:nvSpPr>
          <p:cNvPr id="69" name="Shape 67"/>
          <p:cNvSpPr/>
          <p:nvPr/>
        </p:nvSpPr>
        <p:spPr>
          <a:xfrm>
            <a:off x="10549890" y="4846320"/>
            <a:ext cx="1236726" cy="384048"/>
          </a:xfrm>
          <a:prstGeom prst="rect">
            <a:avLst/>
          </a:prstGeom>
          <a:solidFill>
            <a:srgbClr val="C7DBFF"/>
          </a:solidFill>
          <a:ln/>
        </p:spPr>
      </p:sp>
      <p:sp>
        <p:nvSpPr>
          <p:cNvPr id="70" name="Text 68"/>
          <p:cNvSpPr/>
          <p:nvPr/>
        </p:nvSpPr>
        <p:spPr>
          <a:xfrm>
            <a:off x="10549890" y="4846320"/>
            <a:ext cx="1236726" cy="384048"/>
          </a:xfrm>
          <a:prstGeom prst="rect">
            <a:avLst/>
          </a:prstGeom>
          <a:noFill/>
          <a:ln/>
        </p:spPr>
        <p:txBody>
          <a:bodyPr wrap="square" lIns="0" tIns="0" rIns="0" bIns="0" rtlCol="0" anchor="ctr"/>
          <a:lstStyle/>
          <a:p>
            <a:pPr algn="ctr" indent="0" marL="0">
              <a:buNone/>
            </a:pPr>
            <a:r>
              <a:rPr lang="en-US" sz="950" dirty="0">
                <a:solidFill>
                  <a:srgbClr val="0F172A"/>
                </a:solidFill>
                <a:latin typeface="Courier New" pitchFamily="34" charset="0"/>
                <a:ea typeface="Courier New" pitchFamily="34" charset="-122"/>
                <a:cs typeface="Courier New" pitchFamily="34" charset="-120"/>
              </a:rPr>
              <a:t>Urus</a:t>
            </a:r>
            <a:endParaRPr lang="en-US" sz="950" dirty="0"/>
          </a:p>
        </p:txBody>
      </p:sp>
      <p:sp>
        <p:nvSpPr>
          <p:cNvPr id="71" name="Shape 69"/>
          <p:cNvSpPr/>
          <p:nvPr/>
        </p:nvSpPr>
        <p:spPr>
          <a:xfrm>
            <a:off x="6812280" y="5321808"/>
            <a:ext cx="0" cy="164592"/>
          </a:xfrm>
          <a:prstGeom prst="line">
            <a:avLst/>
          </a:prstGeom>
          <a:noFill/>
          <a:ln w="19050">
            <a:solidFill>
              <a:srgbClr val="FB7185"/>
            </a:solidFill>
            <a:prstDash val="solid"/>
            <a:tailEnd type="triangle"/>
          </a:ln>
        </p:spPr>
      </p:sp>
      <p:sp>
        <p:nvSpPr>
          <p:cNvPr id="72" name="Shape 70"/>
          <p:cNvSpPr/>
          <p:nvPr/>
        </p:nvSpPr>
        <p:spPr>
          <a:xfrm>
            <a:off x="6675120" y="5532120"/>
            <a:ext cx="1236726" cy="384048"/>
          </a:xfrm>
          <a:prstGeom prst="rect">
            <a:avLst/>
          </a:prstGeom>
          <a:solidFill>
            <a:srgbClr val="2563EB"/>
          </a:solidFill>
          <a:ln/>
        </p:spPr>
      </p:sp>
      <p:sp>
        <p:nvSpPr>
          <p:cNvPr id="73" name="Text 71"/>
          <p:cNvSpPr/>
          <p:nvPr/>
        </p:nvSpPr>
        <p:spPr>
          <a:xfrm>
            <a:off x="6675120" y="553212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BMW</a:t>
            </a:r>
            <a:endParaRPr lang="en-US" sz="950" dirty="0"/>
          </a:p>
        </p:txBody>
      </p:sp>
      <p:sp>
        <p:nvSpPr>
          <p:cNvPr id="74" name="Shape 72"/>
          <p:cNvSpPr/>
          <p:nvPr/>
        </p:nvSpPr>
        <p:spPr>
          <a:xfrm>
            <a:off x="7966710" y="5532120"/>
            <a:ext cx="1236726" cy="384048"/>
          </a:xfrm>
          <a:prstGeom prst="rect">
            <a:avLst/>
          </a:prstGeom>
          <a:solidFill>
            <a:srgbClr val="2563EB"/>
          </a:solidFill>
          <a:ln/>
        </p:spPr>
      </p:sp>
      <p:sp>
        <p:nvSpPr>
          <p:cNvPr id="75" name="Text 73"/>
          <p:cNvSpPr/>
          <p:nvPr/>
        </p:nvSpPr>
        <p:spPr>
          <a:xfrm>
            <a:off x="7966710" y="553212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Audi</a:t>
            </a:r>
            <a:endParaRPr lang="en-US" sz="950" dirty="0"/>
          </a:p>
        </p:txBody>
      </p:sp>
      <p:sp>
        <p:nvSpPr>
          <p:cNvPr id="76" name="Shape 74"/>
          <p:cNvSpPr/>
          <p:nvPr/>
        </p:nvSpPr>
        <p:spPr>
          <a:xfrm>
            <a:off x="9258300" y="5532120"/>
            <a:ext cx="1236726" cy="384048"/>
          </a:xfrm>
          <a:prstGeom prst="rect">
            <a:avLst/>
          </a:prstGeom>
          <a:solidFill>
            <a:srgbClr val="2563EB"/>
          </a:solidFill>
          <a:ln/>
        </p:spPr>
      </p:sp>
      <p:sp>
        <p:nvSpPr>
          <p:cNvPr id="77" name="Text 75"/>
          <p:cNvSpPr/>
          <p:nvPr/>
        </p:nvSpPr>
        <p:spPr>
          <a:xfrm>
            <a:off x="9258300" y="5532120"/>
            <a:ext cx="1236726" cy="384048"/>
          </a:xfrm>
          <a:prstGeom prst="rect">
            <a:avLst/>
          </a:prstGeom>
          <a:noFill/>
          <a:ln/>
        </p:spPr>
        <p:txBody>
          <a:bodyPr wrap="square" lIns="0" tIns="0" rIns="0" bIns="0" rtlCol="0" anchor="ctr"/>
          <a:lstStyle/>
          <a:p>
            <a:pPr algn="ctr" indent="0" marL="0">
              <a:buNone/>
            </a:pPr>
            <a:r>
              <a:rPr lang="en-US" sz="950" dirty="0">
                <a:solidFill>
                  <a:srgbClr val="FFFFFF"/>
                </a:solidFill>
                <a:latin typeface="Courier New" pitchFamily="34" charset="0"/>
                <a:ea typeface="Courier New" pitchFamily="34" charset="-122"/>
                <a:cs typeface="Courier New" pitchFamily="34" charset="-120"/>
              </a:rPr>
              <a:t>Urus</a:t>
            </a:r>
            <a:endParaRPr lang="en-US" sz="950" dirty="0"/>
          </a:p>
        </p:txBody>
      </p:sp>
      <p:sp>
        <p:nvSpPr>
          <p:cNvPr id="78" name="Shape 76"/>
          <p:cNvSpPr/>
          <p:nvPr/>
        </p:nvSpPr>
        <p:spPr>
          <a:xfrm>
            <a:off x="548640" y="6144768"/>
            <a:ext cx="10607040" cy="502920"/>
          </a:xfrm>
          <a:prstGeom prst="roundRect">
            <a:avLst>
              <a:gd name="adj" fmla="val 21818"/>
            </a:avLst>
          </a:prstGeom>
          <a:solidFill>
            <a:srgbClr val="E7FBEF"/>
          </a:solidFill>
          <a:ln/>
        </p:spPr>
      </p:sp>
      <p:sp>
        <p:nvSpPr>
          <p:cNvPr id="79" name="Shape 77"/>
          <p:cNvSpPr/>
          <p:nvPr/>
        </p:nvSpPr>
        <p:spPr>
          <a:xfrm>
            <a:off x="749808" y="6268212"/>
            <a:ext cx="256032" cy="256032"/>
          </a:xfrm>
          <a:prstGeom prst="ellipse">
            <a:avLst/>
          </a:prstGeom>
          <a:solidFill>
            <a:srgbClr val="22C55E"/>
          </a:solidFill>
          <a:ln/>
        </p:spPr>
      </p:sp>
      <p:sp>
        <p:nvSpPr>
          <p:cNvPr id="80" name="Text 78"/>
          <p:cNvSpPr/>
          <p:nvPr/>
        </p:nvSpPr>
        <p:spPr>
          <a:xfrm>
            <a:off x="1207008" y="6144768"/>
            <a:ext cx="9738360" cy="50292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pop and shift also hand back what they removed, so you can store it in a variable.</a:t>
            </a:r>
            <a:endParaRPr lang="en-US" sz="1400" dirty="0"/>
          </a:p>
        </p:txBody>
      </p:sp>
      <p:sp>
        <p:nvSpPr>
          <p:cNvPr id="81" name="Text 79"/>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548640" y="457200"/>
            <a:ext cx="3291840" cy="310896"/>
          </a:xfrm>
          <a:prstGeom prst="roundRect">
            <a:avLst>
              <a:gd name="adj" fmla="val 50000"/>
            </a:avLst>
          </a:prstGeom>
          <a:solidFill>
            <a:srgbClr val="FB7185"/>
          </a:solidFill>
          <a:ln/>
        </p:spPr>
      </p:sp>
      <p:sp>
        <p:nvSpPr>
          <p:cNvPr id="3" name="Text 1"/>
          <p:cNvSpPr/>
          <p:nvPr/>
        </p:nvSpPr>
        <p:spPr>
          <a:xfrm>
            <a:off x="548640" y="457200"/>
            <a:ext cx="32918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LIVE CODE  -  SWITCH TO VS CODE</a:t>
            </a:r>
            <a:endParaRPr lang="en-US" sz="1100" dirty="0"/>
          </a:p>
        </p:txBody>
      </p:sp>
      <p:sp>
        <p:nvSpPr>
          <p:cNvPr id="4" name="Text 2"/>
          <p:cNvSpPr/>
          <p:nvPr/>
        </p:nvSpPr>
        <p:spPr>
          <a:xfrm>
            <a:off x="548640" y="896112"/>
            <a:ext cx="1097280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Play with an array live</a:t>
            </a:r>
            <a:endParaRPr lang="en-US" sz="3000" dirty="0"/>
          </a:p>
        </p:txBody>
      </p:sp>
      <p:sp>
        <p:nvSpPr>
          <p:cNvPr id="5" name="Shape 3"/>
          <p:cNvSpPr/>
          <p:nvPr/>
        </p:nvSpPr>
        <p:spPr>
          <a:xfrm>
            <a:off x="548640" y="1691640"/>
            <a:ext cx="6766560" cy="4480560"/>
          </a:xfrm>
          <a:prstGeom prst="roundRect">
            <a:avLst>
              <a:gd name="adj" fmla="val 2449"/>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1911096"/>
            <a:ext cx="128016" cy="128016"/>
          </a:xfrm>
          <a:prstGeom prst="ellipse">
            <a:avLst/>
          </a:prstGeom>
          <a:solidFill>
            <a:srgbClr val="FF5F56"/>
          </a:solidFill>
          <a:ln/>
        </p:spPr>
      </p:sp>
      <p:sp>
        <p:nvSpPr>
          <p:cNvPr id="7" name="Shape 5"/>
          <p:cNvSpPr/>
          <p:nvPr/>
        </p:nvSpPr>
        <p:spPr>
          <a:xfrm>
            <a:off x="1042416" y="1911096"/>
            <a:ext cx="128016" cy="128016"/>
          </a:xfrm>
          <a:prstGeom prst="ellipse">
            <a:avLst/>
          </a:prstGeom>
          <a:solidFill>
            <a:srgbClr val="FFBD2E"/>
          </a:solidFill>
          <a:ln/>
        </p:spPr>
      </p:sp>
      <p:sp>
        <p:nvSpPr>
          <p:cNvPr id="8" name="Shape 6"/>
          <p:cNvSpPr/>
          <p:nvPr/>
        </p:nvSpPr>
        <p:spPr>
          <a:xfrm>
            <a:off x="1280160" y="1911096"/>
            <a:ext cx="128016" cy="128016"/>
          </a:xfrm>
          <a:prstGeom prst="ellipse">
            <a:avLst/>
          </a:prstGeom>
          <a:solidFill>
            <a:srgbClr val="27C93F"/>
          </a:solidFill>
          <a:ln/>
        </p:spPr>
      </p:sp>
      <p:sp>
        <p:nvSpPr>
          <p:cNvPr id="9" name="Text 7"/>
          <p:cNvSpPr/>
          <p:nvPr/>
        </p:nvSpPr>
        <p:spPr>
          <a:xfrm>
            <a:off x="1645920" y="1801368"/>
            <a:ext cx="54864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script.js</a:t>
            </a:r>
            <a:endParaRPr lang="en-US" sz="1100" dirty="0"/>
          </a:p>
        </p:txBody>
      </p:sp>
      <p:sp>
        <p:nvSpPr>
          <p:cNvPr id="10" name="Text 8"/>
          <p:cNvSpPr/>
          <p:nvPr/>
        </p:nvSpPr>
        <p:spPr>
          <a:xfrm>
            <a:off x="804672" y="2221992"/>
            <a:ext cx="6254496" cy="3767328"/>
          </a:xfrm>
          <a:prstGeom prst="rect">
            <a:avLst/>
          </a:prstGeom>
          <a:noFill/>
          <a:ln/>
        </p:spPr>
        <p:txBody>
          <a:bodyPr wrap="square" lIns="0" tIns="0" rIns="0" bIns="0" rtlCol="0" anchor="t"/>
          <a:lstStyle/>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cars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'swift'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'BMW'</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'Audi'</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cars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push</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'Urus'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cars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removed</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cars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pop</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removed</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'Urus'</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cars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unshift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'Nano'</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cars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1</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'Thar'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cars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length</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7498080" y="1691640"/>
            <a:ext cx="4160520" cy="4480560"/>
          </a:xfrm>
          <a:prstGeom prst="roundRect">
            <a:avLst>
              <a:gd name="adj" fmla="val 2637"/>
            </a:avLst>
          </a:prstGeom>
          <a:solidFill>
            <a:srgbClr val="1B2A4A"/>
          </a:solidFill>
          <a:ln/>
        </p:spPr>
      </p:sp>
      <p:sp>
        <p:nvSpPr>
          <p:cNvPr id="12" name="Text 10"/>
          <p:cNvSpPr/>
          <p:nvPr/>
        </p:nvSpPr>
        <p:spPr>
          <a:xfrm>
            <a:off x="7726680" y="1874520"/>
            <a:ext cx="3749040" cy="320040"/>
          </a:xfrm>
          <a:prstGeom prst="rect">
            <a:avLst/>
          </a:prstGeom>
          <a:noFill/>
          <a:ln/>
        </p:spPr>
        <p:txBody>
          <a:bodyPr wrap="square" lIns="0" tIns="0" rIns="0" bIns="0" rtlCol="0" anchor="ctr"/>
          <a:lstStyle/>
          <a:p>
            <a:pPr algn="l" indent="0" marL="0">
              <a:buNone/>
            </a:pPr>
            <a:r>
              <a:rPr lang="en-US" sz="1200" b="1" spc="150" kern="0" dirty="0">
                <a:solidFill>
                  <a:srgbClr val="F59E0B"/>
                </a:solidFill>
                <a:latin typeface="Calibri" pitchFamily="34" charset="0"/>
                <a:ea typeface="Calibri" pitchFamily="34" charset="-122"/>
                <a:cs typeface="Calibri" pitchFamily="34" charset="-120"/>
              </a:rPr>
              <a:t>SAY THIS WHILE YOU TYPE</a:t>
            </a:r>
            <a:endParaRPr lang="en-US" sz="1200" dirty="0"/>
          </a:p>
        </p:txBody>
      </p:sp>
      <p:sp>
        <p:nvSpPr>
          <p:cNvPr id="13" name="Text 11"/>
          <p:cNvSpPr/>
          <p:nvPr/>
        </p:nvSpPr>
        <p:spPr>
          <a:xfrm>
            <a:off x="7726680" y="2286000"/>
            <a:ext cx="3794760" cy="3749040"/>
          </a:xfrm>
          <a:prstGeom prst="rect">
            <a:avLst/>
          </a:prstGeom>
          <a:noFill/>
          <a:ln/>
        </p:spPr>
        <p:txBody>
          <a:bodyPr wrap="square" lIns="0" tIns="0" rIns="0" bIns="0" rtlCol="0" anchor="t"/>
          <a:lstStyle/>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Start with three cars and print the array.</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push adds to the end, and the array grows.</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pop takes the last one off and hands it back to us.</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unshift puts one at the front and everything shifts along.</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Ask the room to predict the length before I print it.</a:t>
            </a:r>
            <a:endParaRPr lang="en-US" sz="1350" dirty="0"/>
          </a:p>
        </p:txBody>
      </p:sp>
      <p:sp>
        <p:nvSpPr>
          <p:cNvPr id="14" name="Text 1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Introduction to JavaScript</a:t>
            </a:r>
            <a:endParaRPr lang="en-US" sz="1000" dirty="0"/>
          </a:p>
        </p:txBody>
      </p:sp>
      <p:sp>
        <p:nvSpPr>
          <p:cNvPr id="15" name="Text 1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600200" cy="310896"/>
          </a:xfrm>
          <a:prstGeom prst="roundRect">
            <a:avLst>
              <a:gd name="adj" fmla="val 50000"/>
            </a:avLst>
          </a:prstGeom>
          <a:solidFill>
            <a:srgbClr val="2563EB"/>
          </a:solidFill>
          <a:ln/>
        </p:spPr>
      </p:sp>
      <p:sp>
        <p:nvSpPr>
          <p:cNvPr id="3" name="Text 1"/>
          <p:cNvSpPr/>
          <p:nvPr/>
        </p:nvSpPr>
        <p:spPr>
          <a:xfrm>
            <a:off x="548640" y="457200"/>
            <a:ext cx="16002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REFERENCE TYPE</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Objects: key and value pairs</a:t>
            </a:r>
            <a:endParaRPr lang="en-US" sz="3400" dirty="0"/>
          </a:p>
        </p:txBody>
      </p:sp>
      <p:sp>
        <p:nvSpPr>
          <p:cNvPr id="5" name="Shape 3"/>
          <p:cNvSpPr/>
          <p:nvPr/>
        </p:nvSpPr>
        <p:spPr>
          <a:xfrm>
            <a:off x="548640" y="1965960"/>
            <a:ext cx="5440680" cy="2377440"/>
          </a:xfrm>
          <a:prstGeom prst="roundRect">
            <a:avLst>
              <a:gd name="adj" fmla="val 4615"/>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2185416"/>
            <a:ext cx="128016" cy="128016"/>
          </a:xfrm>
          <a:prstGeom prst="ellipse">
            <a:avLst/>
          </a:prstGeom>
          <a:solidFill>
            <a:srgbClr val="FF5F56"/>
          </a:solidFill>
          <a:ln/>
        </p:spPr>
      </p:sp>
      <p:sp>
        <p:nvSpPr>
          <p:cNvPr id="7" name="Shape 5"/>
          <p:cNvSpPr/>
          <p:nvPr/>
        </p:nvSpPr>
        <p:spPr>
          <a:xfrm>
            <a:off x="1042416" y="2185416"/>
            <a:ext cx="128016" cy="128016"/>
          </a:xfrm>
          <a:prstGeom prst="ellipse">
            <a:avLst/>
          </a:prstGeom>
          <a:solidFill>
            <a:srgbClr val="FFBD2E"/>
          </a:solidFill>
          <a:ln/>
        </p:spPr>
      </p:sp>
      <p:sp>
        <p:nvSpPr>
          <p:cNvPr id="8" name="Shape 6"/>
          <p:cNvSpPr/>
          <p:nvPr/>
        </p:nvSpPr>
        <p:spPr>
          <a:xfrm>
            <a:off x="1280160" y="2185416"/>
            <a:ext cx="128016" cy="128016"/>
          </a:xfrm>
          <a:prstGeom prst="ellipse">
            <a:avLst/>
          </a:prstGeom>
          <a:solidFill>
            <a:srgbClr val="27C93F"/>
          </a:solidFill>
          <a:ln/>
        </p:spPr>
      </p:sp>
      <p:sp>
        <p:nvSpPr>
          <p:cNvPr id="9" name="Text 7"/>
          <p:cNvSpPr/>
          <p:nvPr/>
        </p:nvSpPr>
        <p:spPr>
          <a:xfrm>
            <a:off x="1645920" y="2075688"/>
            <a:ext cx="416052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script.js</a:t>
            </a:r>
            <a:endParaRPr lang="en-US" sz="1100" dirty="0"/>
          </a:p>
        </p:txBody>
      </p:sp>
      <p:sp>
        <p:nvSpPr>
          <p:cNvPr id="10" name="Text 8"/>
          <p:cNvSpPr/>
          <p:nvPr/>
        </p:nvSpPr>
        <p:spPr>
          <a:xfrm>
            <a:off x="804672" y="2496312"/>
            <a:ext cx="4928616" cy="1664208"/>
          </a:xfrm>
          <a:prstGeom prst="rect">
            <a:avLst/>
          </a:prstGeom>
          <a:noFill/>
          <a:ln/>
        </p:spPr>
        <p:txBody>
          <a:bodyPr wrap="square" lIns="0" tIns="0" rIns="0" bIns="0" rtlCol="0" anchor="t"/>
          <a:lstStyle/>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person</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9CC5FF"/>
                </a:solidFill>
                <a:latin typeface="Courier New" pitchFamily="34" charset="0"/>
                <a:ea typeface="Courier New" pitchFamily="34" charset="-122"/>
                <a:cs typeface="Courier New" pitchFamily="34" charset="-120"/>
              </a:rPr>
              <a:t>name</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DBA74"/>
                </a:solidFill>
                <a:latin typeface="Courier New" pitchFamily="34" charset="0"/>
                <a:ea typeface="Courier New" pitchFamily="34" charset="-122"/>
                <a:cs typeface="Courier New" pitchFamily="34" charset="-120"/>
              </a:rPr>
              <a:t>'Mrinal'</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9CC5FF"/>
                </a:solidFill>
                <a:latin typeface="Courier New" pitchFamily="34" charset="0"/>
                <a:ea typeface="Courier New" pitchFamily="34" charset="-122"/>
                <a:cs typeface="Courier New" pitchFamily="34" charset="-120"/>
              </a:rPr>
              <a:t>age</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24</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9CC5FF"/>
                </a:solidFill>
                <a:latin typeface="Courier New" pitchFamily="34" charset="0"/>
                <a:ea typeface="Courier New" pitchFamily="34" charset="-122"/>
                <a:cs typeface="Courier New" pitchFamily="34" charset="-120"/>
              </a:rPr>
              <a:t>phone</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1234567</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Shape 9"/>
          <p:cNvSpPr/>
          <p:nvPr/>
        </p:nvSpPr>
        <p:spPr>
          <a:xfrm>
            <a:off x="6217920" y="1965960"/>
            <a:ext cx="5440680" cy="2377440"/>
          </a:xfrm>
          <a:prstGeom prst="roundRect">
            <a:avLst>
              <a:gd name="adj" fmla="val 4615"/>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2" name="Shape 10"/>
          <p:cNvSpPr/>
          <p:nvPr/>
        </p:nvSpPr>
        <p:spPr>
          <a:xfrm>
            <a:off x="6492240" y="2212848"/>
            <a:ext cx="2148840" cy="548640"/>
          </a:xfrm>
          <a:prstGeom prst="rect">
            <a:avLst/>
          </a:prstGeom>
          <a:solidFill>
            <a:srgbClr val="E5EEFF"/>
          </a:solidFill>
          <a:ln/>
        </p:spPr>
      </p:sp>
      <p:sp>
        <p:nvSpPr>
          <p:cNvPr id="13" name="Text 11"/>
          <p:cNvSpPr/>
          <p:nvPr/>
        </p:nvSpPr>
        <p:spPr>
          <a:xfrm>
            <a:off x="6629400" y="2212848"/>
            <a:ext cx="1874520" cy="548640"/>
          </a:xfrm>
          <a:prstGeom prst="rect">
            <a:avLst/>
          </a:prstGeom>
          <a:noFill/>
          <a:ln/>
        </p:spPr>
        <p:txBody>
          <a:bodyPr wrap="square" lIns="0" tIns="0" rIns="0" bIns="0" rtlCol="0" anchor="ctr"/>
          <a:lstStyle/>
          <a:p>
            <a:pPr algn="l" indent="0" marL="0">
              <a:buNone/>
            </a:pPr>
            <a:r>
              <a:rPr lang="en-US" sz="1250" b="1" dirty="0">
                <a:solidFill>
                  <a:srgbClr val="2563EB"/>
                </a:solidFill>
                <a:latin typeface="Courier New" pitchFamily="34" charset="0"/>
                <a:ea typeface="Courier New" pitchFamily="34" charset="-122"/>
                <a:cs typeface="Courier New" pitchFamily="34" charset="-120"/>
              </a:rPr>
              <a:t>name</a:t>
            </a:r>
            <a:endParaRPr lang="en-US" sz="1250" dirty="0"/>
          </a:p>
        </p:txBody>
      </p:sp>
      <p:sp>
        <p:nvSpPr>
          <p:cNvPr id="14" name="Shape 12"/>
          <p:cNvSpPr/>
          <p:nvPr/>
        </p:nvSpPr>
        <p:spPr>
          <a:xfrm>
            <a:off x="8732520" y="2212848"/>
            <a:ext cx="2651760" cy="548640"/>
          </a:xfrm>
          <a:prstGeom prst="rect">
            <a:avLst/>
          </a:prstGeom>
          <a:solidFill>
            <a:srgbClr val="F1F5F9"/>
          </a:solidFill>
          <a:ln/>
        </p:spPr>
      </p:sp>
      <p:sp>
        <p:nvSpPr>
          <p:cNvPr id="15" name="Text 13"/>
          <p:cNvSpPr/>
          <p:nvPr/>
        </p:nvSpPr>
        <p:spPr>
          <a:xfrm>
            <a:off x="8869680" y="2212848"/>
            <a:ext cx="2377440" cy="548640"/>
          </a:xfrm>
          <a:prstGeom prst="rect">
            <a:avLst/>
          </a:prstGeom>
          <a:noFill/>
          <a:ln/>
        </p:spPr>
        <p:txBody>
          <a:bodyPr wrap="square" lIns="0" tIns="0" rIns="0" bIns="0" rtlCol="0" anchor="ctr"/>
          <a:lstStyle/>
          <a:p>
            <a:pPr algn="l" indent="0" marL="0">
              <a:buNone/>
            </a:pPr>
            <a:r>
              <a:rPr lang="en-US" sz="1250" dirty="0">
                <a:solidFill>
                  <a:srgbClr val="0F172A"/>
                </a:solidFill>
                <a:latin typeface="Courier New" pitchFamily="34" charset="0"/>
                <a:ea typeface="Courier New" pitchFamily="34" charset="-122"/>
                <a:cs typeface="Courier New" pitchFamily="34" charset="-120"/>
              </a:rPr>
              <a:t>'Mrinal'</a:t>
            </a:r>
            <a:endParaRPr lang="en-US" sz="1250" dirty="0"/>
          </a:p>
        </p:txBody>
      </p:sp>
      <p:sp>
        <p:nvSpPr>
          <p:cNvPr id="16" name="Shape 14"/>
          <p:cNvSpPr/>
          <p:nvPr/>
        </p:nvSpPr>
        <p:spPr>
          <a:xfrm>
            <a:off x="6492240" y="2871216"/>
            <a:ext cx="2148840" cy="548640"/>
          </a:xfrm>
          <a:prstGeom prst="rect">
            <a:avLst/>
          </a:prstGeom>
          <a:solidFill>
            <a:srgbClr val="E5EEFF"/>
          </a:solidFill>
          <a:ln/>
        </p:spPr>
      </p:sp>
      <p:sp>
        <p:nvSpPr>
          <p:cNvPr id="17" name="Text 15"/>
          <p:cNvSpPr/>
          <p:nvPr/>
        </p:nvSpPr>
        <p:spPr>
          <a:xfrm>
            <a:off x="6629400" y="2871216"/>
            <a:ext cx="1874520" cy="548640"/>
          </a:xfrm>
          <a:prstGeom prst="rect">
            <a:avLst/>
          </a:prstGeom>
          <a:noFill/>
          <a:ln/>
        </p:spPr>
        <p:txBody>
          <a:bodyPr wrap="square" lIns="0" tIns="0" rIns="0" bIns="0" rtlCol="0" anchor="ctr"/>
          <a:lstStyle/>
          <a:p>
            <a:pPr algn="l" indent="0" marL="0">
              <a:buNone/>
            </a:pPr>
            <a:r>
              <a:rPr lang="en-US" sz="1250" b="1" dirty="0">
                <a:solidFill>
                  <a:srgbClr val="2563EB"/>
                </a:solidFill>
                <a:latin typeface="Courier New" pitchFamily="34" charset="0"/>
                <a:ea typeface="Courier New" pitchFamily="34" charset="-122"/>
                <a:cs typeface="Courier New" pitchFamily="34" charset="-120"/>
              </a:rPr>
              <a:t>age</a:t>
            </a:r>
            <a:endParaRPr lang="en-US" sz="1250" dirty="0"/>
          </a:p>
        </p:txBody>
      </p:sp>
      <p:sp>
        <p:nvSpPr>
          <p:cNvPr id="18" name="Shape 16"/>
          <p:cNvSpPr/>
          <p:nvPr/>
        </p:nvSpPr>
        <p:spPr>
          <a:xfrm>
            <a:off x="8732520" y="2871216"/>
            <a:ext cx="2651760" cy="548640"/>
          </a:xfrm>
          <a:prstGeom prst="rect">
            <a:avLst/>
          </a:prstGeom>
          <a:solidFill>
            <a:srgbClr val="F1F5F9"/>
          </a:solidFill>
          <a:ln/>
        </p:spPr>
      </p:sp>
      <p:sp>
        <p:nvSpPr>
          <p:cNvPr id="19" name="Text 17"/>
          <p:cNvSpPr/>
          <p:nvPr/>
        </p:nvSpPr>
        <p:spPr>
          <a:xfrm>
            <a:off x="8869680" y="2871216"/>
            <a:ext cx="2377440" cy="548640"/>
          </a:xfrm>
          <a:prstGeom prst="rect">
            <a:avLst/>
          </a:prstGeom>
          <a:noFill/>
          <a:ln/>
        </p:spPr>
        <p:txBody>
          <a:bodyPr wrap="square" lIns="0" tIns="0" rIns="0" bIns="0" rtlCol="0" anchor="ctr"/>
          <a:lstStyle/>
          <a:p>
            <a:pPr algn="l" indent="0" marL="0">
              <a:buNone/>
            </a:pPr>
            <a:r>
              <a:rPr lang="en-US" sz="1250" dirty="0">
                <a:solidFill>
                  <a:srgbClr val="0F172A"/>
                </a:solidFill>
                <a:latin typeface="Courier New" pitchFamily="34" charset="0"/>
                <a:ea typeface="Courier New" pitchFamily="34" charset="-122"/>
                <a:cs typeface="Courier New" pitchFamily="34" charset="-120"/>
              </a:rPr>
              <a:t>24</a:t>
            </a:r>
            <a:endParaRPr lang="en-US" sz="1250" dirty="0"/>
          </a:p>
        </p:txBody>
      </p:sp>
      <p:sp>
        <p:nvSpPr>
          <p:cNvPr id="20" name="Shape 18"/>
          <p:cNvSpPr/>
          <p:nvPr/>
        </p:nvSpPr>
        <p:spPr>
          <a:xfrm>
            <a:off x="6492240" y="3529584"/>
            <a:ext cx="2148840" cy="548640"/>
          </a:xfrm>
          <a:prstGeom prst="rect">
            <a:avLst/>
          </a:prstGeom>
          <a:solidFill>
            <a:srgbClr val="E5EEFF"/>
          </a:solidFill>
          <a:ln/>
        </p:spPr>
      </p:sp>
      <p:sp>
        <p:nvSpPr>
          <p:cNvPr id="21" name="Text 19"/>
          <p:cNvSpPr/>
          <p:nvPr/>
        </p:nvSpPr>
        <p:spPr>
          <a:xfrm>
            <a:off x="6629400" y="3529584"/>
            <a:ext cx="1874520" cy="548640"/>
          </a:xfrm>
          <a:prstGeom prst="rect">
            <a:avLst/>
          </a:prstGeom>
          <a:noFill/>
          <a:ln/>
        </p:spPr>
        <p:txBody>
          <a:bodyPr wrap="square" lIns="0" tIns="0" rIns="0" bIns="0" rtlCol="0" anchor="ctr"/>
          <a:lstStyle/>
          <a:p>
            <a:pPr algn="l" indent="0" marL="0">
              <a:buNone/>
            </a:pPr>
            <a:r>
              <a:rPr lang="en-US" sz="1250" b="1" dirty="0">
                <a:solidFill>
                  <a:srgbClr val="2563EB"/>
                </a:solidFill>
                <a:latin typeface="Courier New" pitchFamily="34" charset="0"/>
                <a:ea typeface="Courier New" pitchFamily="34" charset="-122"/>
                <a:cs typeface="Courier New" pitchFamily="34" charset="-120"/>
              </a:rPr>
              <a:t>phone</a:t>
            </a:r>
            <a:endParaRPr lang="en-US" sz="1250" dirty="0"/>
          </a:p>
        </p:txBody>
      </p:sp>
      <p:sp>
        <p:nvSpPr>
          <p:cNvPr id="22" name="Shape 20"/>
          <p:cNvSpPr/>
          <p:nvPr/>
        </p:nvSpPr>
        <p:spPr>
          <a:xfrm>
            <a:off x="8732520" y="3529584"/>
            <a:ext cx="2651760" cy="548640"/>
          </a:xfrm>
          <a:prstGeom prst="rect">
            <a:avLst/>
          </a:prstGeom>
          <a:solidFill>
            <a:srgbClr val="F1F5F9"/>
          </a:solidFill>
          <a:ln/>
        </p:spPr>
      </p:sp>
      <p:sp>
        <p:nvSpPr>
          <p:cNvPr id="23" name="Text 21"/>
          <p:cNvSpPr/>
          <p:nvPr/>
        </p:nvSpPr>
        <p:spPr>
          <a:xfrm>
            <a:off x="8869680" y="3529584"/>
            <a:ext cx="2377440" cy="548640"/>
          </a:xfrm>
          <a:prstGeom prst="rect">
            <a:avLst/>
          </a:prstGeom>
          <a:noFill/>
          <a:ln/>
        </p:spPr>
        <p:txBody>
          <a:bodyPr wrap="square" lIns="0" tIns="0" rIns="0" bIns="0" rtlCol="0" anchor="ctr"/>
          <a:lstStyle/>
          <a:p>
            <a:pPr algn="l" indent="0" marL="0">
              <a:buNone/>
            </a:pPr>
            <a:r>
              <a:rPr lang="en-US" sz="1250" dirty="0">
                <a:solidFill>
                  <a:srgbClr val="0F172A"/>
                </a:solidFill>
                <a:latin typeface="Courier New" pitchFamily="34" charset="0"/>
                <a:ea typeface="Courier New" pitchFamily="34" charset="-122"/>
                <a:cs typeface="Courier New" pitchFamily="34" charset="-120"/>
              </a:rPr>
              <a:t>1234567</a:t>
            </a:r>
            <a:endParaRPr lang="en-US" sz="1250" dirty="0"/>
          </a:p>
        </p:txBody>
      </p:sp>
      <p:sp>
        <p:nvSpPr>
          <p:cNvPr id="24" name="Text 22"/>
          <p:cNvSpPr/>
          <p:nvPr/>
        </p:nvSpPr>
        <p:spPr>
          <a:xfrm>
            <a:off x="6492240" y="4160520"/>
            <a:ext cx="2148840" cy="237744"/>
          </a:xfrm>
          <a:prstGeom prst="rect">
            <a:avLst/>
          </a:prstGeom>
          <a:noFill/>
          <a:ln/>
        </p:spPr>
        <p:txBody>
          <a:bodyPr wrap="square" lIns="0" tIns="0" rIns="0" bIns="0" rtlCol="0" anchor="ctr"/>
          <a:lstStyle/>
          <a:p>
            <a:pPr algn="ctr" indent="0" marL="0">
              <a:buNone/>
            </a:pPr>
            <a:r>
              <a:rPr lang="en-US" sz="950" b="1" dirty="0">
                <a:solidFill>
                  <a:srgbClr val="64748B"/>
                </a:solidFill>
                <a:latin typeface="Calibri" pitchFamily="34" charset="0"/>
                <a:ea typeface="Calibri" pitchFamily="34" charset="-122"/>
                <a:cs typeface="Calibri" pitchFamily="34" charset="-120"/>
              </a:rPr>
              <a:t>key</a:t>
            </a:r>
            <a:endParaRPr lang="en-US" sz="950" dirty="0"/>
          </a:p>
        </p:txBody>
      </p:sp>
      <p:sp>
        <p:nvSpPr>
          <p:cNvPr id="25" name="Text 23"/>
          <p:cNvSpPr/>
          <p:nvPr/>
        </p:nvSpPr>
        <p:spPr>
          <a:xfrm>
            <a:off x="8732520" y="4160520"/>
            <a:ext cx="2651760" cy="237744"/>
          </a:xfrm>
          <a:prstGeom prst="rect">
            <a:avLst/>
          </a:prstGeom>
          <a:noFill/>
          <a:ln/>
        </p:spPr>
        <p:txBody>
          <a:bodyPr wrap="square" lIns="0" tIns="0" rIns="0" bIns="0" rtlCol="0" anchor="ctr"/>
          <a:lstStyle/>
          <a:p>
            <a:pPr algn="ctr" indent="0" marL="0">
              <a:buNone/>
            </a:pPr>
            <a:r>
              <a:rPr lang="en-US" sz="950" b="1" dirty="0">
                <a:solidFill>
                  <a:srgbClr val="64748B"/>
                </a:solidFill>
                <a:latin typeface="Calibri" pitchFamily="34" charset="0"/>
                <a:ea typeface="Calibri" pitchFamily="34" charset="-122"/>
                <a:cs typeface="Calibri" pitchFamily="34" charset="-120"/>
              </a:rPr>
              <a:t>value</a:t>
            </a:r>
            <a:endParaRPr lang="en-US" sz="950" dirty="0"/>
          </a:p>
        </p:txBody>
      </p:sp>
      <p:sp>
        <p:nvSpPr>
          <p:cNvPr id="26" name="Shape 24"/>
          <p:cNvSpPr/>
          <p:nvPr/>
        </p:nvSpPr>
        <p:spPr>
          <a:xfrm>
            <a:off x="548640" y="4526280"/>
            <a:ext cx="5440680" cy="1600200"/>
          </a:xfrm>
          <a:prstGeom prst="roundRect">
            <a:avLst>
              <a:gd name="adj" fmla="val 6857"/>
            </a:avLst>
          </a:prstGeom>
          <a:solidFill>
            <a:srgbClr val="E5EEFF"/>
          </a:solidFill>
          <a:ln/>
          <a:effectLst>
            <a:outerShdw sx="100000" sy="100000" kx="0" ky="0" algn="bl" rotWithShape="0" blurRad="101600" dist="38100" dir="5400000">
              <a:srgbClr val="0B1220">
                <a:alpha val="18000"/>
              </a:srgbClr>
            </a:outerShdw>
          </a:effectLst>
        </p:spPr>
      </p:sp>
      <p:sp>
        <p:nvSpPr>
          <p:cNvPr id="27" name="Text 25"/>
          <p:cNvSpPr/>
          <p:nvPr/>
        </p:nvSpPr>
        <p:spPr>
          <a:xfrm>
            <a:off x="822960" y="4681728"/>
            <a:ext cx="4892040" cy="320040"/>
          </a:xfrm>
          <a:prstGeom prst="rect">
            <a:avLst/>
          </a:prstGeom>
          <a:noFill/>
          <a:ln/>
        </p:spPr>
        <p:txBody>
          <a:bodyPr wrap="square" lIns="0" tIns="0" rIns="0" bIns="0" rtlCol="0" anchor="ctr"/>
          <a:lstStyle/>
          <a:p>
            <a:pPr algn="l" indent="0" marL="0">
              <a:buNone/>
            </a:pPr>
            <a:r>
              <a:rPr lang="en-US" sz="1450" b="1" dirty="0">
                <a:solidFill>
                  <a:srgbClr val="0F172A"/>
                </a:solidFill>
                <a:latin typeface="Calibri" pitchFamily="34" charset="0"/>
                <a:ea typeface="Calibri" pitchFamily="34" charset="-122"/>
                <a:cs typeface="Calibri" pitchFamily="34" charset="-120"/>
              </a:rPr>
              <a:t>Two ways to reach a value</a:t>
            </a:r>
            <a:endParaRPr lang="en-US" sz="1450" dirty="0"/>
          </a:p>
        </p:txBody>
      </p:sp>
      <p:sp>
        <p:nvSpPr>
          <p:cNvPr id="28" name="Text 26"/>
          <p:cNvSpPr/>
          <p:nvPr/>
        </p:nvSpPr>
        <p:spPr>
          <a:xfrm>
            <a:off x="868680" y="5074920"/>
            <a:ext cx="2286000" cy="365760"/>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person.age</a:t>
            </a:r>
            <a:endParaRPr lang="en-US" sz="1300" dirty="0"/>
          </a:p>
        </p:txBody>
      </p:sp>
      <p:sp>
        <p:nvSpPr>
          <p:cNvPr id="29" name="Text 27"/>
          <p:cNvSpPr/>
          <p:nvPr/>
        </p:nvSpPr>
        <p:spPr>
          <a:xfrm>
            <a:off x="3200400" y="5074920"/>
            <a:ext cx="2468880" cy="365760"/>
          </a:xfrm>
          <a:prstGeom prst="rect">
            <a:avLst/>
          </a:prstGeom>
          <a:noFill/>
          <a:ln/>
        </p:spPr>
        <p:txBody>
          <a:bodyPr wrap="square" lIns="0" tIns="0" rIns="0" bIns="0" rtlCol="0" anchor="ctr"/>
          <a:lstStyle/>
          <a:p>
            <a:pPr algn="l" indent="0" marL="0">
              <a:buNone/>
            </a:pPr>
            <a:r>
              <a:rPr lang="en-US" sz="1150" dirty="0">
                <a:solidFill>
                  <a:srgbClr val="64748B"/>
                </a:solidFill>
                <a:latin typeface="Calibri" pitchFamily="34" charset="0"/>
                <a:ea typeface="Calibri" pitchFamily="34" charset="-122"/>
                <a:cs typeface="Calibri" pitchFamily="34" charset="-120"/>
              </a:rPr>
              <a:t>dot notation</a:t>
            </a:r>
            <a:endParaRPr lang="en-US" sz="1150" dirty="0"/>
          </a:p>
        </p:txBody>
      </p:sp>
      <p:sp>
        <p:nvSpPr>
          <p:cNvPr id="30" name="Text 28"/>
          <p:cNvSpPr/>
          <p:nvPr/>
        </p:nvSpPr>
        <p:spPr>
          <a:xfrm>
            <a:off x="868680" y="5486400"/>
            <a:ext cx="2286000" cy="365760"/>
          </a:xfrm>
          <a:prstGeom prst="rect">
            <a:avLst/>
          </a:prstGeom>
          <a:noFill/>
          <a:ln/>
        </p:spPr>
        <p:txBody>
          <a:bodyPr wrap="square" lIns="0" tIns="0" rIns="0" bIns="0" rtlCol="0" anchor="ctr"/>
          <a:lstStyle/>
          <a:p>
            <a:pPr algn="l" indent="0" marL="0">
              <a:buNone/>
            </a:pPr>
            <a:r>
              <a:rPr lang="en-US" sz="1300" b="1" dirty="0">
                <a:solidFill>
                  <a:srgbClr val="2563EB"/>
                </a:solidFill>
                <a:latin typeface="Courier New" pitchFamily="34" charset="0"/>
                <a:ea typeface="Courier New" pitchFamily="34" charset="-122"/>
                <a:cs typeface="Courier New" pitchFamily="34" charset="-120"/>
              </a:rPr>
              <a:t>person['phone']</a:t>
            </a:r>
            <a:endParaRPr lang="en-US" sz="1300" dirty="0"/>
          </a:p>
        </p:txBody>
      </p:sp>
      <p:sp>
        <p:nvSpPr>
          <p:cNvPr id="31" name="Text 29"/>
          <p:cNvSpPr/>
          <p:nvPr/>
        </p:nvSpPr>
        <p:spPr>
          <a:xfrm>
            <a:off x="3200400" y="5486400"/>
            <a:ext cx="2468880" cy="365760"/>
          </a:xfrm>
          <a:prstGeom prst="rect">
            <a:avLst/>
          </a:prstGeom>
          <a:noFill/>
          <a:ln/>
        </p:spPr>
        <p:txBody>
          <a:bodyPr wrap="square" lIns="0" tIns="0" rIns="0" bIns="0" rtlCol="0" anchor="ctr"/>
          <a:lstStyle/>
          <a:p>
            <a:pPr algn="l" indent="0" marL="0">
              <a:buNone/>
            </a:pPr>
            <a:r>
              <a:rPr lang="en-US" sz="1150" dirty="0">
                <a:solidFill>
                  <a:srgbClr val="64748B"/>
                </a:solidFill>
                <a:latin typeface="Calibri" pitchFamily="34" charset="0"/>
                <a:ea typeface="Calibri" pitchFamily="34" charset="-122"/>
                <a:cs typeface="Calibri" pitchFamily="34" charset="-120"/>
              </a:rPr>
              <a:t>bracket notation</a:t>
            </a:r>
            <a:endParaRPr lang="en-US" sz="1150" dirty="0"/>
          </a:p>
        </p:txBody>
      </p:sp>
      <p:sp>
        <p:nvSpPr>
          <p:cNvPr id="32" name="Shape 30"/>
          <p:cNvSpPr/>
          <p:nvPr/>
        </p:nvSpPr>
        <p:spPr>
          <a:xfrm>
            <a:off x="6217920" y="4526280"/>
            <a:ext cx="5440680" cy="1600200"/>
          </a:xfrm>
          <a:prstGeom prst="roundRect">
            <a:avLst>
              <a:gd name="adj" fmla="val 6857"/>
            </a:avLst>
          </a:prstGeom>
          <a:solidFill>
            <a:srgbClr val="0C1526"/>
          </a:solidFill>
          <a:ln/>
          <a:effectLst>
            <a:outerShdw sx="100000" sy="100000" kx="0" ky="0" algn="bl" rotWithShape="0" blurRad="101600" dist="38100" dir="5400000">
              <a:srgbClr val="0B1220">
                <a:alpha val="18000"/>
              </a:srgbClr>
            </a:outerShdw>
          </a:effectLst>
        </p:spPr>
      </p:sp>
      <p:sp>
        <p:nvSpPr>
          <p:cNvPr id="33" name="Shape 31"/>
          <p:cNvSpPr/>
          <p:nvPr/>
        </p:nvSpPr>
        <p:spPr>
          <a:xfrm>
            <a:off x="6473952" y="4745736"/>
            <a:ext cx="128016" cy="128016"/>
          </a:xfrm>
          <a:prstGeom prst="ellipse">
            <a:avLst/>
          </a:prstGeom>
          <a:solidFill>
            <a:srgbClr val="FF5F56"/>
          </a:solidFill>
          <a:ln/>
        </p:spPr>
      </p:sp>
      <p:sp>
        <p:nvSpPr>
          <p:cNvPr id="34" name="Shape 32"/>
          <p:cNvSpPr/>
          <p:nvPr/>
        </p:nvSpPr>
        <p:spPr>
          <a:xfrm>
            <a:off x="6711696" y="4745736"/>
            <a:ext cx="128016" cy="128016"/>
          </a:xfrm>
          <a:prstGeom prst="ellipse">
            <a:avLst/>
          </a:prstGeom>
          <a:solidFill>
            <a:srgbClr val="FFBD2E"/>
          </a:solidFill>
          <a:ln/>
        </p:spPr>
      </p:sp>
      <p:sp>
        <p:nvSpPr>
          <p:cNvPr id="35" name="Shape 33"/>
          <p:cNvSpPr/>
          <p:nvPr/>
        </p:nvSpPr>
        <p:spPr>
          <a:xfrm>
            <a:off x="6949440" y="4745736"/>
            <a:ext cx="128016" cy="128016"/>
          </a:xfrm>
          <a:prstGeom prst="ellipse">
            <a:avLst/>
          </a:prstGeom>
          <a:solidFill>
            <a:srgbClr val="27C93F"/>
          </a:solidFill>
          <a:ln/>
        </p:spPr>
      </p:sp>
      <p:sp>
        <p:nvSpPr>
          <p:cNvPr id="36" name="Text 34"/>
          <p:cNvSpPr/>
          <p:nvPr/>
        </p:nvSpPr>
        <p:spPr>
          <a:xfrm>
            <a:off x="7315200" y="4636008"/>
            <a:ext cx="416052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creating them</a:t>
            </a:r>
            <a:endParaRPr lang="en-US" sz="1100" dirty="0"/>
          </a:p>
        </p:txBody>
      </p:sp>
      <p:sp>
        <p:nvSpPr>
          <p:cNvPr id="37" name="Text 35"/>
          <p:cNvSpPr/>
          <p:nvPr/>
        </p:nvSpPr>
        <p:spPr>
          <a:xfrm>
            <a:off x="6473952" y="5056632"/>
            <a:ext cx="4928616" cy="886968"/>
          </a:xfrm>
          <a:prstGeom prst="rect">
            <a:avLst/>
          </a:prstGeom>
          <a:noFill/>
          <a:ln/>
        </p:spPr>
        <p:txBody>
          <a:bodyPr wrap="square" lIns="0" tIns="0" rIns="0" bIns="0" rtlCol="0" anchor="t"/>
          <a:lstStyle/>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user</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new</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Object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6B8299"/>
                </a:solidFill>
                <a:latin typeface="Courier New" pitchFamily="34" charset="0"/>
                <a:ea typeface="Courier New" pitchFamily="34" charset="-122"/>
                <a:cs typeface="Courier New" pitchFamily="34" charset="-120"/>
              </a:rPr>
              <a:t>// constructor</a:t>
            </a:r>
            <a:endParaRPr lang="en-US" sz="1150" dirty="0"/>
          </a:p>
          <a:p>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other</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50" dirty="0">
                <a:solidFill>
                  <a:srgbClr val="6B8299"/>
                </a:solidFill>
                <a:latin typeface="Courier New" pitchFamily="34" charset="0"/>
                <a:ea typeface="Courier New" pitchFamily="34" charset="-122"/>
                <a:cs typeface="Courier New" pitchFamily="34" charset="-120"/>
              </a:rPr>
              <a:t>// literal</a:t>
            </a:r>
            <a:endParaRPr lang="en-US" sz="1150" dirty="0"/>
          </a:p>
        </p:txBody>
      </p:sp>
      <p:sp>
        <p:nvSpPr>
          <p:cNvPr id="38" name="Text 36"/>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DRY RUN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An object can hold anything</a:t>
            </a:r>
            <a:endParaRPr lang="en-US" sz="3400" dirty="0"/>
          </a:p>
        </p:txBody>
      </p:sp>
      <p:sp>
        <p:nvSpPr>
          <p:cNvPr id="5" name="Shape 3"/>
          <p:cNvSpPr/>
          <p:nvPr/>
        </p:nvSpPr>
        <p:spPr>
          <a:xfrm>
            <a:off x="548640" y="1965960"/>
            <a:ext cx="5760720" cy="4114800"/>
          </a:xfrm>
          <a:prstGeom prst="roundRect">
            <a:avLst>
              <a:gd name="adj" fmla="val 2667"/>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2185416"/>
            <a:ext cx="128016" cy="128016"/>
          </a:xfrm>
          <a:prstGeom prst="ellipse">
            <a:avLst/>
          </a:prstGeom>
          <a:solidFill>
            <a:srgbClr val="FF5F56"/>
          </a:solidFill>
          <a:ln/>
        </p:spPr>
      </p:sp>
      <p:sp>
        <p:nvSpPr>
          <p:cNvPr id="7" name="Shape 5"/>
          <p:cNvSpPr/>
          <p:nvPr/>
        </p:nvSpPr>
        <p:spPr>
          <a:xfrm>
            <a:off x="1042416" y="2185416"/>
            <a:ext cx="128016" cy="128016"/>
          </a:xfrm>
          <a:prstGeom prst="ellipse">
            <a:avLst/>
          </a:prstGeom>
          <a:solidFill>
            <a:srgbClr val="FFBD2E"/>
          </a:solidFill>
          <a:ln/>
        </p:spPr>
      </p:sp>
      <p:sp>
        <p:nvSpPr>
          <p:cNvPr id="8" name="Shape 6"/>
          <p:cNvSpPr/>
          <p:nvPr/>
        </p:nvSpPr>
        <p:spPr>
          <a:xfrm>
            <a:off x="1280160" y="2185416"/>
            <a:ext cx="128016" cy="128016"/>
          </a:xfrm>
          <a:prstGeom prst="ellipse">
            <a:avLst/>
          </a:prstGeom>
          <a:solidFill>
            <a:srgbClr val="27C93F"/>
          </a:solidFill>
          <a:ln/>
        </p:spPr>
      </p:sp>
      <p:sp>
        <p:nvSpPr>
          <p:cNvPr id="9" name="Text 7"/>
          <p:cNvSpPr/>
          <p:nvPr/>
        </p:nvSpPr>
        <p:spPr>
          <a:xfrm>
            <a:off x="1645920" y="2075688"/>
            <a:ext cx="448056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script.js</a:t>
            </a:r>
            <a:endParaRPr lang="en-US" sz="1100" dirty="0"/>
          </a:p>
        </p:txBody>
      </p:sp>
      <p:sp>
        <p:nvSpPr>
          <p:cNvPr id="10" name="Text 8"/>
          <p:cNvSpPr/>
          <p:nvPr/>
        </p:nvSpPr>
        <p:spPr>
          <a:xfrm>
            <a:off x="804672" y="2496312"/>
            <a:ext cx="5248656" cy="3401568"/>
          </a:xfrm>
          <a:prstGeom prst="rect">
            <a:avLst/>
          </a:prstGeom>
          <a:noFill/>
          <a:ln/>
        </p:spPr>
        <p:txBody>
          <a:bodyPr wrap="square" lIns="0" tIns="0" rIns="0" bIns="0" rtlCol="0" anchor="t"/>
          <a:lstStyle/>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let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captainAmerica</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9CC5FF"/>
                </a:solidFill>
                <a:latin typeface="Courier New" pitchFamily="34" charset="0"/>
                <a:ea typeface="Courier New" pitchFamily="34" charset="-122"/>
                <a:cs typeface="Courier New" pitchFamily="34" charset="-120"/>
              </a:rPr>
              <a:t>name</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DBA74"/>
                </a:solidFill>
                <a:latin typeface="Courier New" pitchFamily="34" charset="0"/>
                <a:ea typeface="Courier New" pitchFamily="34" charset="-122"/>
                <a:cs typeface="Courier New" pitchFamily="34" charset="-120"/>
              </a:rPr>
              <a:t>'Steve Rogers'</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9CC5FF"/>
                </a:solidFill>
                <a:latin typeface="Courier New" pitchFamily="34" charset="0"/>
                <a:ea typeface="Courier New" pitchFamily="34" charset="-122"/>
                <a:cs typeface="Courier New" pitchFamily="34" charset="-120"/>
              </a:rPr>
              <a:t>age</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BD34D"/>
                </a:solidFill>
                <a:latin typeface="Courier New" pitchFamily="34" charset="0"/>
                <a:ea typeface="Courier New" pitchFamily="34" charset="-122"/>
                <a:cs typeface="Courier New" pitchFamily="34" charset="-120"/>
              </a:rPr>
              <a:t>102</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9CC5FF"/>
                </a:solidFill>
                <a:latin typeface="Courier New" pitchFamily="34" charset="0"/>
                <a:ea typeface="Courier New" pitchFamily="34" charset="-122"/>
                <a:cs typeface="Courier New" pitchFamily="34" charset="-120"/>
              </a:rPr>
              <a:t>allies</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FDBA74"/>
                </a:solidFill>
                <a:latin typeface="Courier New" pitchFamily="34" charset="0"/>
                <a:ea typeface="Courier New" pitchFamily="34" charset="-122"/>
                <a:cs typeface="Courier New" pitchFamily="34" charset="-120"/>
              </a:rPr>
              <a:t>'Tony'</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DBA74"/>
                </a:solidFill>
                <a:latin typeface="Courier New" pitchFamily="34" charset="0"/>
                <a:ea typeface="Courier New" pitchFamily="34" charset="-122"/>
                <a:cs typeface="Courier New" pitchFamily="34" charset="-120"/>
              </a:rPr>
              <a:t>'bruce'</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DBA74"/>
                </a:solidFill>
                <a:latin typeface="Courier New" pitchFamily="34" charset="0"/>
                <a:ea typeface="Courier New" pitchFamily="34" charset="-122"/>
                <a:cs typeface="Courier New" pitchFamily="34" charset="-120"/>
              </a:rPr>
              <a:t>'bucky'</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9CC5FF"/>
                </a:solidFill>
                <a:latin typeface="Courier New" pitchFamily="34" charset="0"/>
                <a:ea typeface="Courier New" pitchFamily="34" charset="-122"/>
                <a:cs typeface="Courier New" pitchFamily="34" charset="-120"/>
              </a:rPr>
              <a:t>sayHi</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BD34D"/>
                </a:solidFill>
                <a:latin typeface="Courier New" pitchFamily="34" charset="0"/>
                <a:ea typeface="Courier New" pitchFamily="34" charset="-122"/>
                <a:cs typeface="Courier New" pitchFamily="34" charset="-120"/>
              </a:rPr>
              <a:t>function</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console</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log</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FDBA74"/>
                </a:solidFill>
                <a:latin typeface="Courier New" pitchFamily="34" charset="0"/>
                <a:ea typeface="Courier New" pitchFamily="34" charset="-122"/>
                <a:cs typeface="Courier New" pitchFamily="34" charset="-120"/>
              </a:rPr>
              <a:t>'Captain says hi'</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9CC5FF"/>
                </a:solidFill>
                <a:latin typeface="Courier New" pitchFamily="34" charset="0"/>
                <a:ea typeface="Courier New" pitchFamily="34" charset="-122"/>
                <a:cs typeface="Courier New" pitchFamily="34" charset="-120"/>
              </a:rPr>
              <a:t>address</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9CC5FF"/>
                </a:solidFill>
                <a:latin typeface="Courier New" pitchFamily="34" charset="0"/>
                <a:ea typeface="Courier New" pitchFamily="34" charset="-122"/>
                <a:cs typeface="Courier New" pitchFamily="34" charset="-120"/>
              </a:rPr>
              <a:t>country</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DBA74"/>
                </a:solidFill>
                <a:latin typeface="Courier New" pitchFamily="34" charset="0"/>
                <a:ea typeface="Courier New" pitchFamily="34" charset="-122"/>
                <a:cs typeface="Courier New" pitchFamily="34" charset="-120"/>
              </a:rPr>
              <a:t>'USA'</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9CC5FF"/>
                </a:solidFill>
                <a:latin typeface="Courier New" pitchFamily="34" charset="0"/>
                <a:ea typeface="Courier New" pitchFamily="34" charset="-122"/>
                <a:cs typeface="Courier New" pitchFamily="34" charset="-120"/>
              </a:rPr>
              <a:t>city</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BD34D"/>
                </a:solidFill>
                <a:latin typeface="Courier New" pitchFamily="34" charset="0"/>
                <a:ea typeface="Courier New" pitchFamily="34" charset="-122"/>
                <a:cs typeface="Courier New" pitchFamily="34" charset="-120"/>
              </a:rPr>
              <a:t>name</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DBA74"/>
                </a:solidFill>
                <a:latin typeface="Courier New" pitchFamily="34" charset="0"/>
                <a:ea typeface="Courier New" pitchFamily="34" charset="-122"/>
                <a:cs typeface="Courier New" pitchFamily="34" charset="-120"/>
              </a:rPr>
              <a:t>'Brooklyn'</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BD34D"/>
                </a:solidFill>
                <a:latin typeface="Courier New" pitchFamily="34" charset="0"/>
                <a:ea typeface="Courier New" pitchFamily="34" charset="-122"/>
                <a:cs typeface="Courier New" pitchFamily="34" charset="-120"/>
              </a:rPr>
              <a:t>pincode</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BD34D"/>
                </a:solidFill>
                <a:latin typeface="Courier New" pitchFamily="34" charset="0"/>
                <a:ea typeface="Courier New" pitchFamily="34" charset="-122"/>
                <a:cs typeface="Courier New" pitchFamily="34" charset="-120"/>
              </a:rPr>
              <a:t>12345</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9CC5FF"/>
                </a:solidFill>
                <a:latin typeface="Courier New" pitchFamily="34" charset="0"/>
                <a:ea typeface="Courier New" pitchFamily="34" charset="-122"/>
                <a:cs typeface="Courier New" pitchFamily="34" charset="-120"/>
              </a:rPr>
              <a:t>isAvenger</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100" dirty="0">
                <a:solidFill>
                  <a:srgbClr val="FBD34D"/>
                </a:solidFill>
                <a:latin typeface="Courier New" pitchFamily="34" charset="0"/>
                <a:ea typeface="Courier New" pitchFamily="34" charset="-122"/>
                <a:cs typeface="Courier New" pitchFamily="34" charset="-120"/>
              </a:rPr>
              <a:t>true</a:t>
            </a:r>
            <a:endParaRPr lang="en-US" sz="1100" dirty="0"/>
          </a:p>
          <a:p>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sp>
        <p:nvSpPr>
          <p:cNvPr id="11" name="Text 9"/>
          <p:cNvSpPr/>
          <p:nvPr/>
        </p:nvSpPr>
        <p:spPr>
          <a:xfrm>
            <a:off x="6583680" y="1993392"/>
            <a:ext cx="5074920" cy="274320"/>
          </a:xfrm>
          <a:prstGeom prst="rect">
            <a:avLst/>
          </a:prstGeom>
          <a:noFill/>
          <a:ln/>
        </p:spPr>
        <p:txBody>
          <a:bodyPr wrap="square" lIns="0" tIns="0" rIns="0" bIns="0" rtlCol="0" anchor="ctr"/>
          <a:lstStyle/>
          <a:p>
            <a:pPr algn="l" indent="0" marL="0">
              <a:buNone/>
            </a:pPr>
            <a:r>
              <a:rPr lang="en-US" sz="1150" b="1" spc="100" kern="0" dirty="0">
                <a:solidFill>
                  <a:srgbClr val="64748B"/>
                </a:solidFill>
                <a:latin typeface="Calibri" pitchFamily="34" charset="0"/>
                <a:ea typeface="Calibri" pitchFamily="34" charset="-122"/>
                <a:cs typeface="Calibri" pitchFamily="34" charset="-120"/>
              </a:rPr>
              <a:t>reaching into it</a:t>
            </a:r>
            <a:endParaRPr lang="en-US" sz="1150" dirty="0"/>
          </a:p>
        </p:txBody>
      </p:sp>
      <p:sp>
        <p:nvSpPr>
          <p:cNvPr id="12" name="Shape 10"/>
          <p:cNvSpPr/>
          <p:nvPr/>
        </p:nvSpPr>
        <p:spPr>
          <a:xfrm>
            <a:off x="6583680" y="2331720"/>
            <a:ext cx="5074920" cy="676656"/>
          </a:xfrm>
          <a:prstGeom prst="roundRect">
            <a:avLst>
              <a:gd name="adj" fmla="val 16216"/>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3" name="Text 11"/>
          <p:cNvSpPr/>
          <p:nvPr/>
        </p:nvSpPr>
        <p:spPr>
          <a:xfrm>
            <a:off x="6766560" y="2386584"/>
            <a:ext cx="4709160" cy="310896"/>
          </a:xfrm>
          <a:prstGeom prst="rect">
            <a:avLst/>
          </a:prstGeom>
          <a:noFill/>
          <a:ln/>
        </p:spPr>
        <p:txBody>
          <a:bodyPr wrap="square" lIns="0" tIns="0" rIns="0" bIns="0" rtlCol="0" anchor="ctr"/>
          <a:lstStyle/>
          <a:p>
            <a:pPr algn="l" indent="0" marL="0">
              <a:buNone/>
            </a:pPr>
            <a:r>
              <a:rPr lang="en-US" sz="1050" b="1" dirty="0">
                <a:solidFill>
                  <a:srgbClr val="2563EB"/>
                </a:solidFill>
                <a:latin typeface="Courier New" pitchFamily="34" charset="0"/>
                <a:ea typeface="Courier New" pitchFamily="34" charset="-122"/>
                <a:cs typeface="Courier New" pitchFamily="34" charset="-120"/>
              </a:rPr>
              <a:t>captainAmerica.age</a:t>
            </a:r>
            <a:endParaRPr lang="en-US" sz="1050" dirty="0"/>
          </a:p>
        </p:txBody>
      </p:sp>
      <p:sp>
        <p:nvSpPr>
          <p:cNvPr id="14" name="Text 12"/>
          <p:cNvSpPr/>
          <p:nvPr/>
        </p:nvSpPr>
        <p:spPr>
          <a:xfrm>
            <a:off x="6766560" y="2679192"/>
            <a:ext cx="4709160" cy="292608"/>
          </a:xfrm>
          <a:prstGeom prst="rect">
            <a:avLst/>
          </a:prstGeom>
          <a:noFill/>
          <a:ln/>
        </p:spPr>
        <p:txBody>
          <a:bodyPr wrap="square" lIns="0" tIns="0" rIns="0" bIns="0" rtlCol="0" anchor="ctr"/>
          <a:lstStyle/>
          <a:p>
            <a:pPr algn="l" indent="0" marL="0">
              <a:buNone/>
            </a:pPr>
            <a:r>
              <a:rPr lang="en-US" sz="1100" b="1" dirty="0">
                <a:solidFill>
                  <a:srgbClr val="22C55E"/>
                </a:solidFill>
                <a:latin typeface="Courier New" pitchFamily="34" charset="0"/>
                <a:ea typeface="Courier New" pitchFamily="34" charset="-122"/>
                <a:cs typeface="Courier New" pitchFamily="34" charset="-120"/>
              </a:rPr>
              <a:t>102   </a:t>
            </a:r>
            <a:pPr algn="l" indent="0" marL="0">
              <a:buNone/>
            </a:pPr>
            <a:r>
              <a:rPr lang="en-US" sz="1050" dirty="0">
                <a:solidFill>
                  <a:srgbClr val="64748B"/>
                </a:solidFill>
                <a:latin typeface="Calibri" pitchFamily="34" charset="0"/>
                <a:ea typeface="Calibri" pitchFamily="34" charset="-122"/>
                <a:cs typeface="Calibri" pitchFamily="34" charset="-120"/>
              </a:rPr>
              <a:t>number</a:t>
            </a:r>
            <a:endParaRPr lang="en-US" sz="1100" dirty="0"/>
          </a:p>
        </p:txBody>
      </p:sp>
      <p:sp>
        <p:nvSpPr>
          <p:cNvPr id="15" name="Shape 13"/>
          <p:cNvSpPr/>
          <p:nvPr/>
        </p:nvSpPr>
        <p:spPr>
          <a:xfrm>
            <a:off x="6583680" y="3118104"/>
            <a:ext cx="5074920" cy="676656"/>
          </a:xfrm>
          <a:prstGeom prst="roundRect">
            <a:avLst>
              <a:gd name="adj" fmla="val 16216"/>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6" name="Text 14"/>
          <p:cNvSpPr/>
          <p:nvPr/>
        </p:nvSpPr>
        <p:spPr>
          <a:xfrm>
            <a:off x="6766560" y="3172968"/>
            <a:ext cx="4709160" cy="310896"/>
          </a:xfrm>
          <a:prstGeom prst="rect">
            <a:avLst/>
          </a:prstGeom>
          <a:noFill/>
          <a:ln/>
        </p:spPr>
        <p:txBody>
          <a:bodyPr wrap="square" lIns="0" tIns="0" rIns="0" bIns="0" rtlCol="0" anchor="ctr"/>
          <a:lstStyle/>
          <a:p>
            <a:pPr algn="l" indent="0" marL="0">
              <a:buNone/>
            </a:pPr>
            <a:r>
              <a:rPr lang="en-US" sz="1050" b="1" dirty="0">
                <a:solidFill>
                  <a:srgbClr val="2563EB"/>
                </a:solidFill>
                <a:latin typeface="Courier New" pitchFamily="34" charset="0"/>
                <a:ea typeface="Courier New" pitchFamily="34" charset="-122"/>
                <a:cs typeface="Courier New" pitchFamily="34" charset="-120"/>
              </a:rPr>
              <a:t>captainAmerica.allies[1]</a:t>
            </a:r>
            <a:endParaRPr lang="en-US" sz="1050" dirty="0"/>
          </a:p>
        </p:txBody>
      </p:sp>
      <p:sp>
        <p:nvSpPr>
          <p:cNvPr id="17" name="Text 15"/>
          <p:cNvSpPr/>
          <p:nvPr/>
        </p:nvSpPr>
        <p:spPr>
          <a:xfrm>
            <a:off x="6766560" y="3465576"/>
            <a:ext cx="4709160" cy="292608"/>
          </a:xfrm>
          <a:prstGeom prst="rect">
            <a:avLst/>
          </a:prstGeom>
          <a:noFill/>
          <a:ln/>
        </p:spPr>
        <p:txBody>
          <a:bodyPr wrap="square" lIns="0" tIns="0" rIns="0" bIns="0" rtlCol="0" anchor="ctr"/>
          <a:lstStyle/>
          <a:p>
            <a:pPr algn="l" indent="0" marL="0">
              <a:buNone/>
            </a:pPr>
            <a:r>
              <a:rPr lang="en-US" sz="1100" b="1" dirty="0">
                <a:solidFill>
                  <a:srgbClr val="22C55E"/>
                </a:solidFill>
                <a:latin typeface="Courier New" pitchFamily="34" charset="0"/>
                <a:ea typeface="Courier New" pitchFamily="34" charset="-122"/>
                <a:cs typeface="Courier New" pitchFamily="34" charset="-120"/>
              </a:rPr>
              <a:t>'bruce'   </a:t>
            </a:r>
            <a:pPr algn="l" indent="0" marL="0">
              <a:buNone/>
            </a:pPr>
            <a:r>
              <a:rPr lang="en-US" sz="1050" dirty="0">
                <a:solidFill>
                  <a:srgbClr val="64748B"/>
                </a:solidFill>
                <a:latin typeface="Calibri" pitchFamily="34" charset="0"/>
                <a:ea typeface="Calibri" pitchFamily="34" charset="-122"/>
                <a:cs typeface="Calibri" pitchFamily="34" charset="-120"/>
              </a:rPr>
              <a:t>array item</a:t>
            </a:r>
            <a:endParaRPr lang="en-US" sz="1100" dirty="0"/>
          </a:p>
        </p:txBody>
      </p:sp>
      <p:sp>
        <p:nvSpPr>
          <p:cNvPr id="18" name="Shape 16"/>
          <p:cNvSpPr/>
          <p:nvPr/>
        </p:nvSpPr>
        <p:spPr>
          <a:xfrm>
            <a:off x="6583680" y="3904488"/>
            <a:ext cx="5074920" cy="676656"/>
          </a:xfrm>
          <a:prstGeom prst="roundRect">
            <a:avLst>
              <a:gd name="adj" fmla="val 16216"/>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9" name="Text 17"/>
          <p:cNvSpPr/>
          <p:nvPr/>
        </p:nvSpPr>
        <p:spPr>
          <a:xfrm>
            <a:off x="6766560" y="3959352"/>
            <a:ext cx="4709160" cy="310896"/>
          </a:xfrm>
          <a:prstGeom prst="rect">
            <a:avLst/>
          </a:prstGeom>
          <a:noFill/>
          <a:ln/>
        </p:spPr>
        <p:txBody>
          <a:bodyPr wrap="square" lIns="0" tIns="0" rIns="0" bIns="0" rtlCol="0" anchor="ctr"/>
          <a:lstStyle/>
          <a:p>
            <a:pPr algn="l" indent="0" marL="0">
              <a:buNone/>
            </a:pPr>
            <a:r>
              <a:rPr lang="en-US" sz="1050" b="1" dirty="0">
                <a:solidFill>
                  <a:srgbClr val="2563EB"/>
                </a:solidFill>
                <a:latin typeface="Courier New" pitchFamily="34" charset="0"/>
                <a:ea typeface="Courier New" pitchFamily="34" charset="-122"/>
                <a:cs typeface="Courier New" pitchFamily="34" charset="-120"/>
              </a:rPr>
              <a:t>captainAmerica.address.city.pincode</a:t>
            </a:r>
            <a:endParaRPr lang="en-US" sz="1050" dirty="0"/>
          </a:p>
        </p:txBody>
      </p:sp>
      <p:sp>
        <p:nvSpPr>
          <p:cNvPr id="20" name="Text 18"/>
          <p:cNvSpPr/>
          <p:nvPr/>
        </p:nvSpPr>
        <p:spPr>
          <a:xfrm>
            <a:off x="6766560" y="4251960"/>
            <a:ext cx="4709160" cy="292608"/>
          </a:xfrm>
          <a:prstGeom prst="rect">
            <a:avLst/>
          </a:prstGeom>
          <a:noFill/>
          <a:ln/>
        </p:spPr>
        <p:txBody>
          <a:bodyPr wrap="square" lIns="0" tIns="0" rIns="0" bIns="0" rtlCol="0" anchor="ctr"/>
          <a:lstStyle/>
          <a:p>
            <a:pPr algn="l" indent="0" marL="0">
              <a:buNone/>
            </a:pPr>
            <a:r>
              <a:rPr lang="en-US" sz="1100" b="1" dirty="0">
                <a:solidFill>
                  <a:srgbClr val="22C55E"/>
                </a:solidFill>
                <a:latin typeface="Courier New" pitchFamily="34" charset="0"/>
                <a:ea typeface="Courier New" pitchFamily="34" charset="-122"/>
                <a:cs typeface="Courier New" pitchFamily="34" charset="-120"/>
              </a:rPr>
              <a:t>12345   </a:t>
            </a:r>
            <a:pPr algn="l" indent="0" marL="0">
              <a:buNone/>
            </a:pPr>
            <a:r>
              <a:rPr lang="en-US" sz="1050" dirty="0">
                <a:solidFill>
                  <a:srgbClr val="64748B"/>
                </a:solidFill>
                <a:latin typeface="Calibri" pitchFamily="34" charset="0"/>
                <a:ea typeface="Calibri" pitchFamily="34" charset="-122"/>
                <a:cs typeface="Calibri" pitchFamily="34" charset="-120"/>
              </a:rPr>
              <a:t>nested object</a:t>
            </a:r>
            <a:endParaRPr lang="en-US" sz="1100" dirty="0"/>
          </a:p>
        </p:txBody>
      </p:sp>
      <p:sp>
        <p:nvSpPr>
          <p:cNvPr id="21" name="Shape 19"/>
          <p:cNvSpPr/>
          <p:nvPr/>
        </p:nvSpPr>
        <p:spPr>
          <a:xfrm>
            <a:off x="6583680" y="4690872"/>
            <a:ext cx="5074920" cy="676656"/>
          </a:xfrm>
          <a:prstGeom prst="roundRect">
            <a:avLst>
              <a:gd name="adj" fmla="val 16216"/>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2" name="Text 20"/>
          <p:cNvSpPr/>
          <p:nvPr/>
        </p:nvSpPr>
        <p:spPr>
          <a:xfrm>
            <a:off x="6766560" y="4745736"/>
            <a:ext cx="4709160" cy="310896"/>
          </a:xfrm>
          <a:prstGeom prst="rect">
            <a:avLst/>
          </a:prstGeom>
          <a:noFill/>
          <a:ln/>
        </p:spPr>
        <p:txBody>
          <a:bodyPr wrap="square" lIns="0" tIns="0" rIns="0" bIns="0" rtlCol="0" anchor="ctr"/>
          <a:lstStyle/>
          <a:p>
            <a:pPr algn="l" indent="0" marL="0">
              <a:buNone/>
            </a:pPr>
            <a:r>
              <a:rPr lang="en-US" sz="1050" b="1" dirty="0">
                <a:solidFill>
                  <a:srgbClr val="2563EB"/>
                </a:solidFill>
                <a:latin typeface="Courier New" pitchFamily="34" charset="0"/>
                <a:ea typeface="Courier New" pitchFamily="34" charset="-122"/>
                <a:cs typeface="Courier New" pitchFamily="34" charset="-120"/>
              </a:rPr>
              <a:t>captainAmerica.sayHi()</a:t>
            </a:r>
            <a:endParaRPr lang="en-US" sz="1050" dirty="0"/>
          </a:p>
        </p:txBody>
      </p:sp>
      <p:sp>
        <p:nvSpPr>
          <p:cNvPr id="23" name="Text 21"/>
          <p:cNvSpPr/>
          <p:nvPr/>
        </p:nvSpPr>
        <p:spPr>
          <a:xfrm>
            <a:off x="6766560" y="5038344"/>
            <a:ext cx="4709160" cy="292608"/>
          </a:xfrm>
          <a:prstGeom prst="rect">
            <a:avLst/>
          </a:prstGeom>
          <a:noFill/>
          <a:ln/>
        </p:spPr>
        <p:txBody>
          <a:bodyPr wrap="square" lIns="0" tIns="0" rIns="0" bIns="0" rtlCol="0" anchor="ctr"/>
          <a:lstStyle/>
          <a:p>
            <a:pPr algn="l" indent="0" marL="0">
              <a:buNone/>
            </a:pPr>
            <a:r>
              <a:rPr lang="en-US" sz="1100" b="1" dirty="0">
                <a:solidFill>
                  <a:srgbClr val="22C55E"/>
                </a:solidFill>
                <a:latin typeface="Courier New" pitchFamily="34" charset="0"/>
                <a:ea typeface="Courier New" pitchFamily="34" charset="-122"/>
                <a:cs typeface="Courier New" pitchFamily="34" charset="-120"/>
              </a:rPr>
              <a:t>Captain says hi   </a:t>
            </a:r>
            <a:pPr algn="l" indent="0" marL="0">
              <a:buNone/>
            </a:pPr>
            <a:r>
              <a:rPr lang="en-US" sz="1050" dirty="0">
                <a:solidFill>
                  <a:srgbClr val="64748B"/>
                </a:solidFill>
                <a:latin typeface="Calibri" pitchFamily="34" charset="0"/>
                <a:ea typeface="Calibri" pitchFamily="34" charset="-122"/>
                <a:cs typeface="Calibri" pitchFamily="34" charset="-120"/>
              </a:rPr>
              <a:t>function call</a:t>
            </a:r>
            <a:endParaRPr lang="en-US" sz="1100" dirty="0"/>
          </a:p>
        </p:txBody>
      </p:sp>
      <p:sp>
        <p:nvSpPr>
          <p:cNvPr id="24" name="Shape 22"/>
          <p:cNvSpPr/>
          <p:nvPr/>
        </p:nvSpPr>
        <p:spPr>
          <a:xfrm>
            <a:off x="6583680" y="5504688"/>
            <a:ext cx="5074920" cy="713232"/>
          </a:xfrm>
          <a:prstGeom prst="roundRect">
            <a:avLst>
              <a:gd name="adj" fmla="val 15385"/>
            </a:avLst>
          </a:prstGeom>
          <a:solidFill>
            <a:srgbClr val="EEF2FF"/>
          </a:solidFill>
          <a:ln/>
          <a:effectLst>
            <a:outerShdw sx="100000" sy="100000" kx="0" ky="0" algn="bl" rotWithShape="0" blurRad="101600" dist="38100" dir="5400000">
              <a:srgbClr val="0B1220">
                <a:alpha val="18000"/>
              </a:srgbClr>
            </a:outerShdw>
          </a:effectLst>
        </p:spPr>
      </p:sp>
      <p:sp>
        <p:nvSpPr>
          <p:cNvPr id="25" name="Text 23"/>
          <p:cNvSpPr/>
          <p:nvPr/>
        </p:nvSpPr>
        <p:spPr>
          <a:xfrm>
            <a:off x="6766560" y="5504688"/>
            <a:ext cx="4754880" cy="713232"/>
          </a:xfrm>
          <a:prstGeom prst="rect">
            <a:avLst/>
          </a:prstGeom>
          <a:noFill/>
          <a:ln/>
        </p:spPr>
        <p:txBody>
          <a:bodyPr wrap="square" lIns="0" tIns="0" rIns="0" bIns="0" rtlCol="0" anchor="ctr"/>
          <a:lstStyle/>
          <a:p>
            <a:pPr algn="l" indent="0" marL="0">
              <a:buNone/>
            </a:pPr>
            <a:r>
              <a:rPr lang="en-US" sz="1000" dirty="0">
                <a:solidFill>
                  <a:srgbClr val="3B2E7A"/>
                </a:solidFill>
                <a:latin typeface="Courier New" pitchFamily="34" charset="0"/>
                <a:ea typeface="Courier New" pitchFamily="34" charset="-122"/>
                <a:cs typeface="Courier New" pitchFamily="34" charset="-120"/>
              </a:rPr>
              <a:t>add:  obj.movies = [...]        remove:  delete obj.age</a:t>
            </a:r>
            <a:endParaRPr lang="en-US" sz="1000" dirty="0"/>
          </a:p>
        </p:txBody>
      </p:sp>
      <p:sp>
        <p:nvSpPr>
          <p:cNvPr id="26" name="Text 24"/>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502920"/>
            <a:ext cx="1371600" cy="310896"/>
          </a:xfrm>
          <a:prstGeom prst="roundRect">
            <a:avLst>
              <a:gd name="adj" fmla="val 50000"/>
            </a:avLst>
          </a:prstGeom>
          <a:solidFill>
            <a:srgbClr val="8B5CF6"/>
          </a:solidFill>
          <a:ln/>
        </p:spPr>
      </p:sp>
      <p:sp>
        <p:nvSpPr>
          <p:cNvPr id="3" name="Text 1"/>
          <p:cNvSpPr/>
          <p:nvPr/>
        </p:nvSpPr>
        <p:spPr>
          <a:xfrm>
            <a:off x="548640" y="50292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QUIZ 4</a:t>
            </a:r>
            <a:endParaRPr lang="en-US" sz="1100" dirty="0"/>
          </a:p>
        </p:txBody>
      </p:sp>
      <p:sp>
        <p:nvSpPr>
          <p:cNvPr id="4" name="Text 2"/>
          <p:cNvSpPr/>
          <p:nvPr/>
        </p:nvSpPr>
        <p:spPr>
          <a:xfrm>
            <a:off x="548640" y="1005840"/>
            <a:ext cx="11064240" cy="1005840"/>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Which array method removes an element from the START of an array?</a:t>
            </a:r>
            <a:endParaRPr lang="en-US" sz="3000" dirty="0"/>
          </a:p>
        </p:txBody>
      </p:sp>
      <p:sp>
        <p:nvSpPr>
          <p:cNvPr id="5" name="Shape 3"/>
          <p:cNvSpPr/>
          <p:nvPr/>
        </p:nvSpPr>
        <p:spPr>
          <a:xfrm>
            <a:off x="54864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22960" y="2715768"/>
            <a:ext cx="457200" cy="457200"/>
          </a:xfrm>
          <a:prstGeom prst="roundRect">
            <a:avLst>
              <a:gd name="adj" fmla="val 20000"/>
            </a:avLst>
          </a:prstGeom>
          <a:solidFill>
            <a:srgbClr val="2563EB"/>
          </a:solidFill>
          <a:ln/>
        </p:spPr>
      </p:sp>
      <p:sp>
        <p:nvSpPr>
          <p:cNvPr id="7" name="Text 5"/>
          <p:cNvSpPr/>
          <p:nvPr/>
        </p:nvSpPr>
        <p:spPr>
          <a:xfrm>
            <a:off x="82296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150876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pop()</a:t>
            </a:r>
            <a:endParaRPr lang="en-US" sz="1500" dirty="0"/>
          </a:p>
        </p:txBody>
      </p:sp>
      <p:sp>
        <p:nvSpPr>
          <p:cNvPr id="9" name="Shape 7"/>
          <p:cNvSpPr/>
          <p:nvPr/>
        </p:nvSpPr>
        <p:spPr>
          <a:xfrm>
            <a:off x="628650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0" name="Shape 8"/>
          <p:cNvSpPr/>
          <p:nvPr/>
        </p:nvSpPr>
        <p:spPr>
          <a:xfrm>
            <a:off x="6560820" y="2715768"/>
            <a:ext cx="457200" cy="457200"/>
          </a:xfrm>
          <a:prstGeom prst="roundRect">
            <a:avLst>
              <a:gd name="adj" fmla="val 20000"/>
            </a:avLst>
          </a:prstGeom>
          <a:solidFill>
            <a:srgbClr val="2563EB"/>
          </a:solidFill>
          <a:ln/>
        </p:spPr>
      </p:sp>
      <p:sp>
        <p:nvSpPr>
          <p:cNvPr id="11" name="Text 9"/>
          <p:cNvSpPr/>
          <p:nvPr/>
        </p:nvSpPr>
        <p:spPr>
          <a:xfrm>
            <a:off x="656082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724662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shift()</a:t>
            </a:r>
            <a:endParaRPr lang="en-US" sz="1500" dirty="0"/>
          </a:p>
        </p:txBody>
      </p:sp>
      <p:sp>
        <p:nvSpPr>
          <p:cNvPr id="13" name="Shape 11"/>
          <p:cNvSpPr/>
          <p:nvPr/>
        </p:nvSpPr>
        <p:spPr>
          <a:xfrm>
            <a:off x="54864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4" name="Shape 12"/>
          <p:cNvSpPr/>
          <p:nvPr/>
        </p:nvSpPr>
        <p:spPr>
          <a:xfrm>
            <a:off x="822960" y="4315968"/>
            <a:ext cx="457200" cy="457200"/>
          </a:xfrm>
          <a:prstGeom prst="roundRect">
            <a:avLst>
              <a:gd name="adj" fmla="val 20000"/>
            </a:avLst>
          </a:prstGeom>
          <a:solidFill>
            <a:srgbClr val="2563EB"/>
          </a:solidFill>
          <a:ln/>
        </p:spPr>
      </p:sp>
      <p:sp>
        <p:nvSpPr>
          <p:cNvPr id="15" name="Text 13"/>
          <p:cNvSpPr/>
          <p:nvPr/>
        </p:nvSpPr>
        <p:spPr>
          <a:xfrm>
            <a:off x="82296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6" name="Text 14"/>
          <p:cNvSpPr/>
          <p:nvPr/>
        </p:nvSpPr>
        <p:spPr>
          <a:xfrm>
            <a:off x="150876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unshift()</a:t>
            </a:r>
            <a:endParaRPr lang="en-US" sz="1500" dirty="0"/>
          </a:p>
        </p:txBody>
      </p:sp>
      <p:sp>
        <p:nvSpPr>
          <p:cNvPr id="17" name="Shape 15"/>
          <p:cNvSpPr/>
          <p:nvPr/>
        </p:nvSpPr>
        <p:spPr>
          <a:xfrm>
            <a:off x="628650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8" name="Shape 16"/>
          <p:cNvSpPr/>
          <p:nvPr/>
        </p:nvSpPr>
        <p:spPr>
          <a:xfrm>
            <a:off x="6560820" y="4315968"/>
            <a:ext cx="457200" cy="457200"/>
          </a:xfrm>
          <a:prstGeom prst="roundRect">
            <a:avLst>
              <a:gd name="adj" fmla="val 20000"/>
            </a:avLst>
          </a:prstGeom>
          <a:solidFill>
            <a:srgbClr val="2563EB"/>
          </a:solidFill>
          <a:ln/>
        </p:spPr>
      </p:sp>
      <p:sp>
        <p:nvSpPr>
          <p:cNvPr id="19" name="Text 17"/>
          <p:cNvSpPr/>
          <p:nvPr/>
        </p:nvSpPr>
        <p:spPr>
          <a:xfrm>
            <a:off x="656082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0" name="Text 18"/>
          <p:cNvSpPr/>
          <p:nvPr/>
        </p:nvSpPr>
        <p:spPr>
          <a:xfrm>
            <a:off x="724662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push()</a:t>
            </a:r>
            <a:endParaRPr lang="en-US" sz="1500" dirty="0"/>
          </a:p>
        </p:txBody>
      </p:sp>
      <p:sp>
        <p:nvSpPr>
          <p:cNvPr id="21" name="Shape 19"/>
          <p:cNvSpPr/>
          <p:nvPr/>
        </p:nvSpPr>
        <p:spPr>
          <a:xfrm>
            <a:off x="548640" y="5532120"/>
            <a:ext cx="11109960" cy="777240"/>
          </a:xfrm>
          <a:prstGeom prst="roundRect">
            <a:avLst>
              <a:gd name="adj" fmla="val 14118"/>
            </a:avLst>
          </a:prstGeom>
          <a:solidFill>
            <a:srgbClr val="E7FBEF"/>
          </a:solidFill>
          <a:ln/>
        </p:spPr>
      </p:sp>
      <p:sp>
        <p:nvSpPr>
          <p:cNvPr id="22" name="Shape 20"/>
          <p:cNvSpPr/>
          <p:nvPr/>
        </p:nvSpPr>
        <p:spPr>
          <a:xfrm>
            <a:off x="749808" y="5792724"/>
            <a:ext cx="256032" cy="256032"/>
          </a:xfrm>
          <a:prstGeom prst="ellipse">
            <a:avLst/>
          </a:prstGeom>
          <a:solidFill>
            <a:srgbClr val="22C55E"/>
          </a:solidFill>
          <a:ln/>
        </p:spPr>
      </p:sp>
      <p:sp>
        <p:nvSpPr>
          <p:cNvPr id="23" name="Text 21"/>
          <p:cNvSpPr/>
          <p:nvPr/>
        </p:nvSpPr>
        <p:spPr>
          <a:xfrm>
            <a:off x="1207008" y="5532120"/>
            <a:ext cx="10241280" cy="77724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Rows of four, one scribe. Two of these add and two remove. Sort them into the right pairs first.</a:t>
            </a:r>
            <a:endParaRPr lang="en-US" sz="1400" dirty="0"/>
          </a:p>
        </p:txBody>
      </p:sp>
      <p:sp>
        <p:nvSpPr>
          <p:cNvPr id="24"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Introduction to JavaScript</a:t>
            </a:r>
            <a:endParaRPr lang="en-US" sz="1000" dirty="0"/>
          </a:p>
        </p:txBody>
      </p:sp>
      <p:sp>
        <p:nvSpPr>
          <p:cNvPr id="25"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7ED"/>
        </a:solidFill>
      </p:bgPr>
    </p:bg>
    <p:spTree>
      <p:nvGrpSpPr>
        <p:cNvPr id="1" name=""/>
        <p:cNvGrpSpPr/>
        <p:nvPr/>
      </p:nvGrpSpPr>
      <p:grpSpPr>
        <a:xfrm>
          <a:off x="0" y="0"/>
          <a:ext cx="0" cy="0"/>
          <a:chOff x="0" y="0"/>
          <a:chExt cx="0" cy="0"/>
        </a:xfrm>
      </p:grpSpPr>
      <p:sp>
        <p:nvSpPr>
          <p:cNvPr id="2" name="Shape 0"/>
          <p:cNvSpPr/>
          <p:nvPr/>
        </p:nvSpPr>
        <p:spPr>
          <a:xfrm>
            <a:off x="548640" y="502920"/>
            <a:ext cx="1920240" cy="310896"/>
          </a:xfrm>
          <a:prstGeom prst="roundRect">
            <a:avLst>
              <a:gd name="adj" fmla="val 50000"/>
            </a:avLst>
          </a:prstGeom>
          <a:solidFill>
            <a:srgbClr val="2563EB"/>
          </a:solidFill>
          <a:ln/>
        </p:spPr>
      </p:sp>
      <p:sp>
        <p:nvSpPr>
          <p:cNvPr id="3" name="Text 1"/>
          <p:cNvSpPr/>
          <p:nvPr/>
        </p:nvSpPr>
        <p:spPr>
          <a:xfrm>
            <a:off x="548640" y="502920"/>
            <a:ext cx="19202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CLASS ACTIVITY</a:t>
            </a:r>
            <a:endParaRPr lang="en-US" sz="1100" dirty="0"/>
          </a:p>
        </p:txBody>
      </p:sp>
      <p:sp>
        <p:nvSpPr>
          <p:cNvPr id="4" name="Text 2"/>
          <p:cNvSpPr/>
          <p:nvPr/>
        </p:nvSpPr>
        <p:spPr>
          <a:xfrm>
            <a:off x="548640" y="960120"/>
            <a:ext cx="8686800" cy="731520"/>
          </a:xfrm>
          <a:prstGeom prst="rect">
            <a:avLst/>
          </a:prstGeom>
          <a:noFill/>
          <a:ln/>
        </p:spPr>
        <p:txBody>
          <a:bodyPr wrap="square" lIns="0" tIns="0" rIns="0" bIns="0" rtlCol="0" anchor="ctr"/>
          <a:lstStyle/>
          <a:p>
            <a:pPr algn="l" indent="0" marL="0">
              <a:buNone/>
            </a:pPr>
            <a:r>
              <a:rPr lang="en-US" sz="3200" b="1" dirty="0">
                <a:solidFill>
                  <a:srgbClr val="0F172A"/>
                </a:solidFill>
                <a:latin typeface="Calibri" pitchFamily="34" charset="0"/>
                <a:ea typeface="Calibri" pitchFamily="34" charset="-122"/>
                <a:cs typeface="Calibri" pitchFamily="34" charset="-120"/>
              </a:rPr>
              <a:t>Your turn: reverse a string</a:t>
            </a:r>
            <a:endParaRPr lang="en-US" sz="3200" dirty="0"/>
          </a:p>
        </p:txBody>
      </p:sp>
      <p:sp>
        <p:nvSpPr>
          <p:cNvPr id="5" name="Shape 3"/>
          <p:cNvSpPr/>
          <p:nvPr/>
        </p:nvSpPr>
        <p:spPr>
          <a:xfrm>
            <a:off x="9235440" y="502920"/>
            <a:ext cx="2423160" cy="1051560"/>
          </a:xfrm>
          <a:prstGeom prst="roundRect">
            <a:avLst>
              <a:gd name="adj" fmla="val 10435"/>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9372600" y="658368"/>
            <a:ext cx="457200" cy="457200"/>
          </a:xfrm>
          <a:prstGeom prst="ellipse">
            <a:avLst/>
          </a:prstGeom>
          <a:solidFill>
            <a:srgbClr val="FFF1E0"/>
          </a:solidFill>
          <a:ln/>
        </p:spPr>
      </p:sp>
      <p:pic>
        <p:nvPicPr>
          <p:cNvPr id="7" name="Image 0" descr="preencoded.png">    </p:cNvPr>
          <p:cNvPicPr>
            <a:picLocks noChangeAspect="1"/>
          </p:cNvPicPr>
          <p:nvPr/>
        </p:nvPicPr>
        <p:blipFill>
          <a:blip r:embed="rId1"/>
          <a:stretch>
            <a:fillRect/>
          </a:stretch>
        </p:blipFill>
        <p:spPr>
          <a:xfrm>
            <a:off x="9491472" y="777240"/>
            <a:ext cx="219456" cy="219456"/>
          </a:xfrm>
          <a:prstGeom prst="rect">
            <a:avLst/>
          </a:prstGeom>
        </p:spPr>
      </p:pic>
      <p:sp>
        <p:nvSpPr>
          <p:cNvPr id="8" name="Text 5"/>
          <p:cNvSpPr/>
          <p:nvPr/>
        </p:nvSpPr>
        <p:spPr>
          <a:xfrm>
            <a:off x="9921240" y="658368"/>
            <a:ext cx="1783080" cy="457200"/>
          </a:xfrm>
          <a:prstGeom prst="rect">
            <a:avLst/>
          </a:prstGeom>
          <a:noFill/>
          <a:ln/>
        </p:spPr>
        <p:txBody>
          <a:bodyPr wrap="square" lIns="0" tIns="0" rIns="0" bIns="0" rtlCol="0" anchor="ctr"/>
          <a:lstStyle/>
          <a:p>
            <a:pPr algn="l" indent="0" marL="0">
              <a:buNone/>
            </a:pPr>
            <a:r>
              <a:rPr lang="en-US" sz="1250" b="1" dirty="0">
                <a:solidFill>
                  <a:srgbClr val="0F172A"/>
                </a:solidFill>
                <a:latin typeface="Calibri" pitchFamily="34" charset="0"/>
                <a:ea typeface="Calibri" pitchFamily="34" charset="-122"/>
                <a:cs typeface="Calibri" pitchFamily="34" charset="-120"/>
              </a:rPr>
              <a:t>Rows of four, one scribe</a:t>
            </a:r>
            <a:endParaRPr lang="en-US" sz="1250" dirty="0"/>
          </a:p>
        </p:txBody>
      </p:sp>
      <p:sp>
        <p:nvSpPr>
          <p:cNvPr id="9" name="Text 6"/>
          <p:cNvSpPr/>
          <p:nvPr/>
        </p:nvSpPr>
        <p:spPr>
          <a:xfrm>
            <a:off x="9372600" y="1170432"/>
            <a:ext cx="2194560" cy="274320"/>
          </a:xfrm>
          <a:prstGeom prst="rect">
            <a:avLst/>
          </a:prstGeom>
          <a:noFill/>
          <a:ln/>
        </p:spPr>
        <p:txBody>
          <a:bodyPr wrap="square" lIns="0" tIns="0" rIns="0" bIns="0" rtlCol="0" anchor="ctr"/>
          <a:lstStyle/>
          <a:p>
            <a:pPr algn="l" indent="0" marL="0">
              <a:buNone/>
            </a:pPr>
            <a:r>
              <a:rPr lang="en-US" sz="1200" b="1" dirty="0">
                <a:solidFill>
                  <a:srgbClr val="64748B"/>
                </a:solidFill>
                <a:latin typeface="Calibri" pitchFamily="34" charset="0"/>
                <a:ea typeface="Calibri" pitchFamily="34" charset="-122"/>
                <a:cs typeface="Calibri" pitchFamily="34" charset="-120"/>
              </a:rPr>
              <a:t>Time: 7 min</a:t>
            </a:r>
            <a:endParaRPr lang="en-US" sz="1200" dirty="0"/>
          </a:p>
        </p:txBody>
      </p:sp>
      <p:sp>
        <p:nvSpPr>
          <p:cNvPr id="10" name="Shape 7"/>
          <p:cNvSpPr/>
          <p:nvPr/>
        </p:nvSpPr>
        <p:spPr>
          <a:xfrm>
            <a:off x="548640" y="1920240"/>
            <a:ext cx="11109960" cy="1371600"/>
          </a:xfrm>
          <a:prstGeom prst="roundRect">
            <a:avLst>
              <a:gd name="adj" fmla="val 8000"/>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1" name="Text 8"/>
          <p:cNvSpPr/>
          <p:nvPr/>
        </p:nvSpPr>
        <p:spPr>
          <a:xfrm>
            <a:off x="822960" y="1920240"/>
            <a:ext cx="10607040" cy="1371600"/>
          </a:xfrm>
          <a:prstGeom prst="rect">
            <a:avLst/>
          </a:prstGeom>
          <a:noFill/>
          <a:ln/>
        </p:spPr>
        <p:txBody>
          <a:bodyPr wrap="square" lIns="0" tIns="0" rIns="0" bIns="0" rtlCol="0" anchor="ctr"/>
          <a:lstStyle/>
          <a:p>
            <a:pPr algn="l" indent="0" marL="0">
              <a:buNone/>
            </a:pPr>
            <a:r>
              <a:rPr lang="en-US" sz="1300" b="1" dirty="0">
                <a:solidFill>
                  <a:srgbClr val="2563EB"/>
                </a:solidFill>
                <a:latin typeface="Calibri" pitchFamily="34" charset="0"/>
                <a:ea typeface="Calibri" pitchFamily="34" charset="-122"/>
                <a:cs typeface="Calibri" pitchFamily="34" charset="-120"/>
              </a:rPr>
              <a:t>PROMPT   </a:t>
            </a:r>
            <a:pPr algn="l" indent="0" marL="0">
              <a:buNone/>
            </a:pPr>
            <a:r>
              <a:rPr lang="en-US" sz="1700" dirty="0">
                <a:solidFill>
                  <a:srgbClr val="0F172A"/>
                </a:solidFill>
                <a:latin typeface="Calibri" pitchFamily="34" charset="0"/>
                <a:ea typeface="Calibri" pitchFamily="34" charset="-122"/>
                <a:cs typeface="Calibri" pitchFamily="34" charset="-120"/>
              </a:rPr>
              <a:t>Solve JS Core - String Manipulation: Reverse a string from the assignment.</a:t>
            </a:r>
            <a:endParaRPr lang="en-US" sz="1300" dirty="0"/>
          </a:p>
        </p:txBody>
      </p:sp>
      <p:sp>
        <p:nvSpPr>
          <p:cNvPr id="12" name="Shape 9"/>
          <p:cNvSpPr/>
          <p:nvPr/>
        </p:nvSpPr>
        <p:spPr>
          <a:xfrm>
            <a:off x="685800" y="3657600"/>
            <a:ext cx="457200" cy="457200"/>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3" name="Text 10"/>
          <p:cNvSpPr/>
          <p:nvPr/>
        </p:nvSpPr>
        <p:spPr>
          <a:xfrm>
            <a:off x="685800" y="3657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Text 11"/>
          <p:cNvSpPr/>
          <p:nvPr/>
        </p:nvSpPr>
        <p:spPr>
          <a:xfrm>
            <a:off x="1325880" y="3630168"/>
            <a:ext cx="10149840" cy="512064"/>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Take 7 minutes on your own. Read the problem statement fully first</a:t>
            </a:r>
            <a:endParaRPr lang="en-US" sz="1500" dirty="0"/>
          </a:p>
        </p:txBody>
      </p:sp>
      <p:sp>
        <p:nvSpPr>
          <p:cNvPr id="15" name="Shape 12"/>
          <p:cNvSpPr/>
          <p:nvPr/>
        </p:nvSpPr>
        <p:spPr>
          <a:xfrm>
            <a:off x="685800" y="4443984"/>
            <a:ext cx="457200" cy="457200"/>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6" name="Text 13"/>
          <p:cNvSpPr/>
          <p:nvPr/>
        </p:nvSpPr>
        <p:spPr>
          <a:xfrm>
            <a:off x="685800" y="44439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4"/>
          <p:cNvSpPr/>
          <p:nvPr/>
        </p:nvSpPr>
        <p:spPr>
          <a:xfrm>
            <a:off x="1325880" y="4416552"/>
            <a:ext cx="10149840" cy="512064"/>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Think about how you would step through the characters backwards</a:t>
            </a:r>
            <a:endParaRPr lang="en-US" sz="1500" dirty="0"/>
          </a:p>
        </p:txBody>
      </p:sp>
      <p:sp>
        <p:nvSpPr>
          <p:cNvPr id="18" name="Shape 15"/>
          <p:cNvSpPr/>
          <p:nvPr/>
        </p:nvSpPr>
        <p:spPr>
          <a:xfrm>
            <a:off x="685800" y="5230368"/>
            <a:ext cx="457200" cy="457200"/>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9" name="Text 16"/>
          <p:cNvSpPr/>
          <p:nvPr/>
        </p:nvSpPr>
        <p:spPr>
          <a:xfrm>
            <a:off x="685800" y="52303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1325880" y="5202936"/>
            <a:ext cx="10149840" cy="512064"/>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Rows of four: compare approaches, not just answers</a:t>
            </a:r>
            <a:endParaRPr lang="en-US" sz="1500" dirty="0"/>
          </a:p>
        </p:txBody>
      </p:sp>
      <p:sp>
        <p:nvSpPr>
          <p:cNvPr id="21" name="Shape 18"/>
          <p:cNvSpPr/>
          <p:nvPr/>
        </p:nvSpPr>
        <p:spPr>
          <a:xfrm>
            <a:off x="685800" y="6016752"/>
            <a:ext cx="457200" cy="457200"/>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22" name="Text 19"/>
          <p:cNvSpPr/>
          <p:nvPr/>
        </p:nvSpPr>
        <p:spPr>
          <a:xfrm>
            <a:off x="685800" y="60167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0"/>
          <p:cNvSpPr/>
          <p:nvPr/>
        </p:nvSpPr>
        <p:spPr>
          <a:xfrm>
            <a:off x="1325880" y="5989320"/>
            <a:ext cx="10149840" cy="512064"/>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Hands up if your row wants me to unfold the ask before we solve it</a:t>
            </a:r>
            <a:endParaRPr lang="en-US" sz="1500" dirty="0"/>
          </a:p>
        </p:txBody>
      </p:sp>
      <p:sp>
        <p:nvSpPr>
          <p:cNvPr id="24" name="Text 21"/>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Introduction to JavaScript</a:t>
            </a:r>
            <a:endParaRPr lang="en-US" sz="1000" dirty="0"/>
          </a:p>
        </p:txBody>
      </p:sp>
      <p:sp>
        <p:nvSpPr>
          <p:cNvPr id="25" name="Text 22"/>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509760" y="-1371600"/>
            <a:ext cx="4572000" cy="4572000"/>
          </a:xfrm>
          <a:prstGeom prst="ellipse">
            <a:avLst/>
          </a:prstGeom>
          <a:solidFill>
            <a:srgbClr val="1B2A4A"/>
          </a:solidFill>
          <a:ln/>
        </p:spPr>
      </p:sp>
      <p:sp>
        <p:nvSpPr>
          <p:cNvPr id="3" name="Shape 1"/>
          <p:cNvSpPr/>
          <p:nvPr/>
        </p:nvSpPr>
        <p:spPr>
          <a:xfrm>
            <a:off x="822960" y="548640"/>
            <a:ext cx="1371600" cy="310896"/>
          </a:xfrm>
          <a:prstGeom prst="roundRect">
            <a:avLst>
              <a:gd name="adj" fmla="val 50000"/>
            </a:avLst>
          </a:prstGeom>
          <a:solidFill>
            <a:srgbClr val="2563EB"/>
          </a:solidFill>
          <a:ln/>
        </p:spPr>
      </p:sp>
      <p:sp>
        <p:nvSpPr>
          <p:cNvPr id="4" name="Text 2"/>
          <p:cNvSpPr/>
          <p:nvPr/>
        </p:nvSpPr>
        <p:spPr>
          <a:xfrm>
            <a:off x="822960" y="54864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RECAP</a:t>
            </a:r>
            <a:endParaRPr lang="en-US" sz="1100" dirty="0"/>
          </a:p>
        </p:txBody>
      </p:sp>
      <p:sp>
        <p:nvSpPr>
          <p:cNvPr id="5" name="Text 3"/>
          <p:cNvSpPr/>
          <p:nvPr/>
        </p:nvSpPr>
        <p:spPr>
          <a:xfrm>
            <a:off x="777240" y="960120"/>
            <a:ext cx="10058400" cy="73152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The whole picture</a:t>
            </a:r>
            <a:endParaRPr lang="en-US" sz="3600" dirty="0"/>
          </a:p>
        </p:txBody>
      </p:sp>
      <p:sp>
        <p:nvSpPr>
          <p:cNvPr id="6" name="Shape 4"/>
          <p:cNvSpPr/>
          <p:nvPr/>
        </p:nvSpPr>
        <p:spPr>
          <a:xfrm>
            <a:off x="777240" y="19659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7" name="Shape 5"/>
          <p:cNvSpPr/>
          <p:nvPr/>
        </p:nvSpPr>
        <p:spPr>
          <a:xfrm>
            <a:off x="1005840" y="2286000"/>
            <a:ext cx="594360" cy="594360"/>
          </a:xfrm>
          <a:prstGeom prst="ellipse">
            <a:avLst/>
          </a:prstGeom>
          <a:solidFill>
            <a:srgbClr val="2563EB"/>
          </a:solidFill>
          <a:ln/>
        </p:spPr>
      </p:sp>
      <p:pic>
        <p:nvPicPr>
          <p:cNvPr id="8" name="Image 0" descr="preencoded.png">    </p:cNvPr>
          <p:cNvPicPr>
            <a:picLocks noChangeAspect="1"/>
          </p:cNvPicPr>
          <p:nvPr/>
        </p:nvPicPr>
        <p:blipFill>
          <a:blip r:embed="rId1"/>
          <a:stretch>
            <a:fillRect/>
          </a:stretch>
        </p:blipFill>
        <p:spPr>
          <a:xfrm>
            <a:off x="1160374" y="2440534"/>
            <a:ext cx="285293" cy="285293"/>
          </a:xfrm>
          <a:prstGeom prst="rect">
            <a:avLst/>
          </a:prstGeom>
        </p:spPr>
      </p:pic>
      <p:sp>
        <p:nvSpPr>
          <p:cNvPr id="9" name="Text 6"/>
          <p:cNvSpPr/>
          <p:nvPr/>
        </p:nvSpPr>
        <p:spPr>
          <a:xfrm>
            <a:off x="1783080" y="2130552"/>
            <a:ext cx="420624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JavaScript</a:t>
            </a:r>
            <a:endParaRPr lang="en-US" sz="1400" dirty="0"/>
          </a:p>
        </p:txBody>
      </p:sp>
      <p:sp>
        <p:nvSpPr>
          <p:cNvPr id="10" name="Text 7"/>
          <p:cNvSpPr/>
          <p:nvPr/>
        </p:nvSpPr>
        <p:spPr>
          <a:xfrm>
            <a:off x="1783080" y="2532888"/>
            <a:ext cx="4206240" cy="594360"/>
          </a:xfrm>
          <a:prstGeom prst="rect">
            <a:avLst/>
          </a:prstGeom>
          <a:noFill/>
          <a:ln/>
        </p:spPr>
        <p:txBody>
          <a:bodyPr wrap="square" lIns="0" tIns="0" rIns="0" bIns="0" rtlCol="0" anchor="t"/>
          <a:lstStyle/>
          <a:p>
            <a:pPr algn="l" indent="0" marL="0">
              <a:buNone/>
            </a:pPr>
            <a:r>
              <a:rPr lang="en-US" sz="1200" dirty="0">
                <a:solidFill>
                  <a:srgbClr val="C7DBFF"/>
                </a:solidFill>
                <a:latin typeface="Calibri" pitchFamily="34" charset="0"/>
                <a:ea typeface="Calibri" pitchFamily="34" charset="-122"/>
                <a:cs typeface="Calibri" pitchFamily="34" charset="-120"/>
              </a:rPr>
              <a:t>adds interactivity; engines like V8 run it</a:t>
            </a:r>
            <a:endParaRPr lang="en-US" sz="1200" dirty="0"/>
          </a:p>
        </p:txBody>
      </p:sp>
      <p:sp>
        <p:nvSpPr>
          <p:cNvPr id="11" name="Shape 8"/>
          <p:cNvSpPr/>
          <p:nvPr/>
        </p:nvSpPr>
        <p:spPr>
          <a:xfrm>
            <a:off x="6446520" y="19659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12" name="Shape 9"/>
          <p:cNvSpPr/>
          <p:nvPr/>
        </p:nvSpPr>
        <p:spPr>
          <a:xfrm>
            <a:off x="6675120" y="2286000"/>
            <a:ext cx="594360" cy="594360"/>
          </a:xfrm>
          <a:prstGeom prst="ellipse">
            <a:avLst/>
          </a:prstGeom>
          <a:solidFill>
            <a:srgbClr val="2563EB"/>
          </a:solidFill>
          <a:ln/>
        </p:spPr>
      </p:sp>
      <p:pic>
        <p:nvPicPr>
          <p:cNvPr id="13" name="Image 1" descr="preencoded.png">    </p:cNvPr>
          <p:cNvPicPr>
            <a:picLocks noChangeAspect="1"/>
          </p:cNvPicPr>
          <p:nvPr/>
        </p:nvPicPr>
        <p:blipFill>
          <a:blip r:embed="rId2"/>
          <a:stretch>
            <a:fillRect/>
          </a:stretch>
        </p:blipFill>
        <p:spPr>
          <a:xfrm>
            <a:off x="6829654" y="2440534"/>
            <a:ext cx="285293" cy="285293"/>
          </a:xfrm>
          <a:prstGeom prst="rect">
            <a:avLst/>
          </a:prstGeom>
        </p:spPr>
      </p:pic>
      <p:sp>
        <p:nvSpPr>
          <p:cNvPr id="14" name="Text 10"/>
          <p:cNvSpPr/>
          <p:nvPr/>
        </p:nvSpPr>
        <p:spPr>
          <a:xfrm>
            <a:off x="7452360" y="2130552"/>
            <a:ext cx="420624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Node.js</a:t>
            </a:r>
            <a:endParaRPr lang="en-US" sz="1400" dirty="0"/>
          </a:p>
        </p:txBody>
      </p:sp>
      <p:sp>
        <p:nvSpPr>
          <p:cNvPr id="15" name="Text 11"/>
          <p:cNvSpPr/>
          <p:nvPr/>
        </p:nvSpPr>
        <p:spPr>
          <a:xfrm>
            <a:off x="7452360" y="2532888"/>
            <a:ext cx="4206240" cy="594360"/>
          </a:xfrm>
          <a:prstGeom prst="rect">
            <a:avLst/>
          </a:prstGeom>
          <a:noFill/>
          <a:ln/>
        </p:spPr>
        <p:txBody>
          <a:bodyPr wrap="square" lIns="0" tIns="0" rIns="0" bIns="0" rtlCol="0" anchor="t"/>
          <a:lstStyle/>
          <a:p>
            <a:pPr algn="l" indent="0" marL="0">
              <a:buNone/>
            </a:pPr>
            <a:r>
              <a:rPr lang="en-US" sz="1200" dirty="0">
                <a:solidFill>
                  <a:srgbClr val="C7DBFF"/>
                </a:solidFill>
                <a:latin typeface="Calibri" pitchFamily="34" charset="0"/>
                <a:ea typeface="Calibri" pitchFamily="34" charset="-122"/>
                <a:cs typeface="Calibri" pitchFamily="34" charset="-120"/>
              </a:rPr>
              <a:t>the same engine, running outside the browser</a:t>
            </a:r>
            <a:endParaRPr lang="en-US" sz="1200" dirty="0"/>
          </a:p>
        </p:txBody>
      </p:sp>
      <p:sp>
        <p:nvSpPr>
          <p:cNvPr id="16" name="Shape 12"/>
          <p:cNvSpPr/>
          <p:nvPr/>
        </p:nvSpPr>
        <p:spPr>
          <a:xfrm>
            <a:off x="777240" y="33375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17" name="Shape 13"/>
          <p:cNvSpPr/>
          <p:nvPr/>
        </p:nvSpPr>
        <p:spPr>
          <a:xfrm>
            <a:off x="1005840" y="3657600"/>
            <a:ext cx="594360" cy="594360"/>
          </a:xfrm>
          <a:prstGeom prst="ellipse">
            <a:avLst/>
          </a:prstGeom>
          <a:solidFill>
            <a:srgbClr val="2563EB"/>
          </a:solidFill>
          <a:ln/>
        </p:spPr>
      </p:sp>
      <p:pic>
        <p:nvPicPr>
          <p:cNvPr id="18" name="Image 2" descr="preencoded.png">    </p:cNvPr>
          <p:cNvPicPr>
            <a:picLocks noChangeAspect="1"/>
          </p:cNvPicPr>
          <p:nvPr/>
        </p:nvPicPr>
        <p:blipFill>
          <a:blip r:embed="rId3"/>
          <a:stretch>
            <a:fillRect/>
          </a:stretch>
        </p:blipFill>
        <p:spPr>
          <a:xfrm>
            <a:off x="1160374" y="3812134"/>
            <a:ext cx="285293" cy="285293"/>
          </a:xfrm>
          <a:prstGeom prst="rect">
            <a:avLst/>
          </a:prstGeom>
        </p:spPr>
      </p:pic>
      <p:sp>
        <p:nvSpPr>
          <p:cNvPr id="19" name="Text 14"/>
          <p:cNvSpPr/>
          <p:nvPr/>
        </p:nvSpPr>
        <p:spPr>
          <a:xfrm>
            <a:off x="1783080" y="3502152"/>
            <a:ext cx="420624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var, let, const</a:t>
            </a:r>
            <a:endParaRPr lang="en-US" sz="1400" dirty="0"/>
          </a:p>
        </p:txBody>
      </p:sp>
      <p:sp>
        <p:nvSpPr>
          <p:cNvPr id="20" name="Text 15"/>
          <p:cNvSpPr/>
          <p:nvPr/>
        </p:nvSpPr>
        <p:spPr>
          <a:xfrm>
            <a:off x="1783080" y="3904488"/>
            <a:ext cx="4206240" cy="594360"/>
          </a:xfrm>
          <a:prstGeom prst="rect">
            <a:avLst/>
          </a:prstGeom>
          <a:noFill/>
          <a:ln/>
        </p:spPr>
        <p:txBody>
          <a:bodyPr wrap="square" lIns="0" tIns="0" rIns="0" bIns="0" rtlCol="0" anchor="t"/>
          <a:lstStyle/>
          <a:p>
            <a:pPr algn="l" indent="0" marL="0">
              <a:buNone/>
            </a:pPr>
            <a:r>
              <a:rPr lang="en-US" sz="1200" dirty="0">
                <a:solidFill>
                  <a:srgbClr val="C7DBFF"/>
                </a:solidFill>
                <a:latin typeface="Calibri" pitchFamily="34" charset="0"/>
                <a:ea typeface="Calibri" pitchFamily="34" charset="-122"/>
                <a:cs typeface="Calibri" pitchFamily="34" charset="-120"/>
              </a:rPr>
              <a:t>var re-declares, let re-assigns, const locks</a:t>
            </a:r>
            <a:endParaRPr lang="en-US" sz="1200" dirty="0"/>
          </a:p>
        </p:txBody>
      </p:sp>
      <p:sp>
        <p:nvSpPr>
          <p:cNvPr id="21" name="Shape 16"/>
          <p:cNvSpPr/>
          <p:nvPr/>
        </p:nvSpPr>
        <p:spPr>
          <a:xfrm>
            <a:off x="6446520" y="33375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22" name="Shape 17"/>
          <p:cNvSpPr/>
          <p:nvPr/>
        </p:nvSpPr>
        <p:spPr>
          <a:xfrm>
            <a:off x="6675120" y="3657600"/>
            <a:ext cx="594360" cy="594360"/>
          </a:xfrm>
          <a:prstGeom prst="ellipse">
            <a:avLst/>
          </a:prstGeom>
          <a:solidFill>
            <a:srgbClr val="2563EB"/>
          </a:solidFill>
          <a:ln/>
        </p:spPr>
      </p:sp>
      <p:pic>
        <p:nvPicPr>
          <p:cNvPr id="23" name="Image 3" descr="preencoded.png">    </p:cNvPr>
          <p:cNvPicPr>
            <a:picLocks noChangeAspect="1"/>
          </p:cNvPicPr>
          <p:nvPr/>
        </p:nvPicPr>
        <p:blipFill>
          <a:blip r:embed="rId4"/>
          <a:stretch>
            <a:fillRect/>
          </a:stretch>
        </p:blipFill>
        <p:spPr>
          <a:xfrm>
            <a:off x="6829654" y="3812134"/>
            <a:ext cx="285293" cy="285293"/>
          </a:xfrm>
          <a:prstGeom prst="rect">
            <a:avLst/>
          </a:prstGeom>
        </p:spPr>
      </p:pic>
      <p:sp>
        <p:nvSpPr>
          <p:cNvPr id="24" name="Text 18"/>
          <p:cNvSpPr/>
          <p:nvPr/>
        </p:nvSpPr>
        <p:spPr>
          <a:xfrm>
            <a:off x="7452360" y="3502152"/>
            <a:ext cx="420624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Primitive types</a:t>
            </a:r>
            <a:endParaRPr lang="en-US" sz="1400" dirty="0"/>
          </a:p>
        </p:txBody>
      </p:sp>
      <p:sp>
        <p:nvSpPr>
          <p:cNvPr id="25" name="Text 19"/>
          <p:cNvSpPr/>
          <p:nvPr/>
        </p:nvSpPr>
        <p:spPr>
          <a:xfrm>
            <a:off x="7452360" y="3904488"/>
            <a:ext cx="4206240" cy="594360"/>
          </a:xfrm>
          <a:prstGeom prst="rect">
            <a:avLst/>
          </a:prstGeom>
          <a:noFill/>
          <a:ln/>
        </p:spPr>
        <p:txBody>
          <a:bodyPr wrap="square" lIns="0" tIns="0" rIns="0" bIns="0" rtlCol="0" anchor="t"/>
          <a:lstStyle/>
          <a:p>
            <a:pPr algn="l" indent="0" marL="0">
              <a:buNone/>
            </a:pPr>
            <a:r>
              <a:rPr lang="en-US" sz="1200" dirty="0">
                <a:solidFill>
                  <a:srgbClr val="C7DBFF"/>
                </a:solidFill>
                <a:latin typeface="Calibri" pitchFamily="34" charset="0"/>
                <a:ea typeface="Calibri" pitchFamily="34" charset="-122"/>
                <a:cs typeface="Calibri" pitchFamily="34" charset="-120"/>
              </a:rPr>
              <a:t>number, string, boolean, undefined, null</a:t>
            </a:r>
            <a:endParaRPr lang="en-US" sz="1200" dirty="0"/>
          </a:p>
        </p:txBody>
      </p:sp>
      <p:sp>
        <p:nvSpPr>
          <p:cNvPr id="26" name="Shape 20"/>
          <p:cNvSpPr/>
          <p:nvPr/>
        </p:nvSpPr>
        <p:spPr>
          <a:xfrm>
            <a:off x="777240" y="47091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27" name="Shape 21"/>
          <p:cNvSpPr/>
          <p:nvPr/>
        </p:nvSpPr>
        <p:spPr>
          <a:xfrm>
            <a:off x="1005840" y="5029200"/>
            <a:ext cx="594360" cy="594360"/>
          </a:xfrm>
          <a:prstGeom prst="ellipse">
            <a:avLst/>
          </a:prstGeom>
          <a:solidFill>
            <a:srgbClr val="2563EB"/>
          </a:solidFill>
          <a:ln/>
        </p:spPr>
      </p:sp>
      <p:pic>
        <p:nvPicPr>
          <p:cNvPr id="28" name="Image 4" descr="preencoded.png">    </p:cNvPr>
          <p:cNvPicPr>
            <a:picLocks noChangeAspect="1"/>
          </p:cNvPicPr>
          <p:nvPr/>
        </p:nvPicPr>
        <p:blipFill>
          <a:blip r:embed="rId5"/>
          <a:stretch>
            <a:fillRect/>
          </a:stretch>
        </p:blipFill>
        <p:spPr>
          <a:xfrm>
            <a:off x="1160374" y="5183734"/>
            <a:ext cx="285293" cy="285293"/>
          </a:xfrm>
          <a:prstGeom prst="rect">
            <a:avLst/>
          </a:prstGeom>
        </p:spPr>
      </p:pic>
      <p:sp>
        <p:nvSpPr>
          <p:cNvPr id="29" name="Text 22"/>
          <p:cNvSpPr/>
          <p:nvPr/>
        </p:nvSpPr>
        <p:spPr>
          <a:xfrm>
            <a:off x="1783080" y="4873752"/>
            <a:ext cx="420624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Functions</a:t>
            </a:r>
            <a:endParaRPr lang="en-US" sz="1400" dirty="0"/>
          </a:p>
        </p:txBody>
      </p:sp>
      <p:sp>
        <p:nvSpPr>
          <p:cNvPr id="30" name="Text 23"/>
          <p:cNvSpPr/>
          <p:nvPr/>
        </p:nvSpPr>
        <p:spPr>
          <a:xfrm>
            <a:off x="1783080" y="5276088"/>
            <a:ext cx="4206240" cy="594360"/>
          </a:xfrm>
          <a:prstGeom prst="rect">
            <a:avLst/>
          </a:prstGeom>
          <a:noFill/>
          <a:ln/>
        </p:spPr>
        <p:txBody>
          <a:bodyPr wrap="square" lIns="0" tIns="0" rIns="0" bIns="0" rtlCol="0" anchor="t"/>
          <a:lstStyle/>
          <a:p>
            <a:pPr algn="l" indent="0" marL="0">
              <a:buNone/>
            </a:pPr>
            <a:r>
              <a:rPr lang="en-US" sz="1200" dirty="0">
                <a:solidFill>
                  <a:srgbClr val="C7DBFF"/>
                </a:solidFill>
                <a:latin typeface="Calibri" pitchFamily="34" charset="0"/>
                <a:ea typeface="Calibri" pitchFamily="34" charset="-122"/>
                <a:cs typeface="Calibri" pitchFamily="34" charset="-120"/>
              </a:rPr>
              <a:t>declare once, invoke as often as you need</a:t>
            </a:r>
            <a:endParaRPr lang="en-US" sz="1200" dirty="0"/>
          </a:p>
        </p:txBody>
      </p:sp>
      <p:sp>
        <p:nvSpPr>
          <p:cNvPr id="31" name="Shape 24"/>
          <p:cNvSpPr/>
          <p:nvPr/>
        </p:nvSpPr>
        <p:spPr>
          <a:xfrm>
            <a:off x="6446520" y="4709160"/>
            <a:ext cx="5394960" cy="1234440"/>
          </a:xfrm>
          <a:prstGeom prst="roundRect">
            <a:avLst>
              <a:gd name="adj" fmla="val 8889"/>
            </a:avLst>
          </a:prstGeom>
          <a:solidFill>
            <a:srgbClr val="1B2A4A"/>
          </a:solidFill>
          <a:ln/>
          <a:effectLst>
            <a:outerShdw sx="100000" sy="100000" kx="0" ky="0" algn="bl" rotWithShape="0" blurRad="101600" dist="38100" dir="5400000">
              <a:srgbClr val="0B1220">
                <a:alpha val="18000"/>
              </a:srgbClr>
            </a:outerShdw>
          </a:effectLst>
        </p:spPr>
      </p:sp>
      <p:sp>
        <p:nvSpPr>
          <p:cNvPr id="32" name="Shape 25"/>
          <p:cNvSpPr/>
          <p:nvPr/>
        </p:nvSpPr>
        <p:spPr>
          <a:xfrm>
            <a:off x="6675120" y="5029200"/>
            <a:ext cx="594360" cy="594360"/>
          </a:xfrm>
          <a:prstGeom prst="ellipse">
            <a:avLst/>
          </a:prstGeom>
          <a:solidFill>
            <a:srgbClr val="2563EB"/>
          </a:solidFill>
          <a:ln/>
        </p:spPr>
      </p:sp>
      <p:pic>
        <p:nvPicPr>
          <p:cNvPr id="33" name="Image 5" descr="preencoded.png">    </p:cNvPr>
          <p:cNvPicPr>
            <a:picLocks noChangeAspect="1"/>
          </p:cNvPicPr>
          <p:nvPr/>
        </p:nvPicPr>
        <p:blipFill>
          <a:blip r:embed="rId6"/>
          <a:stretch>
            <a:fillRect/>
          </a:stretch>
        </p:blipFill>
        <p:spPr>
          <a:xfrm>
            <a:off x="6829654" y="5183734"/>
            <a:ext cx="285293" cy="285293"/>
          </a:xfrm>
          <a:prstGeom prst="rect">
            <a:avLst/>
          </a:prstGeom>
        </p:spPr>
      </p:pic>
      <p:sp>
        <p:nvSpPr>
          <p:cNvPr id="34" name="Text 26"/>
          <p:cNvSpPr/>
          <p:nvPr/>
        </p:nvSpPr>
        <p:spPr>
          <a:xfrm>
            <a:off x="7452360" y="4873752"/>
            <a:ext cx="4206240"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Arrays and objects</a:t>
            </a:r>
            <a:endParaRPr lang="en-US" sz="1400" dirty="0"/>
          </a:p>
        </p:txBody>
      </p:sp>
      <p:sp>
        <p:nvSpPr>
          <p:cNvPr id="35" name="Text 27"/>
          <p:cNvSpPr/>
          <p:nvPr/>
        </p:nvSpPr>
        <p:spPr>
          <a:xfrm>
            <a:off x="7452360" y="5276088"/>
            <a:ext cx="4206240" cy="594360"/>
          </a:xfrm>
          <a:prstGeom prst="rect">
            <a:avLst/>
          </a:prstGeom>
          <a:noFill/>
          <a:ln/>
        </p:spPr>
        <p:txBody>
          <a:bodyPr wrap="square" lIns="0" tIns="0" rIns="0" bIns="0" rtlCol="0" anchor="t"/>
          <a:lstStyle/>
          <a:p>
            <a:pPr algn="l" indent="0" marL="0">
              <a:buNone/>
            </a:pPr>
            <a:r>
              <a:rPr lang="en-US" sz="1200" dirty="0">
                <a:solidFill>
                  <a:srgbClr val="C7DBFF"/>
                </a:solidFill>
                <a:latin typeface="Calibri" pitchFamily="34" charset="0"/>
                <a:ea typeface="Calibri" pitchFamily="34" charset="-122"/>
                <a:cs typeface="Calibri" pitchFamily="34" charset="-120"/>
              </a:rPr>
              <a:t>ordered by index, or looked up by key</a:t>
            </a:r>
            <a:endParaRPr lang="en-US" sz="1200" dirty="0"/>
          </a:p>
        </p:txBody>
      </p:sp>
      <p:sp>
        <p:nvSpPr>
          <p:cNvPr id="36" name="Text 28"/>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1371600" y="3840480"/>
            <a:ext cx="4206240" cy="4206240"/>
          </a:xfrm>
          <a:prstGeom prst="ellipse">
            <a:avLst/>
          </a:prstGeom>
          <a:solidFill>
            <a:srgbClr val="1B2A4A"/>
          </a:solidFill>
          <a:ln/>
        </p:spPr>
      </p:sp>
      <p:sp>
        <p:nvSpPr>
          <p:cNvPr id="3" name="Shape 1"/>
          <p:cNvSpPr/>
          <p:nvPr/>
        </p:nvSpPr>
        <p:spPr>
          <a:xfrm>
            <a:off x="5623560" y="1371600"/>
            <a:ext cx="1188720" cy="1188720"/>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5932627" y="1680667"/>
            <a:ext cx="570586" cy="570586"/>
          </a:xfrm>
          <a:prstGeom prst="rect">
            <a:avLst/>
          </a:prstGeom>
        </p:spPr>
      </p:pic>
      <p:sp>
        <p:nvSpPr>
          <p:cNvPr id="5" name="Text 2"/>
          <p:cNvSpPr/>
          <p:nvPr/>
        </p:nvSpPr>
        <p:spPr>
          <a:xfrm>
            <a:off x="914400" y="2743200"/>
            <a:ext cx="10360152"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Questions and doubts</a:t>
            </a:r>
            <a:endParaRPr lang="en-US" sz="4000" dirty="0"/>
          </a:p>
        </p:txBody>
      </p:sp>
      <p:sp>
        <p:nvSpPr>
          <p:cNvPr id="6" name="Text 3"/>
          <p:cNvSpPr/>
          <p:nvPr/>
        </p:nvSpPr>
        <p:spPr>
          <a:xfrm>
            <a:off x="1371600" y="3566160"/>
            <a:ext cx="9445752" cy="548640"/>
          </a:xfrm>
          <a:prstGeom prst="rect">
            <a:avLst/>
          </a:prstGeom>
          <a:noFill/>
          <a:ln/>
        </p:spPr>
        <p:txBody>
          <a:bodyPr wrap="square" lIns="0" tIns="0" rIns="0" bIns="0" rtlCol="0" anchor="ctr"/>
          <a:lstStyle/>
          <a:p>
            <a:pPr algn="ctr" indent="0" marL="0">
              <a:buNone/>
            </a:pPr>
            <a:r>
              <a:rPr lang="en-US" sz="1600" dirty="0">
                <a:solidFill>
                  <a:srgbClr val="C7DBFF"/>
                </a:solidFill>
                <a:latin typeface="Calibri" pitchFamily="34" charset="0"/>
                <a:ea typeface="Calibri" pitchFamily="34" charset="-122"/>
                <a:cs typeface="Calibri" pitchFamily="34" charset="-120"/>
              </a:rPr>
              <a:t>Before next class: Node installed, and one .js file of your own that runs.</a:t>
            </a:r>
            <a:endParaRPr lang="en-US" sz="1600" dirty="0"/>
          </a:p>
        </p:txBody>
      </p:sp>
      <p:sp>
        <p:nvSpPr>
          <p:cNvPr id="7" name="Shape 4"/>
          <p:cNvSpPr/>
          <p:nvPr/>
        </p:nvSpPr>
        <p:spPr>
          <a:xfrm>
            <a:off x="3794760" y="4480560"/>
            <a:ext cx="4572000" cy="1005840"/>
          </a:xfrm>
          <a:prstGeom prst="roundRect">
            <a:avLst>
              <a:gd name="adj" fmla="val 10909"/>
            </a:avLst>
          </a:prstGeom>
          <a:solidFill>
            <a:srgbClr val="1B2A4A"/>
          </a:solidFill>
          <a:ln/>
          <a:effectLst>
            <a:outerShdw sx="100000" sy="100000" kx="0" ky="0" algn="bl" rotWithShape="0" blurRad="101600" dist="38100" dir="5400000">
              <a:srgbClr val="0B1220">
                <a:alpha val="18000"/>
              </a:srgbClr>
            </a:outerShdw>
          </a:effectLst>
        </p:spPr>
      </p:sp>
      <p:sp>
        <p:nvSpPr>
          <p:cNvPr id="8" name="Text 5"/>
          <p:cNvSpPr/>
          <p:nvPr/>
        </p:nvSpPr>
        <p:spPr>
          <a:xfrm>
            <a:off x="3977640" y="4480560"/>
            <a:ext cx="4297680" cy="1005840"/>
          </a:xfrm>
          <a:prstGeom prst="rect">
            <a:avLst/>
          </a:prstGeom>
          <a:noFill/>
          <a:ln/>
        </p:spPr>
        <p:txBody>
          <a:bodyPr wrap="square" lIns="0" tIns="0" rIns="0" bIns="0" rtlCol="0" anchor="ctr"/>
          <a:lstStyle/>
          <a:p>
            <a:pPr algn="l" indent="0" marL="0">
              <a:buNone/>
            </a:pPr>
            <a:r>
              <a:rPr lang="en-US" sz="1300" b="1" dirty="0">
                <a:solidFill>
                  <a:srgbClr val="F59E0B"/>
                </a:solidFill>
                <a:latin typeface="Calibri" pitchFamily="34" charset="0"/>
                <a:ea typeface="Calibri" pitchFamily="34" charset="-122"/>
                <a:cs typeface="Calibri" pitchFamily="34" charset="-120"/>
              </a:rPr>
              <a:t>Next up   </a:t>
            </a:r>
            <a:pPr algn="l" indent="0" marL="0">
              <a:buNone/>
            </a:pPr>
            <a:r>
              <a:rPr lang="en-US" sz="1400" dirty="0">
                <a:solidFill>
                  <a:srgbClr val="FFFFFF"/>
                </a:solidFill>
                <a:latin typeface="Calibri" pitchFamily="34" charset="0"/>
                <a:ea typeface="Calibri" pitchFamily="34" charset="-122"/>
                <a:cs typeface="Calibri" pitchFamily="34" charset="-120"/>
              </a:rPr>
              <a:t>operators, conditionals and loops</a:t>
            </a:r>
            <a:endParaRPr lang="en-US" sz="1300" dirty="0"/>
          </a:p>
        </p:txBody>
      </p:sp>
      <p:sp>
        <p:nvSpPr>
          <p:cNvPr id="9" name="Text 6"/>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2026-09-01T07:40:21Z</dcterms:created>
  <dcterms:modified xsi:type="dcterms:W3CDTF">2026-09-01T07:40:21Z</dcterms:modified>
</cp:coreProperties>
</file>